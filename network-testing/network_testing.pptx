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 for the whole talk. Bandwidth, packet rate and latency fail independently, so no single tool can tell you the network is fine. netmesh is cheap enough to run during an incident; iperf_orchestrator is the scheduled stress test; mx is the request/response rate test that looks like real RPC and storage traffic. Because they share one host-list grammar and one deployment model, learning one means you know how to drive all three.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is a week of hand-run iperf, ad-hoc pssh loops, and numbers nobody trusts. Spell out "they compose" plainly: one server list drives everything, and the outputs are designed to sit next to each other — pruning the list, baselining, then loading is a chain of commands, not three integrations. The pipeline on the slide is the whole talk in one line; the three big sections that follow just walk it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"can the test still run when several servers are down?" — twice over. First, prune: reachable keeps the list true, distinguishes a key problem from a dead box (auth / refused / dns / no-route / timeout / down), and converges instead of decaying. Second, the tools themselves tolerate failures mid-run: per-host failures are reported and skipped, not fatal. reachable prod.txt -i before every big run is the habit to sell.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goal, not the implementation: a mesh of N hosts has N·(N−1)/2 pairs, and the only way to truly max out a fabric in a short window is to orchestrate all of them at once — that's the tool's whole reason to exist. Mention only in passing that it happens to be a single script; what matters is that servers need zero setup beyond iperf and an ssh key.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beat here for anyone who hasn't used iperf. The mental model: it answers "how fast is the pipe between A and B, really?" by filling it. Emphasize that the number includes the whole path — a slow result can be the NIC, the host's CPU, or the network, which is exactly why the orchestrator also samples CPU. The pair-at-a-time limitation is the segue to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was a real problem hit and fixed — the tool is the accumulated answers. Worth a warning: some distros ship "iperf" as a symlink to iperf3; the check-iperf preflight catches that (WRONG_VERSION). The parity rule detail if asked: for pair {i, j}, the client is the smaller index when i+j is even, the larger when odd — both ends compute it independently, so no coordination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non-specialist: one command does the whole pipeline, and each box in the flow is also a standalone subcommand for day-2 work — re-render a heatmap, re-collect from one host, re-run just the analysis. The reading order matters more than any switch: heatmap for *where*, CPU for *whether to believe it*, summary for *how bad*. Narration extras if asked: collection is batched one archive per host, and the remote directory is safe on shared filesystems because every file embeds host + run-id.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one dial, four positions. parallel is realism: everything contends, like a bad day in production. The sequential modes buy isolation with time. rolling gives up the synchronized snapshot entirely in exchange for a constant, gentle load that works at any fleet size. The next four slides take them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mode the tool was built for and the one to demo. Set expectations about the numbers: under full contention a 10G host talking to 49 peers won't show 10G to each — you're reading the *distribution* and its outliers, not absolute line rate. If something looks bad here, the next two modes are how you isolate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parallel/sequential-host comparison is the diagnostic one-two punch: the first finds the suspect, the second tells you whether it's the host or the fabric. This is also the mode for baselining what "good" looks like per host class before a stress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trap to warn about: running sequential-pair across a big fleet because it's "the accurate one". It is — and it's quadratic. The right use is surgical: three or four hosts you already suspect, cleanest numbers in minutes, then escalate to path-level tools if it's still slow.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contrast to land: parallel is one synchronized photograph of the fleet under maximum load; rolling is a long exposure at gentle, constant load. At 1,000 hosts a full mesh is half a million pairs — rolling is the only shape that stays sane there, and its per-host load being independent of fleet size is the property that makes it safe.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and the next slide are the take-home reference. If demoing live, four small VMs are plenty. The two preflights catch ninety percent of first-run failures: missing local python packages, iperf secretly being iperf3, mpstat absent, or a host that still wants a password.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habits to leave the audience with: heatmap → CPU → summary, in that order; bump --duration and -P when a single 10-second stream can't fill the pipe (common on 25G+); and treat run folders as records — the before/after diff across a change window is often the most valuable artifact the tool produces.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contrast with a picture in words: a fabric can move 100 gigabits of bulk TCP happily and still collapse at two million answered packets per second — and your database traffic looks like the second thing, not the first. If asked why UDP: TCP would quietly merge small packets together, so a "packets per second" number over TCP would be fiction. The two tools are two halves of the load story: iperf_orchestrator for bytes, mx for packets.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theme is honesty: receiver-counted delivery, split loss, refusal to report numbers that can't be true, and self-awareness about its own ceiling. That last one matters most in practice — a load generator that silently saturates makes the network look guilty; this one names itself and names the fix (more workers, more streams, or more hosts).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simpler than iperf_orchestrator: six verbs and one file. Also worth naming the helpers — mx doctor checks the fleet is ready, mx check asks "can the NICs even carry what you're about to request?", and mx hints turns a goal ("2 million packets per second per host") into the exact command.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tool's real interface, and the mid-stream story: investigations are edits. Agents redeploy in seconds and reports keep accumulating, so iterating on the traffic shape mid-session is normal, not exceptional.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of thumb for the room: believe what arrived, not what was sent — then check whether the tool itself was working too hard before blaming the fabric. The performance model in one breath: roughly 200k packets/sec per worker process per core, times workers, times hosts; mx hints does that arithmetic for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Queues fill before packets drop, so latency is the early warning — that ordering is the one thing to remember from this slide. Run mx check first so you never spend an afternoon discovering you asked a 10G NIC for 25G of replies.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intuition without the math: a random 8-peer assignment already spreads load evenly and crosses every layer of the fabric — the full mesh isn't needed for equal load, only for complete pair coverage, and the rotation buys that back at the same cost. A thousand-host fleet gets every-pair coverage every few minutes on eight sockets per host. The construction is seeded and replayable if anyone asks.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shape as the iperf_orchestrator tutorial on purpose: list, preflight, one command. For a live demo three small VMs are enough — and mx selftest-style confidence comes from mx doctor plus a tiny --pps first run.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to model: run, summarize, edit the matrix, run again — an investigation loop measured in seconds. Collect logs and summaries before clean; after clean there is genuinely nothing left, which is the point.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one-sentence pitch: a 9.4 gigabit result over a 300-microsecond path and the same result over a 42-millisecond path are different results — netmesh is how you know which one you have. It's also the tool to reach for first in an incident, because it's the only one of the three that's safe to point at production while users are on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endpoints you can't put an agent on — a VIP, a router, an appliance — prefix the host with ~ and it falls back to ping, but those rows are clearly quarantined in the report as one-sided, because they carry less truth. The theme continues: every number quoted is one that is actually true.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diagnosis is computed from the data, not canned: slow pairs sharing a source point at that host's egress; sharing a destination, its ingress; crossing a rack boundary, the path between. The under-load section is the bridge back to the other two tools — wrap netmesh around an iperf or mx run and the latency cost of the throughput number appears in the same report.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comparison trick in paths --compare is the practical gem: a sick route diffed against a healthy one turns "somewhere in the fabric" into "this hop". And the report itself tells you when to stop debugging the network — a clean baseline pointing you at the load tools closes the loop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selftest first is the confidence builder — two agents over loopback, no second machine, no privileges. Then the two-host check is genuinely the whole experience for most users; --flows is the flag to remember when a fault reproduces only sometimes, because which bundle member you hash onto is luck until you sweep.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--baseline wrapper is the closing move of the whole talk: baseline, then load, one report showing both. Grids land next to mx's grids in the same spreadsheet. And the honesty rule one last time — a pair that stopped answering writes blanks, because averaging zeros in would flatter the baseline, and a baseline tool must never flatter.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flow left to right, one sentence per box — it's the whole talk replayed in thirty seconds. Each stage's answer is the context for the next: a pruned list makes the baseline trustworthy, the baseline makes the load numbers readable, and the two load ceilings — bytes and packets — bracket what the fabric can really do. The last box closes the loop: throughput always has a latency price, and measuring it is one wrapper command. Everything installs with pip; netmesh and reachable ship together in one package alongside the two orchestrators.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4400" b="1">
                <a:solidFill>
                  <a:srgbClr val="1C2B3A"/>
                </a:solidFill>
              </a:defRPr>
            </a:pPr>
            <a:r>
              <a:t>Network Testing at Fleet Scale</a:t>
            </a:r>
          </a:p>
        </p:txBody>
      </p:sp>
      <p:sp>
        <p:nvSpPr>
          <p:cNvPr id="3" name="Subtitle 2"/>
          <p:cNvSpPr>
            <a:spLocks noGrp="1"/>
          </p:cNvSpPr>
          <p:nvPr>
            <p:ph type="subTitle" idx="1"/>
          </p:nvPr>
        </p:nvSpPr>
        <p:spPr/>
        <p:txBody>
          <a:bodyPr/>
          <a:lstStyle/>
          <a:p>
            <a:pPr>
              <a:defRPr sz="2000">
                <a:solidFill>
                  <a:srgbClr val="3E5C76"/>
                </a:solidFill>
              </a:defRPr>
            </a:pPr>
            <a:r>
              <a:t>iperf_orchestrator · matrix_orchestrator · netmesh</a:t>
            </a:r>
          </a:p>
          <a:p>
            <a:pPr>
              <a:defRPr sz="1500" i="1"/>
            </a:pPr>
            <a:r>
              <a:t>and reachable, keeping the server list honest</a:t>
            </a:r>
          </a:p>
          <a:p/>
          <a:p>
            <a:pPr>
              <a:defRPr sz="1400" b="1"/>
            </a:pPr>
            <a:r>
              <a:t>Martin Gallagher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Three questions, three tools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Testing a fleet's network really means answering three different questions — each tool here answers one of them.</a:t>
            </a:r>
          </a:p>
        </p:txBody>
      </p:sp>
      <p:graphicFrame>
        <p:nvGraphicFramePr>
          <p:cNvPr id="4" name="Table 3"/>
          <p:cNvGraphicFramePr>
            <a:graphicFrameLocks noGrp="1"/>
          </p:cNvGraphicFramePr>
          <p:nvPr/>
        </p:nvGraphicFramePr>
        <p:xfrm>
          <a:off x="640080" y="1929384"/>
          <a:ext cx="10972800" cy="146304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defRPr sz="1250" b="1"/>
                      </a:pPr>
                      <a:r>
                        <a:t>Tool</a:t>
                      </a:r>
                    </a:p>
                  </a:txBody>
                  <a:tcPr/>
                </a:tc>
                <a:tc>
                  <a:txBody>
                    <a:bodyPr/>
                    <a:lstStyle/>
                    <a:p>
                      <a:pPr>
                        <a:defRPr sz="1250" b="1"/>
                      </a:pPr>
                      <a:r>
                        <a:t>The question it answers</a:t>
                      </a:r>
                    </a:p>
                  </a:txBody>
                  <a:tcPr/>
                </a:tc>
                <a:tc>
                  <a:txBody>
                    <a:bodyPr/>
                    <a:lstStyle/>
                    <a:p>
                      <a:pPr>
                        <a:defRPr sz="1250" b="1"/>
                      </a:pPr>
                      <a:r>
                        <a:t>Network state</a:t>
                      </a:r>
                    </a:p>
                  </a:txBody>
                  <a:tcPr/>
                </a:tc>
                <a:tc>
                  <a:txBody>
                    <a:bodyPr/>
                    <a:lstStyle/>
                    <a:p>
                      <a:pPr>
                        <a:defRPr sz="1250" b="1"/>
                      </a:pPr>
                      <a:r>
                        <a:t>Cost to run</a:t>
                      </a:r>
                    </a:p>
                  </a:txBody>
                  <a:tcPr/>
                </a:tc>
              </a:tr>
              <a:tr h="365760">
                <a:tc>
                  <a:txBody>
                    <a:bodyPr/>
                    <a:lstStyle/>
                    <a:p>
                      <a:pPr>
                        <a:defRPr sz="1200" b="0"/>
                      </a:pPr>
                      <a:r>
                        <a:t>netmesh</a:t>
                      </a:r>
                    </a:p>
                  </a:txBody>
                  <a:tcPr/>
                </a:tc>
                <a:tc>
                  <a:txBody>
                    <a:bodyPr/>
                    <a:lstStyle/>
                    <a:p>
                      <a:pPr>
                        <a:defRPr sz="1200" b="0"/>
                      </a:pPr>
                      <a:r>
                        <a:t>Is the network healthy, and which link is sick? — RTT, jitter, loss, path MTU</a:t>
                      </a:r>
                    </a:p>
                  </a:txBody>
                  <a:tcPr/>
                </a:tc>
                <a:tc>
                  <a:txBody>
                    <a:bodyPr/>
                    <a:lstStyle/>
                    <a:p>
                      <a:pPr>
                        <a:defRPr sz="1200" b="0"/>
                      </a:pPr>
                      <a:r>
                        <a:t>Idle — the baseline</a:t>
                      </a:r>
                    </a:p>
                  </a:txBody>
                  <a:tcPr/>
                </a:tc>
                <a:tc>
                  <a:txBody>
                    <a:bodyPr/>
                    <a:lstStyle/>
                    <a:p>
                      <a:pPr>
                        <a:defRPr sz="1200" b="0"/>
                      </a:pPr>
                      <a:r>
                        <a:t>~10 small pkts/s per pair; safe on production</a:t>
                      </a:r>
                    </a:p>
                  </a:txBody>
                  <a:tcPr/>
                </a:tc>
              </a:tr>
              <a:tr h="365760">
                <a:tc>
                  <a:txBody>
                    <a:bodyPr/>
                    <a:lstStyle/>
                    <a:p>
                      <a:pPr>
                        <a:defRPr sz="1200" b="0"/>
                      </a:pPr>
                      <a:r>
                        <a:t>iperf_orchestrator</a:t>
                      </a:r>
                    </a:p>
                  </a:txBody>
                  <a:tcPr/>
                </a:tc>
                <a:tc>
                  <a:txBody>
                    <a:bodyPr/>
                    <a:lstStyle/>
                    <a:p>
                      <a:pPr>
                        <a:defRPr sz="1200" b="0"/>
                      </a:pPr>
                      <a:r>
                        <a:t>How much TCP bandwidth can every link carry, all at once?</a:t>
                      </a:r>
                    </a:p>
                  </a:txBody>
                  <a:tcPr/>
                </a:tc>
                <a:tc>
                  <a:txBody>
                    <a:bodyPr/>
                    <a:lstStyle/>
                    <a:p>
                      <a:pPr>
                        <a:defRPr sz="1200" b="0"/>
                      </a:pPr>
                      <a:r>
                        <a:t>Fully loaded</a:t>
                      </a:r>
                    </a:p>
                  </a:txBody>
                  <a:tcPr/>
                </a:tc>
                <a:tc>
                  <a:txBody>
                    <a:bodyPr/>
                    <a:lstStyle/>
                    <a:p>
                      <a:pPr>
                        <a:defRPr sz="1200" b="0"/>
                      </a:pPr>
                      <a:r>
                        <a:t>Line-rate flood — schedule a window</a:t>
                      </a:r>
                    </a:p>
                  </a:txBody>
                  <a:tcPr/>
                </a:tc>
              </a:tr>
              <a:tr h="365760">
                <a:tc>
                  <a:txBody>
                    <a:bodyPr/>
                    <a:lstStyle/>
                    <a:p>
                      <a:pPr>
                        <a:defRPr sz="1200" b="0"/>
                      </a:pPr>
                      <a:r>
                        <a:t>matrix_orchestrator (mx)</a:t>
                      </a:r>
                    </a:p>
                  </a:txBody>
                  <a:tcPr/>
                </a:tc>
                <a:tc>
                  <a:txBody>
                    <a:bodyPr/>
                    <a:lstStyle/>
                    <a:p>
                      <a:pPr>
                        <a:defRPr sz="1200" b="0"/>
                      </a:pPr>
                      <a:r>
                        <a:t>How many packets/sec can the fleet exchange, when every packet is answered?</a:t>
                      </a:r>
                    </a:p>
                  </a:txBody>
                  <a:tcPr/>
                </a:tc>
                <a:tc>
                  <a:txBody>
                    <a:bodyPr/>
                    <a:lstStyle/>
                    <a:p>
                      <a:pPr>
                        <a:defRPr sz="1200" b="0"/>
                      </a:pPr>
                      <a:r>
                        <a:t>Loaded at the rate you choose</a:t>
                      </a:r>
                    </a:p>
                  </a:txBody>
                  <a:tcPr/>
                </a:tc>
                <a:tc>
                  <a:txBody>
                    <a:bodyPr/>
                    <a:lstStyle/>
                    <a:p>
                      <a:pPr>
                        <a:defRPr sz="1200" b="0"/>
                      </a:pPr>
                      <a:r>
                        <a:t>Tunable, gentle → torture</a:t>
                      </a:r>
                    </a:p>
                  </a:txBody>
                  <a:tcPr/>
                </a:tc>
              </a:tr>
            </a:tbl>
          </a:graphicData>
        </a:graphic>
      </p:graphicFrame>
      <p:sp>
        <p:nvSpPr>
          <p:cNvPr id="5" name="TextBox 4"/>
          <p:cNvSpPr txBox="1"/>
          <p:nvPr/>
        </p:nvSpPr>
        <p:spPr>
          <a:xfrm>
            <a:off x="822960" y="3575304"/>
            <a:ext cx="10607040" cy="932688"/>
          </a:xfrm>
          <a:prstGeom prst="rect">
            <a:avLst/>
          </a:prstGeom>
          <a:noFill/>
        </p:spPr>
        <p:txBody>
          <a:bodyPr wrap="square">
            <a:spAutoFit/>
          </a:bodyPr>
          <a:lstStyle/>
          <a:p>
            <a:pPr>
              <a:defRPr sz="1400"/>
            </a:pPr>
            <a:r>
              <a:t>They're one family: the same servers.txt, the same ssh-only model, and grids that read the same way. And they measure different layers of the same fabric — a 9.4 Gbit/s result over a 300 µs path and one over a 42 ms path are *different results*.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these tools — and how they fit together</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 They go anywhere you can ssh. No agents, no daemons, no root — nothing installed on the servers, and clean removes every trace afterwards.</a:t>
            </a:r>
          </a:p>
        </p:txBody>
      </p:sp>
      <p:sp>
        <p:nvSpPr>
          <p:cNvPr id="4" name="TextBox 3"/>
          <p:cNvSpPr txBox="1"/>
          <p:nvPr/>
        </p:nvSpPr>
        <p:spPr>
          <a:xfrm>
            <a:off x="822960" y="1929384"/>
            <a:ext cx="10607040" cy="621792"/>
          </a:xfrm>
          <a:prstGeom prst="rect">
            <a:avLst/>
          </a:prstGeom>
          <a:noFill/>
        </p:spPr>
        <p:txBody>
          <a:bodyPr wrap="square">
            <a:spAutoFit/>
          </a:bodyPr>
          <a:lstStyle/>
          <a:p>
            <a:pPr>
              <a:defRPr sz="1400"/>
            </a:pPr>
            <a:r>
              <a:t>• The numbers are honest. Blank never means zero, and the headline is what the *receiver* counted — not what the sender hoped. When a tool becomes its own bottleneck, it says so.</a:t>
            </a:r>
          </a:p>
        </p:txBody>
      </p:sp>
      <p:sp>
        <p:nvSpPr>
          <p:cNvPr id="5" name="TextBox 4"/>
          <p:cNvSpPr txBox="1"/>
          <p:nvPr/>
        </p:nvSpPr>
        <p:spPr>
          <a:xfrm>
            <a:off x="822960" y="2624328"/>
            <a:ext cx="10607040" cy="310896"/>
          </a:xfrm>
          <a:prstGeom prst="rect">
            <a:avLst/>
          </a:prstGeom>
          <a:noFill/>
        </p:spPr>
        <p:txBody>
          <a:bodyPr wrap="square">
            <a:spAutoFit/>
          </a:bodyPr>
          <a:lstStyle/>
          <a:p>
            <a:pPr>
              <a:defRPr sz="1400"/>
            </a:pPr>
            <a:r>
              <a:t>• They're one file each. Stdlib-only Python — pip install it, or just scp the file and run it.</a:t>
            </a:r>
          </a:p>
        </p:txBody>
      </p:sp>
      <p:sp>
        <p:nvSpPr>
          <p:cNvPr id="6" name="TextBox 5"/>
          <p:cNvSpPr txBox="1"/>
          <p:nvPr/>
        </p:nvSpPr>
        <p:spPr>
          <a:xfrm>
            <a:off x="822960" y="3008376"/>
            <a:ext cx="10607040" cy="932688"/>
          </a:xfrm>
          <a:prstGeom prst="rect">
            <a:avLst/>
          </a:prstGeom>
          <a:noFill/>
        </p:spPr>
        <p:txBody>
          <a:bodyPr wrap="square">
            <a:spAutoFit/>
          </a:bodyPr>
          <a:lstStyle/>
          <a:p>
            <a:pPr>
              <a:defRPr sz="1400"/>
            </a:pPr>
            <a:r>
              <a:t>• They compose — meaning each one's output is the next one's input. reachable rewrites the very servers.txt the others read; netmesh and mx write matching N×N grids that open side by side in one spreadsheet. You chain them; there's no glue to write.</a:t>
            </a:r>
          </a:p>
        </p:txBody>
      </p:sp>
      <p:sp>
        <p:nvSpPr>
          <p:cNvPr id="7" name="Rounded Rectangle 6"/>
          <p:cNvSpPr/>
          <p:nvPr/>
        </p:nvSpPr>
        <p:spPr>
          <a:xfrm>
            <a:off x="640080" y="4014216"/>
            <a:ext cx="1887321"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reachable prod.txt -i</a:t>
            </a:r>
          </a:p>
          <a:p>
            <a:pPr>
              <a:defRPr sz="1000">
                <a:solidFill>
                  <a:srgbClr val="F0F3F6"/>
                </a:solidFill>
              </a:defRPr>
            </a:pPr>
            <a:r>
              <a:t>prune the list</a:t>
            </a:r>
          </a:p>
        </p:txBody>
      </p:sp>
      <p:sp>
        <p:nvSpPr>
          <p:cNvPr id="8" name="TextBox 7"/>
          <p:cNvSpPr txBox="1"/>
          <p:nvPr/>
        </p:nvSpPr>
        <p:spPr>
          <a:xfrm>
            <a:off x="2527401" y="4270248"/>
            <a:ext cx="384048" cy="365760"/>
          </a:xfrm>
          <a:prstGeom prst="rect">
            <a:avLst/>
          </a:prstGeom>
          <a:noFill/>
        </p:spPr>
        <p:txBody>
          <a:bodyPr wrap="none">
            <a:spAutoFit/>
          </a:bodyPr>
          <a:lstStyle/>
          <a:p>
            <a:pPr>
              <a:defRPr sz="1600" b="1">
                <a:solidFill>
                  <a:srgbClr val="3E5C76"/>
                </a:solidFill>
              </a:defRPr>
            </a:pPr>
            <a:r>
              <a:t>→</a:t>
            </a:r>
          </a:p>
        </p:txBody>
      </p:sp>
      <p:sp>
        <p:nvSpPr>
          <p:cNvPr id="9" name="Rounded Rectangle 8"/>
          <p:cNvSpPr/>
          <p:nvPr/>
        </p:nvSpPr>
        <p:spPr>
          <a:xfrm>
            <a:off x="2911449" y="401421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 check</a:t>
            </a:r>
          </a:p>
          <a:p>
            <a:pPr>
              <a:defRPr sz="1000">
                <a:solidFill>
                  <a:srgbClr val="F0F3F6"/>
                </a:solidFill>
              </a:defRPr>
            </a:pPr>
            <a:r>
              <a:t>idle baseline</a:t>
            </a:r>
          </a:p>
        </p:txBody>
      </p:sp>
      <p:sp>
        <p:nvSpPr>
          <p:cNvPr id="10" name="TextBox 9"/>
          <p:cNvSpPr txBox="1"/>
          <p:nvPr/>
        </p:nvSpPr>
        <p:spPr>
          <a:xfrm>
            <a:off x="4798771" y="4270248"/>
            <a:ext cx="384048" cy="365760"/>
          </a:xfrm>
          <a:prstGeom prst="rect">
            <a:avLst/>
          </a:prstGeom>
          <a:noFill/>
        </p:spPr>
        <p:txBody>
          <a:bodyPr wrap="none">
            <a:spAutoFit/>
          </a:bodyPr>
          <a:lstStyle/>
          <a:p>
            <a:pPr>
              <a:defRPr sz="1600" b="1">
                <a:solidFill>
                  <a:srgbClr val="3E5C76"/>
                </a:solidFill>
              </a:defRPr>
            </a:pPr>
            <a:r>
              <a:t>→</a:t>
            </a:r>
          </a:p>
        </p:txBody>
      </p:sp>
      <p:sp>
        <p:nvSpPr>
          <p:cNvPr id="11" name="Rounded Rectangle 10"/>
          <p:cNvSpPr/>
          <p:nvPr/>
        </p:nvSpPr>
        <p:spPr>
          <a:xfrm>
            <a:off x="5182819" y="4014216"/>
            <a:ext cx="1887321"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iperf-orchestrator all</a:t>
            </a:r>
          </a:p>
          <a:p>
            <a:pPr>
              <a:defRPr sz="1000">
                <a:solidFill>
                  <a:srgbClr val="F0F3F6"/>
                </a:solidFill>
              </a:defRPr>
            </a:pPr>
            <a:r>
              <a:t>TCP under load</a:t>
            </a:r>
          </a:p>
        </p:txBody>
      </p:sp>
      <p:sp>
        <p:nvSpPr>
          <p:cNvPr id="12" name="TextBox 11"/>
          <p:cNvSpPr txBox="1"/>
          <p:nvPr/>
        </p:nvSpPr>
        <p:spPr>
          <a:xfrm>
            <a:off x="7070140" y="4270248"/>
            <a:ext cx="384048" cy="365760"/>
          </a:xfrm>
          <a:prstGeom prst="rect">
            <a:avLst/>
          </a:prstGeom>
          <a:noFill/>
        </p:spPr>
        <p:txBody>
          <a:bodyPr wrap="none">
            <a:spAutoFit/>
          </a:bodyPr>
          <a:lstStyle/>
          <a:p>
            <a:pPr>
              <a:defRPr sz="1600" b="1">
                <a:solidFill>
                  <a:srgbClr val="3E5C76"/>
                </a:solidFill>
              </a:defRPr>
            </a:pPr>
            <a:r>
              <a:t>→</a:t>
            </a:r>
          </a:p>
        </p:txBody>
      </p:sp>
      <p:sp>
        <p:nvSpPr>
          <p:cNvPr id="13" name="Rounded Rectangle 12"/>
          <p:cNvSpPr/>
          <p:nvPr/>
        </p:nvSpPr>
        <p:spPr>
          <a:xfrm>
            <a:off x="7454188" y="4014216"/>
            <a:ext cx="1887321" cy="914400"/>
          </a:xfrm>
          <a:prstGeom prst="roundRect">
            <a:avLst/>
          </a:prstGeom>
          <a:solidFill>
            <a:srgbClr val="BE3B4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mx run</a:t>
            </a:r>
          </a:p>
          <a:p>
            <a:pPr>
              <a:defRPr sz="1000">
                <a:solidFill>
                  <a:srgbClr val="F0F3F6"/>
                </a:solidFill>
              </a:defRPr>
            </a:pPr>
            <a:r>
              <a:t>pps under load</a:t>
            </a:r>
          </a:p>
        </p:txBody>
      </p:sp>
      <p:sp>
        <p:nvSpPr>
          <p:cNvPr id="14" name="TextBox 13"/>
          <p:cNvSpPr txBox="1"/>
          <p:nvPr/>
        </p:nvSpPr>
        <p:spPr>
          <a:xfrm>
            <a:off x="9341510" y="4270248"/>
            <a:ext cx="384048" cy="365760"/>
          </a:xfrm>
          <a:prstGeom prst="rect">
            <a:avLst/>
          </a:prstGeom>
          <a:noFill/>
        </p:spPr>
        <p:txBody>
          <a:bodyPr wrap="none">
            <a:spAutoFit/>
          </a:bodyPr>
          <a:lstStyle/>
          <a:p>
            <a:pPr>
              <a:defRPr sz="1600" b="1">
                <a:solidFill>
                  <a:srgbClr val="3E5C76"/>
                </a:solidFill>
              </a:defRPr>
            </a:pPr>
            <a:r>
              <a:t>→</a:t>
            </a:r>
          </a:p>
        </p:txBody>
      </p:sp>
      <p:sp>
        <p:nvSpPr>
          <p:cNvPr id="15" name="Rounded Rectangle 14"/>
          <p:cNvSpPr/>
          <p:nvPr/>
        </p:nvSpPr>
        <p:spPr>
          <a:xfrm>
            <a:off x="9725558" y="401421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 --baseline</a:t>
            </a:r>
          </a:p>
          <a:p>
            <a:pPr>
              <a:defRPr sz="1000">
                <a:solidFill>
                  <a:srgbClr val="F0F3F6"/>
                </a:solidFill>
              </a:defRPr>
            </a:pPr>
            <a:r>
              <a:t>latency under load</a:t>
            </a:r>
          </a:p>
        </p:txBody>
      </p:sp>
      <p:sp>
        <p:nvSpPr>
          <p:cNvPr id="16" name="TextBox 15"/>
          <p:cNvSpPr txBox="1"/>
          <p:nvPr/>
        </p:nvSpPr>
        <p:spPr>
          <a:xfrm>
            <a:off x="822960" y="5129784"/>
            <a:ext cx="10607040" cy="621792"/>
          </a:xfrm>
          <a:prstGeom prst="rect">
            <a:avLst/>
          </a:prstGeom>
          <a:noFill/>
        </p:spPr>
        <p:txBody>
          <a:bodyPr wrap="square">
            <a:spAutoFit/>
          </a:bodyPr>
          <a:lstStyle/>
          <a:p>
            <a:pPr>
              <a:defRPr sz="1400"/>
            </a:pPr>
            <a:r>
              <a:t>Commissioning a new fabric? Run them left to right — each answer tells you whether the next number will make sense.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reachable — the run survives dead servers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 Server lists rot — and a fan-out that silently skips eleven dead hosts looks exactly like one that ran everywhere.</a:t>
            </a:r>
          </a:p>
        </p:txBody>
      </p:sp>
      <p:sp>
        <p:nvSpPr>
          <p:cNvPr id="4" name="TextBox 3"/>
          <p:cNvSpPr txBox="1"/>
          <p:nvPr/>
        </p:nvSpPr>
        <p:spPr>
          <a:xfrm>
            <a:off x="822960" y="1929384"/>
            <a:ext cx="10607040" cy="932688"/>
          </a:xfrm>
          <a:prstGeom prst="rect">
            <a:avLst/>
          </a:prstGeom>
          <a:noFill/>
        </p:spPr>
        <p:txBody>
          <a:bodyPr wrap="square">
            <a:spAutoFit/>
          </a:bodyPr>
          <a:lstStyle/>
          <a:p>
            <a:pPr>
              <a:defRPr sz="1400"/>
            </a:pPr>
            <a:r>
              <a:t>• reachable prod.txt -i pings and ssh's every entry and comments out the failures, with the reason and date. When a host comes back, the next run uncomments it — and your own comments are never touched, so it's safe on cron.</a:t>
            </a:r>
          </a:p>
        </p:txBody>
      </p:sp>
      <p:sp>
        <p:nvSpPr>
          <p:cNvPr id="5" name="TextBox 4"/>
          <p:cNvSpPr txBox="1"/>
          <p:nvPr/>
        </p:nvSpPr>
        <p:spPr>
          <a:xfrm>
            <a:off x="822960" y="2935224"/>
            <a:ext cx="10607040" cy="310896"/>
          </a:xfrm>
          <a:prstGeom prst="rect">
            <a:avLst/>
          </a:prstGeom>
          <a:noFill/>
        </p:spPr>
        <p:txBody>
          <a:bodyPr wrap="square">
            <a:spAutoFit/>
          </a:bodyPr>
          <a:lstStyle/>
          <a:p>
            <a:pPr>
              <a:defRPr sz="1400"/>
            </a:pPr>
            <a:r>
              <a:t>• ssh is the gate, ping is the explanation: a host that answers ssh is kept even when ICMP is blocked.</a:t>
            </a:r>
          </a:p>
        </p:txBody>
      </p:sp>
      <p:sp>
        <p:nvSpPr>
          <p:cNvPr id="6" name="TextBox 5"/>
          <p:cNvSpPr txBox="1"/>
          <p:nvPr/>
        </p:nvSpPr>
        <p:spPr>
          <a:xfrm>
            <a:off x="640080" y="3319272"/>
            <a:ext cx="10972800" cy="1106424"/>
          </a:xfrm>
          <a:prstGeom prst="rect">
            <a:avLst/>
          </a:prstGeom>
          <a:noFill/>
        </p:spPr>
        <p:txBody>
          <a:bodyPr wrap="none">
            <a:spAutoFit/>
          </a:bodyPr>
          <a:lstStyle/>
          <a:p>
            <a:pPr>
              <a:defRPr sz="1300">
                <a:solidFill>
                  <a:srgbClr val="24354A"/>
                </a:solidFill>
                <a:latin typeface="Consolas"/>
              </a:defRPr>
            </a:pPr>
            <a:r>
              <a:t>web01</a:t>
            </a:r>
          </a:p>
          <a:p>
            <a:pPr>
              <a:defRPr sz="1300">
                <a:solidFill>
                  <a:srgbClr val="24354A"/>
                </a:solidFill>
                <a:latin typeface="Consolas"/>
              </a:defRPr>
            </a:pPr>
            <a:r>
              <a:t># db07   #[unreachable] pings but ssh does not answer - 2026-08-15</a:t>
            </a:r>
          </a:p>
          <a:p>
            <a:pPr>
              <a:defRPr sz="1300">
                <a:solidFill>
                  <a:srgbClr val="24354A"/>
                </a:solidFill>
                <a:latin typeface="Consolas"/>
              </a:defRPr>
            </a:pPr>
            <a:r>
              <a:t># ghost  #[unreachable] name does not resolve - 2026-08-15</a:t>
            </a:r>
          </a:p>
          <a:p>
            <a:pPr>
              <a:defRPr sz="1300">
                <a:solidFill>
                  <a:srgbClr val="24354A"/>
                </a:solidFill>
                <a:latin typeface="Consolas"/>
              </a:defRPr>
            </a:pPr>
            <a:r>
              <a:t>noicmp   # ICMP blocked here by policy   &lt;- kept: ssh works</a:t>
            </a:r>
          </a:p>
        </p:txBody>
      </p:sp>
      <p:sp>
        <p:nvSpPr>
          <p:cNvPr id="7" name="TextBox 6"/>
          <p:cNvSpPr txBox="1"/>
          <p:nvPr/>
        </p:nvSpPr>
        <p:spPr>
          <a:xfrm>
            <a:off x="822960" y="4562856"/>
            <a:ext cx="10607040" cy="621792"/>
          </a:xfrm>
          <a:prstGeom prst="rect">
            <a:avLst/>
          </a:prstGeom>
          <a:noFill/>
        </p:spPr>
        <p:txBody>
          <a:bodyPr wrap="square">
            <a:spAutoFit/>
          </a:bodyPr>
          <a:lstStyle/>
          <a:p>
            <a:pPr>
              <a:defRPr sz="1400"/>
            </a:pPr>
            <a:r>
              <a:t>• Belt and braces: the orchestrators also fail open (--keep-going), so one dead box never aborts a 100-host run.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1 — iperf_orchestrator</a:t>
            </a:r>
          </a:p>
        </p:txBody>
      </p:sp>
      <p:sp>
        <p:nvSpPr>
          <p:cNvPr id="3" name="Text Placeholder 2"/>
          <p:cNvSpPr>
            <a:spLocks noGrp="1"/>
          </p:cNvSpPr>
          <p:nvPr>
            <p:ph type="body" idx="1"/>
          </p:nvPr>
        </p:nvSpPr>
        <p:spPr/>
        <p:txBody>
          <a:bodyPr/>
          <a:lstStyle/>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is — and why you'd run it</a:t>
            </a:r>
          </a:p>
        </p:txBody>
      </p:sp>
      <p:sp>
        <p:nvSpPr>
          <p:cNvPr id="3" name="Content Placeholder 2"/>
          <p:cNvSpPr>
            <a:spLocks noGrp="1"/>
          </p:cNvSpPr>
          <p:nvPr>
            <p:ph idx="1"/>
          </p:nvPr>
        </p:nvSpPr>
        <p:spPr/>
        <p:txBody>
          <a:bodyPr wrap="square">
            <a:normAutofit/>
          </a:bodyPr>
          <a:lstStyle/>
          <a:p>
            <a:pPr>
              <a:defRPr sz="1600"/>
            </a:pPr>
            <a:r>
              <a:t>Takes iperf — the standard tool for measuring how fast the network really is between two machines — and runs it between every pair of servers in a fleet, at the same time.</a:t>
            </a:r>
          </a:p>
          <a:p>
            <a:pPr>
              <a:defRPr sz="1600"/>
            </a:pPr>
            <a:r>
              <a:t>The point is to load the network as *efficiently as possible*: every link, both directions, simultaneously. Ten seconds of that answers the real question — what can this fabric actually carry, and what breaks first?</a:t>
            </a:r>
          </a:p>
          <a:p>
            <a:pPr>
              <a:defRPr sz="1600"/>
            </a:pPr>
            <a:r>
              <a:t>Why run it: accept a new fabric or a change window; find the slow links and slow hosts; get a quick "is the fleet's network healthy?" picture.</a:t>
            </a:r>
          </a:p>
          <a:p>
            <a:pPr>
              <a:defRPr sz="1600"/>
            </a:pPr>
            <a:r>
              <a:t>One command in → four artifacts out: results CSV · per-host CPU summary · pivot table · heatmap.</a:t>
            </a:r>
          </a:p>
          <a:p>
            <a:pPr>
              <a:defRPr sz="1600"/>
            </a:pPr>
            <a:r>
              <a:t>One self-contained script, driving everything over ssh — the servers need nothing but iperf itself. A dead host is reported and skipped, never fatal.</a:t>
            </a:r>
          </a:p>
          <a:p>
            <a:pPr>
              <a:defRPr sz="1600"/>
            </a:pPr>
            <a:r>
              <a:t>What it leaves to its siblings: latency and packet rate (that's netmesh and mx).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is iperf?</a:t>
            </a:r>
          </a:p>
        </p:txBody>
      </p:sp>
      <p:sp>
        <p:nvSpPr>
          <p:cNvPr id="3" name="TextBox 2"/>
          <p:cNvSpPr txBox="1"/>
          <p:nvPr/>
        </p:nvSpPr>
        <p:spPr>
          <a:xfrm>
            <a:off x="822960" y="1234440"/>
            <a:ext cx="10607040" cy="932688"/>
          </a:xfrm>
          <a:prstGeom prst="rect">
            <a:avLst/>
          </a:prstGeom>
          <a:noFill/>
        </p:spPr>
        <p:txBody>
          <a:bodyPr wrap="square">
            <a:spAutoFit/>
          </a:bodyPr>
          <a:lstStyle/>
          <a:p>
            <a:pPr>
              <a:defRPr sz="1400"/>
            </a:pPr>
            <a:r>
              <a:t>iperf is the de-facto standard throughput tool: one box plays server, another plays client, and the client pushes bytes over TCP as hard as it can for a fixed time. The achieved rate is the answer — the true end-to-end capacity of that path: NICs, kernel, cables, switches, everything in between.</a:t>
            </a:r>
          </a:p>
        </p:txBody>
      </p:sp>
      <p:graphicFrame>
        <p:nvGraphicFramePr>
          <p:cNvPr id="4" name="Table 3"/>
          <p:cNvGraphicFramePr>
            <a:graphicFrameLocks noGrp="1"/>
          </p:cNvGraphicFramePr>
          <p:nvPr/>
        </p:nvGraphicFramePr>
        <p:xfrm>
          <a:off x="640080" y="2240280"/>
          <a:ext cx="10972800" cy="2560320"/>
        </p:xfrm>
        <a:graphic>
          <a:graphicData uri="http://schemas.openxmlformats.org/drawingml/2006/table">
            <a:tbl>
              <a:tblPr firstRow="1" bandRow="1">
                <a:tableStyleId>{5C22544A-7EE6-4342-B048-85BDC9FD1C3A}</a:tableStyleId>
              </a:tblPr>
              <a:tblGrid>
                <a:gridCol w="5486400"/>
                <a:gridCol w="5486400"/>
              </a:tblGrid>
              <a:tr h="365760">
                <a:tc>
                  <a:txBody>
                    <a:bodyPr/>
                    <a:lstStyle/>
                    <a:p>
                      <a:pPr>
                        <a:defRPr sz="1250" b="1"/>
                      </a:pPr>
                      <a:r>
                        <a:t>Concept</a:t>
                      </a:r>
                    </a:p>
                  </a:txBody>
                  <a:tcPr/>
                </a:tc>
                <a:tc>
                  <a:txBody>
                    <a:bodyPr/>
                    <a:lstStyle/>
                    <a:p>
                      <a:pPr>
                        <a:defRPr sz="1250" b="1"/>
                      </a:pPr>
                      <a:r>
                        <a:t>What it means</a:t>
                      </a:r>
                    </a:p>
                  </a:txBody>
                  <a:tcPr/>
                </a:tc>
              </a:tr>
              <a:tr h="365760">
                <a:tc>
                  <a:txBody>
                    <a:bodyPr/>
                    <a:lstStyle/>
                    <a:p>
                      <a:pPr>
                        <a:defRPr sz="1200" b="0"/>
                      </a:pPr>
                      <a:r>
                        <a:t>server / client</a:t>
                      </a:r>
                    </a:p>
                  </a:txBody>
                  <a:tcPr/>
                </a:tc>
                <a:tc>
                  <a:txBody>
                    <a:bodyPr/>
                    <a:lstStyle/>
                    <a:p>
                      <a:pPr>
                        <a:defRPr sz="1200" b="0"/>
                      </a:pPr>
                      <a:r>
                        <a:t>iperf -s waits on the server; iperf -c &lt;server&gt; connects and sends</a:t>
                      </a:r>
                    </a:p>
                  </a:txBody>
                  <a:tcPr/>
                </a:tc>
              </a:tr>
              <a:tr h="365760">
                <a:tc>
                  <a:txBody>
                    <a:bodyPr/>
                    <a:lstStyle/>
                    <a:p>
                      <a:pPr>
                        <a:defRPr sz="1200" b="0"/>
                      </a:pPr>
                      <a:r>
                        <a:t>duration (-t)</a:t>
                      </a:r>
                    </a:p>
                  </a:txBody>
                  <a:tcPr/>
                </a:tc>
                <a:tc>
                  <a:txBody>
                    <a:bodyPr/>
                    <a:lstStyle/>
                    <a:p>
                      <a:pPr>
                        <a:defRPr sz="1200" b="0"/>
                      </a:pPr>
                      <a:r>
                        <a:t>how long the push lasts — 10 s default; longer smooths out bursts</a:t>
                      </a:r>
                    </a:p>
                  </a:txBody>
                  <a:tcPr/>
                </a:tc>
              </a:tr>
              <a:tr h="365760">
                <a:tc>
                  <a:txBody>
                    <a:bodyPr/>
                    <a:lstStyle/>
                    <a:p>
                      <a:pPr>
                        <a:defRPr sz="1200" b="0"/>
                      </a:pPr>
                      <a:r>
                        <a:t>parallel streams (-P)</a:t>
                      </a:r>
                    </a:p>
                  </a:txBody>
                  <a:tcPr/>
                </a:tc>
                <a:tc>
                  <a:txBody>
                    <a:bodyPr/>
                    <a:lstStyle/>
                    <a:p>
                      <a:pPr>
                        <a:defRPr sz="1200" b="0"/>
                      </a:pPr>
                      <a:r>
                        <a:t>several TCP connections at once — one stream often can't fill a fat pipe</a:t>
                      </a:r>
                    </a:p>
                  </a:txBody>
                  <a:tcPr/>
                </a:tc>
              </a:tr>
              <a:tr h="365760">
                <a:tc>
                  <a:txBody>
                    <a:bodyPr/>
                    <a:lstStyle/>
                    <a:p>
                      <a:pPr>
                        <a:defRPr sz="1200" b="0"/>
                      </a:pPr>
                      <a:r>
                        <a:t>full-duplex</a:t>
                      </a:r>
                    </a:p>
                  </a:txBody>
                  <a:tcPr/>
                </a:tc>
                <a:tc>
                  <a:txBody>
                    <a:bodyPr/>
                    <a:lstStyle/>
                    <a:p>
                      <a:pPr>
                        <a:defRPr sz="1200" b="0"/>
                      </a:pPr>
                      <a:r>
                        <a:t>both directions on the same connection at the same time — like real traffic</a:t>
                      </a:r>
                    </a:p>
                  </a:txBody>
                  <a:tcPr/>
                </a:tc>
              </a:tr>
              <a:tr h="365760">
                <a:tc>
                  <a:txBody>
                    <a:bodyPr/>
                    <a:lstStyle/>
                    <a:p>
                      <a:pPr>
                        <a:defRPr sz="1200" b="0"/>
                      </a:pPr>
                      <a:r>
                        <a:t>TCP vs UDP</a:t>
                      </a:r>
                    </a:p>
                  </a:txBody>
                  <a:tcPr/>
                </a:tc>
                <a:tc>
                  <a:txBody>
                    <a:bodyPr/>
                    <a:lstStyle/>
                    <a:p>
                      <a:pPr>
                        <a:defRPr sz="1200" b="0"/>
                      </a:pPr>
                      <a:r>
                        <a:t>TCP measures achievable throughput; UDP sends a fixed rate to measure loss/jitter</a:t>
                      </a:r>
                    </a:p>
                  </a:txBody>
                  <a:tcPr/>
                </a:tc>
              </a:tr>
              <a:tr h="365760">
                <a:tc>
                  <a:txBody>
                    <a:bodyPr/>
                    <a:lstStyle/>
                    <a:p>
                      <a:pPr>
                        <a:defRPr sz="1200" b="0"/>
                      </a:pPr>
                      <a:r>
                        <a:t>the report</a:t>
                      </a:r>
                    </a:p>
                  </a:txBody>
                  <a:tcPr/>
                </a:tc>
                <a:tc>
                  <a:txBody>
                    <a:bodyPr/>
                    <a:lstStyle/>
                    <a:p>
                      <a:pPr>
                        <a:defRPr sz="1200" b="0"/>
                      </a:pPr>
                      <a:r>
                        <a:t>bytes moved and bandwidth, per interval and in total</a:t>
                      </a:r>
                    </a:p>
                  </a:txBody>
                  <a:tcPr/>
                </a:tc>
              </a:tr>
            </a:tbl>
          </a:graphicData>
        </a:graphic>
      </p:graphicFrame>
      <p:sp>
        <p:nvSpPr>
          <p:cNvPr id="5" name="TextBox 4"/>
          <p:cNvSpPr txBox="1"/>
          <p:nvPr/>
        </p:nvSpPr>
        <p:spPr>
          <a:xfrm>
            <a:off x="822960" y="4983480"/>
            <a:ext cx="10607040" cy="621792"/>
          </a:xfrm>
          <a:prstGeom prst="rect">
            <a:avLst/>
          </a:prstGeom>
          <a:noFill/>
        </p:spPr>
        <p:txBody>
          <a:bodyPr wrap="square">
            <a:spAutoFit/>
          </a:bodyPr>
          <a:lstStyle/>
          <a:p>
            <a:pPr>
              <a:defRPr sz="1400"/>
            </a:pPr>
            <a:r>
              <a:t>Given enough CPU, iperf will saturate a 1G / 10G / 25G link — exactly what a stress test needs. But it thinks in pairs: it has no idea a fleet exists. That's the orchestrator's job.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iperf2 — and why an orchestrator at all</a:t>
            </a:r>
          </a:p>
        </p:txBody>
      </p:sp>
      <p:sp>
        <p:nvSpPr>
          <p:cNvPr id="3" name="Content Placeholder 2"/>
          <p:cNvSpPr>
            <a:spLocks noGrp="1"/>
          </p:cNvSpPr>
          <p:nvPr>
            <p:ph idx="1"/>
          </p:nvPr>
        </p:nvSpPr>
        <p:spPr/>
        <p:txBody>
          <a:bodyPr wrap="square">
            <a:normAutofit/>
          </a:bodyPr>
          <a:lstStyle/>
          <a:p>
            <a:pPr>
              <a:defRPr sz="1600"/>
            </a:pPr>
            <a:r>
              <a:t>Two iperfs exist. iperf3's server takes one client at a time — in a mesh, everyone else gets "server busy". At 100 hosts the workaround is 100 daemons × 100 ports per host. iperf2 takes concurrent clients on one port, and its --full-duplex tests both directions on one connection. (The first version used iperf3; the architecture collapsed under its own workarounds.)</a:t>
            </a:r>
          </a:p>
          <a:p>
            <a:pPr>
              <a:defRPr sz="1600"/>
            </a:pPr>
            <a:r>
              <a:t>A mesh has quadratic moving parts — 4,950 pairs at N=100 — and making it efficient is the orchestrator's job:</a:t>
            </a:r>
          </a:p>
          <a:p>
            <a:pPr lvl="1">
              <a:defRPr sz="1400"/>
            </a:pPr>
            <a:r>
              <a:t>Everyone starts together: one "start at" timestamp is pushed out; every host waits for it and fires within a fraction of a second.</a:t>
            </a:r>
          </a:p>
          <a:p>
            <a:pPr lvl="1">
              <a:defRPr sz="1400"/>
            </a:pPr>
            <a:r>
              <a:t>The work is spread fairly: a parity rule on host positions gives every host ~half the client jobs (49–50 each at N=100, instead of one host running 99).</a:t>
            </a:r>
          </a:p>
          <a:p>
            <a:pPr lvl="1">
              <a:defRPr sz="1400"/>
            </a:pPr>
            <a:r>
              <a:t>Results come home fast: one archive per host instead of thousands of copies — minutes, not the ~80 minutes it once took.</a:t>
            </a:r>
          </a:p>
          <a:p>
            <a:pPr lvl="1">
              <a:defRPr sz="1400"/>
            </a:pPr>
            <a:r>
              <a:t>CPU is sampled everywhere during the run, because a throughput number without CPU next to it gets misread.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Running it, start to finish</a:t>
            </a:r>
          </a:p>
        </p:txBody>
      </p:sp>
      <p:sp>
        <p:nvSpPr>
          <p:cNvPr id="3" name="TextBox 2"/>
          <p:cNvSpPr txBox="1"/>
          <p:nvPr/>
        </p:nvSpPr>
        <p:spPr>
          <a:xfrm>
            <a:off x="640080" y="1234440"/>
            <a:ext cx="10972800" cy="448056"/>
          </a:xfrm>
          <a:prstGeom prst="rect">
            <a:avLst/>
          </a:prstGeom>
          <a:noFill/>
        </p:spPr>
        <p:txBody>
          <a:bodyPr wrap="none">
            <a:spAutoFit/>
          </a:bodyPr>
          <a:lstStyle/>
          <a:p>
            <a:pPr>
              <a:defRPr sz="1300">
                <a:solidFill>
                  <a:srgbClr val="24354A"/>
                </a:solidFill>
                <a:latin typeface="Consolas"/>
              </a:defRPr>
            </a:pPr>
            <a:r>
              <a:t>iperf-orchestrator --servers servers.txt all</a:t>
            </a:r>
          </a:p>
        </p:txBody>
      </p:sp>
      <p:sp>
        <p:nvSpPr>
          <p:cNvPr id="4" name="Rounded Rectangle 3"/>
          <p:cNvSpPr/>
          <p:nvPr/>
        </p:nvSpPr>
        <p:spPr>
          <a:xfrm>
            <a:off x="640080" y="1819656"/>
            <a:ext cx="1887321"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start-servers</a:t>
            </a:r>
          </a:p>
          <a:p>
            <a:pPr>
              <a:defRPr sz="1000">
                <a:solidFill>
                  <a:srgbClr val="F0F3F6"/>
                </a:solidFill>
              </a:defRPr>
            </a:pPr>
            <a:r>
              <a:t>iperf comes up everywhere</a:t>
            </a:r>
          </a:p>
        </p:txBody>
      </p:sp>
      <p:sp>
        <p:nvSpPr>
          <p:cNvPr id="5" name="TextBox 4"/>
          <p:cNvSpPr txBox="1"/>
          <p:nvPr/>
        </p:nvSpPr>
        <p:spPr>
          <a:xfrm>
            <a:off x="2527401" y="2075688"/>
            <a:ext cx="384048" cy="365760"/>
          </a:xfrm>
          <a:prstGeom prst="rect">
            <a:avLst/>
          </a:prstGeom>
          <a:noFill/>
        </p:spPr>
        <p:txBody>
          <a:bodyPr wrap="none">
            <a:spAutoFit/>
          </a:bodyPr>
          <a:lstStyle/>
          <a:p>
            <a:pPr>
              <a:defRPr sz="1600" b="1">
                <a:solidFill>
                  <a:srgbClr val="3E5C76"/>
                </a:solidFill>
              </a:defRPr>
            </a:pPr>
            <a:r>
              <a:t>→</a:t>
            </a:r>
          </a:p>
        </p:txBody>
      </p:sp>
      <p:sp>
        <p:nvSpPr>
          <p:cNvPr id="6" name="Rounded Rectangle 5"/>
          <p:cNvSpPr/>
          <p:nvPr/>
        </p:nvSpPr>
        <p:spPr>
          <a:xfrm>
            <a:off x="2911449" y="181965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run-tests</a:t>
            </a:r>
          </a:p>
          <a:p>
            <a:pPr>
              <a:defRPr sz="1000">
                <a:solidFill>
                  <a:srgbClr val="F0F3F6"/>
                </a:solidFill>
              </a:defRPr>
            </a:pPr>
            <a:r>
              <a:t>the synchronized mesh</a:t>
            </a:r>
          </a:p>
        </p:txBody>
      </p:sp>
      <p:sp>
        <p:nvSpPr>
          <p:cNvPr id="7" name="TextBox 6"/>
          <p:cNvSpPr txBox="1"/>
          <p:nvPr/>
        </p:nvSpPr>
        <p:spPr>
          <a:xfrm>
            <a:off x="4798771" y="2075688"/>
            <a:ext cx="384048" cy="365760"/>
          </a:xfrm>
          <a:prstGeom prst="rect">
            <a:avLst/>
          </a:prstGeom>
          <a:noFill/>
        </p:spPr>
        <p:txBody>
          <a:bodyPr wrap="none">
            <a:spAutoFit/>
          </a:bodyPr>
          <a:lstStyle/>
          <a:p>
            <a:pPr>
              <a:defRPr sz="1600" b="1">
                <a:solidFill>
                  <a:srgbClr val="3E5C76"/>
                </a:solidFill>
              </a:defRPr>
            </a:pPr>
            <a:r>
              <a:t>→</a:t>
            </a:r>
          </a:p>
        </p:txBody>
      </p:sp>
      <p:sp>
        <p:nvSpPr>
          <p:cNvPr id="8" name="Rounded Rectangle 7"/>
          <p:cNvSpPr/>
          <p:nvPr/>
        </p:nvSpPr>
        <p:spPr>
          <a:xfrm>
            <a:off x="5182819" y="1819656"/>
            <a:ext cx="1887321"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collect-results</a:t>
            </a:r>
          </a:p>
          <a:p>
            <a:pPr>
              <a:defRPr sz="1000">
                <a:solidFill>
                  <a:srgbClr val="F0F3F6"/>
                </a:solidFill>
              </a:defRPr>
            </a:pPr>
            <a:r>
              <a:t>logs come home</a:t>
            </a:r>
          </a:p>
        </p:txBody>
      </p:sp>
      <p:sp>
        <p:nvSpPr>
          <p:cNvPr id="9" name="TextBox 8"/>
          <p:cNvSpPr txBox="1"/>
          <p:nvPr/>
        </p:nvSpPr>
        <p:spPr>
          <a:xfrm>
            <a:off x="7070140" y="2075688"/>
            <a:ext cx="384048" cy="365760"/>
          </a:xfrm>
          <a:prstGeom prst="rect">
            <a:avLst/>
          </a:prstGeom>
          <a:noFill/>
        </p:spPr>
        <p:txBody>
          <a:bodyPr wrap="none">
            <a:spAutoFit/>
          </a:bodyPr>
          <a:lstStyle/>
          <a:p>
            <a:pPr>
              <a:defRPr sz="1600" b="1">
                <a:solidFill>
                  <a:srgbClr val="3E5C76"/>
                </a:solidFill>
              </a:defRPr>
            </a:pPr>
            <a:r>
              <a:t>→</a:t>
            </a:r>
          </a:p>
        </p:txBody>
      </p:sp>
      <p:sp>
        <p:nvSpPr>
          <p:cNvPr id="10" name="Rounded Rectangle 9"/>
          <p:cNvSpPr/>
          <p:nvPr/>
        </p:nvSpPr>
        <p:spPr>
          <a:xfrm>
            <a:off x="7454188" y="1819656"/>
            <a:ext cx="1887321" cy="914400"/>
          </a:xfrm>
          <a:prstGeom prst="roundRect">
            <a:avLst/>
          </a:prstGeom>
          <a:solidFill>
            <a:srgbClr val="BE3B4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process</a:t>
            </a:r>
          </a:p>
          <a:p>
            <a:pPr>
              <a:defRPr sz="1000">
                <a:solidFill>
                  <a:srgbClr val="F0F3F6"/>
                </a:solidFill>
              </a:defRPr>
            </a:pPr>
            <a:r>
              <a:t>CSV, pivot, heatmap</a:t>
            </a:r>
          </a:p>
        </p:txBody>
      </p:sp>
      <p:sp>
        <p:nvSpPr>
          <p:cNvPr id="11" name="TextBox 10"/>
          <p:cNvSpPr txBox="1"/>
          <p:nvPr/>
        </p:nvSpPr>
        <p:spPr>
          <a:xfrm>
            <a:off x="9341510" y="2075688"/>
            <a:ext cx="384048" cy="365760"/>
          </a:xfrm>
          <a:prstGeom prst="rect">
            <a:avLst/>
          </a:prstGeom>
          <a:noFill/>
        </p:spPr>
        <p:txBody>
          <a:bodyPr wrap="none">
            <a:spAutoFit/>
          </a:bodyPr>
          <a:lstStyle/>
          <a:p>
            <a:pPr>
              <a:defRPr sz="1600" b="1">
                <a:solidFill>
                  <a:srgbClr val="3E5C76"/>
                </a:solidFill>
              </a:defRPr>
            </a:pPr>
            <a:r>
              <a:t>→</a:t>
            </a:r>
          </a:p>
        </p:txBody>
      </p:sp>
      <p:sp>
        <p:nvSpPr>
          <p:cNvPr id="12" name="Rounded Rectangle 11"/>
          <p:cNvSpPr/>
          <p:nvPr/>
        </p:nvSpPr>
        <p:spPr>
          <a:xfrm>
            <a:off x="9725558" y="1819656"/>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stop + cleanup</a:t>
            </a:r>
          </a:p>
          <a:p>
            <a:pPr>
              <a:defRPr sz="1000">
                <a:solidFill>
                  <a:srgbClr val="F0F3F6"/>
                </a:solidFill>
              </a:defRPr>
            </a:pPr>
            <a:r>
              <a:t>leave no trace</a:t>
            </a:r>
          </a:p>
        </p:txBody>
      </p:sp>
      <p:sp>
        <p:nvSpPr>
          <p:cNvPr id="13" name="TextBox 12"/>
          <p:cNvSpPr txBox="1"/>
          <p:nvPr/>
        </p:nvSpPr>
        <p:spPr>
          <a:xfrm>
            <a:off x="822960" y="2935224"/>
            <a:ext cx="10607040" cy="621792"/>
          </a:xfrm>
          <a:prstGeom prst="rect">
            <a:avLst/>
          </a:prstGeom>
          <a:noFill/>
        </p:spPr>
        <p:txBody>
          <a:bodyPr wrap="square">
            <a:spAutoFit/>
          </a:bodyPr>
          <a:lstStyle/>
          <a:p>
            <a:pPr>
              <a:defRPr sz="1400"/>
            </a:pPr>
            <a:r>
              <a:t>• Every run lands in its own timestamped folder — results/&lt;run-id&gt;/, with results/latest pointing at the newest. Old runs can be re-analyzed any time (--run-id).</a:t>
            </a:r>
          </a:p>
        </p:txBody>
      </p:sp>
      <p:sp>
        <p:nvSpPr>
          <p:cNvPr id="14" name="TextBox 13"/>
          <p:cNvSpPr txBox="1"/>
          <p:nvPr/>
        </p:nvSpPr>
        <p:spPr>
          <a:xfrm>
            <a:off x="822960" y="3630168"/>
            <a:ext cx="10607040" cy="932688"/>
          </a:xfrm>
          <a:prstGeom prst="rect">
            <a:avLst/>
          </a:prstGeom>
          <a:noFill/>
        </p:spPr>
        <p:txBody>
          <a:bodyPr wrap="square">
            <a:spAutoFit/>
          </a:bodyPr>
          <a:lstStyle/>
          <a:p>
            <a:pPr>
              <a:defRPr sz="1400"/>
            </a:pPr>
            <a:r>
              <a:t>• Reading a run, in order: ① the heatmap — a red *row* means that server sends slowly to everyone; a red *column* means everyone struggles to reach it. ② the CPU summary — if a "slow" host's CPU was pegged, you measured the host, not the network. ③ results-summary — percentiles plus the five slowest pairs.</a:t>
            </a:r>
          </a:p>
        </p:txBody>
      </p:sp>
      <p:sp>
        <p:nvSpPr>
          <p:cNvPr id="15" name="TextBox 14"/>
          <p:cNvSpPr txBox="1"/>
          <p:nvPr/>
        </p:nvSpPr>
        <p:spPr>
          <a:xfrm>
            <a:off x="822960" y="4636008"/>
            <a:ext cx="10607040" cy="932688"/>
          </a:xfrm>
          <a:prstGeom prst="rect">
            <a:avLst/>
          </a:prstGeom>
          <a:noFill/>
        </p:spPr>
        <p:txBody>
          <a:bodyPr wrap="square">
            <a:spAutoFit/>
          </a:bodyPr>
          <a:lstStyle/>
          <a:p>
            <a:pPr>
              <a:defRPr sz="1400"/>
            </a:pPr>
            <a:r>
              <a:t>• Useful switches: --dry-run (show what would run, run nothing) · --keep-going (finish past a dead host) · --resume (pick up an aborted run) · --duration / -P (longer or multi-stream tests). Every switch is also an environment variable.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four run modes</a:t>
            </a:r>
          </a:p>
        </p:txBody>
      </p:sp>
      <p:sp>
        <p:nvSpPr>
          <p:cNvPr id="3" name="TextBox 2"/>
          <p:cNvSpPr txBox="1"/>
          <p:nvPr/>
        </p:nvSpPr>
        <p:spPr>
          <a:xfrm>
            <a:off x="822960" y="1234440"/>
            <a:ext cx="10607040" cy="621792"/>
          </a:xfrm>
          <a:prstGeom prst="rect">
            <a:avLst/>
          </a:prstGeom>
          <a:noFill/>
        </p:spPr>
        <p:txBody>
          <a:bodyPr wrap="square">
            <a:spAutoFit/>
          </a:bodyPr>
          <a:lstStyle/>
          <a:p>
            <a:pPr>
              <a:defRPr sz="1400"/>
            </a:pPr>
            <a:r>
              <a:t>Every run answers "how fast?" — the mode decides *how much traffic shares the wire at once*. That one choice trades realism against isolation against wall-clock time.</a:t>
            </a:r>
          </a:p>
        </p:txBody>
      </p:sp>
      <p:graphicFrame>
        <p:nvGraphicFramePr>
          <p:cNvPr id="4" name="Table 3"/>
          <p:cNvGraphicFramePr>
            <a:graphicFrameLocks noGrp="1"/>
          </p:cNvGraphicFramePr>
          <p:nvPr/>
        </p:nvGraphicFramePr>
        <p:xfrm>
          <a:off x="640080" y="1929384"/>
          <a:ext cx="10972800" cy="1828800"/>
        </p:xfrm>
        <a:graphic>
          <a:graphicData uri="http://schemas.openxmlformats.org/drawingml/2006/table">
            <a:tbl>
              <a:tblPr firstRow="1" bandRow="1">
                <a:tableStyleId>{5C22544A-7EE6-4342-B048-85BDC9FD1C3A}</a:tableStyleId>
              </a:tblPr>
              <a:tblGrid>
                <a:gridCol w="2743200"/>
                <a:gridCol w="2743200"/>
                <a:gridCol w="2743200"/>
                <a:gridCol w="2743200"/>
              </a:tblGrid>
              <a:tr h="365760">
                <a:tc>
                  <a:txBody>
                    <a:bodyPr/>
                    <a:lstStyle/>
                    <a:p>
                      <a:pPr>
                        <a:defRPr sz="1250" b="1"/>
                      </a:pPr>
                      <a:r>
                        <a:t>Mode</a:t>
                      </a:r>
                    </a:p>
                  </a:txBody>
                  <a:tcPr/>
                </a:tc>
                <a:tc>
                  <a:txBody>
                    <a:bodyPr/>
                    <a:lstStyle/>
                    <a:p>
                      <a:pPr>
                        <a:defRPr sz="1250" b="1"/>
                      </a:pPr>
                      <a:r>
                        <a:t>On the wire at once</a:t>
                      </a:r>
                    </a:p>
                  </a:txBody>
                  <a:tcPr/>
                </a:tc>
                <a:tc>
                  <a:txBody>
                    <a:bodyPr/>
                    <a:lstStyle/>
                    <a:p>
                      <a:pPr>
                        <a:defRPr sz="1250" b="1"/>
                      </a:pPr>
                      <a:r>
                        <a:t>@ 100 hosts</a:t>
                      </a:r>
                    </a:p>
                  </a:txBody>
                  <a:tcPr/>
                </a:tc>
                <a:tc>
                  <a:txBody>
                    <a:bodyPr/>
                    <a:lstStyle/>
                    <a:p>
                      <a:pPr>
                        <a:defRPr sz="1250" b="1"/>
                      </a:pPr>
                      <a:r>
                        <a:t>In one line</a:t>
                      </a:r>
                    </a:p>
                  </a:txBody>
                  <a:tcPr/>
                </a:tc>
              </a:tr>
              <a:tr h="365760">
                <a:tc>
                  <a:txBody>
                    <a:bodyPr/>
                    <a:lstStyle/>
                    <a:p>
                      <a:pPr>
                        <a:defRPr sz="1200" b="0"/>
                      </a:pPr>
                      <a:r>
                        <a:t>parallel (default)</a:t>
                      </a:r>
                    </a:p>
                  </a:txBody>
                  <a:tcPr/>
                </a:tc>
                <a:tc>
                  <a:txBody>
                    <a:bodyPr/>
                    <a:lstStyle/>
                    <a:p>
                      <a:pPr>
                        <a:defRPr sz="1200" b="0"/>
                      </a:pPr>
                      <a:r>
                        <a:t>everything</a:t>
                      </a:r>
                    </a:p>
                  </a:txBody>
                  <a:tcPr/>
                </a:tc>
                <a:tc>
                  <a:txBody>
                    <a:bodyPr/>
                    <a:lstStyle/>
                    <a:p>
                      <a:pPr>
                        <a:defRPr sz="1200" b="0"/>
                      </a:pPr>
                      <a:r>
                        <a:t>~1 min</a:t>
                      </a:r>
                    </a:p>
                  </a:txBody>
                  <a:tcPr/>
                </a:tc>
                <a:tc>
                  <a:txBody>
                    <a:bodyPr/>
                    <a:lstStyle/>
                    <a:p>
                      <a:pPr>
                        <a:defRPr sz="1200" b="0"/>
                      </a:pPr>
                      <a:r>
                        <a:t>the stress test — load it all, see what breaks</a:t>
                      </a:r>
                    </a:p>
                  </a:txBody>
                  <a:tcPr/>
                </a:tc>
              </a:tr>
              <a:tr h="365760">
                <a:tc>
                  <a:txBody>
                    <a:bodyPr/>
                    <a:lstStyle/>
                    <a:p>
                      <a:pPr>
                        <a:defRPr sz="1200" b="0"/>
                      </a:pPr>
                      <a:r>
                        <a:t>sequential-host</a:t>
                      </a:r>
                    </a:p>
                  </a:txBody>
                  <a:tcPr/>
                </a:tc>
                <a:tc>
                  <a:txBody>
                    <a:bodyPr/>
                    <a:lstStyle/>
                    <a:p>
                      <a:pPr>
                        <a:defRPr sz="1200" b="0"/>
                      </a:pPr>
                      <a:r>
                        <a:t>one host's tests</a:t>
                      </a:r>
                    </a:p>
                  </a:txBody>
                  <a:tcPr/>
                </a:tc>
                <a:tc>
                  <a:txBody>
                    <a:bodyPr/>
                    <a:lstStyle/>
                    <a:p>
                      <a:pPr>
                        <a:defRPr sz="1200" b="0"/>
                      </a:pPr>
                      <a:r>
                        <a:t>~17 min</a:t>
                      </a:r>
                    </a:p>
                  </a:txBody>
                  <a:tcPr/>
                </a:tc>
                <a:tc>
                  <a:txBody>
                    <a:bodyPr/>
                    <a:lstStyle/>
                    <a:p>
                      <a:pPr>
                        <a:defRPr sz="1200" b="0"/>
                      </a:pPr>
                      <a:r>
                        <a:t>what is each *server* capable of?</a:t>
                      </a:r>
                    </a:p>
                  </a:txBody>
                  <a:tcPr/>
                </a:tc>
              </a:tr>
              <a:tr h="365760">
                <a:tc>
                  <a:txBody>
                    <a:bodyPr/>
                    <a:lstStyle/>
                    <a:p>
                      <a:pPr>
                        <a:defRPr sz="1200" b="0"/>
                      </a:pPr>
                      <a:r>
                        <a:t>sequential-pair</a:t>
                      </a:r>
                    </a:p>
                  </a:txBody>
                  <a:tcPr/>
                </a:tc>
                <a:tc>
                  <a:txBody>
                    <a:bodyPr/>
                    <a:lstStyle/>
                    <a:p>
                      <a:pPr>
                        <a:defRPr sz="1200" b="0"/>
                      </a:pPr>
                      <a:r>
                        <a:t>one connection</a:t>
                      </a:r>
                    </a:p>
                  </a:txBody>
                  <a:tcPr/>
                </a:tc>
                <a:tc>
                  <a:txBody>
                    <a:bodyPr/>
                    <a:lstStyle/>
                    <a:p>
                      <a:pPr>
                        <a:defRPr sz="1200" b="0"/>
                      </a:pPr>
                      <a:r>
                        <a:t>~14 h</a:t>
                      </a:r>
                    </a:p>
                  </a:txBody>
                  <a:tcPr/>
                </a:tc>
                <a:tc>
                  <a:txBody>
                    <a:bodyPr/>
                    <a:lstStyle/>
                    <a:p>
                      <a:pPr>
                        <a:defRPr sz="1200" b="0"/>
                      </a:pPr>
                      <a:r>
                        <a:t>the microscope — cleanest possible pair numbers</a:t>
                      </a:r>
                    </a:p>
                  </a:txBody>
                  <a:tcPr/>
                </a:tc>
              </a:tr>
              <a:tr h="365760">
                <a:tc>
                  <a:txBody>
                    <a:bodyPr/>
                    <a:lstStyle/>
                    <a:p>
                      <a:pPr>
                        <a:defRPr sz="1200" b="0"/>
                      </a:pPr>
                      <a:r>
                        <a:t>rolling</a:t>
                      </a:r>
                    </a:p>
                  </a:txBody>
                  <a:tcPr/>
                </a:tc>
                <a:tc>
                  <a:txBody>
                    <a:bodyPr/>
                    <a:lstStyle/>
                    <a:p>
                      <a:pPr>
                        <a:defRPr sz="1200" b="0"/>
                      </a:pPr>
                      <a:r>
                        <a:t>a few per host, continuously</a:t>
                      </a:r>
                    </a:p>
                  </a:txBody>
                  <a:tcPr/>
                </a:tc>
                <a:tc>
                  <a:txBody>
                    <a:bodyPr/>
                    <a:lstStyle/>
                    <a:p>
                      <a:pPr>
                        <a:defRPr sz="1200" b="0"/>
                      </a:pPr>
                      <a:r>
                        <a:t>you choose</a:t>
                      </a:r>
                    </a:p>
                  </a:txBody>
                  <a:tcPr/>
                </a:tc>
                <a:tc>
                  <a:txBody>
                    <a:bodyPr/>
                    <a:lstStyle/>
                    <a:p>
                      <a:pPr>
                        <a:defRPr sz="1200" b="0"/>
                      </a:pPr>
                      <a:r>
                        <a:t>fleets too big to mesh; long soaks</a:t>
                      </a:r>
                    </a:p>
                  </a:txBody>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parallel — the stress test (default)</a:t>
            </a:r>
          </a:p>
        </p:txBody>
      </p:sp>
      <p:sp>
        <p:nvSpPr>
          <p:cNvPr id="3" name="Content Placeholder 2"/>
          <p:cNvSpPr>
            <a:spLocks noGrp="1"/>
          </p:cNvSpPr>
          <p:nvPr>
            <p:ph idx="1"/>
          </p:nvPr>
        </p:nvSpPr>
        <p:spPr/>
        <p:txBody>
          <a:bodyPr wrap="square">
            <a:normAutofit/>
          </a:bodyPr>
          <a:lstStyle/>
          <a:p>
            <a:pPr>
              <a:defRPr sz="1600"/>
            </a:pPr>
            <a:r>
              <a:t>What happens: after a synchronized start, every host fires all of its tests at once — the entire fabric is under full bidirectional load within a second.</a:t>
            </a:r>
          </a:p>
          <a:p>
            <a:pPr>
              <a:defRPr sz="1600"/>
            </a:pPr>
            <a:r>
              <a:t>When to use it: accepting a new fabric, validating a change window, or any time the question is "what breaks under full load?"</a:t>
            </a:r>
          </a:p>
          <a:p>
            <a:pPr>
              <a:defRPr sz="1600"/>
            </a:pPr>
            <a:r>
              <a:t>How: iperf-orchestrator --servers servers.txt all — parallel is the default.</a:t>
            </a:r>
          </a:p>
          <a:p>
            <a:pPr>
              <a:defRPr sz="1600"/>
            </a:pPr>
            <a:r>
              <a:t>Time: about one test-duration regardless of fleet size (~50 s at N=100).</a:t>
            </a:r>
          </a:p>
          <a:p>
            <a:pPr>
              <a:defRPr sz="1600"/>
            </a:pPr>
            <a:r>
              <a:t>Reading the results: every pair shares the fabric, so numbers *below* line rate everywhere are normal — what matters is the outliers: dark rows/columns on the heatmap, and hosts whose CPU pegged. This mode finds congestion, oversubscription and weak links; it does not give you any single pair's clean maximum.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sequential-host — one server at a time</a:t>
            </a:r>
          </a:p>
        </p:txBody>
      </p:sp>
      <p:sp>
        <p:nvSpPr>
          <p:cNvPr id="3" name="Content Placeholder 2"/>
          <p:cNvSpPr>
            <a:spLocks noGrp="1"/>
          </p:cNvSpPr>
          <p:nvPr>
            <p:ph idx="1"/>
          </p:nvPr>
        </p:nvSpPr>
        <p:spPr/>
        <p:txBody>
          <a:bodyPr wrap="square">
            <a:normAutofit/>
          </a:bodyPr>
          <a:lstStyle/>
          <a:p>
            <a:pPr>
              <a:defRPr sz="1600"/>
            </a:pPr>
            <a:r>
              <a:t>What happens: each host in turn runs all of its tests in parallel while every other host stays quiet.</a:t>
            </a:r>
          </a:p>
          <a:p>
            <a:pPr>
              <a:defRPr sz="1600"/>
            </a:pPr>
            <a:r>
              <a:t>When to use it: "what is this *server* capable of?" — clean per-host numbers with no neighbors interfering; the natural follow-up for a host that looked bad under parallel.</a:t>
            </a:r>
          </a:p>
          <a:p>
            <a:pPr>
              <a:defRPr sz="1600"/>
            </a:pPr>
            <a:r>
              <a:t>How: iperf-orchestrator --servers servers.txt all sequential-host</a:t>
            </a:r>
          </a:p>
          <a:p>
            <a:pPr>
              <a:defRPr sz="1600"/>
            </a:pPr>
            <a:r>
              <a:t>Time: ~N × duration (~17 min at N=100).</a:t>
            </a:r>
          </a:p>
          <a:p>
            <a:pPr>
              <a:defRPr sz="1600"/>
            </a:pPr>
            <a:r>
              <a:t>Reading the results: with the fabric to itself, each host should approach line rate. One that is still slow has a *local* problem — NIC, driver, CPU — not congestion. Compare against the parallel run: fine alone but bad in parallel = contention; bad in both = the host itself.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sequential-pair — the microscope</a:t>
            </a:r>
          </a:p>
        </p:txBody>
      </p:sp>
      <p:sp>
        <p:nvSpPr>
          <p:cNvPr id="3" name="Content Placeholder 2"/>
          <p:cNvSpPr>
            <a:spLocks noGrp="1"/>
          </p:cNvSpPr>
          <p:nvPr>
            <p:ph idx="1"/>
          </p:nvPr>
        </p:nvSpPr>
        <p:spPr/>
        <p:txBody>
          <a:bodyPr wrap="square">
            <a:normAutofit/>
          </a:bodyPr>
          <a:lstStyle/>
          <a:p>
            <a:pPr>
              <a:defRPr sz="1600"/>
            </a:pPr>
            <a:r>
              <a:t>What happens: exactly one connection on the wire at any moment, pair after pair.</a:t>
            </a:r>
          </a:p>
          <a:p>
            <a:pPr>
              <a:defRPr sz="1600"/>
            </a:pPr>
            <a:r>
              <a:t>When to use it: confirming a single suspect pair with the cleanest number possible — almost never for a whole fleet.</a:t>
            </a:r>
          </a:p>
          <a:p>
            <a:pPr>
              <a:defRPr sz="1600"/>
            </a:pPr>
            <a:r>
              <a:t>How: iperf-orchestrator --servers suspects.txt all sequential-pair — put just the suspect hosts in the list.</a:t>
            </a:r>
          </a:p>
          <a:p>
            <a:pPr>
              <a:defRPr sz="1600"/>
            </a:pPr>
            <a:r>
              <a:t>Time: N(N−1)/2 × duration. At N=100 that's ~14 hours; at N=4 it's a minute. Priced accordingly.</a:t>
            </a:r>
          </a:p>
          <a:p>
            <a:pPr>
              <a:defRPr sz="1600"/>
            </a:pPr>
            <a:r>
              <a:t>Reading the results: as clean as pair numbers get — nothing else was running. If a pair is still slow here, the *path itself* is the problem: hand it to netmesh paths to find the hop.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rolling — fleets too big to mesh</a:t>
            </a:r>
          </a:p>
        </p:txBody>
      </p:sp>
      <p:sp>
        <p:nvSpPr>
          <p:cNvPr id="3" name="Content Placeholder 2"/>
          <p:cNvSpPr>
            <a:spLocks noGrp="1"/>
          </p:cNvSpPr>
          <p:nvPr>
            <p:ph idx="1"/>
          </p:nvPr>
        </p:nvSpPr>
        <p:spPr/>
        <p:txBody>
          <a:bodyPr wrap="square">
            <a:normAutofit/>
          </a:bodyPr>
          <a:lstStyle/>
          <a:p>
            <a:pPr>
              <a:defRPr sz="1600"/>
            </a:pPr>
            <a:r>
              <a:t>What happens: no grand schedule. Each host just keeps a couple of short tests running — always against its *least-tested* peer — for as long as you budget.</a:t>
            </a:r>
          </a:p>
          <a:p>
            <a:pPr>
              <a:defRPr sz="1600"/>
            </a:pPr>
            <a:r>
              <a:t>When to use it: very large fleets, where even the parallel mesh's setup and load become the problem; long soak tests.</a:t>
            </a:r>
          </a:p>
          <a:p>
            <a:pPr>
              <a:defRPr sz="1600"/>
            </a:pPr>
            <a:r>
              <a:t>How: iperf-orchestrator --servers servers.txt --total-time 1800 --flows 2 all rolling</a:t>
            </a:r>
          </a:p>
          <a:p>
            <a:pPr>
              <a:defRPr sz="1600"/>
            </a:pPr>
            <a:r>
              <a:t>Time: exactly the budget you give it. Per-host load stays constant no matter how big the fleet is.</a:t>
            </a:r>
          </a:p>
          <a:p>
            <a:pPr>
              <a:defRPr sz="1600"/>
            </a:pPr>
            <a:r>
              <a:t>Reading the results: a survey, not a snapshot — coverage evens out over time because every host picks its least-tested peer. Read the percentiles and the slowest pairs; give it enough time that every pair has been visited a few times.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your first run</a:t>
            </a:r>
          </a:p>
        </p:txBody>
      </p:sp>
      <p:sp>
        <p:nvSpPr>
          <p:cNvPr id="3" name="TextBox 2"/>
          <p:cNvSpPr txBox="1"/>
          <p:nvPr/>
        </p:nvSpPr>
        <p:spPr>
          <a:xfrm>
            <a:off x="640080" y="1234440"/>
            <a:ext cx="10972800" cy="3739896"/>
          </a:xfrm>
          <a:prstGeom prst="rect">
            <a:avLst/>
          </a:prstGeom>
          <a:noFill/>
        </p:spPr>
        <p:txBody>
          <a:bodyPr wrap="none">
            <a:spAutoFit/>
          </a:bodyPr>
          <a:lstStyle/>
          <a:p>
            <a:pPr>
              <a:defRPr sz="1300">
                <a:solidFill>
                  <a:srgbClr val="24354A"/>
                </a:solidFill>
                <a:latin typeface="Consolas"/>
              </a:defRPr>
            </a:pPr>
            <a:r>
              <a:t># 0. install on the machine you'll drive from</a:t>
            </a:r>
          </a:p>
          <a:p>
            <a:pPr>
              <a:defRPr sz="1300">
                <a:solidFill>
                  <a:srgbClr val="24354A"/>
                </a:solidFill>
                <a:latin typeface="Consolas"/>
              </a:defRPr>
            </a:pPr>
            <a:r>
              <a:t>#    (servers need only iperf2 + your ssh key)</a:t>
            </a:r>
          </a:p>
          <a:p>
            <a:pPr>
              <a:defRPr sz="1300">
                <a:solidFill>
                  <a:srgbClr val="24354A"/>
                </a:solidFill>
                <a:latin typeface="Consolas"/>
              </a:defRPr>
            </a:pPr>
            <a:r>
              <a:t>pip install iperf-orchestrator</a:t>
            </a:r>
          </a:p>
          <a:p>
            <a:pPr>
              <a:defRPr sz="1300">
                <a:solidFill>
                  <a:srgbClr val="24354A"/>
                </a:solidFill>
                <a:latin typeface="Consolas"/>
              </a:defRPr>
            </a:pPr>
            <a:r>
              <a:t> </a:t>
            </a:r>
          </a:p>
          <a:p>
            <a:pPr>
              <a:defRPr sz="1300">
                <a:solidFill>
                  <a:srgbClr val="24354A"/>
                </a:solidFill>
                <a:latin typeface="Consolas"/>
              </a:defRPr>
            </a:pPr>
            <a:r>
              <a:t># 1. list your servers, one per line</a:t>
            </a:r>
          </a:p>
          <a:p>
            <a:pPr>
              <a:defRPr sz="1300">
                <a:solidFill>
                  <a:srgbClr val="24354A"/>
                </a:solidFill>
                <a:latin typeface="Consolas"/>
              </a:defRPr>
            </a:pPr>
            <a:r>
              <a:t>printf '%s\n' 10.0.0.10 10.0.0.11 10.0.0.12 10.0.0.13 &gt; servers.txt</a:t>
            </a:r>
          </a:p>
          <a:p>
            <a:pPr>
              <a:defRPr sz="1300">
                <a:solidFill>
                  <a:srgbClr val="24354A"/>
                </a:solidFill>
                <a:latin typeface="Consolas"/>
              </a:defRPr>
            </a:pPr>
            <a:r>
              <a:t> </a:t>
            </a:r>
          </a:p>
          <a:p>
            <a:pPr>
              <a:defRPr sz="1300">
                <a:solidFill>
                  <a:srgbClr val="24354A"/>
                </a:solidFill>
                <a:latin typeface="Consolas"/>
              </a:defRPr>
            </a:pPr>
            <a:r>
              <a:t># 2. make key-based ssh work everywhere</a:t>
            </a:r>
          </a:p>
          <a:p>
            <a:pPr>
              <a:defRPr sz="1300">
                <a:solidFill>
                  <a:srgbClr val="24354A"/>
                </a:solidFill>
                <a:latin typeface="Consolas"/>
              </a:defRPr>
            </a:pPr>
            <a:r>
              <a:t>for h in $(grep -v '^#' servers.txt); do ssh-copy-id "$h"; done</a:t>
            </a:r>
          </a:p>
          <a:p>
            <a:pPr>
              <a:defRPr sz="1300">
                <a:solidFill>
                  <a:srgbClr val="24354A"/>
                </a:solidFill>
                <a:latin typeface="Consolas"/>
              </a:defRPr>
            </a:pPr>
            <a:r>
              <a:t> </a:t>
            </a:r>
          </a:p>
          <a:p>
            <a:pPr>
              <a:defRPr sz="1300">
                <a:solidFill>
                  <a:srgbClr val="24354A"/>
                </a:solidFill>
                <a:latin typeface="Consolas"/>
              </a:defRPr>
            </a:pPr>
            <a:r>
              <a:t># 3. preflight: local deps, then iperf2 + mpstat on every host</a:t>
            </a:r>
          </a:p>
          <a:p>
            <a:pPr>
              <a:defRPr sz="1300">
                <a:solidFill>
                  <a:srgbClr val="24354A"/>
                </a:solidFill>
                <a:latin typeface="Consolas"/>
              </a:defRPr>
            </a:pPr>
            <a:r>
              <a:t>iperf-orchestrator doctor</a:t>
            </a:r>
          </a:p>
          <a:p>
            <a:pPr>
              <a:defRPr sz="1300">
                <a:solidFill>
                  <a:srgbClr val="24354A"/>
                </a:solidFill>
                <a:latin typeface="Consolas"/>
              </a:defRPr>
            </a:pPr>
            <a:r>
              <a:t>iperf-orchestrator --servers servers.txt check-iperf</a:t>
            </a:r>
          </a:p>
          <a:p>
            <a:pPr>
              <a:defRPr sz="1300">
                <a:solidFill>
                  <a:srgbClr val="24354A"/>
                </a:solidFill>
                <a:latin typeface="Consolas"/>
              </a:defRPr>
            </a:pPr>
            <a:r>
              <a:t> </a:t>
            </a:r>
          </a:p>
          <a:p>
            <a:pPr>
              <a:defRPr sz="1300">
                <a:solidFill>
                  <a:srgbClr val="24354A"/>
                </a:solidFill>
                <a:latin typeface="Consolas"/>
              </a:defRPr>
            </a:pPr>
            <a:r>
              <a:t># 4. the whole pipeline, default (parallel) mode</a:t>
            </a:r>
          </a:p>
          <a:p>
            <a:pPr>
              <a:defRPr sz="1300">
                <a:solidFill>
                  <a:srgbClr val="24354A"/>
                </a:solidFill>
                <a:latin typeface="Consolas"/>
              </a:defRPr>
            </a:pPr>
            <a:r>
              <a:t>iperf-orchestrator --servers servers.txt all</a:t>
            </a:r>
          </a:p>
        </p:txBody>
      </p:sp>
      <p:sp>
        <p:nvSpPr>
          <p:cNvPr id="4" name="TextBox 3"/>
          <p:cNvSpPr txBox="1"/>
          <p:nvPr/>
        </p:nvSpPr>
        <p:spPr>
          <a:xfrm>
            <a:off x="822960" y="5111496"/>
            <a:ext cx="10607040" cy="621792"/>
          </a:xfrm>
          <a:prstGeom prst="rect">
            <a:avLst/>
          </a:prstGeom>
          <a:noFill/>
        </p:spPr>
        <p:txBody>
          <a:bodyPr wrap="square">
            <a:spAutoFit/>
          </a:bodyPr>
          <a:lstStyle/>
          <a:p>
            <a:pPr>
              <a:defRPr sz="1400"/>
            </a:pPr>
            <a:r>
              <a:t>• You'll watch the five stages run; per-host warnings are printed but don't stop the run. A few minutes later the results directory is announced.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reading it, and running it again</a:t>
            </a:r>
          </a:p>
        </p:txBody>
      </p:sp>
      <p:sp>
        <p:nvSpPr>
          <p:cNvPr id="3" name="TextBox 2"/>
          <p:cNvSpPr txBox="1"/>
          <p:nvPr/>
        </p:nvSpPr>
        <p:spPr>
          <a:xfrm>
            <a:off x="640080" y="1234440"/>
            <a:ext cx="10972800" cy="1764792"/>
          </a:xfrm>
          <a:prstGeom prst="rect">
            <a:avLst/>
          </a:prstGeom>
          <a:noFill/>
        </p:spPr>
        <p:txBody>
          <a:bodyPr wrap="none">
            <a:spAutoFit/>
          </a:bodyPr>
          <a:lstStyle/>
          <a:p>
            <a:pPr>
              <a:defRPr sz="1300">
                <a:solidFill>
                  <a:srgbClr val="24354A"/>
                </a:solidFill>
                <a:latin typeface="Consolas"/>
              </a:defRPr>
            </a:pPr>
            <a:r>
              <a:t>ls results/latest/                # iperf_results.csv  cpu_summary.csv</a:t>
            </a:r>
          </a:p>
          <a:p>
            <a:pPr>
              <a:defRPr sz="1300">
                <a:solidFill>
                  <a:srgbClr val="24354A"/>
                </a:solidFill>
                <a:latin typeface="Consolas"/>
              </a:defRPr>
            </a:pPr>
            <a:r>
              <a:t>                                  # iperf_pivot.txt    iperf_heatmap.png</a:t>
            </a:r>
          </a:p>
          <a:p>
            <a:pPr>
              <a:defRPr sz="1300">
                <a:solidFill>
                  <a:srgbClr val="24354A"/>
                </a:solidFill>
                <a:latin typeface="Consolas"/>
              </a:defRPr>
            </a:pPr>
            <a:r>
              <a:t>iperf-orchestrator results-summary          # P50/P95 + 5 slowest pairs</a:t>
            </a:r>
          </a:p>
          <a:p>
            <a:pPr>
              <a:defRPr sz="1300">
                <a:solidFill>
                  <a:srgbClr val="24354A"/>
                </a:solidFill>
                <a:latin typeface="Consolas"/>
              </a:defRPr>
            </a:pPr>
            <a:r>
              <a:t> </a:t>
            </a:r>
          </a:p>
          <a:p>
            <a:pPr>
              <a:defRPr sz="1300">
                <a:solidFill>
                  <a:srgbClr val="24354A"/>
                </a:solidFill>
                <a:latin typeface="Consolas"/>
              </a:defRPr>
            </a:pPr>
            <a:r>
              <a:t>iperf-orchestrator --duration 30 -P 4 all   # longer tests, 4 streams each</a:t>
            </a:r>
          </a:p>
          <a:p>
            <a:pPr>
              <a:defRPr sz="1300">
                <a:solidFill>
                  <a:srgbClr val="24354A"/>
                </a:solidFill>
                <a:latin typeface="Consolas"/>
              </a:defRPr>
            </a:pPr>
            <a:r>
              <a:t>iperf-orchestrator --run-id &lt;id&gt; make-heatmap        # re-render an old run</a:t>
            </a:r>
          </a:p>
          <a:p>
            <a:pPr>
              <a:defRPr sz="1300">
                <a:solidFill>
                  <a:srgbClr val="24354A"/>
                </a:solidFill>
                <a:latin typeface="Consolas"/>
              </a:defRPr>
            </a:pPr>
            <a:r>
              <a:t>iperf-orchestrator --servers servers.txt cleanup --yes   # tidy the servers</a:t>
            </a:r>
          </a:p>
        </p:txBody>
      </p:sp>
      <p:sp>
        <p:nvSpPr>
          <p:cNvPr id="4" name="TextBox 3"/>
          <p:cNvSpPr txBox="1"/>
          <p:nvPr/>
        </p:nvSpPr>
        <p:spPr>
          <a:xfrm>
            <a:off x="822960" y="3136392"/>
            <a:ext cx="10607040" cy="621792"/>
          </a:xfrm>
          <a:prstGeom prst="rect">
            <a:avLst/>
          </a:prstGeom>
          <a:noFill/>
        </p:spPr>
        <p:txBody>
          <a:bodyPr wrap="square">
            <a:spAutoFit/>
          </a:bodyPr>
          <a:lstStyle/>
          <a:p>
            <a:pPr>
              <a:defRPr sz="1400"/>
            </a:pPr>
            <a:r>
              <a:t>• Open the heatmap first: rows = sending, columns = receiving. A red row is a host with bad outbound; a red column, bad inbound.</a:t>
            </a:r>
          </a:p>
        </p:txBody>
      </p:sp>
      <p:sp>
        <p:nvSpPr>
          <p:cNvPr id="5" name="TextBox 4"/>
          <p:cNvSpPr txBox="1"/>
          <p:nvPr/>
        </p:nvSpPr>
        <p:spPr>
          <a:xfrm>
            <a:off x="822960" y="3831336"/>
            <a:ext cx="10607040" cy="310896"/>
          </a:xfrm>
          <a:prstGeom prst="rect">
            <a:avLst/>
          </a:prstGeom>
          <a:noFill/>
        </p:spPr>
        <p:txBody>
          <a:bodyPr wrap="square">
            <a:spAutoFit/>
          </a:bodyPr>
          <a:lstStyle/>
          <a:p>
            <a:pPr>
              <a:defRPr sz="1400"/>
            </a:pPr>
            <a:r>
              <a:t>• Before blaming the network, open cpu_summary.csv — a pegged host makes its own links look slow.</a:t>
            </a:r>
          </a:p>
        </p:txBody>
      </p:sp>
      <p:sp>
        <p:nvSpPr>
          <p:cNvPr id="6" name="TextBox 5"/>
          <p:cNvSpPr txBox="1"/>
          <p:nvPr/>
        </p:nvSpPr>
        <p:spPr>
          <a:xfrm>
            <a:off x="822960" y="4215384"/>
            <a:ext cx="10607040" cy="310896"/>
          </a:xfrm>
          <a:prstGeom prst="rect">
            <a:avLst/>
          </a:prstGeom>
          <a:noFill/>
        </p:spPr>
        <p:txBody>
          <a:bodyPr wrap="square">
            <a:spAutoFit/>
          </a:bodyPr>
          <a:lstStyle/>
          <a:p>
            <a:pPr>
              <a:defRPr sz="1400"/>
            </a:pPr>
            <a:r>
              <a:t>• Every run is a timestamped folder: keep them, and diff results across change windows.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2 — matrix_orchestrator (mx)</a:t>
            </a:r>
          </a:p>
        </p:txBody>
      </p:sp>
      <p:sp>
        <p:nvSpPr>
          <p:cNvPr id="3" name="Text Placeholder 2"/>
          <p:cNvSpPr>
            <a:spLocks noGrp="1"/>
          </p:cNvSpPr>
          <p:nvPr>
            <p:ph type="body" idx="1"/>
          </p:nvPr>
        </p:nvSpPr>
        <p:spPr/>
        <p:txBody>
          <a:bodyPr/>
          <a:lstStyle/>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question iperf can't answer</a:t>
            </a:r>
          </a:p>
        </p:txBody>
      </p:sp>
      <p:sp>
        <p:nvSpPr>
          <p:cNvPr id="3" name="Content Placeholder 2"/>
          <p:cNvSpPr>
            <a:spLocks noGrp="1"/>
          </p:cNvSpPr>
          <p:nvPr>
            <p:ph idx="1"/>
          </p:nvPr>
        </p:nvSpPr>
        <p:spPr/>
        <p:txBody>
          <a:bodyPr wrap="square">
            <a:normAutofit/>
          </a:bodyPr>
          <a:lstStyle/>
          <a:p>
            <a:pPr>
              <a:defRPr sz="1600"/>
            </a:pPr>
            <a:r>
              <a:t>iperf just told us how many bytes per second the fabric can move. But most real traffic isn't bulk bytes — it's *conversations*: a small request goes out, an answer comes back. RPCs, storage reads, control planes.</a:t>
            </a:r>
          </a:p>
          <a:p>
            <a:pPr>
              <a:defRPr sz="1600"/>
            </a:pPr>
            <a:r>
              <a:t>That traffic stresses a network in packets per second, not bits per second — and pps is where fabrics and NICs actually fall over.</a:t>
            </a:r>
          </a:p>
          <a:p>
            <a:pPr>
              <a:defRPr sz="1600"/>
            </a:pPr>
            <a:r>
              <a:t>mx runs exactly that shape: every host sends small requests at a steady rate to every other host, and every request gets a reply.</a:t>
            </a:r>
          </a:p>
          <a:p>
            <a:pPr>
              <a:defRPr sz="1600"/>
            </a:pPr>
            <a:r>
              <a:t>Bonus: the reply carries the request's own timestamp back, so you get true round-trip latency for free — no clock synchronization anywhere.</a:t>
            </a:r>
          </a:p>
          <a:p>
            <a:pPr>
              <a:defRPr sz="1600"/>
            </a:pPr>
            <a:r>
              <a:t>A realistic example: --tx-size 128 --rx-size 8192 is an RPC — the same packet rate in both directions, but 64× the bytes on the reply path. That asymmetry is usually what breaks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What it does — and where it stops</a:t>
            </a:r>
          </a:p>
        </p:txBody>
      </p:sp>
      <p:sp>
        <p:nvSpPr>
          <p:cNvPr id="3" name="Content Placeholder 2"/>
          <p:cNvSpPr>
            <a:spLocks noGrp="1"/>
          </p:cNvSpPr>
          <p:nvPr>
            <p:ph idx="1"/>
          </p:nvPr>
        </p:nvSpPr>
        <p:spPr/>
        <p:txBody>
          <a:bodyPr wrap="square">
            <a:normAutofit/>
          </a:bodyPr>
          <a:lstStyle/>
          <a:p>
            <a:pPr>
              <a:defRPr sz="1600"/>
            </a:pPr>
            <a:r>
              <a:t>Does: a paced request/response matrix between every pair — rate, sizes and port all in one editable file.</a:t>
            </a:r>
          </a:p>
          <a:p>
            <a:pPr>
              <a:defRPr sz="1600"/>
            </a:pPr>
            <a:r>
              <a:t>Does: honest accounting — the headline is what the *receivers* counted, and loss is split into the outbound leg and the return leg.</a:t>
            </a:r>
          </a:p>
          <a:p>
            <a:pPr>
              <a:defRPr sz="1600"/>
            </a:pPr>
            <a:r>
              <a:t>Does: true round-trip percentiles per flow, and it reports its own CPU cost right next to the network numbers.</a:t>
            </a:r>
          </a:p>
          <a:p>
            <a:pPr>
              <a:defRPr sz="1600"/>
            </a:pPr>
            <a:r>
              <a:t>Doesn't: TCP — that's iperf_orchestrator's job.</a:t>
            </a:r>
          </a:p>
          <a:p>
            <a:pPr>
              <a:defRPr sz="1600"/>
            </a:pPr>
            <a:r>
              <a:t>Doesn't: one-way delay — that would need synchronized clocks nobody has, so it refuses to fake it.</a:t>
            </a:r>
          </a:p>
          <a:p>
            <a:pPr>
              <a:defRPr sz="1600"/>
            </a:pPr>
            <a:r>
              <a:t>Doesn't: more than a few million packets/sec per host — beyond that you're in kernel-bypass territory. And when the tool itself becomes the limit, it tells you so rather than letting you blame the network.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Six commands drive it</a:t>
            </a:r>
          </a:p>
        </p:txBody>
      </p:sp>
      <p:graphicFrame>
        <p:nvGraphicFramePr>
          <p:cNvPr id="3" name="Table 2"/>
          <p:cNvGraphicFramePr>
            <a:graphicFrameLocks noGrp="1"/>
          </p:cNvGraphicFramePr>
          <p:nvPr/>
        </p:nvGraphicFramePr>
        <p:xfrm>
          <a:off x="640080" y="1234440"/>
          <a:ext cx="10972800" cy="2560320"/>
        </p:xfrm>
        <a:graphic>
          <a:graphicData uri="http://schemas.openxmlformats.org/drawingml/2006/table">
            <a:tbl>
              <a:tblPr firstRow="1" bandRow="1">
                <a:tableStyleId>{5C22544A-7EE6-4342-B048-85BDC9FD1C3A}</a:tableStyleId>
              </a:tblPr>
              <a:tblGrid>
                <a:gridCol w="5486400"/>
                <a:gridCol w="5486400"/>
              </a:tblGrid>
              <a:tr h="365760">
                <a:tc>
                  <a:txBody>
                    <a:bodyPr/>
                    <a:lstStyle/>
                    <a:p>
                      <a:pPr>
                        <a:defRPr sz="1250" b="1"/>
                      </a:pPr>
                      <a:r>
                        <a:t>Command</a:t>
                      </a:r>
                    </a:p>
                  </a:txBody>
                  <a:tcPr/>
                </a:tc>
                <a:tc>
                  <a:txBody>
                    <a:bodyPr/>
                    <a:lstStyle/>
                    <a:p>
                      <a:pPr>
                        <a:defRPr sz="1250" b="1"/>
                      </a:pPr>
                      <a:r>
                        <a:t>What it does</a:t>
                      </a:r>
                    </a:p>
                  </a:txBody>
                  <a:tcPr/>
                </a:tc>
              </a:tr>
              <a:tr h="365760">
                <a:tc>
                  <a:txBody>
                    <a:bodyPr/>
                    <a:lstStyle/>
                    <a:p>
                      <a:pPr>
                        <a:defRPr sz="1200" b="0"/>
                      </a:pPr>
                      <a:r>
                        <a:t>mx gen</a:t>
                      </a:r>
                    </a:p>
                  </a:txBody>
                  <a:tcPr/>
                </a:tc>
                <a:tc>
                  <a:txBody>
                    <a:bodyPr/>
                    <a:lstStyle/>
                    <a:p>
                      <a:pPr>
                        <a:defRPr sz="1200" b="0"/>
                      </a:pPr>
                      <a:r>
                        <a:t>build the traffic matrix from your server list</a:t>
                      </a:r>
                    </a:p>
                  </a:txBody>
                  <a:tcPr/>
                </a:tc>
              </a:tr>
              <a:tr h="365760">
                <a:tc>
                  <a:txBody>
                    <a:bodyPr/>
                    <a:lstStyle/>
                    <a:p>
                      <a:pPr>
                        <a:defRPr sz="1200" b="0"/>
                      </a:pPr>
                      <a:r>
                        <a:t>mx start</a:t>
                      </a:r>
                    </a:p>
                  </a:txBody>
                  <a:tcPr/>
                </a:tc>
                <a:tc>
                  <a:txBody>
                    <a:bodyPr/>
                    <a:lstStyle/>
                    <a:p>
                      <a:pPr>
                        <a:defRPr sz="1200" b="0"/>
                      </a:pPr>
                      <a:r>
                        <a:t>copy the agent everywhere and start it</a:t>
                      </a:r>
                    </a:p>
                  </a:txBody>
                  <a:tcPr/>
                </a:tc>
              </a:tr>
              <a:tr h="365760">
                <a:tc>
                  <a:txBody>
                    <a:bodyPr/>
                    <a:lstStyle/>
                    <a:p>
                      <a:pPr>
                        <a:defRPr sz="1200" b="0"/>
                      </a:pPr>
                      <a:r>
                        <a:t>mx status</a:t>
                      </a:r>
                    </a:p>
                  </a:txBody>
                  <a:tcPr/>
                </a:tc>
                <a:tc>
                  <a:txBody>
                    <a:bodyPr/>
                    <a:lstStyle/>
                    <a:p>
                      <a:pPr>
                        <a:defRPr sz="1200" b="0"/>
                      </a:pPr>
                      <a:r>
                        <a:t>one live line per host — running, and how fast?</a:t>
                      </a:r>
                    </a:p>
                  </a:txBody>
                  <a:tcPr/>
                </a:tc>
              </a:tr>
              <a:tr h="365760">
                <a:tc>
                  <a:txBody>
                    <a:bodyPr/>
                    <a:lstStyle/>
                    <a:p>
                      <a:pPr>
                        <a:defRPr sz="1200" b="0"/>
                      </a:pPr>
                      <a:r>
                        <a:t>mx summarize</a:t>
                      </a:r>
                    </a:p>
                  </a:txBody>
                  <a:tcPr/>
                </a:tc>
                <a:tc>
                  <a:txBody>
                    <a:bodyPr/>
                    <a:lstStyle/>
                    <a:p>
                      <a:pPr>
                        <a:defRPr sz="1200" b="0"/>
                      </a:pPr>
                      <a:r>
                        <a:t>collect reports → pps / loss / latency + *what to do next*</a:t>
                      </a:r>
                    </a:p>
                  </a:txBody>
                  <a:tcPr/>
                </a:tc>
              </a:tr>
              <a:tr h="365760">
                <a:tc>
                  <a:txBody>
                    <a:bodyPr/>
                    <a:lstStyle/>
                    <a:p>
                      <a:pPr>
                        <a:defRPr sz="1200" b="0"/>
                      </a:pPr>
                      <a:r>
                        <a:t>mx stop</a:t>
                      </a:r>
                    </a:p>
                  </a:txBody>
                  <a:tcPr/>
                </a:tc>
                <a:tc>
                  <a:txBody>
                    <a:bodyPr/>
                    <a:lstStyle/>
                    <a:p>
                      <a:pPr>
                        <a:defRPr sz="1200" b="0"/>
                      </a:pPr>
                      <a:r>
                        <a:t>stop the agents — reports stay on the hosts</a:t>
                      </a:r>
                    </a:p>
                  </a:txBody>
                  <a:tcPr/>
                </a:tc>
              </a:tr>
              <a:tr h="365760">
                <a:tc>
                  <a:txBody>
                    <a:bodyPr/>
                    <a:lstStyle/>
                    <a:p>
                      <a:pPr>
                        <a:defRPr sz="1200" b="0"/>
                      </a:pPr>
                      <a:r>
                        <a:t>mx clean</a:t>
                      </a:r>
                    </a:p>
                  </a:txBody>
                  <a:tcPr/>
                </a:tc>
                <a:tc>
                  <a:txBody>
                    <a:bodyPr/>
                    <a:lstStyle/>
                    <a:p>
                      <a:pPr>
                        <a:defRPr sz="1200" b="0"/>
                      </a:pPr>
                      <a:r>
                        <a:t>stop, delete every trace, and verify it's gone</a:t>
                      </a:r>
                    </a:p>
                  </a:txBody>
                  <a:tcPr/>
                </a:tc>
              </a:tr>
            </a:tbl>
          </a:graphicData>
        </a:graphic>
      </p:graphicFrame>
      <p:sp>
        <p:nvSpPr>
          <p:cNvPr id="4" name="TextBox 3"/>
          <p:cNvSpPr txBox="1"/>
          <p:nvPr/>
        </p:nvSpPr>
        <p:spPr>
          <a:xfrm>
            <a:off x="822960" y="3977640"/>
            <a:ext cx="10607040" cy="621792"/>
          </a:xfrm>
          <a:prstGeom prst="rect">
            <a:avLst/>
          </a:prstGeom>
          <a:noFill/>
        </p:spPr>
        <p:txBody>
          <a:bodyPr wrap="square">
            <a:spAutoFit/>
          </a:bodyPr>
          <a:lstStyle/>
          <a:p>
            <a:pPr>
              <a:defRPr sz="1400"/>
            </a:pPr>
            <a:r>
              <a:t>mx run --for 60 does the whole cycle in one shot. Servers need nothing but Python and your ssh key — no iperf, no packages, no root.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One file describes the traffic — edit it, even mid-run</a:t>
            </a:r>
          </a:p>
        </p:txBody>
      </p:sp>
      <p:sp>
        <p:nvSpPr>
          <p:cNvPr id="3" name="TextBox 2"/>
          <p:cNvSpPr txBox="1"/>
          <p:nvPr/>
        </p:nvSpPr>
        <p:spPr>
          <a:xfrm>
            <a:off x="640080" y="1234440"/>
            <a:ext cx="10972800" cy="1545336"/>
          </a:xfrm>
          <a:prstGeom prst="rect">
            <a:avLst/>
          </a:prstGeom>
          <a:noFill/>
        </p:spPr>
        <p:txBody>
          <a:bodyPr wrap="none">
            <a:spAutoFit/>
          </a:bodyPr>
          <a:lstStyle/>
          <a:p>
            <a:pPr>
              <a:defRPr sz="1300">
                <a:solidFill>
                  <a:srgbClr val="24354A"/>
                </a:solidFill>
                <a:latin typeface="Consolas"/>
              </a:defRPr>
            </a:pPr>
            <a:r>
              <a:t># rows send, columns receive, cells are packets/sec</a:t>
            </a:r>
          </a:p>
          <a:p>
            <a:pPr>
              <a:defRPr sz="1300">
                <a:solidFill>
                  <a:srgbClr val="24354A"/>
                </a:solidFill>
                <a:latin typeface="Consolas"/>
              </a:defRPr>
            </a:pPr>
            <a:r>
              <a:t># tx_size=64 rx_size=512 port=5300</a:t>
            </a:r>
          </a:p>
          <a:p>
            <a:pPr>
              <a:defRPr sz="1300">
                <a:solidFill>
                  <a:srgbClr val="24354A"/>
                </a:solidFill>
                <a:latin typeface="Consolas"/>
              </a:defRPr>
            </a:pPr>
            <a:r>
              <a:t>src\dst,10.0.0.10,10.0.0.11,10.0.0.12</a:t>
            </a:r>
          </a:p>
          <a:p>
            <a:pPr>
              <a:defRPr sz="1300">
                <a:solidFill>
                  <a:srgbClr val="24354A"/>
                </a:solidFill>
                <a:latin typeface="Consolas"/>
              </a:defRPr>
            </a:pPr>
            <a:r>
              <a:t>10.0.0.10,,20000,20000</a:t>
            </a:r>
          </a:p>
          <a:p>
            <a:pPr>
              <a:defRPr sz="1300">
                <a:solidFill>
                  <a:srgbClr val="24354A"/>
                </a:solidFill>
                <a:latin typeface="Consolas"/>
              </a:defRPr>
            </a:pPr>
            <a:r>
              <a:t>10.0.0.11,5000,,max</a:t>
            </a:r>
          </a:p>
          <a:p>
            <a:pPr>
              <a:defRPr sz="1300">
                <a:solidFill>
                  <a:srgbClr val="24354A"/>
                </a:solidFill>
                <a:latin typeface="Consolas"/>
              </a:defRPr>
            </a:pPr>
            <a:r>
              <a:t>10.0.0.12,20000,20000,</a:t>
            </a:r>
          </a:p>
        </p:txBody>
      </p:sp>
      <p:sp>
        <p:nvSpPr>
          <p:cNvPr id="4" name="TextBox 3"/>
          <p:cNvSpPr txBox="1"/>
          <p:nvPr/>
        </p:nvSpPr>
        <p:spPr>
          <a:xfrm>
            <a:off x="822960" y="2916936"/>
            <a:ext cx="10607040" cy="310896"/>
          </a:xfrm>
          <a:prstGeom prst="rect">
            <a:avLst/>
          </a:prstGeom>
          <a:noFill/>
        </p:spPr>
        <p:txBody>
          <a:bodyPr wrap="square">
            <a:spAutoFit/>
          </a:bodyPr>
          <a:lstStyle/>
          <a:p>
            <a:pPr>
              <a:defRPr sz="1400"/>
            </a:pPr>
            <a:r>
              <a:t>• Everything about the traffic lives in matrix.csv — no flags to remember or re-type.</a:t>
            </a:r>
          </a:p>
        </p:txBody>
      </p:sp>
      <p:sp>
        <p:nvSpPr>
          <p:cNvPr id="5" name="TextBox 4"/>
          <p:cNvSpPr txBox="1"/>
          <p:nvPr/>
        </p:nvSpPr>
        <p:spPr>
          <a:xfrm>
            <a:off x="822960" y="3300984"/>
            <a:ext cx="10607040" cy="621792"/>
          </a:xfrm>
          <a:prstGeom prst="rect">
            <a:avLst/>
          </a:prstGeom>
          <a:noFill/>
        </p:spPr>
        <p:txBody>
          <a:bodyPr wrap="square">
            <a:spAutoFit/>
          </a:bodyPr>
          <a:lstStyle/>
          <a:p>
            <a:pPr>
              <a:defRPr sz="1400"/>
            </a:pPr>
            <a:r>
              <a:t>• Want to change a running test? Edit the file, mx start again. Blank a cell to silence a pair · raise a cell to make a hot pair · write max to run one pair unpaced · edit the header to reshape every packet.</a:t>
            </a:r>
          </a:p>
        </p:txBody>
      </p:sp>
      <p:sp>
        <p:nvSpPr>
          <p:cNvPr id="6" name="TextBox 5"/>
          <p:cNvSpPr txBox="1"/>
          <p:nvPr/>
        </p:nvSpPr>
        <p:spPr>
          <a:xfrm>
            <a:off x="822960" y="3995928"/>
            <a:ext cx="10607040" cy="310896"/>
          </a:xfrm>
          <a:prstGeom prst="rect">
            <a:avLst/>
          </a:prstGeom>
          <a:noFill/>
        </p:spPr>
        <p:txBody>
          <a:bodyPr wrap="square">
            <a:spAutoFit/>
          </a:bodyPr>
          <a:lstStyle/>
          <a:p>
            <a:pPr>
              <a:defRPr sz="1400"/>
            </a:pPr>
            <a:r>
              <a:t>• "What if only the cross-rack pairs run?" is a thirty-second text edit, not a feature request.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Reading the summary</a:t>
            </a:r>
          </a:p>
        </p:txBody>
      </p:sp>
      <p:sp>
        <p:nvSpPr>
          <p:cNvPr id="3" name="TextBox 2"/>
          <p:cNvSpPr txBox="1"/>
          <p:nvPr/>
        </p:nvSpPr>
        <p:spPr>
          <a:xfrm>
            <a:off x="640080" y="1234440"/>
            <a:ext cx="10972800" cy="1106424"/>
          </a:xfrm>
          <a:prstGeom prst="rect">
            <a:avLst/>
          </a:prstGeom>
          <a:noFill/>
        </p:spPr>
        <p:txBody>
          <a:bodyPr wrap="none">
            <a:spAutoFit/>
          </a:bodyPr>
          <a:lstStyle/>
          <a:p>
            <a:pPr>
              <a:defRPr sz="1300">
                <a:solidFill>
                  <a:srgbClr val="24354A"/>
                </a:solidFill>
                <a:latin typeface="Consolas"/>
              </a:defRPr>
            </a:pPr>
            <a:r>
              <a:t>REQUESTS    2.640 Mpps        what the senders put on the wire</a:t>
            </a:r>
          </a:p>
          <a:p>
            <a:pPr>
              <a:defRPr sz="1300">
                <a:solidFill>
                  <a:srgbClr val="24354A"/>
                </a:solidFill>
                <a:latin typeface="Consolas"/>
              </a:defRPr>
            </a:pPr>
            <a:r>
              <a:t>DELIVERED   2.601 Mpps        what the receivers actually counted</a:t>
            </a:r>
          </a:p>
          <a:p>
            <a:pPr>
              <a:defRPr sz="1300">
                <a:solidFill>
                  <a:srgbClr val="24354A"/>
                </a:solidFill>
                <a:latin typeface="Consolas"/>
              </a:defRPr>
            </a:pPr>
            <a:r>
              <a:t>LOSS        1.59% round trip  (1.48% outbound, 0.11% coming back)</a:t>
            </a:r>
          </a:p>
          <a:p>
            <a:pPr>
              <a:defRPr sz="1300">
                <a:solidFill>
                  <a:srgbClr val="24354A"/>
                </a:solidFill>
                <a:latin typeface="Consolas"/>
              </a:defRPr>
            </a:pPr>
            <a:r>
              <a:t>RTT         avg 240us         worst flow p99 4.1ms</a:t>
            </a:r>
          </a:p>
        </p:txBody>
      </p:sp>
      <p:sp>
        <p:nvSpPr>
          <p:cNvPr id="4" name="TextBox 3"/>
          <p:cNvSpPr txBox="1"/>
          <p:nvPr/>
        </p:nvSpPr>
        <p:spPr>
          <a:xfrm>
            <a:off x="822960" y="2478024"/>
            <a:ext cx="10607040" cy="310896"/>
          </a:xfrm>
          <a:prstGeom prst="rect">
            <a:avLst/>
          </a:prstGeom>
          <a:noFill/>
        </p:spPr>
        <p:txBody>
          <a:bodyPr wrap="square">
            <a:spAutoFit/>
          </a:bodyPr>
          <a:lstStyle/>
          <a:p>
            <a:pPr>
              <a:defRPr sz="1400"/>
            </a:pPr>
            <a:r>
              <a:t>• DELIVERED is the headline — a sender can't see its own drops.</a:t>
            </a:r>
          </a:p>
        </p:txBody>
      </p:sp>
      <p:sp>
        <p:nvSpPr>
          <p:cNvPr id="5" name="TextBox 4"/>
          <p:cNvSpPr txBox="1"/>
          <p:nvPr/>
        </p:nvSpPr>
        <p:spPr>
          <a:xfrm>
            <a:off x="822960" y="2862072"/>
            <a:ext cx="10607040" cy="310896"/>
          </a:xfrm>
          <a:prstGeom prst="rect">
            <a:avLst/>
          </a:prstGeom>
          <a:noFill/>
        </p:spPr>
        <p:txBody>
          <a:bodyPr wrap="square">
            <a:spAutoFit/>
          </a:bodyPr>
          <a:lstStyle/>
          <a:p>
            <a:pPr>
              <a:defRPr sz="1400"/>
            </a:pPr>
            <a:r>
              <a:t>• Loss is split by direction — dropping tiny requests and dropping big replies point at different problems.</a:t>
            </a:r>
          </a:p>
        </p:txBody>
      </p:sp>
      <p:sp>
        <p:nvSpPr>
          <p:cNvPr id="6" name="TextBox 5"/>
          <p:cNvSpPr txBox="1"/>
          <p:nvPr/>
        </p:nvSpPr>
        <p:spPr>
          <a:xfrm>
            <a:off x="822960" y="3246120"/>
            <a:ext cx="10607040" cy="310896"/>
          </a:xfrm>
          <a:prstGeom prst="rect">
            <a:avLst/>
          </a:prstGeom>
          <a:noFill/>
        </p:spPr>
        <p:txBody>
          <a:bodyPr wrap="square">
            <a:spAutoFit/>
          </a:bodyPr>
          <a:lstStyle/>
          <a:p>
            <a:pPr>
              <a:defRPr sz="1400"/>
            </a:pPr>
            <a:r>
              <a:t>• The summary ends with WHAT TO DO NEXT — it reads its own numbers and names the knob they point at.</a:t>
            </a:r>
          </a:p>
        </p:txBody>
      </p:sp>
      <p:sp>
        <p:nvSpPr>
          <p:cNvPr id="7" name="TextBox 6"/>
          <p:cNvSpPr txBox="1"/>
          <p:nvPr/>
        </p:nvSpPr>
        <p:spPr>
          <a:xfrm>
            <a:off x="822960" y="3630168"/>
            <a:ext cx="10607040" cy="621792"/>
          </a:xfrm>
          <a:prstGeom prst="rect">
            <a:avLst/>
          </a:prstGeom>
          <a:noFill/>
        </p:spPr>
        <p:txBody>
          <a:bodyPr wrap="square">
            <a:spAutoFit/>
          </a:bodyPr>
          <a:lstStyle/>
          <a:p>
            <a:pPr>
              <a:defRPr sz="1400"/>
            </a:pPr>
            <a:r>
              <a:t>• Watch the agent CPU column: near 100% means the tool is the bottleneck, not your network — add workers (--workers), spread with --streams, or add hosts. The summary says this in as many words.</a:t>
            </a:r>
          </a:p>
        </p:txBody>
      </p:sp>
      <p:sp>
        <p:nvSpPr>
          <p:cNvPr id="8" name="TextBox 7"/>
          <p:cNvSpPr txBox="1"/>
          <p:nvPr/>
        </p:nvSpPr>
        <p:spPr>
          <a:xfrm>
            <a:off x="822960" y="4325112"/>
            <a:ext cx="10607040" cy="621792"/>
          </a:xfrm>
          <a:prstGeom prst="rect">
            <a:avLst/>
          </a:prstGeom>
          <a:noFill/>
        </p:spPr>
        <p:txBody>
          <a:bodyPr wrap="square">
            <a:spAutoFit/>
          </a:bodyPr>
          <a:lstStyle/>
          <a:p>
            <a:pPr>
              <a:defRPr sz="1400"/>
            </a:pPr>
            <a:r>
              <a:t>• mx summarize --grid g writes N×N grids: a dark row is a sick sender, a dark column a sick receiver — read exactly like the iperf heatmap.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Finding the fleet's limit</a:t>
            </a:r>
          </a:p>
        </p:txBody>
      </p:sp>
      <p:sp>
        <p:nvSpPr>
          <p:cNvPr id="3" name="TextBox 2"/>
          <p:cNvSpPr txBox="1"/>
          <p:nvPr/>
        </p:nvSpPr>
        <p:spPr>
          <a:xfrm>
            <a:off x="640080" y="1234440"/>
            <a:ext cx="10972800" cy="1106424"/>
          </a:xfrm>
          <a:prstGeom prst="rect">
            <a:avLst/>
          </a:prstGeom>
          <a:noFill/>
        </p:spPr>
        <p:txBody>
          <a:bodyPr wrap="none">
            <a:spAutoFit/>
          </a:bodyPr>
          <a:lstStyle/>
          <a:p>
            <a:pPr>
              <a:defRPr sz="1300">
                <a:solidFill>
                  <a:srgbClr val="24354A"/>
                </a:solidFill>
                <a:latin typeface="Consolas"/>
              </a:defRPr>
            </a:pPr>
            <a:r>
              <a:t>mx check --nic-gbps 25            # was what you're asking even possible?</a:t>
            </a:r>
          </a:p>
          <a:p>
            <a:pPr>
              <a:defRPr sz="1300">
                <a:solidFill>
                  <a:srgbClr val="24354A"/>
                </a:solidFill>
                <a:latin typeface="Consolas"/>
              </a:defRPr>
            </a:pPr>
            <a:r>
              <a:t>mx gen --servers s.txt --pps 50000  &amp;&amp; mx run --for 120</a:t>
            </a:r>
          </a:p>
          <a:p>
            <a:pPr>
              <a:defRPr sz="1300">
                <a:solidFill>
                  <a:srgbClr val="24354A"/>
                </a:solidFill>
                <a:latin typeface="Consolas"/>
              </a:defRPr>
            </a:pPr>
            <a:r>
              <a:t>mx gen --servers s.txt --pps 100000 &amp;&amp; mx run --for 120</a:t>
            </a:r>
          </a:p>
          <a:p>
            <a:pPr>
              <a:defRPr sz="1300">
                <a:solidFill>
                  <a:srgbClr val="24354A"/>
                </a:solidFill>
                <a:latin typeface="Consolas"/>
              </a:defRPr>
            </a:pPr>
            <a:r>
              <a:t>...                               # raise until delivery stops keeping up</a:t>
            </a:r>
          </a:p>
        </p:txBody>
      </p:sp>
      <p:sp>
        <p:nvSpPr>
          <p:cNvPr id="4" name="TextBox 3"/>
          <p:cNvSpPr txBox="1"/>
          <p:nvPr/>
        </p:nvSpPr>
        <p:spPr>
          <a:xfrm>
            <a:off x="822960" y="2478024"/>
            <a:ext cx="10607040" cy="310896"/>
          </a:xfrm>
          <a:prstGeom prst="rect">
            <a:avLst/>
          </a:prstGeom>
          <a:noFill/>
        </p:spPr>
        <p:txBody>
          <a:bodyPr wrap="square">
            <a:spAutoFit/>
          </a:bodyPr>
          <a:lstStyle/>
          <a:p>
            <a:pPr>
              <a:defRPr sz="1400"/>
            </a:pPr>
            <a:r>
              <a:t>• The last rate that delivers cleanly is the fleet's sustainable packet rate.</a:t>
            </a:r>
          </a:p>
        </p:txBody>
      </p:sp>
      <p:sp>
        <p:nvSpPr>
          <p:cNvPr id="5" name="TextBox 4"/>
          <p:cNvSpPr txBox="1"/>
          <p:nvPr/>
        </p:nvSpPr>
        <p:spPr>
          <a:xfrm>
            <a:off x="822960" y="2862072"/>
            <a:ext cx="10607040" cy="621792"/>
          </a:xfrm>
          <a:prstGeom prst="rect">
            <a:avLst/>
          </a:prstGeom>
          <a:noFill/>
        </p:spPr>
        <p:txBody>
          <a:bodyPr wrap="square">
            <a:spAutoFit/>
          </a:bodyPr>
          <a:lstStyle/>
          <a:p>
            <a:pPr>
              <a:defRPr sz="1400"/>
            </a:pPr>
            <a:r>
              <a:t>• Two warning signs, in the order they appear: ① p99 latency lifts away from the median — queues are filling; ② DELIVERED falls behind REQUESTS — something is now dropping.</a:t>
            </a:r>
          </a:p>
        </p:txBody>
      </p:sp>
      <p:sp>
        <p:nvSpPr>
          <p:cNvPr id="6" name="TextBox 5"/>
          <p:cNvSpPr txBox="1"/>
          <p:nvPr/>
        </p:nvSpPr>
        <p:spPr>
          <a:xfrm>
            <a:off x="822960" y="3557016"/>
            <a:ext cx="10607040" cy="621792"/>
          </a:xfrm>
          <a:prstGeom prst="rect">
            <a:avLst/>
          </a:prstGeom>
          <a:noFill/>
        </p:spPr>
        <p:txBody>
          <a:bodyPr wrap="square">
            <a:spAutoFit/>
          </a:bodyPr>
          <a:lstStyle/>
          <a:p>
            <a:pPr>
              <a:defRPr sz="1400"/>
            </a:pPr>
            <a:r>
              <a:t>• In a hurry? --pps max sends unpaced and finds the ceiling fastest — but tells you less about where the comfortable limit 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Big fleets</a:t>
            </a:r>
          </a:p>
        </p:txBody>
      </p:sp>
      <p:sp>
        <p:nvSpPr>
          <p:cNvPr id="3" name="Content Placeholder 2"/>
          <p:cNvSpPr>
            <a:spLocks noGrp="1"/>
          </p:cNvSpPr>
          <p:nvPr>
            <p:ph idx="1"/>
          </p:nvPr>
        </p:nvSpPr>
        <p:spPr/>
        <p:txBody>
          <a:bodyPr wrap="square">
            <a:normAutofit/>
          </a:bodyPr>
          <a:lstStyle/>
          <a:p>
            <a:pPr>
              <a:defRPr sz="1600"/>
            </a:pPr>
            <a:r>
              <a:t>Small fleet? The default full mesh is perfect — every pair, all the time.</a:t>
            </a:r>
          </a:p>
          <a:p>
            <a:pPr>
              <a:defRPr sz="1600"/>
            </a:pPr>
            <a:r>
              <a:t>Big fleet? --peers 8: each host talks to exactly 8 shuffled peers instead of all N−1. Every host still carries identical load, the whole fabric is still exercised — with 8 connections per host instead of hundreds.</a:t>
            </a:r>
          </a:p>
          <a:p>
            <a:pPr>
              <a:defRPr sz="1600"/>
            </a:pPr>
            <a:r>
              <a:t>Still need every pair checked? Add --dwell 60: the 8 peers rotate on a schedule until every pair has been measured — per-host load never changes, and no coordination traffic is needed.</a:t>
            </a:r>
          </a:p>
          <a:p>
            <a:pPr>
              <a:defRPr sz="1600"/>
            </a:pPr>
            <a:r>
              <a:t>Don't want to think about any of this? mx hints — tell it your goal, it prints the command.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your first mx run</a:t>
            </a:r>
          </a:p>
        </p:txBody>
      </p:sp>
      <p:sp>
        <p:nvSpPr>
          <p:cNvPr id="3" name="TextBox 2"/>
          <p:cNvSpPr txBox="1"/>
          <p:nvPr/>
        </p:nvSpPr>
        <p:spPr>
          <a:xfrm>
            <a:off x="640080" y="1234440"/>
            <a:ext cx="10972800" cy="4178808"/>
          </a:xfrm>
          <a:prstGeom prst="rect">
            <a:avLst/>
          </a:prstGeom>
          <a:noFill/>
        </p:spPr>
        <p:txBody>
          <a:bodyPr wrap="none">
            <a:spAutoFit/>
          </a:bodyPr>
          <a:lstStyle/>
          <a:p>
            <a:pPr>
              <a:defRPr sz="1300">
                <a:solidFill>
                  <a:srgbClr val="24354A"/>
                </a:solidFill>
                <a:latin typeface="Consolas"/>
              </a:defRPr>
            </a:pPr>
            <a:r>
              <a:t># 0. install on the machine you drive from</a:t>
            </a:r>
          </a:p>
          <a:p>
            <a:pPr>
              <a:defRPr sz="1300">
                <a:solidFill>
                  <a:srgbClr val="24354A"/>
                </a:solidFill>
                <a:latin typeface="Consolas"/>
              </a:defRPr>
            </a:pPr>
            <a:r>
              <a:t>#    (servers need only python3 + your ssh key)</a:t>
            </a:r>
          </a:p>
          <a:p>
            <a:pPr>
              <a:defRPr sz="1300">
                <a:solidFill>
                  <a:srgbClr val="24354A"/>
                </a:solidFill>
                <a:latin typeface="Consolas"/>
              </a:defRPr>
            </a:pPr>
            <a:r>
              <a:t>pip install matrix-orchestrator</a:t>
            </a:r>
          </a:p>
          <a:p>
            <a:pPr>
              <a:defRPr sz="1300">
                <a:solidFill>
                  <a:srgbClr val="24354A"/>
                </a:solidFill>
                <a:latin typeface="Consolas"/>
              </a:defRPr>
            </a:pPr>
            <a:r>
              <a:t> </a:t>
            </a:r>
          </a:p>
          <a:p>
            <a:pPr>
              <a:defRPr sz="1300">
                <a:solidFill>
                  <a:srgbClr val="24354A"/>
                </a:solidFill>
                <a:latin typeface="Consolas"/>
              </a:defRPr>
            </a:pPr>
            <a:r>
              <a:t># 1. servers, one per line</a:t>
            </a:r>
          </a:p>
          <a:p>
            <a:pPr>
              <a:defRPr sz="1300">
                <a:solidFill>
                  <a:srgbClr val="24354A"/>
                </a:solidFill>
                <a:latin typeface="Consolas"/>
              </a:defRPr>
            </a:pPr>
            <a:r>
              <a:t>printf '%s\n' 10.0.0.10 10.0.0.11 10.0.0.12 &gt; servers.txt</a:t>
            </a:r>
          </a:p>
          <a:p>
            <a:pPr>
              <a:defRPr sz="1300">
                <a:solidFill>
                  <a:srgbClr val="24354A"/>
                </a:solidFill>
                <a:latin typeface="Consolas"/>
              </a:defRPr>
            </a:pPr>
            <a:r>
              <a:t> </a:t>
            </a:r>
          </a:p>
          <a:p>
            <a:pPr>
              <a:defRPr sz="1300">
                <a:solidFill>
                  <a:srgbClr val="24354A"/>
                </a:solidFill>
                <a:latin typeface="Consolas"/>
              </a:defRPr>
            </a:pPr>
            <a:r>
              <a:t># 2. preflight the fleet: ssh, python, file-descriptor limits</a:t>
            </a:r>
          </a:p>
          <a:p>
            <a:pPr>
              <a:defRPr sz="1300">
                <a:solidFill>
                  <a:srgbClr val="24354A"/>
                </a:solidFill>
                <a:latin typeface="Consolas"/>
              </a:defRPr>
            </a:pPr>
            <a:r>
              <a:t>mx doctor</a:t>
            </a:r>
          </a:p>
          <a:p>
            <a:pPr>
              <a:defRPr sz="1300">
                <a:solidFill>
                  <a:srgbClr val="24354A"/>
                </a:solidFill>
                <a:latin typeface="Consolas"/>
              </a:defRPr>
            </a:pPr>
            <a:r>
              <a:t> </a:t>
            </a:r>
          </a:p>
          <a:p>
            <a:pPr>
              <a:defRPr sz="1300">
                <a:solidFill>
                  <a:srgbClr val="24354A"/>
                </a:solidFill>
                <a:latin typeface="Consolas"/>
              </a:defRPr>
            </a:pPr>
            <a:r>
              <a:t># 3. describe the traffic: every pair, 20k requests/sec</a:t>
            </a:r>
          </a:p>
          <a:p>
            <a:pPr>
              <a:defRPr sz="1300">
                <a:solidFill>
                  <a:srgbClr val="24354A"/>
                </a:solidFill>
                <a:latin typeface="Consolas"/>
              </a:defRPr>
            </a:pPr>
            <a:r>
              <a:t>mx gen --servers servers.txt --pps 20000</a:t>
            </a:r>
          </a:p>
          <a:p>
            <a:pPr>
              <a:defRPr sz="1300">
                <a:solidFill>
                  <a:srgbClr val="24354A"/>
                </a:solidFill>
                <a:latin typeface="Consolas"/>
              </a:defRPr>
            </a:pPr>
            <a:r>
              <a:t> </a:t>
            </a:r>
          </a:p>
          <a:p>
            <a:pPr>
              <a:defRPr sz="1300">
                <a:solidFill>
                  <a:srgbClr val="24354A"/>
                </a:solidFill>
                <a:latin typeface="Consolas"/>
              </a:defRPr>
            </a:pPr>
            <a:r>
              <a:t># 4. sanity-check it against the hardware</a:t>
            </a:r>
          </a:p>
          <a:p>
            <a:pPr>
              <a:defRPr sz="1300">
                <a:solidFill>
                  <a:srgbClr val="24354A"/>
                </a:solidFill>
                <a:latin typeface="Consolas"/>
              </a:defRPr>
            </a:pPr>
            <a:r>
              <a:t>mx check --nic-gbps 10</a:t>
            </a:r>
          </a:p>
          <a:p>
            <a:pPr>
              <a:defRPr sz="1300">
                <a:solidFill>
                  <a:srgbClr val="24354A"/>
                </a:solidFill>
                <a:latin typeface="Consolas"/>
              </a:defRPr>
            </a:pPr>
            <a:r>
              <a:t> </a:t>
            </a:r>
          </a:p>
          <a:p>
            <a:pPr>
              <a:defRPr sz="1300">
                <a:solidFill>
                  <a:srgbClr val="24354A"/>
                </a:solidFill>
                <a:latin typeface="Consolas"/>
              </a:defRPr>
            </a:pPr>
            <a:r>
              <a:t># 5. run for 60 seconds: deploy, run, summarize, stop</a:t>
            </a:r>
          </a:p>
          <a:p>
            <a:pPr>
              <a:defRPr sz="1300">
                <a:solidFill>
                  <a:srgbClr val="24354A"/>
                </a:solidFill>
                <a:latin typeface="Consolas"/>
              </a:defRPr>
            </a:pPr>
            <a:r>
              <a:t>mx run --for 60</a:t>
            </a:r>
          </a:p>
        </p:txBody>
      </p:sp>
      <p:sp>
        <p:nvSpPr>
          <p:cNvPr id="4" name="TextBox 3"/>
          <p:cNvSpPr txBox="1"/>
          <p:nvPr/>
        </p:nvSpPr>
        <p:spPr>
          <a:xfrm>
            <a:off x="822960" y="5550408"/>
            <a:ext cx="10607040" cy="310896"/>
          </a:xfrm>
          <a:prstGeom prst="rect">
            <a:avLst/>
          </a:prstGeom>
          <a:noFill/>
        </p:spPr>
        <p:txBody>
          <a:bodyPr wrap="square">
            <a:spAutoFit/>
          </a:bodyPr>
          <a:lstStyle/>
          <a:p>
            <a:pPr>
              <a:defRPr sz="1400"/>
            </a:pPr>
            <a:r>
              <a:t>• The summary prints totals, the worst hosts and flows, and what to do next.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watching, tuning, cleaning up</a:t>
            </a:r>
          </a:p>
        </p:txBody>
      </p:sp>
      <p:sp>
        <p:nvSpPr>
          <p:cNvPr id="3" name="TextBox 2"/>
          <p:cNvSpPr txBox="1"/>
          <p:nvPr/>
        </p:nvSpPr>
        <p:spPr>
          <a:xfrm>
            <a:off x="640080" y="1234440"/>
            <a:ext cx="10972800" cy="2423160"/>
          </a:xfrm>
          <a:prstGeom prst="rect">
            <a:avLst/>
          </a:prstGeom>
          <a:noFill/>
        </p:spPr>
        <p:txBody>
          <a:bodyPr wrap="none">
            <a:spAutoFit/>
          </a:bodyPr>
          <a:lstStyle/>
          <a:p>
            <a:pPr>
              <a:defRPr sz="1300">
                <a:solidFill>
                  <a:srgbClr val="24354A"/>
                </a:solidFill>
                <a:latin typeface="Consolas"/>
              </a:defRPr>
            </a:pPr>
            <a:r>
              <a:t>mx status --watch 5                  # live ticker while it runs</a:t>
            </a:r>
          </a:p>
          <a:p>
            <a:pPr>
              <a:defRPr sz="1300">
                <a:solidFill>
                  <a:srgbClr val="24354A"/>
                </a:solidFill>
                <a:latin typeface="Consolas"/>
              </a:defRPr>
            </a:pPr>
            <a:r>
              <a:t>mx summarize                         # anytime -- reports accumulate</a:t>
            </a:r>
          </a:p>
          <a:p>
            <a:pPr>
              <a:defRPr sz="1300">
                <a:solidFill>
                  <a:srgbClr val="24354A"/>
                </a:solidFill>
                <a:latin typeface="Consolas"/>
              </a:defRPr>
            </a:pPr>
            <a:r>
              <a:t>mx summarize --grid g                # N x N grids for a spreadsheet</a:t>
            </a:r>
          </a:p>
          <a:p>
            <a:pPr>
              <a:defRPr sz="1300">
                <a:solidFill>
                  <a:srgbClr val="24354A"/>
                </a:solidFill>
                <a:latin typeface="Consolas"/>
              </a:defRPr>
            </a:pPr>
            <a:r>
              <a:t> </a:t>
            </a:r>
          </a:p>
          <a:p>
            <a:pPr>
              <a:defRPr sz="1300">
                <a:solidFill>
                  <a:srgbClr val="24354A"/>
                </a:solidFill>
                <a:latin typeface="Consolas"/>
              </a:defRPr>
            </a:pPr>
            <a:r>
              <a:t>vi matrix.csv &amp;&amp; mx start            # change the traffic mid-flight</a:t>
            </a:r>
          </a:p>
          <a:p>
            <a:pPr>
              <a:defRPr sz="1300">
                <a:solidFill>
                  <a:srgbClr val="24354A"/>
                </a:solidFill>
                <a:latin typeface="Consolas"/>
              </a:defRPr>
            </a:pPr>
            <a:r>
              <a:t>mx gen --servers servers.txt --pps 50000 &amp;&amp; mx run --for 120   # ramp up</a:t>
            </a:r>
          </a:p>
          <a:p>
            <a:pPr>
              <a:defRPr sz="1300">
                <a:solidFill>
                  <a:srgbClr val="24354A"/>
                </a:solidFill>
                <a:latin typeface="Consolas"/>
              </a:defRPr>
            </a:pPr>
            <a:r>
              <a:t> </a:t>
            </a:r>
          </a:p>
          <a:p>
            <a:pPr>
              <a:defRPr sz="1300">
                <a:solidFill>
                  <a:srgbClr val="24354A"/>
                </a:solidFill>
                <a:latin typeface="Consolas"/>
              </a:defRPr>
            </a:pPr>
            <a:r>
              <a:t>mx logs                              # keep the agent logs</a:t>
            </a:r>
          </a:p>
          <a:p>
            <a:pPr>
              <a:defRPr sz="1300">
                <a:solidFill>
                  <a:srgbClr val="24354A"/>
                </a:solidFill>
                <a:latin typeface="Consolas"/>
              </a:defRPr>
            </a:pPr>
            <a:r>
              <a:t>mx stop                              # pause -- reports stay on hosts</a:t>
            </a:r>
          </a:p>
          <a:p>
            <a:pPr>
              <a:defRPr sz="1300">
                <a:solidFill>
                  <a:srgbClr val="24354A"/>
                </a:solidFill>
                <a:latin typeface="Consolas"/>
              </a:defRPr>
            </a:pPr>
            <a:r>
              <a:t>mx clean                             # done -- delete every trace, verified</a:t>
            </a:r>
          </a:p>
        </p:txBody>
      </p:sp>
      <p:sp>
        <p:nvSpPr>
          <p:cNvPr id="4" name="TextBox 3"/>
          <p:cNvSpPr txBox="1"/>
          <p:nvPr/>
        </p:nvSpPr>
        <p:spPr>
          <a:xfrm>
            <a:off x="822960" y="3794760"/>
            <a:ext cx="10607040" cy="310896"/>
          </a:xfrm>
          <a:prstGeom prst="rect">
            <a:avLst/>
          </a:prstGeom>
          <a:noFill/>
        </p:spPr>
        <p:txBody>
          <a:bodyPr wrap="square">
            <a:spAutoFit/>
          </a:bodyPr>
          <a:lstStyle/>
          <a:p>
            <a:pPr>
              <a:defRPr sz="1400"/>
            </a:pPr>
            <a:r>
              <a:t>• stop and clean are different on purpose: stop keeps the evidence, clean removes it and *proves* it's gone.</a:t>
            </a:r>
          </a:p>
        </p:txBody>
      </p:sp>
      <p:sp>
        <p:nvSpPr>
          <p:cNvPr id="5" name="TextBox 4"/>
          <p:cNvSpPr txBox="1"/>
          <p:nvPr/>
        </p:nvSpPr>
        <p:spPr>
          <a:xfrm>
            <a:off x="822960" y="4178808"/>
            <a:ext cx="10607040" cy="310896"/>
          </a:xfrm>
          <a:prstGeom prst="rect">
            <a:avLst/>
          </a:prstGeom>
          <a:noFill/>
        </p:spPr>
        <p:txBody>
          <a:bodyPr wrap="square">
            <a:spAutoFit/>
          </a:bodyPr>
          <a:lstStyle/>
          <a:p>
            <a:pPr>
              <a:defRPr sz="1400"/>
            </a:pPr>
            <a:r>
              <a:t>• Everything on a server lives in one directory — no packages, no services, nothing to un-install.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3 — netmesh</a:t>
            </a:r>
          </a:p>
        </p:txBody>
      </p:sp>
      <p:sp>
        <p:nvSpPr>
          <p:cNvPr id="3" name="Text Placeholder 2"/>
          <p:cNvSpPr>
            <a:spLocks noGrp="1"/>
          </p:cNvSpPr>
          <p:nvPr>
            <p:ph type="body" idx="1"/>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The baseline the load tests need</a:t>
            </a:r>
          </a:p>
        </p:txBody>
      </p:sp>
      <p:sp>
        <p:nvSpPr>
          <p:cNvPr id="3" name="Rounded Rectangle 2"/>
          <p:cNvSpPr/>
          <p:nvPr/>
        </p:nvSpPr>
        <p:spPr>
          <a:xfrm>
            <a:off x="640080" y="1234440"/>
            <a:ext cx="3401568"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a:t>
            </a:r>
          </a:p>
          <a:p>
            <a:pPr>
              <a:defRPr sz="1000">
                <a:solidFill>
                  <a:srgbClr val="F0F3F6"/>
                </a:solidFill>
              </a:defRPr>
            </a:pPr>
            <a:r>
              <a:t>IDLE: latency · loss · path MTU</a:t>
            </a:r>
          </a:p>
        </p:txBody>
      </p:sp>
      <p:sp>
        <p:nvSpPr>
          <p:cNvPr id="4" name="TextBox 3"/>
          <p:cNvSpPr txBox="1"/>
          <p:nvPr/>
        </p:nvSpPr>
        <p:spPr>
          <a:xfrm>
            <a:off x="4041648" y="1490472"/>
            <a:ext cx="384048" cy="365760"/>
          </a:xfrm>
          <a:prstGeom prst="rect">
            <a:avLst/>
          </a:prstGeom>
          <a:noFill/>
        </p:spPr>
        <p:txBody>
          <a:bodyPr wrap="none">
            <a:spAutoFit/>
          </a:bodyPr>
          <a:lstStyle/>
          <a:p>
            <a:pPr>
              <a:defRPr sz="1600" b="1">
                <a:solidFill>
                  <a:srgbClr val="3E5C76"/>
                </a:solidFill>
              </a:defRPr>
            </a:pPr>
            <a:r>
              <a:t>→</a:t>
            </a:r>
          </a:p>
        </p:txBody>
      </p:sp>
      <p:sp>
        <p:nvSpPr>
          <p:cNvPr id="5" name="Rounded Rectangle 4"/>
          <p:cNvSpPr/>
          <p:nvPr/>
        </p:nvSpPr>
        <p:spPr>
          <a:xfrm>
            <a:off x="4425696" y="1234440"/>
            <a:ext cx="3401568"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iperf-orchestrator</a:t>
            </a:r>
          </a:p>
          <a:p>
            <a:pPr>
              <a:defRPr sz="1000">
                <a:solidFill>
                  <a:srgbClr val="F0F3F6"/>
                </a:solidFill>
              </a:defRPr>
            </a:pPr>
            <a:r>
              <a:t>LOADED: TCP bandwidth</a:t>
            </a:r>
          </a:p>
        </p:txBody>
      </p:sp>
      <p:sp>
        <p:nvSpPr>
          <p:cNvPr id="6" name="TextBox 5"/>
          <p:cNvSpPr txBox="1"/>
          <p:nvPr/>
        </p:nvSpPr>
        <p:spPr>
          <a:xfrm>
            <a:off x="7827264" y="1490472"/>
            <a:ext cx="384048" cy="365760"/>
          </a:xfrm>
          <a:prstGeom prst="rect">
            <a:avLst/>
          </a:prstGeom>
          <a:noFill/>
        </p:spPr>
        <p:txBody>
          <a:bodyPr wrap="none">
            <a:spAutoFit/>
          </a:bodyPr>
          <a:lstStyle/>
          <a:p>
            <a:pPr>
              <a:defRPr sz="1600" b="1">
                <a:solidFill>
                  <a:srgbClr val="3E5C76"/>
                </a:solidFill>
              </a:defRPr>
            </a:pPr>
            <a:r>
              <a:t>→</a:t>
            </a:r>
          </a:p>
        </p:txBody>
      </p:sp>
      <p:sp>
        <p:nvSpPr>
          <p:cNvPr id="7" name="Rounded Rectangle 6"/>
          <p:cNvSpPr/>
          <p:nvPr/>
        </p:nvSpPr>
        <p:spPr>
          <a:xfrm>
            <a:off x="8211312" y="1234440"/>
            <a:ext cx="3401568"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mx</a:t>
            </a:r>
          </a:p>
          <a:p>
            <a:pPr>
              <a:defRPr sz="1000">
                <a:solidFill>
                  <a:srgbClr val="F0F3F6"/>
                </a:solidFill>
              </a:defRPr>
            </a:pPr>
            <a:r>
              <a:t>LOADED: packets per second</a:t>
            </a:r>
          </a:p>
        </p:txBody>
      </p:sp>
      <p:sp>
        <p:nvSpPr>
          <p:cNvPr id="8" name="TextBox 7"/>
          <p:cNvSpPr txBox="1"/>
          <p:nvPr/>
        </p:nvSpPr>
        <p:spPr>
          <a:xfrm>
            <a:off x="822960" y="2350008"/>
            <a:ext cx="10607040" cy="621792"/>
          </a:xfrm>
          <a:prstGeom prst="rect">
            <a:avLst/>
          </a:prstGeom>
          <a:noFill/>
        </p:spPr>
        <p:txBody>
          <a:bodyPr wrap="square">
            <a:spAutoFit/>
          </a:bodyPr>
          <a:lstStyle/>
          <a:p>
            <a:pPr>
              <a:defRPr sz="1400"/>
            </a:pPr>
            <a:r>
              <a:t>• The load tools tell you what the fabric can *carry*. netmesh tells you what the fabric is *like* when nothing is running — and every loaded number has to be read against that baseline.</a:t>
            </a:r>
          </a:p>
        </p:txBody>
      </p:sp>
      <p:sp>
        <p:nvSpPr>
          <p:cNvPr id="9" name="TextBox 8"/>
          <p:cNvSpPr txBox="1"/>
          <p:nvPr/>
        </p:nvSpPr>
        <p:spPr>
          <a:xfrm>
            <a:off x="822960" y="3044952"/>
            <a:ext cx="10607040" cy="621792"/>
          </a:xfrm>
          <a:prstGeom prst="rect">
            <a:avLst/>
          </a:prstGeom>
          <a:noFill/>
        </p:spPr>
        <p:txBody>
          <a:bodyPr wrap="square">
            <a:spAutoFit/>
          </a:bodyPr>
          <a:lstStyle/>
          <a:p>
            <a:pPr>
              <a:defRPr sz="1400"/>
            </a:pPr>
            <a:r>
              <a:t>• It measures round-trip time, jitter, loss and path MTU between your machines, using ~10 small packets per second per pair — light enough to run on production, during an incident.</a:t>
            </a:r>
          </a:p>
        </p:txBody>
      </p:sp>
      <p:sp>
        <p:nvSpPr>
          <p:cNvPr id="10" name="TextBox 9"/>
          <p:cNvSpPr txBox="1"/>
          <p:nvPr/>
        </p:nvSpPr>
        <p:spPr>
          <a:xfrm>
            <a:off x="822960" y="3739896"/>
            <a:ext cx="10607040" cy="310896"/>
          </a:xfrm>
          <a:prstGeom prst="rect">
            <a:avLst/>
          </a:prstGeom>
          <a:noFill/>
        </p:spPr>
        <p:txBody>
          <a:bodyPr wrap="square">
            <a:spAutoFit/>
          </a:bodyPr>
          <a:lstStyle/>
          <a:p>
            <a:pPr>
              <a:defRPr sz="1400"/>
            </a:pPr>
            <a:r>
              <a:t>• Two hosts and one line is the whole experience: netmesh check web01 db01.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Why not just ping?</a:t>
            </a:r>
          </a:p>
        </p:txBody>
      </p:sp>
      <p:sp>
        <p:nvSpPr>
          <p:cNvPr id="3" name="Content Placeholder 2"/>
          <p:cNvSpPr>
            <a:spLocks noGrp="1"/>
          </p:cNvSpPr>
          <p:nvPr>
            <p:ph idx="1"/>
          </p:nvPr>
        </p:nvSpPr>
        <p:spPr/>
        <p:txBody>
          <a:bodyPr wrap="square">
            <a:normAutofit/>
          </a:bodyPr>
          <a:lstStyle/>
          <a:p>
            <a:pPr>
              <a:defRPr sz="1600"/>
            </a:pPr>
            <a:r>
              <a:t>netmesh probes with small UDP packets between two tiny agents it places on your hosts — and that buys four things ping can't do:</a:t>
            </a:r>
          </a:p>
          <a:p>
            <a:pPr>
              <a:defRPr sz="1600"/>
            </a:pPr>
            <a:r>
              <a:t>No root, anywhere. Ordinary sockets, ordinary user.</a:t>
            </a:r>
          </a:p>
          <a:p>
            <a:pPr>
              <a:defRPr sz="1600"/>
            </a:pPr>
            <a:r>
              <a:t>Exact latency. The sender's own clock stamp comes back in the echo — one clock, so the round trip is exact, no time-sync assumptions.</a:t>
            </a:r>
          </a:p>
          <a:p>
            <a:pPr>
              <a:defRPr sz="1600"/>
            </a:pPr>
            <a:r>
              <a:t>Loss with a direction. The far end counts what actually arrived — so loss splits into *on the way there* vs *on the way back*. A sick sender and a sick receiver are different findings.</a:t>
            </a:r>
          </a:p>
          <a:p>
            <a:pPr>
              <a:defRPr sz="1600"/>
            </a:pPr>
            <a:r>
              <a:t>The real path. Routers answer ping with their slow management CPU, which gets rate-limited and deprioritized — ping systematically lies about what your application traffic sees. UDP probes travel the same path your traffic does.</a:t>
            </a:r>
          </a:p>
          <a:p>
            <a:pPr>
              <a:defRPr sz="1600"/>
            </a:pPr>
            <a:r>
              <a:t>One-way delay is deliberately not reported: without synchronized clocks it would be a made-up number, and this tool doesn't report those.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Reading the report</a:t>
            </a:r>
          </a:p>
        </p:txBody>
      </p:sp>
      <p:sp>
        <p:nvSpPr>
          <p:cNvPr id="3" name="Content Placeholder 2"/>
          <p:cNvSpPr>
            <a:spLocks noGrp="1"/>
          </p:cNvSpPr>
          <p:nvPr>
            <p:ph idx="1"/>
          </p:nvPr>
        </p:nvSpPr>
        <p:spPr/>
        <p:txBody>
          <a:bodyPr wrap="square">
            <a:normAutofit/>
          </a:bodyPr>
          <a:lstStyle/>
          <a:p>
            <a:pPr>
              <a:defRPr sz="1600"/>
            </a:pPr>
            <a:r>
              <a:t>The headline — the median pair's latency, so one sick pair can neither drag the fleet number nor hide inside it. Worst pairs listed underneath.</a:t>
            </a:r>
          </a:p>
          <a:p>
            <a:pPr>
              <a:defRPr sz="1600"/>
            </a:pPr>
            <a:r>
              <a:t>Asymmetry — A→B slow but B→A fine? Look at A's *sending* side: the return trip just proved the rest of the path is healthy.</a:t>
            </a:r>
          </a:p>
          <a:p>
            <a:pPr>
              <a:defRPr sz="1600"/>
            </a:pPr>
            <a:r>
              <a:t>MTU black hole — small packets pass, big ones silently vanish: the classic "small requests work, large transfers hang" bug. Found without root.</a:t>
            </a:r>
          </a:p>
          <a:p>
            <a:pPr>
              <a:defRPr sz="1600"/>
            </a:pPr>
            <a:r>
              <a:t>Path spread — with --flows, one traffic stream 29× slower than its siblings = a sick member inside a LAG/ECMP bundle. The fault that "never reproduces", pinned.</a:t>
            </a:r>
          </a:p>
          <a:p>
            <a:pPr>
              <a:defRPr sz="1600"/>
            </a:pPr>
            <a:r>
              <a:t>Under load — run it around a load test and it shows what the load *did* to latency: p99 210 µs idle → 42 ms loaded is what everyone else on that path paid.</a:t>
            </a:r>
          </a:p>
          <a:p>
            <a:pPr>
              <a:defRPr sz="1600"/>
            </a:pPr>
            <a:r>
              <a:t>And a clean run says so in plain words: "the network is not your problem."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Following up on what it finds</a:t>
            </a:r>
          </a:p>
        </p:txBody>
      </p:sp>
      <p:sp>
        <p:nvSpPr>
          <p:cNvPr id="3" name="Content Placeholder 2"/>
          <p:cNvSpPr>
            <a:spLocks noGrp="1"/>
          </p:cNvSpPr>
          <p:nvPr>
            <p:ph idx="1"/>
          </p:nvPr>
        </p:nvSpPr>
        <p:spPr/>
        <p:txBody>
          <a:bodyPr wrap="square">
            <a:normAutofit/>
          </a:bodyPr>
          <a:lstStyle/>
          <a:p>
            <a:pPr>
              <a:defRPr sz="1600"/>
            </a:pPr>
            <a:r>
              <a:t>A sick pair? netmesh paths --compare web03:db01 web01:db01 — prints the two routes side by side and marks the first hop where they differ. That hop is where to look.</a:t>
            </a:r>
          </a:p>
          <a:p>
            <a:pPr>
              <a:defRPr sz="1600"/>
            </a:pPr>
            <a:r>
              <a:t>A clean baseline? Then the network isn't your problem — go load it: iperf-orchestrator all, mx run.</a:t>
            </a:r>
          </a:p>
          <a:p>
            <a:pPr>
              <a:defRPr sz="1600"/>
            </a:pPr>
            <a:r>
              <a:t>A host that's still slow? Check the box itself before blaming the network again.</a:t>
            </a:r>
          </a:p>
          <a:p>
            <a:pPr>
              <a:defRPr sz="1600"/>
            </a:pPr>
            <a:r>
              <a:t>Cleanup is automatic for check (it removes everything it deployed); for managed runs, stop keeps the reports and clean verifiably removes every trace.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netmesh in five minutes</a:t>
            </a:r>
          </a:p>
        </p:txBody>
      </p:sp>
      <p:sp>
        <p:nvSpPr>
          <p:cNvPr id="3" name="TextBox 2"/>
          <p:cNvSpPr txBox="1"/>
          <p:nvPr/>
        </p:nvSpPr>
        <p:spPr>
          <a:xfrm>
            <a:off x="640080" y="1234440"/>
            <a:ext cx="10972800" cy="2423160"/>
          </a:xfrm>
          <a:prstGeom prst="rect">
            <a:avLst/>
          </a:prstGeom>
          <a:noFill/>
        </p:spPr>
        <p:txBody>
          <a:bodyPr wrap="none">
            <a:spAutoFit/>
          </a:bodyPr>
          <a:lstStyle/>
          <a:p>
            <a:pPr>
              <a:defRPr sz="1300">
                <a:solidFill>
                  <a:srgbClr val="24354A"/>
                </a:solidFill>
                <a:latin typeface="Consolas"/>
              </a:defRPr>
            </a:pPr>
            <a:r>
              <a:t># 0. prove the machinery works -- loopback only, no ssh needed</a:t>
            </a:r>
          </a:p>
          <a:p>
            <a:pPr>
              <a:defRPr sz="1300">
                <a:solidFill>
                  <a:srgbClr val="24354A"/>
                </a:solidFill>
                <a:latin typeface="Consolas"/>
              </a:defRPr>
            </a:pPr>
            <a:r>
              <a:t>netmesh selftest</a:t>
            </a:r>
          </a:p>
          <a:p>
            <a:pPr>
              <a:defRPr sz="1300">
                <a:solidFill>
                  <a:srgbClr val="24354A"/>
                </a:solidFill>
                <a:latin typeface="Consolas"/>
              </a:defRPr>
            </a:pPr>
            <a:r>
              <a:t> </a:t>
            </a:r>
          </a:p>
          <a:p>
            <a:pPr>
              <a:defRPr sz="1300">
                <a:solidFill>
                  <a:srgbClr val="24354A"/>
                </a:solidFill>
                <a:latin typeface="Consolas"/>
              </a:defRPr>
            </a:pPr>
            <a:r>
              <a:t># 1. the two-host check: deploy, probe, report, clean up</a:t>
            </a:r>
          </a:p>
          <a:p>
            <a:pPr>
              <a:defRPr sz="1300">
                <a:solidFill>
                  <a:srgbClr val="24354A"/>
                </a:solidFill>
                <a:latin typeface="Consolas"/>
              </a:defRPr>
            </a:pPr>
            <a:r>
              <a:t>netmesh check web01 db01</a:t>
            </a:r>
          </a:p>
          <a:p>
            <a:pPr>
              <a:defRPr sz="1300">
                <a:solidFill>
                  <a:srgbClr val="24354A"/>
                </a:solidFill>
                <a:latin typeface="Consolas"/>
              </a:defRPr>
            </a:pPr>
            <a:r>
              <a:t>netmesh check web01 db01 --for 60      # a longer look</a:t>
            </a:r>
          </a:p>
          <a:p>
            <a:pPr>
              <a:defRPr sz="1300">
                <a:solidFill>
                  <a:srgbClr val="24354A"/>
                </a:solidFill>
                <a:latin typeface="Consolas"/>
              </a:defRPr>
            </a:pPr>
            <a:r>
              <a:t> </a:t>
            </a:r>
          </a:p>
          <a:p>
            <a:pPr>
              <a:defRPr sz="1300">
                <a:solidFill>
                  <a:srgbClr val="24354A"/>
                </a:solidFill>
                <a:latin typeface="Consolas"/>
              </a:defRPr>
            </a:pPr>
            <a:r>
              <a:t># 2. hunting a fault that comes and goes: sweep the paths</a:t>
            </a:r>
          </a:p>
          <a:p>
            <a:pPr>
              <a:defRPr sz="1300">
                <a:solidFill>
                  <a:srgbClr val="24354A"/>
                </a:solidFill>
                <a:latin typeface="Consolas"/>
              </a:defRPr>
            </a:pPr>
            <a:r>
              <a:t>#    inside a LAG/ECMP bundle</a:t>
            </a:r>
          </a:p>
          <a:p>
            <a:pPr>
              <a:defRPr sz="1300">
                <a:solidFill>
                  <a:srgbClr val="24354A"/>
                </a:solidFill>
                <a:latin typeface="Consolas"/>
              </a:defRPr>
            </a:pPr>
            <a:r>
              <a:t>netmesh check web03 db01 --flows 8</a:t>
            </a:r>
          </a:p>
        </p:txBody>
      </p:sp>
      <p:sp>
        <p:nvSpPr>
          <p:cNvPr id="4" name="TextBox 3"/>
          <p:cNvSpPr txBox="1"/>
          <p:nvPr/>
        </p:nvSpPr>
        <p:spPr>
          <a:xfrm>
            <a:off x="822960" y="3794760"/>
            <a:ext cx="10607040" cy="310896"/>
          </a:xfrm>
          <a:prstGeom prst="rect">
            <a:avLst/>
          </a:prstGeom>
          <a:noFill/>
        </p:spPr>
        <p:txBody>
          <a:bodyPr wrap="square">
            <a:spAutoFit/>
          </a:bodyPr>
          <a:lstStyle/>
          <a:p>
            <a:pPr>
              <a:defRPr sz="1400"/>
            </a:pPr>
            <a:r>
              <a:t>• check leaves nothing behind — it deploys its agents, probes, prints the report and cleans up after itself.</a:t>
            </a:r>
          </a:p>
        </p:txBody>
      </p:sp>
      <p:sp>
        <p:nvSpPr>
          <p:cNvPr id="5" name="TextBox 4"/>
          <p:cNvSpPr txBox="1"/>
          <p:nvPr/>
        </p:nvSpPr>
        <p:spPr>
          <a:xfrm>
            <a:off x="822960" y="4178808"/>
            <a:ext cx="10607040" cy="310896"/>
          </a:xfrm>
          <a:prstGeom prst="rect">
            <a:avLst/>
          </a:prstGeom>
          <a:noFill/>
        </p:spPr>
        <p:txBody>
          <a:bodyPr wrap="square">
            <a:spAutoFit/>
          </a:bodyPr>
          <a:lstStyle/>
          <a:p>
            <a:pPr>
              <a:defRPr sz="1400"/>
            </a:pPr>
            <a:r>
              <a:t>• The report ends with *what to do next*, including "the network is not your problem" when that's the truth.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Tutorial — repeat runs and load testing</a:t>
            </a:r>
          </a:p>
        </p:txBody>
      </p:sp>
      <p:sp>
        <p:nvSpPr>
          <p:cNvPr id="3" name="TextBox 2"/>
          <p:cNvSpPr txBox="1"/>
          <p:nvPr/>
        </p:nvSpPr>
        <p:spPr>
          <a:xfrm>
            <a:off x="640080" y="1234440"/>
            <a:ext cx="10972800" cy="2862072"/>
          </a:xfrm>
          <a:prstGeom prst="rect">
            <a:avLst/>
          </a:prstGeom>
          <a:noFill/>
        </p:spPr>
        <p:txBody>
          <a:bodyPr wrap="none">
            <a:spAutoFit/>
          </a:bodyPr>
          <a:lstStyle/>
          <a:p>
            <a:pPr>
              <a:defRPr sz="1300">
                <a:solidFill>
                  <a:srgbClr val="24354A"/>
                </a:solidFill>
                <a:latin typeface="Consolas"/>
              </a:defRPr>
            </a:pPr>
            <a:r>
              <a:t># a standing mesh you can re-run</a:t>
            </a:r>
          </a:p>
          <a:p>
            <a:pPr>
              <a:defRPr sz="1300">
                <a:solidFill>
                  <a:srgbClr val="24354A"/>
                </a:solidFill>
                <a:latin typeface="Consolas"/>
              </a:defRPr>
            </a:pPr>
            <a:r>
              <a:t>netmesh gen --servers prod.txt</a:t>
            </a:r>
          </a:p>
          <a:p>
            <a:pPr>
              <a:defRPr sz="1300">
                <a:solidFill>
                  <a:srgbClr val="24354A"/>
                </a:solidFill>
                <a:latin typeface="Consolas"/>
              </a:defRPr>
            </a:pPr>
            <a:r>
              <a:t>netmesh run --for 300 --grid grids/    # 5 minutes + N x N grids</a:t>
            </a:r>
          </a:p>
          <a:p>
            <a:pPr>
              <a:defRPr sz="1300">
                <a:solidFill>
                  <a:srgbClr val="24354A"/>
                </a:solidFill>
                <a:latin typeface="Consolas"/>
              </a:defRPr>
            </a:pPr>
            <a:r>
              <a:t> </a:t>
            </a:r>
          </a:p>
          <a:p>
            <a:pPr>
              <a:defRPr sz="1300">
                <a:solidFill>
                  <a:srgbClr val="24354A"/>
                </a:solidFill>
                <a:latin typeface="Consolas"/>
              </a:defRPr>
            </a:pPr>
            <a:r>
              <a:t># measure what a load test does to latency:</a:t>
            </a:r>
          </a:p>
          <a:p>
            <a:pPr>
              <a:defRPr sz="1300">
                <a:solidFill>
                  <a:srgbClr val="24354A"/>
                </a:solidFill>
                <a:latin typeface="Consolas"/>
              </a:defRPr>
            </a:pPr>
            <a:r>
              <a:t># 20 s idle baseline, then keep probing while the load runs</a:t>
            </a:r>
          </a:p>
          <a:p>
            <a:pPr>
              <a:defRPr sz="1300">
                <a:solidFill>
                  <a:srgbClr val="24354A"/>
                </a:solidFill>
                <a:latin typeface="Consolas"/>
              </a:defRPr>
            </a:pPr>
            <a:r>
              <a:t>netmesh run --baseline 20 -- ./iperf_orchestrator.sh all</a:t>
            </a:r>
          </a:p>
          <a:p>
            <a:pPr>
              <a:defRPr sz="1300">
                <a:solidFill>
                  <a:srgbClr val="24354A"/>
                </a:solidFill>
                <a:latin typeface="Consolas"/>
              </a:defRPr>
            </a:pPr>
            <a:r>
              <a:t> </a:t>
            </a:r>
          </a:p>
          <a:p>
            <a:pPr>
              <a:defRPr sz="1300">
                <a:solidFill>
                  <a:srgbClr val="24354A"/>
                </a:solidFill>
                <a:latin typeface="Consolas"/>
              </a:defRPr>
            </a:pPr>
            <a:r>
              <a:t># a sick pair? find the hop where its route diverges</a:t>
            </a:r>
          </a:p>
          <a:p>
            <a:pPr>
              <a:defRPr sz="1300">
                <a:solidFill>
                  <a:srgbClr val="24354A"/>
                </a:solidFill>
                <a:latin typeface="Consolas"/>
              </a:defRPr>
            </a:pPr>
            <a:r>
              <a:t>netmesh paths --compare web03:db01 web01:db01</a:t>
            </a:r>
          </a:p>
          <a:p>
            <a:pPr>
              <a:defRPr sz="1300">
                <a:solidFill>
                  <a:srgbClr val="24354A"/>
                </a:solidFill>
                <a:latin typeface="Consolas"/>
              </a:defRPr>
            </a:pPr>
            <a:r>
              <a:t> </a:t>
            </a:r>
          </a:p>
          <a:p>
            <a:pPr>
              <a:defRPr sz="1300">
                <a:solidFill>
                  <a:srgbClr val="24354A"/>
                </a:solidFill>
                <a:latin typeface="Consolas"/>
              </a:defRPr>
            </a:pPr>
            <a:r>
              <a:t>netmesh clean                          # managed runs: verified removal</a:t>
            </a:r>
          </a:p>
        </p:txBody>
      </p:sp>
      <p:sp>
        <p:nvSpPr>
          <p:cNvPr id="4" name="TextBox 3"/>
          <p:cNvSpPr txBox="1"/>
          <p:nvPr/>
        </p:nvSpPr>
        <p:spPr>
          <a:xfrm>
            <a:off x="822960" y="4233672"/>
            <a:ext cx="10607040" cy="621792"/>
          </a:xfrm>
          <a:prstGeom prst="rect">
            <a:avLst/>
          </a:prstGeom>
          <a:noFill/>
        </p:spPr>
        <p:txBody>
          <a:bodyPr wrap="square">
            <a:spAutoFit/>
          </a:bodyPr>
          <a:lstStyle/>
          <a:p>
            <a:pPr>
              <a:defRPr sz="1400"/>
            </a:pPr>
            <a:r>
              <a:t>• Same verbs as mx (gen / start / status / summarize / stop / clean) and the same grid format — learn one, know both.</a:t>
            </a:r>
          </a:p>
        </p:txBody>
      </p:sp>
      <p:sp>
        <p:nvSpPr>
          <p:cNvPr id="5" name="TextBox 4"/>
          <p:cNvSpPr txBox="1"/>
          <p:nvPr/>
        </p:nvSpPr>
        <p:spPr>
          <a:xfrm>
            <a:off x="822960" y="4928616"/>
            <a:ext cx="10607040" cy="310896"/>
          </a:xfrm>
          <a:prstGeom prst="rect">
            <a:avLst/>
          </a:prstGeom>
          <a:noFill/>
        </p:spPr>
        <p:txBody>
          <a:bodyPr wrap="square">
            <a:spAutoFit/>
          </a:bodyPr>
          <a:lstStyle/>
          <a:p>
            <a:pPr>
              <a:defRPr sz="1400"/>
            </a:pPr>
            <a:r>
              <a:t>• In every report, blank means "not measured" — never zero.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Close</a:t>
            </a:r>
          </a:p>
        </p:txBody>
      </p:sp>
      <p:sp>
        <p:nvSpPr>
          <p:cNvPr id="3" name="Text Placeholder 2"/>
          <p:cNvSpPr>
            <a:spLocks noGrp="1"/>
          </p:cNvSpPr>
          <p:nvPr>
            <p:ph type="body" idx="1"/>
          </p:nvPr>
        </p:nvSpPr>
        <p:spPr/>
        <p:txBody>
          <a:bodyPr/>
          <a:lstStyle/>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800" b="1">
                <a:solidFill>
                  <a:srgbClr val="1C2B3A"/>
                </a:solidFill>
              </a:defRPr>
            </a:pPr>
            <a:r>
              <a:t>Putting it together</a:t>
            </a:r>
          </a:p>
        </p:txBody>
      </p:sp>
      <p:sp>
        <p:nvSpPr>
          <p:cNvPr id="3" name="Rounded Rectangle 2"/>
          <p:cNvSpPr/>
          <p:nvPr/>
        </p:nvSpPr>
        <p:spPr>
          <a:xfrm>
            <a:off x="640080" y="1234440"/>
            <a:ext cx="1887321" cy="914400"/>
          </a:xfrm>
          <a:prstGeom prst="roundRect">
            <a:avLst/>
          </a:prstGeom>
          <a:solidFill>
            <a:srgbClr val="3D8B4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reachable</a:t>
            </a:r>
          </a:p>
          <a:p>
            <a:pPr>
              <a:defRPr sz="1000">
                <a:solidFill>
                  <a:srgbClr val="F0F3F6"/>
                </a:solidFill>
              </a:defRPr>
            </a:pPr>
            <a:r>
              <a:t>keep the list real</a:t>
            </a:r>
          </a:p>
        </p:txBody>
      </p:sp>
      <p:sp>
        <p:nvSpPr>
          <p:cNvPr id="4" name="TextBox 3"/>
          <p:cNvSpPr txBox="1"/>
          <p:nvPr/>
        </p:nvSpPr>
        <p:spPr>
          <a:xfrm>
            <a:off x="2527401" y="1490472"/>
            <a:ext cx="384048" cy="365760"/>
          </a:xfrm>
          <a:prstGeom prst="rect">
            <a:avLst/>
          </a:prstGeom>
          <a:noFill/>
        </p:spPr>
        <p:txBody>
          <a:bodyPr wrap="none">
            <a:spAutoFit/>
          </a:bodyPr>
          <a:lstStyle/>
          <a:p>
            <a:pPr>
              <a:defRPr sz="1600" b="1">
                <a:solidFill>
                  <a:srgbClr val="3E5C76"/>
                </a:solidFill>
              </a:defRPr>
            </a:pPr>
            <a:r>
              <a:t>→</a:t>
            </a:r>
          </a:p>
        </p:txBody>
      </p:sp>
      <p:sp>
        <p:nvSpPr>
          <p:cNvPr id="5" name="Rounded Rectangle 4"/>
          <p:cNvSpPr/>
          <p:nvPr/>
        </p:nvSpPr>
        <p:spPr>
          <a:xfrm>
            <a:off x="2911449" y="1234440"/>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a:t>
            </a:r>
          </a:p>
          <a:p>
            <a:pPr>
              <a:defRPr sz="1000">
                <a:solidFill>
                  <a:srgbClr val="F0F3F6"/>
                </a:solidFill>
              </a:defRPr>
            </a:pPr>
            <a:r>
              <a:t>idle baseline</a:t>
            </a:r>
          </a:p>
        </p:txBody>
      </p:sp>
      <p:sp>
        <p:nvSpPr>
          <p:cNvPr id="6" name="TextBox 5"/>
          <p:cNvSpPr txBox="1"/>
          <p:nvPr/>
        </p:nvSpPr>
        <p:spPr>
          <a:xfrm>
            <a:off x="4798771" y="1490472"/>
            <a:ext cx="384048" cy="365760"/>
          </a:xfrm>
          <a:prstGeom prst="rect">
            <a:avLst/>
          </a:prstGeom>
          <a:noFill/>
        </p:spPr>
        <p:txBody>
          <a:bodyPr wrap="none">
            <a:spAutoFit/>
          </a:bodyPr>
          <a:lstStyle/>
          <a:p>
            <a:pPr>
              <a:defRPr sz="1600" b="1">
                <a:solidFill>
                  <a:srgbClr val="3E5C76"/>
                </a:solidFill>
              </a:defRPr>
            </a:pPr>
            <a:r>
              <a:t>→</a:t>
            </a:r>
          </a:p>
        </p:txBody>
      </p:sp>
      <p:sp>
        <p:nvSpPr>
          <p:cNvPr id="7" name="Rounded Rectangle 6"/>
          <p:cNvSpPr/>
          <p:nvPr/>
        </p:nvSpPr>
        <p:spPr>
          <a:xfrm>
            <a:off x="5182819" y="1234440"/>
            <a:ext cx="1887321" cy="914400"/>
          </a:xfrm>
          <a:prstGeom prst="roundRect">
            <a:avLst/>
          </a:prstGeom>
          <a:solidFill>
            <a:srgbClr val="D97C1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iperf-orchestrator</a:t>
            </a:r>
          </a:p>
          <a:p>
            <a:pPr>
              <a:defRPr sz="1000">
                <a:solidFill>
                  <a:srgbClr val="F0F3F6"/>
                </a:solidFill>
              </a:defRPr>
            </a:pPr>
            <a:r>
              <a:t>TCP bandwidth</a:t>
            </a:r>
          </a:p>
        </p:txBody>
      </p:sp>
      <p:sp>
        <p:nvSpPr>
          <p:cNvPr id="8" name="TextBox 7"/>
          <p:cNvSpPr txBox="1"/>
          <p:nvPr/>
        </p:nvSpPr>
        <p:spPr>
          <a:xfrm>
            <a:off x="7070140" y="1490472"/>
            <a:ext cx="384048" cy="365760"/>
          </a:xfrm>
          <a:prstGeom prst="rect">
            <a:avLst/>
          </a:prstGeom>
          <a:noFill/>
        </p:spPr>
        <p:txBody>
          <a:bodyPr wrap="none">
            <a:spAutoFit/>
          </a:bodyPr>
          <a:lstStyle/>
          <a:p>
            <a:pPr>
              <a:defRPr sz="1600" b="1">
                <a:solidFill>
                  <a:srgbClr val="3E5C76"/>
                </a:solidFill>
              </a:defRPr>
            </a:pPr>
            <a:r>
              <a:t>→</a:t>
            </a:r>
          </a:p>
        </p:txBody>
      </p:sp>
      <p:sp>
        <p:nvSpPr>
          <p:cNvPr id="9" name="Rounded Rectangle 8"/>
          <p:cNvSpPr/>
          <p:nvPr/>
        </p:nvSpPr>
        <p:spPr>
          <a:xfrm>
            <a:off x="7454188" y="1234440"/>
            <a:ext cx="1887321" cy="914400"/>
          </a:xfrm>
          <a:prstGeom prst="roundRect">
            <a:avLst/>
          </a:prstGeom>
          <a:solidFill>
            <a:srgbClr val="BE3B4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mx</a:t>
            </a:r>
          </a:p>
          <a:p>
            <a:pPr>
              <a:defRPr sz="1000">
                <a:solidFill>
                  <a:srgbClr val="F0F3F6"/>
                </a:solidFill>
              </a:defRPr>
            </a:pPr>
            <a:r>
              <a:t>packets per second</a:t>
            </a:r>
          </a:p>
        </p:txBody>
      </p:sp>
      <p:sp>
        <p:nvSpPr>
          <p:cNvPr id="10" name="TextBox 9"/>
          <p:cNvSpPr txBox="1"/>
          <p:nvPr/>
        </p:nvSpPr>
        <p:spPr>
          <a:xfrm>
            <a:off x="9341510" y="1490472"/>
            <a:ext cx="384048" cy="365760"/>
          </a:xfrm>
          <a:prstGeom prst="rect">
            <a:avLst/>
          </a:prstGeom>
          <a:noFill/>
        </p:spPr>
        <p:txBody>
          <a:bodyPr wrap="none">
            <a:spAutoFit/>
          </a:bodyPr>
          <a:lstStyle/>
          <a:p>
            <a:pPr>
              <a:defRPr sz="1600" b="1">
                <a:solidFill>
                  <a:srgbClr val="3E5C76"/>
                </a:solidFill>
              </a:defRPr>
            </a:pPr>
            <a:r>
              <a:t>→</a:t>
            </a:r>
          </a:p>
        </p:txBody>
      </p:sp>
      <p:sp>
        <p:nvSpPr>
          <p:cNvPr id="11" name="Rounded Rectangle 10"/>
          <p:cNvSpPr/>
          <p:nvPr/>
        </p:nvSpPr>
        <p:spPr>
          <a:xfrm>
            <a:off x="9725558" y="1234440"/>
            <a:ext cx="1887321" cy="914400"/>
          </a:xfrm>
          <a:prstGeom prst="roundRect">
            <a:avLst/>
          </a:prstGeom>
          <a:solidFill>
            <a:srgbClr val="12897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FFFFFF"/>
                </a:solidFill>
                <a:latin typeface="Consolas"/>
              </a:defRPr>
            </a:pPr>
            <a:r>
              <a:t>netmesh --baseline</a:t>
            </a:r>
          </a:p>
          <a:p>
            <a:pPr>
              <a:defRPr sz="1000">
                <a:solidFill>
                  <a:srgbClr val="F0F3F6"/>
                </a:solidFill>
              </a:defRPr>
            </a:pPr>
            <a:r>
              <a:t>latency under load</a:t>
            </a:r>
          </a:p>
        </p:txBody>
      </p:sp>
      <p:sp>
        <p:nvSpPr>
          <p:cNvPr id="12" name="TextBox 11"/>
          <p:cNvSpPr txBox="1"/>
          <p:nvPr/>
        </p:nvSpPr>
        <p:spPr>
          <a:xfrm>
            <a:off x="822960" y="2350008"/>
            <a:ext cx="10607040" cy="621792"/>
          </a:xfrm>
          <a:prstGeom prst="rect">
            <a:avLst/>
          </a:prstGeom>
          <a:noFill/>
        </p:spPr>
        <p:txBody>
          <a:bodyPr wrap="square">
            <a:spAutoFit/>
          </a:bodyPr>
          <a:lstStyle/>
          <a:p>
            <a:pPr>
              <a:defRPr sz="1400"/>
            </a:pPr>
            <a:r>
              <a:t>• 1 · Start with the list — reachable prod.txt -i comments out dead servers, so every later step measures the fleet, not the list.</a:t>
            </a:r>
          </a:p>
        </p:txBody>
      </p:sp>
      <p:sp>
        <p:nvSpPr>
          <p:cNvPr id="13" name="TextBox 12"/>
          <p:cNvSpPr txBox="1"/>
          <p:nvPr/>
        </p:nvSpPr>
        <p:spPr>
          <a:xfrm>
            <a:off x="822960" y="3044952"/>
            <a:ext cx="10607040" cy="621792"/>
          </a:xfrm>
          <a:prstGeom prst="rect">
            <a:avLst/>
          </a:prstGeom>
          <a:noFill/>
        </p:spPr>
        <p:txBody>
          <a:bodyPr wrap="square">
            <a:spAutoFit/>
          </a:bodyPr>
          <a:lstStyle/>
          <a:p>
            <a:pPr>
              <a:defRPr sz="1400"/>
            </a:pPr>
            <a:r>
              <a:t>• 2 · Baseline while idle — netmesh check gives the latency, loss and MTU numbers every later result is read against. Safe on production.</a:t>
            </a:r>
          </a:p>
        </p:txBody>
      </p:sp>
      <p:sp>
        <p:nvSpPr>
          <p:cNvPr id="14" name="TextBox 13"/>
          <p:cNvSpPr txBox="1"/>
          <p:nvPr/>
        </p:nvSpPr>
        <p:spPr>
          <a:xfrm>
            <a:off x="822960" y="3739896"/>
            <a:ext cx="10607040" cy="621792"/>
          </a:xfrm>
          <a:prstGeom prst="rect">
            <a:avLst/>
          </a:prstGeom>
          <a:noFill/>
        </p:spPr>
        <p:txBody>
          <a:bodyPr wrap="square">
            <a:spAutoFit/>
          </a:bodyPr>
          <a:lstStyle/>
          <a:p>
            <a:pPr>
              <a:defRPr sz="1400"/>
            </a:pPr>
            <a:r>
              <a:t>• 3 · Load it with bytes — iperf-orchestrator all floods every link both ways: the bandwidth ceiling, and the first look at what breaks.</a:t>
            </a:r>
          </a:p>
        </p:txBody>
      </p:sp>
      <p:sp>
        <p:nvSpPr>
          <p:cNvPr id="15" name="TextBox 14"/>
          <p:cNvSpPr txBox="1"/>
          <p:nvPr/>
        </p:nvSpPr>
        <p:spPr>
          <a:xfrm>
            <a:off x="822960" y="4434840"/>
            <a:ext cx="10607040" cy="621792"/>
          </a:xfrm>
          <a:prstGeom prst="rect">
            <a:avLst/>
          </a:prstGeom>
          <a:noFill/>
        </p:spPr>
        <p:txBody>
          <a:bodyPr wrap="square">
            <a:spAutoFit/>
          </a:bodyPr>
          <a:lstStyle/>
          <a:p>
            <a:pPr>
              <a:defRPr sz="1400"/>
            </a:pPr>
            <a:r>
              <a:t>• 4 · Load it with packets — mx run finds the answered-packets-per-second ceiling: the shape of real RPC and storage traffic.</a:t>
            </a:r>
          </a:p>
        </p:txBody>
      </p:sp>
      <p:sp>
        <p:nvSpPr>
          <p:cNvPr id="16" name="TextBox 15"/>
          <p:cNvSpPr txBox="1"/>
          <p:nvPr/>
        </p:nvSpPr>
        <p:spPr>
          <a:xfrm>
            <a:off x="822960" y="5129784"/>
            <a:ext cx="10607040" cy="621792"/>
          </a:xfrm>
          <a:prstGeom prst="rect">
            <a:avLst/>
          </a:prstGeom>
          <a:noFill/>
        </p:spPr>
        <p:txBody>
          <a:bodyPr wrap="square">
            <a:spAutoFit/>
          </a:bodyPr>
          <a:lstStyle/>
          <a:p>
            <a:pPr>
              <a:defRPr sz="1400"/>
            </a:pPr>
            <a:r>
              <a:t>• 5 · Measure the cost — wrap netmesh around a load run to see what the load did to latency for everyone else on the path.</a:t>
            </a:r>
          </a:p>
        </p:txBody>
      </p:sp>
      <p:sp>
        <p:nvSpPr>
          <p:cNvPr id="17" name="TextBox 16"/>
          <p:cNvSpPr txBox="1"/>
          <p:nvPr/>
        </p:nvSpPr>
        <p:spPr>
          <a:xfrm>
            <a:off x="822960" y="5824728"/>
            <a:ext cx="10607040" cy="310896"/>
          </a:xfrm>
          <a:prstGeom prst="rect">
            <a:avLst/>
          </a:prstGeom>
          <a:noFill/>
        </p:spPr>
        <p:txBody>
          <a:bodyPr wrap="square">
            <a:spAutoFit/>
          </a:bodyPr>
          <a:lstStyle/>
          <a:p>
            <a:pPr>
              <a:defRPr sz="1400"/>
            </a:pPr>
            <a:r>
              <a:t>• Three habits: baseline before load · trust what arrived, not what was sent · keep the list real.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