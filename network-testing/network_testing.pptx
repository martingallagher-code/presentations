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is about answering one question -- "is the network the problem?" -- at fleet scale, with three small tools that share one design language. iperf_orchestrator measures TCP bandwidth under load. matrix_orchestrator measures request/response packets per second under load. netmesh measures the idle baseline that the other two numbers have to be read against. And because every one of them fans out over a server list, binnacle’s reachable keeps that list true, so a run still works when several servers are down -- a theme we’ll return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for the whole talk. Network testing here means measuring the fabric between a fleet of Linux boxes over plain ssh. Three different questions: the idle baseline (netmesh), TCP bandwidth under load (iperf_orchestrator), and request/response packet rate under load (matrix_orchestrator). They are deliberately one family: the same host-list grammar, the same deploy-over-ssh model, and N-by-N grid outputs that read identically -- a dark row is a sick sender, a dark column a sick receiver.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these tools rather than vendor test suites or hand-driven iperf? Three design rules run through all of them. First, they drop onto any host you can ssh to -- no agents, no root, and they clean up after themselves, which is what makes them usable on production fleets. Second, the numbers are honest by construction: missing data is blank rather than zero, and the receiver’s count is the headline, not the sender’s. Third, they compose: one server list drives all of them, so a pipeline like reachable, then netmesh, then a load test is three commands, not three integrations.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differences in one view. netmesh is latency-and-loss on an idle network -- cheap enough to run during an incident. iperf_orchestrator is TCP goodput with everything saturated -- that is a flood, so you schedule it. mx is packet rate with a reply required for every request -- paced at whatever rate you choose, and because the reply carries the request’s timestamp back, RTT comes out with no clock sync. Point to make: these are complements, not competitors. Bandwidth, packet rate, and latency fail independently, and each tool sees what the others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guide. reachable is not optional ceremony -- it is what makes the rest reliable on a real, decaying server list. netmesh answers "is it the network at all, and which link" -- it is the one you can run mid-incident. iperf_orchestrator is the acceptance and stress tool: schedule it, flood everything, read the heatmap. mx is for request/response capacity -- pps, not bytes -- which is how RPC, storage and control-plane traffic actually stresses a fabric. For a new fabric, run all of them in that order; each one’s output tells you whether the next one’s numbers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resilience slide: how do you make sure the test can run even when several servers are down? Two layers. First, prune the list: reachable rewrites servers.txt, commenting out dead entries with the reason, so the fan-out is never half wasted -- and because it un-comments hosts that come back and never touches your own comments, it is safe to run on a schedule. Second, the orchestrators themselves fail open: one dead host is reported and skipped, not allowed to abort a 100-host run. Together: reachable prod.txt -i before every big run, and the run itself tolerates whatever died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iperf_orchestrator. We’ll cover what it is, what iperf itself is and why the orchestrator had to exist, what it does and does not do, setup, the run/collect/interpret/clean lifecycle, the four run modes and why they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it: a bash orchestrator around iperf2. You hand it a server list; it starts iperf2 servers everywhere, schedules every pair, runs the mesh, collects the logs, and renders the results. Why run it: two reasons. Stress -- load every link in both directions at once and see what breaks, which is the acceptance test for a new fabric or a change window. And survey -- a quick "is this fleet’s network healthy" snapshot. The four artifacts on the right are the whole deliverable; the heatmap is usually the one you open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grounding for anyone who hasn’t used iperf: client pushes bytes to a server for ten seconds, the achieved bandwidth is the answer. The subtle part is iperf2 versus iperf3 -- different projects, and the choice matters enormously for a mesh. iperf3’s single-threaded, one-client-at-a-time server means a 100-host mesh needs a hundred daemons and ports per host. iperf2 handles concurrent clients on one port, and its --full-duplex mode tests both directions on one socket, which halves the test count and looks more like real traffic to switch buffers. This is a design decision the tool encodes so you never have to re-discover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was the orchestrator necessary? Because a full mesh has quadratic moving parts. At 100 hosts it’s 4,950 pair tests. They need to start simultaneously for a stress test to mean anything -- solved with a single future timestamp rather than any coordination protocol. Someone has to be the client for each pair, and the naive rule gives one host 99 client jobs and another zero -- the parity rule spreads it to 49-or-50 each, computed independently at both ends. And collecting the results naively is eighty minutes of ssh handshakes -- tar-batching cuts it to minutes. Each of these was a real problem hit and fixed; the tool is the accumulated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honestly stated. It does the whole mesh lifecycle -- schedule, synchronize, sample CPU, collect, render -- and it fails open, because at fleet scale something is always broken and the run must survive it. It doesn’t do UDP or latency; those questions belong to netmesh and mx. It doesn’t provision hosts -- iperf2 and ssh keys are on you, though it verifies both before running. And it has known, documented gaps: heterogeneous NIC fleets skew the colormap, and the ultra-clean sequential-pair mode costs hours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is deliberately thin. The orchestrator host needs bash, ssh, and Python -- numpy and matplotlib only if you want the heatmap. Servers need exactly two things: iperf2 and, ideally, mpstat. The one hard prerequisite is key-based ssh everywhere; every connection uses BatchMode, so a password prompt is treated as a failure rather than a hang. The tool gives you three preflight commands: doctor for local deps, check-iperf for the fleet -- which also catches the distro trap where iperf is secretly iperf3 -- and check-servers to see what’s already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lifecycle. In practice you type one command -- all -- and it does start, run, collect, parse, render, stop. But every stage is a first-class subcommand, which matters on day two: re-render a heatmap for last week’s run, re-collect from a host that was slow, re-run only the analysis. Results are immutable timestamped directories with a latest symlink -- so runs compare cleanly over time. Cleanup is explicit and scoped: it removes the remote working dir for this run only, and --resume / --keep-going give you the recovery story when a fleet misbehaves mid-run.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the results. The heatmap is rows-send, columns-receive: a red row means that host transmits badly to everyone, a red column means everyone struggles to send to it. That asymmetry instantly localizes the fault to a direction on a host. But before you blame the network: the most common surprise on first runs is a "slow" host whose CPU was pegged for the whole test -- the number measured the CPU. Second most common: total CPU looks fine but one core is drowning in softirq, because RSS is hashing every flow to core 0. This is exactly why the orchestrator samples CPU on every host and prints peak CPU on the bar chart -- so the misread is caught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modes, and why they exist. They all answer the same question at different isolation levels. parallel is the stress test: everything at once, done in about a minute. sequential-host isolates each host so its numbers aren’t polluted by neighbors -- good for "what can this box do". sequential-pair puts one connection on the wire at a time -- the cleanest possible pair numbers, but quadratic time, so it’s rarely worth it. rolling is the odd one out: instead of a fixed schedule, every host independently keeps testing its least-tested peer for a wall-clock budget. Per-host load is constant no matter how big the fleet is, which makes it the only practical mode at very large N. Pick the mode by the question: stress = parallel, capability = sequential-host, forensic = sequential-pair, huge fleet = rolling.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Ways to run it, grouped by what you’re optimizing. Scale: the ssh fan-out is capped and tunable, retries handle flaky hosts, and rolling mode has its own budget knobs. Trust: --dry-run prints exactly what would be executed -- worth showing before unleashing anything on a production fleet -- and --keep-going / --resume are the recovery story. Fit: everything is flag or env var, results are addressable by run-id, and there’s no hidden state anywhere -- you can always reason about what a re-run will do. But the honest summary: most days it’s one command,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matrix_orchestrator, or mx. Why it exists beyond iperf_orchestrator, what it does and doesn’t, the six commands, editing the matrix mid-stream, reading the summary, scaling knobs, and how to shape a run for small, large and huge fleets.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mx exist when we already had iperf_orchestrator? Because bandwidth and packet rate fail differently. A fabric can carry 100 gigabits of bulk TCP and still collapse at two million answered packets per second -- and request/response at rate is what RPC, storage and control-plane traffic actually looks like. The model is one sentence: x bytes out, y bytes back, at a target rate, between every pair. Because the reply echoes the request’s timestamp, you get honest round-trip latency with no clock synchronization. And it is UDP on purpose -- TCP would merge your packets and make the pps number meaningless. The two tools are the two halves of the load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does: the full request/response lifecycle with honest accounting -- wire rate as well as payload, receiver-counted delivery, loss split by direction, latency percentiles, and its own CPU cost reported next to the network numbers. What it doesn’t: TCP, one-way delay, and heroic packet rates. It is ordinary Python on the ordinary kernel socket path -- around 200k packets per second per worker process, a few million per host. That ceiling is documented, measured, and most importantly self-reported: when you hit it, the summary tells you to stop believing the number and add workers or hosts. A load tool that can quietly become its own bottleneck without telling you is worse than no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you run it -- and it is deliberately simpler than iperf_orchestrator. Six verbs: gen builds the matrix file, start deploys and launches agents over ssh, status is the live ticker, summarize collects and analyzes, stop halts, clean erases. mx run wraps the whole lifecycle with a duration. Two differences from iperf_orchestrator worth calling out: servers need nothing but Python -- there is no iperf2 dependency to install fleet-wide -- and everything about the traffic lives in the matrix file rather than in command-line flags, which sets up the next slide. And when you don’t know what to ask for, mx hints turns a goal into the command that gets you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file is the tool’s real interface. gen writes a plain grid CSV -- rows send, columns receive, each cell a packet rate -- with the sizes and port in the header. Changing a run mid-stream is: edit the file, mx start again. Blank a cell to silence a pair, raise one cell to make a hot pair, write max to let one pair run unpaced, change the header to reshape every packet. The agents redeploy in seconds. This means an investigation -- "what if only the cross-rack pairs run?", "what if this one pair goes unpaced?" -- is a text edit, not a new command line you have to reconstruct.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results. While it runs, mx status is a live per-host ticker. mx summarize is the real product: it pulls every host’s report and prints fleet totals, the per-host table sorted worst-first, the worst individual flows, and a computed what-to-do-next section that reads the numbers and points at the responsible knob. --grid writes N-by-N CSVs shaped like the matrix itself, so a sick sender is literally a dark row in a spreadsheet -- and these grids match netmesh’s grid layout, so the two tools’ outputs read the same way. And underneath it all is one plain CSV per host, per flow, per interval -- nothing proprietary, plot it with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summary. REQUESTS is what senders put on the wire; DELIVERED is what receivers actually counted -- and delivered is the honest number, because a sender cannot see its own drops. Loss is split into the forward leg and the return leg -- with asymmetric sizes those stress completely different things, and they need different fixes. RTT is a genuine round trip measured on one clock. And the summary ends by interpreting itself: what-to-do-next tells you whether the numbers point at rate, at workers, at a host, or at the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interpretation rule in mx: know when the tool itself is the bottleneck. The arithmetic is public -- about 200 thousand packets per second per worker, times workers, times hosts. The summary’s per-host table has an agent column: the busiest worker’s share of one core. As it approaches 100 percent, the worker is saturated and the pps number is a measurement of Python, not of your fabric -- and the tool says exactly that in the output. Fixes, in order: more workers if there are spare cores, --streams to give a small mesh enough sockets for the workers and the NIC queues to spread across, or more hosts. This is also a nice war story about the GIL: four threads are three times slower than one; four processes are three and a half times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use: find the sustainable all-to-all packet rate. Sanity-check with mx check first -- it knows what the NICs can carry, so you don’t blame the network for physics. Then ramp: fifty thousand, one hundred thousand, and so on; the last rate that delivers cleanly is the answer. Two tells, in order: p99 latency lifting off the p50 means queues are filling -- that happens before loss. Then delivered falls behind requests. pps max skips the ramp and finds the ceiling fastest, but tells you less about where the knee is. On the right, the run shapes you’ll actually type -- including --bind for two-NIC fleets, which retargets the destination addresses too, because binding only your own socket to the data NIC would send every packet to an address nobody listens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get the best run out of different fleet sizes. Small fleets: just run the full mesh -- every pair, continuously -- and use --streams when a big box faces few peers. At larger N, a full mesh means N-minus-1 sockets and thin per-flow rates; --peers K builds a k-regular shuffle instead -- every host carries exactly K flows in and out, so per-host load is equal by construction, not statistically, and the seed makes it replayable. When you need every pair measured -- "show me the sick pair" -- but can’t afford the mesh, add --dwell: the K-peer graph rotates through disjoint layers until every ordered pair has been measured exactly once per cycle, with per-host load constant throughout and no coordination channel at all. A thousand hosts get full coverage every six minutes on eight sockets. And mx hints exists precisely so you don’t have to remember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Winding a run down. stop and clean are different verbs on purpose: stop leaves every report and log on the hosts so you can keep summarizing; clean is the scorched-earth verb, and it verifies its own work -- it will not claim success while a directory or an agent survives. The limitations are the same ones from the does/doesn’t slide, but worth restating at the end of the section: it’s UDP by design, a few Mpps per host is the honest ceiling for a stdlib Python tool on the kernel socket path, and the tool self-reports when it saturates. If you need tens of Mpps per host, you have graduated to kernel-bypass tooling -- and you’ll still want mx for the answered-packet truth at sane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netmesh, from the binnacle toolbox. How it completes the other two, why it probes the way it does, how to run it, read it, clean up after it, and what to do with what it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netmesh completes the family. The load tools tell you what the fabric can carry; netmesh tells you what the fabric is like when nothing is asked of it -- and a 9.4-gigabit result over a 300-microsecond path and the same result over a 42-millisecond path are different results. Why run it: before blaming the network in an incident, before commissioning load tests, and as the recurring health probe -- it is light enough, ten small packets a second per pair, to run against production. It also bridges the two worlds: run it with --baseline around a load test and it reports what the load did to latency, which is the number everyone else sharing that path experiences.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measures, because the mechanism is the credibility. UDP echoes between temporary agents give four things at once that ping cannot: no privileges anywhere; RTT read from a single clock, since the sender’s own timestamp comes back in the echo; loss split into forward and return legs, because the responder counts what actually arrived; and data-plane truth, since ICMP is handled by exactly the router path that gets rate-limited. One-way delay is deliberately not reported -- without hardware time sync it would be a number that is not true. And for endpoints you can’t ssh to -- a VIP, a gateway -- the tilde prefix falls back to ping, clearly quarantined in the report rather than silently mixed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The design centre is two hosts, one line: netmesh check, which generates a throwaway mesh, deploys, probes, summarizes and cleans up behind itself. selftest proves the machinery on loopback before you involve a second machine. For repeatable runs the verbs mirror mx exactly, and the mesh file shares the matrix grammar -- learn one, know the other. The flag to remember is --flows: single-flow tests take one path through a LAG or ECMP bundle, so a sick member is hit or missed by luck. Sweeping source ports pins it: same pair, same moment, one bucket 29 times slower -- that is a bundle member, not a fabric. It splits the probe rate rather than multiplying it, so looking harder never adds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interpret it. The headline is the median of the pair p50s -- deliberately robust, so one sick pair neither drags the fleet number nor hides. The interesting sections are the findings: asymmetry localizes a fault to one host’s egress or ingress, because the opposite direction just proved the rest of the path; the MTU blackhole is the classic "small requests work, large transfers hang" bug, caught without root; path spread names a sick LAG member; and the under-load section prices the load test in latency terms. Every diagnosis is computed from rules, not canned prose -- and a healthy network is stated in as many words, because no output should read like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Cleanup mirrors the rest of the family: check leaves literally nothing, and clean verifies removal for managed runs. Reports are replayable artifacts -- you can re-analyze last month’s run, even re-split it around a load window after the fact. Following up is where netmesh shines: paths --compare diffs the route of a sick pair against a healthy one and marks the first divergent hop -- that hop is where to look. If the baseline is clean, the network is not your problem, and the report itself tells you to go run the load tools. And when a host, not the network, is the suspect, binnacle’s why-slow is one command away. Also worth a beat: the tool audits its own measurement -- if a NIC’s interrupt-coalescing timer is the floor you measured, it says so and prints the ethtool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picture: one server list drives the whole pipeline. Prune it with reachable so dead hosts can’t sabotage the run. Baseline with netmesh so every later number has context. Flood with iperf_orchestrator to find what breaks. Rate-test with mx to find the answered-packet ceiling. And wrap netmesh around the load to see what the load costs everyone else on the path. Three takeaways: baseline before load; trust receiver-side numbers and keep the tool’s own CPU in view; and keep the list honest -- that is what makes all of this runnable on a real, imperfect fleet on any given day. Everything shown is pip-installable: iperf-orchestrator, matrix-orchestrator, binnacle.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8302752" y="868680"/>
            <a:ext cx="548640" cy="548640"/>
          </a:xfrm>
          <a:prstGeom prst="roundRect">
            <a:avLst>
              <a:gd name="adj" fmla="val 18000"/>
            </a:avLst>
          </a:prstGeom>
          <a:solidFill>
            <a:srgbClr val="25405E"/>
          </a:solidFill>
          <a:ln/>
        </p:spPr>
      </p:sp>
      <p:sp>
        <p:nvSpPr>
          <p:cNvPr id="3" name="Shape 1"/>
          <p:cNvSpPr/>
          <p:nvPr/>
        </p:nvSpPr>
        <p:spPr>
          <a:xfrm>
            <a:off x="8970264" y="868680"/>
            <a:ext cx="548640" cy="548640"/>
          </a:xfrm>
          <a:prstGeom prst="roundRect">
            <a:avLst>
              <a:gd name="adj" fmla="val 18000"/>
            </a:avLst>
          </a:prstGeom>
          <a:solidFill>
            <a:srgbClr val="16283E"/>
          </a:solidFill>
          <a:ln/>
        </p:spPr>
      </p:sp>
      <p:sp>
        <p:nvSpPr>
          <p:cNvPr id="4" name="Shape 2"/>
          <p:cNvSpPr/>
          <p:nvPr/>
        </p:nvSpPr>
        <p:spPr>
          <a:xfrm>
            <a:off x="9637776" y="868680"/>
            <a:ext cx="548640" cy="548640"/>
          </a:xfrm>
          <a:prstGeom prst="roundRect">
            <a:avLst>
              <a:gd name="adj" fmla="val 18000"/>
            </a:avLst>
          </a:prstGeom>
          <a:solidFill>
            <a:srgbClr val="16283E"/>
          </a:solidFill>
          <a:ln/>
        </p:spPr>
      </p:sp>
      <p:sp>
        <p:nvSpPr>
          <p:cNvPr id="5" name="Shape 3"/>
          <p:cNvSpPr/>
          <p:nvPr/>
        </p:nvSpPr>
        <p:spPr>
          <a:xfrm>
            <a:off x="10305288" y="868680"/>
            <a:ext cx="548640" cy="548640"/>
          </a:xfrm>
          <a:prstGeom prst="roundRect">
            <a:avLst>
              <a:gd name="adj" fmla="val 18000"/>
            </a:avLst>
          </a:prstGeom>
          <a:solidFill>
            <a:srgbClr val="D97C1F"/>
          </a:solidFill>
          <a:ln/>
        </p:spPr>
      </p:sp>
      <p:sp>
        <p:nvSpPr>
          <p:cNvPr id="6" name="Shape 4"/>
          <p:cNvSpPr/>
          <p:nvPr/>
        </p:nvSpPr>
        <p:spPr>
          <a:xfrm>
            <a:off x="10972800" y="868680"/>
            <a:ext cx="548640" cy="548640"/>
          </a:xfrm>
          <a:prstGeom prst="roundRect">
            <a:avLst>
              <a:gd name="adj" fmla="val 18000"/>
            </a:avLst>
          </a:prstGeom>
          <a:solidFill>
            <a:srgbClr val="16283E"/>
          </a:solidFill>
          <a:ln/>
        </p:spPr>
      </p:sp>
      <p:sp>
        <p:nvSpPr>
          <p:cNvPr id="7" name="Shape 5"/>
          <p:cNvSpPr/>
          <p:nvPr/>
        </p:nvSpPr>
        <p:spPr>
          <a:xfrm>
            <a:off x="11640312" y="868680"/>
            <a:ext cx="548640" cy="548640"/>
          </a:xfrm>
          <a:prstGeom prst="roundRect">
            <a:avLst>
              <a:gd name="adj" fmla="val 18000"/>
            </a:avLst>
          </a:prstGeom>
          <a:solidFill>
            <a:srgbClr val="D97C1F"/>
          </a:solidFill>
          <a:ln/>
        </p:spPr>
      </p:sp>
      <p:sp>
        <p:nvSpPr>
          <p:cNvPr id="8" name="Shape 6"/>
          <p:cNvSpPr/>
          <p:nvPr/>
        </p:nvSpPr>
        <p:spPr>
          <a:xfrm>
            <a:off x="12307824" y="868680"/>
            <a:ext cx="548640" cy="548640"/>
          </a:xfrm>
          <a:prstGeom prst="roundRect">
            <a:avLst>
              <a:gd name="adj" fmla="val 18000"/>
            </a:avLst>
          </a:prstGeom>
          <a:solidFill>
            <a:srgbClr val="16283E"/>
          </a:solidFill>
          <a:ln/>
        </p:spPr>
      </p:sp>
      <p:sp>
        <p:nvSpPr>
          <p:cNvPr id="9" name="Shape 7"/>
          <p:cNvSpPr/>
          <p:nvPr/>
        </p:nvSpPr>
        <p:spPr>
          <a:xfrm>
            <a:off x="7635240" y="1536192"/>
            <a:ext cx="548640" cy="548640"/>
          </a:xfrm>
          <a:prstGeom prst="roundRect">
            <a:avLst>
              <a:gd name="adj" fmla="val 18000"/>
            </a:avLst>
          </a:prstGeom>
          <a:solidFill>
            <a:srgbClr val="16283E"/>
          </a:solidFill>
          <a:ln/>
        </p:spPr>
      </p:sp>
      <p:sp>
        <p:nvSpPr>
          <p:cNvPr id="10" name="Shape 8"/>
          <p:cNvSpPr/>
          <p:nvPr/>
        </p:nvSpPr>
        <p:spPr>
          <a:xfrm>
            <a:off x="8970264" y="1536192"/>
            <a:ext cx="548640" cy="548640"/>
          </a:xfrm>
          <a:prstGeom prst="roundRect">
            <a:avLst>
              <a:gd name="adj" fmla="val 18000"/>
            </a:avLst>
          </a:prstGeom>
          <a:solidFill>
            <a:srgbClr val="16283E"/>
          </a:solidFill>
          <a:ln/>
        </p:spPr>
      </p:sp>
      <p:sp>
        <p:nvSpPr>
          <p:cNvPr id="11" name="Shape 9"/>
          <p:cNvSpPr/>
          <p:nvPr/>
        </p:nvSpPr>
        <p:spPr>
          <a:xfrm>
            <a:off x="9637776" y="1536192"/>
            <a:ext cx="548640" cy="548640"/>
          </a:xfrm>
          <a:prstGeom prst="roundRect">
            <a:avLst>
              <a:gd name="adj" fmla="val 18000"/>
            </a:avLst>
          </a:prstGeom>
          <a:solidFill>
            <a:srgbClr val="16283E"/>
          </a:solidFill>
          <a:ln/>
        </p:spPr>
      </p:sp>
      <p:sp>
        <p:nvSpPr>
          <p:cNvPr id="12" name="Shape 10"/>
          <p:cNvSpPr/>
          <p:nvPr/>
        </p:nvSpPr>
        <p:spPr>
          <a:xfrm>
            <a:off x="10305288" y="1536192"/>
            <a:ext cx="548640" cy="548640"/>
          </a:xfrm>
          <a:prstGeom prst="roundRect">
            <a:avLst>
              <a:gd name="adj" fmla="val 18000"/>
            </a:avLst>
          </a:prstGeom>
          <a:solidFill>
            <a:srgbClr val="16283E"/>
          </a:solidFill>
          <a:ln/>
        </p:spPr>
      </p:sp>
      <p:sp>
        <p:nvSpPr>
          <p:cNvPr id="13" name="Shape 11"/>
          <p:cNvSpPr/>
          <p:nvPr/>
        </p:nvSpPr>
        <p:spPr>
          <a:xfrm>
            <a:off x="10972800" y="1536192"/>
            <a:ext cx="548640" cy="548640"/>
          </a:xfrm>
          <a:prstGeom prst="roundRect">
            <a:avLst>
              <a:gd name="adj" fmla="val 18000"/>
            </a:avLst>
          </a:prstGeom>
          <a:solidFill>
            <a:srgbClr val="25405E"/>
          </a:solidFill>
          <a:ln/>
        </p:spPr>
      </p:sp>
      <p:sp>
        <p:nvSpPr>
          <p:cNvPr id="14" name="Shape 12"/>
          <p:cNvSpPr/>
          <p:nvPr/>
        </p:nvSpPr>
        <p:spPr>
          <a:xfrm>
            <a:off x="11640312" y="1536192"/>
            <a:ext cx="548640" cy="548640"/>
          </a:xfrm>
          <a:prstGeom prst="roundRect">
            <a:avLst>
              <a:gd name="adj" fmla="val 18000"/>
            </a:avLst>
          </a:prstGeom>
          <a:solidFill>
            <a:srgbClr val="16283E"/>
          </a:solidFill>
          <a:ln/>
        </p:spPr>
      </p:sp>
      <p:sp>
        <p:nvSpPr>
          <p:cNvPr id="15" name="Shape 13"/>
          <p:cNvSpPr/>
          <p:nvPr/>
        </p:nvSpPr>
        <p:spPr>
          <a:xfrm>
            <a:off x="12307824" y="1536192"/>
            <a:ext cx="548640" cy="548640"/>
          </a:xfrm>
          <a:prstGeom prst="roundRect">
            <a:avLst>
              <a:gd name="adj" fmla="val 18000"/>
            </a:avLst>
          </a:prstGeom>
          <a:solidFill>
            <a:srgbClr val="25405E"/>
          </a:solidFill>
          <a:ln/>
        </p:spPr>
      </p:sp>
      <p:sp>
        <p:nvSpPr>
          <p:cNvPr id="16" name="Shape 14"/>
          <p:cNvSpPr/>
          <p:nvPr/>
        </p:nvSpPr>
        <p:spPr>
          <a:xfrm>
            <a:off x="7635240" y="2203704"/>
            <a:ext cx="548640" cy="548640"/>
          </a:xfrm>
          <a:prstGeom prst="roundRect">
            <a:avLst>
              <a:gd name="adj" fmla="val 18000"/>
            </a:avLst>
          </a:prstGeom>
          <a:solidFill>
            <a:srgbClr val="16283E"/>
          </a:solidFill>
          <a:ln/>
        </p:spPr>
      </p:sp>
      <p:sp>
        <p:nvSpPr>
          <p:cNvPr id="17" name="Shape 15"/>
          <p:cNvSpPr/>
          <p:nvPr/>
        </p:nvSpPr>
        <p:spPr>
          <a:xfrm>
            <a:off x="8302752" y="2203704"/>
            <a:ext cx="548640" cy="548640"/>
          </a:xfrm>
          <a:prstGeom prst="roundRect">
            <a:avLst>
              <a:gd name="adj" fmla="val 18000"/>
            </a:avLst>
          </a:prstGeom>
          <a:solidFill>
            <a:srgbClr val="D97C1F"/>
          </a:solidFill>
          <a:ln/>
        </p:spPr>
      </p:sp>
      <p:sp>
        <p:nvSpPr>
          <p:cNvPr id="18" name="Shape 16"/>
          <p:cNvSpPr/>
          <p:nvPr/>
        </p:nvSpPr>
        <p:spPr>
          <a:xfrm>
            <a:off x="9637776" y="2203704"/>
            <a:ext cx="548640" cy="548640"/>
          </a:xfrm>
          <a:prstGeom prst="roundRect">
            <a:avLst>
              <a:gd name="adj" fmla="val 18000"/>
            </a:avLst>
          </a:prstGeom>
          <a:solidFill>
            <a:srgbClr val="16283E"/>
          </a:solidFill>
          <a:ln/>
        </p:spPr>
      </p:sp>
      <p:sp>
        <p:nvSpPr>
          <p:cNvPr id="19" name="Shape 17"/>
          <p:cNvSpPr/>
          <p:nvPr/>
        </p:nvSpPr>
        <p:spPr>
          <a:xfrm>
            <a:off x="10305288" y="2203704"/>
            <a:ext cx="548640" cy="548640"/>
          </a:xfrm>
          <a:prstGeom prst="roundRect">
            <a:avLst>
              <a:gd name="adj" fmla="val 18000"/>
            </a:avLst>
          </a:prstGeom>
          <a:solidFill>
            <a:srgbClr val="16283E"/>
          </a:solidFill>
          <a:ln/>
        </p:spPr>
      </p:sp>
      <p:sp>
        <p:nvSpPr>
          <p:cNvPr id="20" name="Shape 18"/>
          <p:cNvSpPr/>
          <p:nvPr/>
        </p:nvSpPr>
        <p:spPr>
          <a:xfrm>
            <a:off x="10972800" y="2203704"/>
            <a:ext cx="548640" cy="548640"/>
          </a:xfrm>
          <a:prstGeom prst="roundRect">
            <a:avLst>
              <a:gd name="adj" fmla="val 18000"/>
            </a:avLst>
          </a:prstGeom>
          <a:solidFill>
            <a:srgbClr val="16283E"/>
          </a:solidFill>
          <a:ln/>
        </p:spPr>
      </p:sp>
      <p:sp>
        <p:nvSpPr>
          <p:cNvPr id="21" name="Shape 19"/>
          <p:cNvSpPr/>
          <p:nvPr/>
        </p:nvSpPr>
        <p:spPr>
          <a:xfrm>
            <a:off x="11640312" y="2203704"/>
            <a:ext cx="548640" cy="548640"/>
          </a:xfrm>
          <a:prstGeom prst="roundRect">
            <a:avLst>
              <a:gd name="adj" fmla="val 18000"/>
            </a:avLst>
          </a:prstGeom>
          <a:solidFill>
            <a:srgbClr val="16283E"/>
          </a:solidFill>
          <a:ln/>
        </p:spPr>
      </p:sp>
      <p:sp>
        <p:nvSpPr>
          <p:cNvPr id="22" name="Shape 20"/>
          <p:cNvSpPr/>
          <p:nvPr/>
        </p:nvSpPr>
        <p:spPr>
          <a:xfrm>
            <a:off x="12307824" y="2203704"/>
            <a:ext cx="548640" cy="548640"/>
          </a:xfrm>
          <a:prstGeom prst="roundRect">
            <a:avLst>
              <a:gd name="adj" fmla="val 18000"/>
            </a:avLst>
          </a:prstGeom>
          <a:solidFill>
            <a:srgbClr val="16283E"/>
          </a:solidFill>
          <a:ln/>
        </p:spPr>
      </p:sp>
      <p:sp>
        <p:nvSpPr>
          <p:cNvPr id="23" name="Shape 21"/>
          <p:cNvSpPr/>
          <p:nvPr/>
        </p:nvSpPr>
        <p:spPr>
          <a:xfrm>
            <a:off x="7635240" y="2871216"/>
            <a:ext cx="548640" cy="548640"/>
          </a:xfrm>
          <a:prstGeom prst="roundRect">
            <a:avLst>
              <a:gd name="adj" fmla="val 18000"/>
            </a:avLst>
          </a:prstGeom>
          <a:solidFill>
            <a:srgbClr val="25405E"/>
          </a:solidFill>
          <a:ln/>
        </p:spPr>
      </p:sp>
      <p:sp>
        <p:nvSpPr>
          <p:cNvPr id="24" name="Shape 22"/>
          <p:cNvSpPr/>
          <p:nvPr/>
        </p:nvSpPr>
        <p:spPr>
          <a:xfrm>
            <a:off x="8302752" y="2871216"/>
            <a:ext cx="548640" cy="548640"/>
          </a:xfrm>
          <a:prstGeom prst="roundRect">
            <a:avLst>
              <a:gd name="adj" fmla="val 18000"/>
            </a:avLst>
          </a:prstGeom>
          <a:solidFill>
            <a:srgbClr val="16283E"/>
          </a:solidFill>
          <a:ln/>
        </p:spPr>
      </p:sp>
      <p:sp>
        <p:nvSpPr>
          <p:cNvPr id="25" name="Shape 23"/>
          <p:cNvSpPr/>
          <p:nvPr/>
        </p:nvSpPr>
        <p:spPr>
          <a:xfrm>
            <a:off x="8970264" y="2871216"/>
            <a:ext cx="548640" cy="548640"/>
          </a:xfrm>
          <a:prstGeom prst="roundRect">
            <a:avLst>
              <a:gd name="adj" fmla="val 18000"/>
            </a:avLst>
          </a:prstGeom>
          <a:solidFill>
            <a:srgbClr val="25405E"/>
          </a:solidFill>
          <a:ln/>
        </p:spPr>
      </p:sp>
      <p:sp>
        <p:nvSpPr>
          <p:cNvPr id="26" name="Shape 24"/>
          <p:cNvSpPr/>
          <p:nvPr/>
        </p:nvSpPr>
        <p:spPr>
          <a:xfrm>
            <a:off x="10305288" y="2871216"/>
            <a:ext cx="548640" cy="548640"/>
          </a:xfrm>
          <a:prstGeom prst="roundRect">
            <a:avLst>
              <a:gd name="adj" fmla="val 18000"/>
            </a:avLst>
          </a:prstGeom>
          <a:solidFill>
            <a:srgbClr val="16283E"/>
          </a:solidFill>
          <a:ln/>
        </p:spPr>
      </p:sp>
      <p:sp>
        <p:nvSpPr>
          <p:cNvPr id="27" name="Shape 25"/>
          <p:cNvSpPr/>
          <p:nvPr/>
        </p:nvSpPr>
        <p:spPr>
          <a:xfrm>
            <a:off x="10972800" y="2871216"/>
            <a:ext cx="548640" cy="548640"/>
          </a:xfrm>
          <a:prstGeom prst="roundRect">
            <a:avLst>
              <a:gd name="adj" fmla="val 18000"/>
            </a:avLst>
          </a:prstGeom>
          <a:solidFill>
            <a:srgbClr val="D97C1F"/>
          </a:solidFill>
          <a:ln/>
        </p:spPr>
      </p:sp>
      <p:sp>
        <p:nvSpPr>
          <p:cNvPr id="28" name="Shape 26"/>
          <p:cNvSpPr/>
          <p:nvPr/>
        </p:nvSpPr>
        <p:spPr>
          <a:xfrm>
            <a:off x="11640312" y="2871216"/>
            <a:ext cx="548640" cy="548640"/>
          </a:xfrm>
          <a:prstGeom prst="roundRect">
            <a:avLst>
              <a:gd name="adj" fmla="val 18000"/>
            </a:avLst>
          </a:prstGeom>
          <a:solidFill>
            <a:srgbClr val="16283E"/>
          </a:solidFill>
          <a:ln/>
        </p:spPr>
      </p:sp>
      <p:sp>
        <p:nvSpPr>
          <p:cNvPr id="29" name="Shape 27"/>
          <p:cNvSpPr/>
          <p:nvPr/>
        </p:nvSpPr>
        <p:spPr>
          <a:xfrm>
            <a:off x="12307824" y="2871216"/>
            <a:ext cx="548640" cy="548640"/>
          </a:xfrm>
          <a:prstGeom prst="roundRect">
            <a:avLst>
              <a:gd name="adj" fmla="val 18000"/>
            </a:avLst>
          </a:prstGeom>
          <a:solidFill>
            <a:srgbClr val="D97C1F"/>
          </a:solidFill>
          <a:ln/>
        </p:spPr>
      </p:sp>
      <p:sp>
        <p:nvSpPr>
          <p:cNvPr id="30" name="Shape 28"/>
          <p:cNvSpPr/>
          <p:nvPr/>
        </p:nvSpPr>
        <p:spPr>
          <a:xfrm>
            <a:off x="7635240" y="3538728"/>
            <a:ext cx="548640" cy="548640"/>
          </a:xfrm>
          <a:prstGeom prst="roundRect">
            <a:avLst>
              <a:gd name="adj" fmla="val 18000"/>
            </a:avLst>
          </a:prstGeom>
          <a:solidFill>
            <a:srgbClr val="16283E"/>
          </a:solidFill>
          <a:ln/>
        </p:spPr>
      </p:sp>
      <p:sp>
        <p:nvSpPr>
          <p:cNvPr id="31" name="Shape 29"/>
          <p:cNvSpPr/>
          <p:nvPr/>
        </p:nvSpPr>
        <p:spPr>
          <a:xfrm>
            <a:off x="8302752" y="3538728"/>
            <a:ext cx="548640" cy="548640"/>
          </a:xfrm>
          <a:prstGeom prst="roundRect">
            <a:avLst>
              <a:gd name="adj" fmla="val 18000"/>
            </a:avLst>
          </a:prstGeom>
          <a:solidFill>
            <a:srgbClr val="16283E"/>
          </a:solidFill>
          <a:ln/>
        </p:spPr>
      </p:sp>
      <p:sp>
        <p:nvSpPr>
          <p:cNvPr id="32" name="Shape 30"/>
          <p:cNvSpPr/>
          <p:nvPr/>
        </p:nvSpPr>
        <p:spPr>
          <a:xfrm>
            <a:off x="8970264" y="3538728"/>
            <a:ext cx="548640" cy="548640"/>
          </a:xfrm>
          <a:prstGeom prst="roundRect">
            <a:avLst>
              <a:gd name="adj" fmla="val 18000"/>
            </a:avLst>
          </a:prstGeom>
          <a:solidFill>
            <a:srgbClr val="16283E"/>
          </a:solidFill>
          <a:ln/>
        </p:spPr>
      </p:sp>
      <p:sp>
        <p:nvSpPr>
          <p:cNvPr id="33" name="Shape 31"/>
          <p:cNvSpPr/>
          <p:nvPr/>
        </p:nvSpPr>
        <p:spPr>
          <a:xfrm>
            <a:off x="9637776" y="3538728"/>
            <a:ext cx="548640" cy="548640"/>
          </a:xfrm>
          <a:prstGeom prst="roundRect">
            <a:avLst>
              <a:gd name="adj" fmla="val 18000"/>
            </a:avLst>
          </a:prstGeom>
          <a:solidFill>
            <a:srgbClr val="16283E"/>
          </a:solidFill>
          <a:ln/>
        </p:spPr>
      </p:sp>
      <p:sp>
        <p:nvSpPr>
          <p:cNvPr id="34" name="Shape 32"/>
          <p:cNvSpPr/>
          <p:nvPr/>
        </p:nvSpPr>
        <p:spPr>
          <a:xfrm>
            <a:off x="10972800" y="3538728"/>
            <a:ext cx="548640" cy="548640"/>
          </a:xfrm>
          <a:prstGeom prst="roundRect">
            <a:avLst>
              <a:gd name="adj" fmla="val 18000"/>
            </a:avLst>
          </a:prstGeom>
          <a:solidFill>
            <a:srgbClr val="16283E"/>
          </a:solidFill>
          <a:ln/>
        </p:spPr>
      </p:sp>
      <p:sp>
        <p:nvSpPr>
          <p:cNvPr id="35" name="Shape 33"/>
          <p:cNvSpPr/>
          <p:nvPr/>
        </p:nvSpPr>
        <p:spPr>
          <a:xfrm>
            <a:off x="11640312" y="3538728"/>
            <a:ext cx="548640" cy="548640"/>
          </a:xfrm>
          <a:prstGeom prst="roundRect">
            <a:avLst>
              <a:gd name="adj" fmla="val 18000"/>
            </a:avLst>
          </a:prstGeom>
          <a:solidFill>
            <a:srgbClr val="25405E"/>
          </a:solidFill>
          <a:ln/>
        </p:spPr>
      </p:sp>
      <p:sp>
        <p:nvSpPr>
          <p:cNvPr id="36" name="Shape 34"/>
          <p:cNvSpPr/>
          <p:nvPr/>
        </p:nvSpPr>
        <p:spPr>
          <a:xfrm>
            <a:off x="12307824" y="3538728"/>
            <a:ext cx="548640" cy="548640"/>
          </a:xfrm>
          <a:prstGeom prst="roundRect">
            <a:avLst>
              <a:gd name="adj" fmla="val 18000"/>
            </a:avLst>
          </a:prstGeom>
          <a:solidFill>
            <a:srgbClr val="16283E"/>
          </a:solidFill>
          <a:ln/>
        </p:spPr>
      </p:sp>
      <p:sp>
        <p:nvSpPr>
          <p:cNvPr id="37" name="Shape 35"/>
          <p:cNvSpPr/>
          <p:nvPr/>
        </p:nvSpPr>
        <p:spPr>
          <a:xfrm>
            <a:off x="7635240" y="4206240"/>
            <a:ext cx="548640" cy="548640"/>
          </a:xfrm>
          <a:prstGeom prst="roundRect">
            <a:avLst>
              <a:gd name="adj" fmla="val 18000"/>
            </a:avLst>
          </a:prstGeom>
          <a:solidFill>
            <a:srgbClr val="D97C1F"/>
          </a:solidFill>
          <a:ln/>
        </p:spPr>
      </p:sp>
      <p:sp>
        <p:nvSpPr>
          <p:cNvPr id="38" name="Shape 36"/>
          <p:cNvSpPr/>
          <p:nvPr/>
        </p:nvSpPr>
        <p:spPr>
          <a:xfrm>
            <a:off x="8302752" y="4206240"/>
            <a:ext cx="548640" cy="548640"/>
          </a:xfrm>
          <a:prstGeom prst="roundRect">
            <a:avLst>
              <a:gd name="adj" fmla="val 18000"/>
            </a:avLst>
          </a:prstGeom>
          <a:solidFill>
            <a:srgbClr val="16283E"/>
          </a:solidFill>
          <a:ln/>
        </p:spPr>
      </p:sp>
      <p:sp>
        <p:nvSpPr>
          <p:cNvPr id="39" name="Shape 37"/>
          <p:cNvSpPr/>
          <p:nvPr/>
        </p:nvSpPr>
        <p:spPr>
          <a:xfrm>
            <a:off x="8970264" y="4206240"/>
            <a:ext cx="548640" cy="548640"/>
          </a:xfrm>
          <a:prstGeom prst="roundRect">
            <a:avLst>
              <a:gd name="adj" fmla="val 18000"/>
            </a:avLst>
          </a:prstGeom>
          <a:solidFill>
            <a:srgbClr val="D97C1F"/>
          </a:solidFill>
          <a:ln/>
        </p:spPr>
      </p:sp>
      <p:sp>
        <p:nvSpPr>
          <p:cNvPr id="40" name="Shape 38"/>
          <p:cNvSpPr/>
          <p:nvPr/>
        </p:nvSpPr>
        <p:spPr>
          <a:xfrm>
            <a:off x="9637776" y="4206240"/>
            <a:ext cx="548640" cy="548640"/>
          </a:xfrm>
          <a:prstGeom prst="roundRect">
            <a:avLst>
              <a:gd name="adj" fmla="val 18000"/>
            </a:avLst>
          </a:prstGeom>
          <a:solidFill>
            <a:srgbClr val="16283E"/>
          </a:solidFill>
          <a:ln/>
        </p:spPr>
      </p:sp>
      <p:sp>
        <p:nvSpPr>
          <p:cNvPr id="41" name="Shape 39"/>
          <p:cNvSpPr/>
          <p:nvPr/>
        </p:nvSpPr>
        <p:spPr>
          <a:xfrm>
            <a:off x="10305288" y="4206240"/>
            <a:ext cx="548640" cy="548640"/>
          </a:xfrm>
          <a:prstGeom prst="roundRect">
            <a:avLst>
              <a:gd name="adj" fmla="val 18000"/>
            </a:avLst>
          </a:prstGeom>
          <a:solidFill>
            <a:srgbClr val="16283E"/>
          </a:solidFill>
          <a:ln/>
        </p:spPr>
      </p:sp>
      <p:sp>
        <p:nvSpPr>
          <p:cNvPr id="42" name="Shape 40"/>
          <p:cNvSpPr/>
          <p:nvPr/>
        </p:nvSpPr>
        <p:spPr>
          <a:xfrm>
            <a:off x="11640312" y="4206240"/>
            <a:ext cx="548640" cy="548640"/>
          </a:xfrm>
          <a:prstGeom prst="roundRect">
            <a:avLst>
              <a:gd name="adj" fmla="val 18000"/>
            </a:avLst>
          </a:prstGeom>
          <a:solidFill>
            <a:srgbClr val="16283E"/>
          </a:solidFill>
          <a:ln/>
        </p:spPr>
      </p:sp>
      <p:sp>
        <p:nvSpPr>
          <p:cNvPr id="43" name="Shape 41"/>
          <p:cNvSpPr/>
          <p:nvPr/>
        </p:nvSpPr>
        <p:spPr>
          <a:xfrm>
            <a:off x="12307824" y="4206240"/>
            <a:ext cx="548640" cy="548640"/>
          </a:xfrm>
          <a:prstGeom prst="roundRect">
            <a:avLst>
              <a:gd name="adj" fmla="val 18000"/>
            </a:avLst>
          </a:prstGeom>
          <a:solidFill>
            <a:srgbClr val="16283E"/>
          </a:solidFill>
          <a:ln/>
        </p:spPr>
      </p:sp>
      <p:sp>
        <p:nvSpPr>
          <p:cNvPr id="44" name="Shape 42"/>
          <p:cNvSpPr/>
          <p:nvPr/>
        </p:nvSpPr>
        <p:spPr>
          <a:xfrm>
            <a:off x="7635240" y="4873752"/>
            <a:ext cx="548640" cy="548640"/>
          </a:xfrm>
          <a:prstGeom prst="roundRect">
            <a:avLst>
              <a:gd name="adj" fmla="val 18000"/>
            </a:avLst>
          </a:prstGeom>
          <a:solidFill>
            <a:srgbClr val="16283E"/>
          </a:solidFill>
          <a:ln/>
        </p:spPr>
      </p:sp>
      <p:sp>
        <p:nvSpPr>
          <p:cNvPr id="45" name="Shape 43"/>
          <p:cNvSpPr/>
          <p:nvPr/>
        </p:nvSpPr>
        <p:spPr>
          <a:xfrm>
            <a:off x="8302752" y="4873752"/>
            <a:ext cx="548640" cy="548640"/>
          </a:xfrm>
          <a:prstGeom prst="roundRect">
            <a:avLst>
              <a:gd name="adj" fmla="val 18000"/>
            </a:avLst>
          </a:prstGeom>
          <a:solidFill>
            <a:srgbClr val="25405E"/>
          </a:solidFill>
          <a:ln/>
        </p:spPr>
      </p:sp>
      <p:sp>
        <p:nvSpPr>
          <p:cNvPr id="46" name="Shape 44"/>
          <p:cNvSpPr/>
          <p:nvPr/>
        </p:nvSpPr>
        <p:spPr>
          <a:xfrm>
            <a:off x="8970264" y="4873752"/>
            <a:ext cx="548640" cy="548640"/>
          </a:xfrm>
          <a:prstGeom prst="roundRect">
            <a:avLst>
              <a:gd name="adj" fmla="val 18000"/>
            </a:avLst>
          </a:prstGeom>
          <a:solidFill>
            <a:srgbClr val="16283E"/>
          </a:solidFill>
          <a:ln/>
        </p:spPr>
      </p:sp>
      <p:sp>
        <p:nvSpPr>
          <p:cNvPr id="47" name="Shape 45"/>
          <p:cNvSpPr/>
          <p:nvPr/>
        </p:nvSpPr>
        <p:spPr>
          <a:xfrm>
            <a:off x="9637776" y="4873752"/>
            <a:ext cx="548640" cy="548640"/>
          </a:xfrm>
          <a:prstGeom prst="roundRect">
            <a:avLst>
              <a:gd name="adj" fmla="val 18000"/>
            </a:avLst>
          </a:prstGeom>
          <a:solidFill>
            <a:srgbClr val="25405E"/>
          </a:solidFill>
          <a:ln/>
        </p:spPr>
      </p:sp>
      <p:sp>
        <p:nvSpPr>
          <p:cNvPr id="48" name="Shape 46"/>
          <p:cNvSpPr/>
          <p:nvPr/>
        </p:nvSpPr>
        <p:spPr>
          <a:xfrm>
            <a:off x="10305288" y="4873752"/>
            <a:ext cx="548640" cy="548640"/>
          </a:xfrm>
          <a:prstGeom prst="roundRect">
            <a:avLst>
              <a:gd name="adj" fmla="val 18000"/>
            </a:avLst>
          </a:prstGeom>
          <a:solidFill>
            <a:srgbClr val="16283E"/>
          </a:solidFill>
          <a:ln/>
        </p:spPr>
      </p:sp>
      <p:sp>
        <p:nvSpPr>
          <p:cNvPr id="49" name="Shape 47"/>
          <p:cNvSpPr/>
          <p:nvPr/>
        </p:nvSpPr>
        <p:spPr>
          <a:xfrm>
            <a:off x="10972800" y="4873752"/>
            <a:ext cx="548640" cy="548640"/>
          </a:xfrm>
          <a:prstGeom prst="roundRect">
            <a:avLst>
              <a:gd name="adj" fmla="val 18000"/>
            </a:avLst>
          </a:prstGeom>
          <a:solidFill>
            <a:srgbClr val="16283E"/>
          </a:solidFill>
          <a:ln/>
        </p:spPr>
      </p:sp>
      <p:sp>
        <p:nvSpPr>
          <p:cNvPr id="50" name="Shape 48"/>
          <p:cNvSpPr/>
          <p:nvPr/>
        </p:nvSpPr>
        <p:spPr>
          <a:xfrm>
            <a:off x="12307824" y="4873752"/>
            <a:ext cx="548640" cy="548640"/>
          </a:xfrm>
          <a:prstGeom prst="roundRect">
            <a:avLst>
              <a:gd name="adj" fmla="val 18000"/>
            </a:avLst>
          </a:prstGeom>
          <a:solidFill>
            <a:srgbClr val="16283E"/>
          </a:solidFill>
          <a:ln/>
        </p:spPr>
      </p:sp>
      <p:sp>
        <p:nvSpPr>
          <p:cNvPr id="51" name="Shape 49"/>
          <p:cNvSpPr/>
          <p:nvPr/>
        </p:nvSpPr>
        <p:spPr>
          <a:xfrm>
            <a:off x="7635240" y="5541264"/>
            <a:ext cx="548640" cy="548640"/>
          </a:xfrm>
          <a:prstGeom prst="roundRect">
            <a:avLst>
              <a:gd name="adj" fmla="val 18000"/>
            </a:avLst>
          </a:prstGeom>
          <a:solidFill>
            <a:srgbClr val="16283E"/>
          </a:solidFill>
          <a:ln/>
        </p:spPr>
      </p:sp>
      <p:sp>
        <p:nvSpPr>
          <p:cNvPr id="52" name="Shape 50"/>
          <p:cNvSpPr/>
          <p:nvPr/>
        </p:nvSpPr>
        <p:spPr>
          <a:xfrm>
            <a:off x="8302752" y="5541264"/>
            <a:ext cx="548640" cy="548640"/>
          </a:xfrm>
          <a:prstGeom prst="roundRect">
            <a:avLst>
              <a:gd name="adj" fmla="val 18000"/>
            </a:avLst>
          </a:prstGeom>
          <a:solidFill>
            <a:srgbClr val="16283E"/>
          </a:solidFill>
          <a:ln/>
        </p:spPr>
      </p:sp>
      <p:sp>
        <p:nvSpPr>
          <p:cNvPr id="53" name="Shape 51"/>
          <p:cNvSpPr/>
          <p:nvPr/>
        </p:nvSpPr>
        <p:spPr>
          <a:xfrm>
            <a:off x="8970264" y="5541264"/>
            <a:ext cx="548640" cy="548640"/>
          </a:xfrm>
          <a:prstGeom prst="roundRect">
            <a:avLst>
              <a:gd name="adj" fmla="val 18000"/>
            </a:avLst>
          </a:prstGeom>
          <a:solidFill>
            <a:srgbClr val="16283E"/>
          </a:solidFill>
          <a:ln/>
        </p:spPr>
      </p:sp>
      <p:sp>
        <p:nvSpPr>
          <p:cNvPr id="54" name="Shape 52"/>
          <p:cNvSpPr/>
          <p:nvPr/>
        </p:nvSpPr>
        <p:spPr>
          <a:xfrm>
            <a:off x="9637776" y="5541264"/>
            <a:ext cx="548640" cy="548640"/>
          </a:xfrm>
          <a:prstGeom prst="roundRect">
            <a:avLst>
              <a:gd name="adj" fmla="val 18000"/>
            </a:avLst>
          </a:prstGeom>
          <a:solidFill>
            <a:srgbClr val="16283E"/>
          </a:solidFill>
          <a:ln/>
        </p:spPr>
      </p:sp>
      <p:sp>
        <p:nvSpPr>
          <p:cNvPr id="55" name="Shape 53"/>
          <p:cNvSpPr/>
          <p:nvPr/>
        </p:nvSpPr>
        <p:spPr>
          <a:xfrm>
            <a:off x="10305288" y="5541264"/>
            <a:ext cx="548640" cy="548640"/>
          </a:xfrm>
          <a:prstGeom prst="roundRect">
            <a:avLst>
              <a:gd name="adj" fmla="val 18000"/>
            </a:avLst>
          </a:prstGeom>
          <a:solidFill>
            <a:srgbClr val="16283E"/>
          </a:solidFill>
          <a:ln/>
        </p:spPr>
      </p:sp>
      <p:sp>
        <p:nvSpPr>
          <p:cNvPr id="56" name="Shape 54"/>
          <p:cNvSpPr/>
          <p:nvPr/>
        </p:nvSpPr>
        <p:spPr>
          <a:xfrm>
            <a:off x="10972800" y="5541264"/>
            <a:ext cx="548640" cy="548640"/>
          </a:xfrm>
          <a:prstGeom prst="roundRect">
            <a:avLst>
              <a:gd name="adj" fmla="val 18000"/>
            </a:avLst>
          </a:prstGeom>
          <a:solidFill>
            <a:srgbClr val="16283E"/>
          </a:solidFill>
          <a:ln/>
        </p:spPr>
      </p:sp>
      <p:sp>
        <p:nvSpPr>
          <p:cNvPr id="57" name="Shape 55"/>
          <p:cNvSpPr/>
          <p:nvPr/>
        </p:nvSpPr>
        <p:spPr>
          <a:xfrm>
            <a:off x="11640312" y="5541264"/>
            <a:ext cx="548640" cy="548640"/>
          </a:xfrm>
          <a:prstGeom prst="roundRect">
            <a:avLst>
              <a:gd name="adj" fmla="val 18000"/>
            </a:avLst>
          </a:prstGeom>
          <a:solidFill>
            <a:srgbClr val="16283E"/>
          </a:solidFill>
          <a:ln/>
        </p:spPr>
      </p:sp>
      <p:sp>
        <p:nvSpPr>
          <p:cNvPr id="58" name="Shape 56"/>
          <p:cNvSpPr/>
          <p:nvPr/>
        </p:nvSpPr>
        <p:spPr>
          <a:xfrm>
            <a:off x="10442448" y="4206240"/>
            <a:ext cx="384048" cy="384048"/>
          </a:xfrm>
          <a:prstGeom prst="roundRect">
            <a:avLst>
              <a:gd name="adj" fmla="val 18000"/>
            </a:avLst>
          </a:prstGeom>
          <a:solidFill>
            <a:srgbClr val="223650"/>
          </a:solidFill>
          <a:ln/>
        </p:spPr>
      </p:sp>
      <p:sp>
        <p:nvSpPr>
          <p:cNvPr id="59" name="Shape 57"/>
          <p:cNvSpPr/>
          <p:nvPr/>
        </p:nvSpPr>
        <p:spPr>
          <a:xfrm>
            <a:off x="10917936" y="4206240"/>
            <a:ext cx="384048" cy="384048"/>
          </a:xfrm>
          <a:prstGeom prst="roundRect">
            <a:avLst>
              <a:gd name="adj" fmla="val 18000"/>
            </a:avLst>
          </a:prstGeom>
          <a:solidFill>
            <a:srgbClr val="16283E"/>
          </a:solidFill>
          <a:ln/>
        </p:spPr>
      </p:sp>
      <p:sp>
        <p:nvSpPr>
          <p:cNvPr id="60" name="Shape 58"/>
          <p:cNvSpPr/>
          <p:nvPr/>
        </p:nvSpPr>
        <p:spPr>
          <a:xfrm>
            <a:off x="11393424" y="4206240"/>
            <a:ext cx="384048" cy="384048"/>
          </a:xfrm>
          <a:prstGeom prst="roundRect">
            <a:avLst>
              <a:gd name="adj" fmla="val 18000"/>
            </a:avLst>
          </a:prstGeom>
          <a:solidFill>
            <a:srgbClr val="223650"/>
          </a:solidFill>
          <a:ln/>
        </p:spPr>
      </p:sp>
      <p:sp>
        <p:nvSpPr>
          <p:cNvPr id="61" name="Shape 59"/>
          <p:cNvSpPr/>
          <p:nvPr/>
        </p:nvSpPr>
        <p:spPr>
          <a:xfrm>
            <a:off x="9966960" y="4681728"/>
            <a:ext cx="384048" cy="384048"/>
          </a:xfrm>
          <a:prstGeom prst="roundRect">
            <a:avLst>
              <a:gd name="adj" fmla="val 18000"/>
            </a:avLst>
          </a:prstGeom>
          <a:solidFill>
            <a:srgbClr val="16283E"/>
          </a:solidFill>
          <a:ln/>
        </p:spPr>
      </p:sp>
      <p:sp>
        <p:nvSpPr>
          <p:cNvPr id="62" name="Shape 60"/>
          <p:cNvSpPr/>
          <p:nvPr/>
        </p:nvSpPr>
        <p:spPr>
          <a:xfrm>
            <a:off x="10917936" y="4681728"/>
            <a:ext cx="384048" cy="384048"/>
          </a:xfrm>
          <a:prstGeom prst="roundRect">
            <a:avLst>
              <a:gd name="adj" fmla="val 18000"/>
            </a:avLst>
          </a:prstGeom>
          <a:solidFill>
            <a:srgbClr val="16283E"/>
          </a:solidFill>
          <a:ln/>
        </p:spPr>
      </p:sp>
      <p:sp>
        <p:nvSpPr>
          <p:cNvPr id="63" name="Shape 61"/>
          <p:cNvSpPr/>
          <p:nvPr/>
        </p:nvSpPr>
        <p:spPr>
          <a:xfrm>
            <a:off x="11393424" y="4681728"/>
            <a:ext cx="384048" cy="384048"/>
          </a:xfrm>
          <a:prstGeom prst="roundRect">
            <a:avLst>
              <a:gd name="adj" fmla="val 18000"/>
            </a:avLst>
          </a:prstGeom>
          <a:solidFill>
            <a:srgbClr val="16283E"/>
          </a:solidFill>
          <a:ln/>
        </p:spPr>
      </p:sp>
      <p:sp>
        <p:nvSpPr>
          <p:cNvPr id="64" name="Shape 62"/>
          <p:cNvSpPr/>
          <p:nvPr/>
        </p:nvSpPr>
        <p:spPr>
          <a:xfrm>
            <a:off x="9966960" y="5157216"/>
            <a:ext cx="384048" cy="384048"/>
          </a:xfrm>
          <a:prstGeom prst="roundRect">
            <a:avLst>
              <a:gd name="adj" fmla="val 18000"/>
            </a:avLst>
          </a:prstGeom>
          <a:solidFill>
            <a:srgbClr val="16283E"/>
          </a:solidFill>
          <a:ln/>
        </p:spPr>
      </p:sp>
      <p:sp>
        <p:nvSpPr>
          <p:cNvPr id="65" name="Shape 63"/>
          <p:cNvSpPr/>
          <p:nvPr/>
        </p:nvSpPr>
        <p:spPr>
          <a:xfrm>
            <a:off x="10442448" y="5157216"/>
            <a:ext cx="384048" cy="384048"/>
          </a:xfrm>
          <a:prstGeom prst="roundRect">
            <a:avLst>
              <a:gd name="adj" fmla="val 18000"/>
            </a:avLst>
          </a:prstGeom>
          <a:solidFill>
            <a:srgbClr val="12897B"/>
          </a:solidFill>
          <a:ln/>
        </p:spPr>
      </p:sp>
      <p:sp>
        <p:nvSpPr>
          <p:cNvPr id="66" name="Shape 64"/>
          <p:cNvSpPr/>
          <p:nvPr/>
        </p:nvSpPr>
        <p:spPr>
          <a:xfrm>
            <a:off x="11393424" y="5157216"/>
            <a:ext cx="384048" cy="384048"/>
          </a:xfrm>
          <a:prstGeom prst="roundRect">
            <a:avLst>
              <a:gd name="adj" fmla="val 18000"/>
            </a:avLst>
          </a:prstGeom>
          <a:solidFill>
            <a:srgbClr val="12897B"/>
          </a:solidFill>
          <a:ln/>
        </p:spPr>
      </p:sp>
      <p:sp>
        <p:nvSpPr>
          <p:cNvPr id="67" name="Shape 65"/>
          <p:cNvSpPr/>
          <p:nvPr/>
        </p:nvSpPr>
        <p:spPr>
          <a:xfrm>
            <a:off x="9966960" y="5632704"/>
            <a:ext cx="384048" cy="384048"/>
          </a:xfrm>
          <a:prstGeom prst="roundRect">
            <a:avLst>
              <a:gd name="adj" fmla="val 18000"/>
            </a:avLst>
          </a:prstGeom>
          <a:solidFill>
            <a:srgbClr val="16283E"/>
          </a:solidFill>
          <a:ln/>
        </p:spPr>
      </p:sp>
      <p:sp>
        <p:nvSpPr>
          <p:cNvPr id="68" name="Shape 66"/>
          <p:cNvSpPr/>
          <p:nvPr/>
        </p:nvSpPr>
        <p:spPr>
          <a:xfrm>
            <a:off x="10442448" y="5632704"/>
            <a:ext cx="384048" cy="384048"/>
          </a:xfrm>
          <a:prstGeom prst="roundRect">
            <a:avLst>
              <a:gd name="adj" fmla="val 18000"/>
            </a:avLst>
          </a:prstGeom>
          <a:solidFill>
            <a:srgbClr val="16283E"/>
          </a:solidFill>
          <a:ln/>
        </p:spPr>
      </p:sp>
      <p:sp>
        <p:nvSpPr>
          <p:cNvPr id="69" name="Shape 67"/>
          <p:cNvSpPr/>
          <p:nvPr/>
        </p:nvSpPr>
        <p:spPr>
          <a:xfrm>
            <a:off x="10917936" y="5632704"/>
            <a:ext cx="384048" cy="384048"/>
          </a:xfrm>
          <a:prstGeom prst="roundRect">
            <a:avLst>
              <a:gd name="adj" fmla="val 18000"/>
            </a:avLst>
          </a:prstGeom>
          <a:solidFill>
            <a:srgbClr val="223650"/>
          </a:solidFill>
          <a:ln/>
        </p:spPr>
      </p:sp>
      <p:sp>
        <p:nvSpPr>
          <p:cNvPr id="70" name="Text 68"/>
          <p:cNvSpPr/>
          <p:nvPr/>
        </p:nvSpPr>
        <p:spPr>
          <a:xfrm>
            <a:off x="566928" y="1417320"/>
            <a:ext cx="6766560" cy="320040"/>
          </a:xfrm>
          <a:prstGeom prst="rect">
            <a:avLst/>
          </a:prstGeom>
          <a:noFill/>
          <a:ln/>
        </p:spPr>
        <p:txBody>
          <a:bodyPr wrap="square" lIns="0" tIns="0" rIns="0" bIns="0" rtlCol="0" anchor="ctr"/>
          <a:lstStyle/>
          <a:p>
            <a:pPr indent="0" marL="0">
              <a:buNone/>
            </a:pPr>
            <a:r>
              <a:rPr lang="en-US" sz="1300" b="1" spc="400" kern="0" dirty="0">
                <a:solidFill>
                  <a:srgbClr val="D97C1F"/>
                </a:solidFill>
                <a:latin typeface="Calibri" pitchFamily="34" charset="0"/>
                <a:ea typeface="Calibri" pitchFamily="34" charset="-122"/>
                <a:cs typeface="Calibri" pitchFamily="34" charset="-120"/>
              </a:rPr>
              <a:t>FLEET NETWORK TESTING</a:t>
            </a:r>
            <a:endParaRPr lang="en-US" sz="1300" dirty="0"/>
          </a:p>
        </p:txBody>
      </p:sp>
      <p:sp>
        <p:nvSpPr>
          <p:cNvPr id="71" name="Text 69"/>
          <p:cNvSpPr/>
          <p:nvPr/>
        </p:nvSpPr>
        <p:spPr>
          <a:xfrm>
            <a:off x="566928" y="1783080"/>
            <a:ext cx="6949440" cy="1783080"/>
          </a:xfrm>
          <a:prstGeom prst="rect">
            <a:avLst/>
          </a:prstGeom>
          <a:noFill/>
          <a:ln/>
        </p:spPr>
        <p:txBody>
          <a:bodyPr wrap="square" lIns="0" tIns="0" rIns="0" bIns="0" rtlCol="0" anchor="ctr"/>
          <a:lstStyle/>
          <a:p>
            <a:pPr indent="0" marL="0">
              <a:lnSpc>
                <a:spcPct val="102000"/>
              </a:lnSpc>
              <a:buNone/>
            </a:pPr>
            <a:r>
              <a:rPr lang="en-US" sz="4400" b="1" dirty="0">
                <a:solidFill>
                  <a:srgbClr val="FFFFFF"/>
                </a:solidFill>
                <a:latin typeface="Calibri" pitchFamily="34" charset="0"/>
                <a:ea typeface="Calibri" pitchFamily="34" charset="-122"/>
                <a:cs typeface="Calibri" pitchFamily="34" charset="-120"/>
              </a:rPr>
              <a:t>Load it. Measure it.</a:t>
            </a:r>
            <a:endParaRPr lang="en-US" sz="4400" dirty="0"/>
          </a:p>
          <a:p>
            <a:pPr indent="0" marL="0">
              <a:lnSpc>
                <a:spcPct val="102000"/>
              </a:lnSpc>
              <a:buNone/>
            </a:pPr>
            <a:r>
              <a:rPr lang="en-US" sz="4400" b="1" dirty="0">
                <a:solidFill>
                  <a:srgbClr val="FFFFFF"/>
                </a:solidFill>
                <a:latin typeface="Calibri" pitchFamily="34" charset="0"/>
                <a:ea typeface="Calibri" pitchFamily="34" charset="-122"/>
                <a:cs typeface="Calibri" pitchFamily="34" charset="-120"/>
              </a:rPr>
              <a:t>Leave no trace.</a:t>
            </a:r>
            <a:endParaRPr lang="en-US" sz="4400" dirty="0"/>
          </a:p>
        </p:txBody>
      </p:sp>
      <p:sp>
        <p:nvSpPr>
          <p:cNvPr id="72" name="Text 70"/>
          <p:cNvSpPr/>
          <p:nvPr/>
        </p:nvSpPr>
        <p:spPr>
          <a:xfrm>
            <a:off x="566928" y="3749040"/>
            <a:ext cx="7132320" cy="365760"/>
          </a:xfrm>
          <a:prstGeom prst="rect">
            <a:avLst/>
          </a:prstGeom>
          <a:noFill/>
          <a:ln/>
        </p:spPr>
        <p:txBody>
          <a:bodyPr wrap="square" lIns="0" tIns="0" rIns="0" bIns="0" rtlCol="0" anchor="ctr"/>
          <a:lstStyle/>
          <a:p>
            <a:pPr indent="0" marL="0">
              <a:buNone/>
            </a:pPr>
            <a:r>
              <a:rPr lang="en-US" sz="1600" b="1" dirty="0">
                <a:solidFill>
                  <a:srgbClr val="D97C1F"/>
                </a:solidFill>
                <a:latin typeface="Courier New" pitchFamily="34" charset="0"/>
                <a:ea typeface="Courier New" pitchFamily="34" charset="-122"/>
                <a:cs typeface="Courier New" pitchFamily="34" charset="-120"/>
              </a:rPr>
              <a:t>iperf_orchestrator</a:t>
            </a:r>
            <a:pPr indent="0" marL="0">
              <a:buNone/>
            </a:pPr>
            <a:r>
              <a:rPr lang="en-US" sz="1600" dirty="0">
                <a:solidFill>
                  <a:srgbClr val="9FB0C1"/>
                </a:solidFill>
                <a:latin typeface="Courier New" pitchFamily="34" charset="0"/>
                <a:ea typeface="Courier New" pitchFamily="34" charset="-122"/>
                <a:cs typeface="Courier New" pitchFamily="34" charset="-120"/>
              </a:rPr>
              <a:t>  ·  </a:t>
            </a:r>
            <a:pPr indent="0" marL="0">
              <a:buNone/>
            </a:pPr>
            <a:r>
              <a:rPr lang="en-US" sz="1600" b="1" dirty="0">
                <a:solidFill>
                  <a:srgbClr val="BE3B4E"/>
                </a:solidFill>
                <a:latin typeface="Courier New" pitchFamily="34" charset="0"/>
                <a:ea typeface="Courier New" pitchFamily="34" charset="-122"/>
                <a:cs typeface="Courier New" pitchFamily="34" charset="-120"/>
              </a:rPr>
              <a:t>matrix_orchestrator</a:t>
            </a:r>
            <a:pPr indent="0" marL="0">
              <a:buNone/>
            </a:pPr>
            <a:r>
              <a:rPr lang="en-US" sz="1600" dirty="0">
                <a:solidFill>
                  <a:srgbClr val="9FB0C1"/>
                </a:solidFill>
                <a:latin typeface="Courier New" pitchFamily="34" charset="0"/>
                <a:ea typeface="Courier New" pitchFamily="34" charset="-122"/>
                <a:cs typeface="Courier New" pitchFamily="34" charset="-120"/>
              </a:rPr>
              <a:t>  ·  </a:t>
            </a:r>
            <a:pPr indent="0" marL="0">
              <a:buNone/>
            </a:pPr>
            <a:r>
              <a:rPr lang="en-US" sz="1600" b="1" dirty="0">
                <a:solidFill>
                  <a:srgbClr val="12897B"/>
                </a:solidFill>
                <a:latin typeface="Courier New" pitchFamily="34" charset="0"/>
                <a:ea typeface="Courier New" pitchFamily="34" charset="-122"/>
                <a:cs typeface="Courier New" pitchFamily="34" charset="-120"/>
              </a:rPr>
              <a:t>netmesh</a:t>
            </a:r>
            <a:endParaRPr lang="en-US" sz="1600" dirty="0"/>
          </a:p>
        </p:txBody>
      </p:sp>
      <p:sp>
        <p:nvSpPr>
          <p:cNvPr id="73" name="Text 71"/>
          <p:cNvSpPr/>
          <p:nvPr/>
        </p:nvSpPr>
        <p:spPr>
          <a:xfrm>
            <a:off x="566928" y="4224528"/>
            <a:ext cx="6949440" cy="731520"/>
          </a:xfrm>
          <a:prstGeom prst="rect">
            <a:avLst/>
          </a:prstGeom>
          <a:noFill/>
          <a:ln/>
        </p:spPr>
        <p:txBody>
          <a:bodyPr wrap="square" lIns="0" tIns="0" rIns="0" bIns="0" rtlCol="0" anchor="ctr"/>
          <a:lstStyle/>
          <a:p>
            <a:pPr indent="0" marL="0">
              <a:buNone/>
            </a:pPr>
            <a:r>
              <a:rPr lang="en-US" sz="1450" i="1" dirty="0">
                <a:solidFill>
                  <a:srgbClr val="9FB0C1"/>
                </a:solidFill>
                <a:latin typeface="Calibri" pitchFamily="34" charset="0"/>
                <a:ea typeface="Calibri" pitchFamily="34" charset="-122"/>
                <a:cs typeface="Calibri" pitchFamily="34" charset="-120"/>
              </a:rPr>
              <a:t>…with binnacle’s reachable keeping the server list honest,</a:t>
            </a:r>
            <a:endParaRPr lang="en-US" sz="1450" dirty="0"/>
          </a:p>
          <a:p>
            <a:pPr indent="0" marL="0">
              <a:buNone/>
            </a:pPr>
            <a:r>
              <a:rPr lang="en-US" sz="1450" i="1" dirty="0">
                <a:solidFill>
                  <a:srgbClr val="9FB0C1"/>
                </a:solidFill>
                <a:latin typeface="Calibri" pitchFamily="34" charset="0"/>
                <a:ea typeface="Calibri" pitchFamily="34" charset="-122"/>
                <a:cs typeface="Calibri" pitchFamily="34" charset="-120"/>
              </a:rPr>
              <a:t>so the run survives the servers that are down.</a:t>
            </a:r>
            <a:endParaRPr lang="en-US" sz="1450" dirty="0"/>
          </a:p>
        </p:txBody>
      </p:sp>
      <p:sp>
        <p:nvSpPr>
          <p:cNvPr id="74" name="Text 72"/>
          <p:cNvSpPr/>
          <p:nvPr/>
        </p:nvSpPr>
        <p:spPr>
          <a:xfrm>
            <a:off x="566928" y="5806440"/>
            <a:ext cx="45720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Martin Gallagher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3E5C76"/>
                </a:solidFill>
                <a:latin typeface="Calibri" pitchFamily="34" charset="0"/>
                <a:ea typeface="Calibri" pitchFamily="34" charset="-122"/>
                <a:cs typeface="Calibri" pitchFamily="34" charset="-120"/>
              </a:rPr>
              <a:t>OVERVIEW</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Three questions, one family of tools</a:t>
            </a:r>
            <a:endParaRPr lang="en-US" sz="2900" dirty="0"/>
          </a:p>
        </p:txBody>
      </p:sp>
      <p:sp>
        <p:nvSpPr>
          <p:cNvPr id="4" name="Shape 2"/>
          <p:cNvSpPr/>
          <p:nvPr/>
        </p:nvSpPr>
        <p:spPr>
          <a:xfrm>
            <a:off x="566928" y="1481328"/>
            <a:ext cx="3566160" cy="3977640"/>
          </a:xfrm>
          <a:prstGeom prst="roundRect">
            <a:avLst>
              <a:gd name="adj" fmla="val 2308"/>
            </a:avLst>
          </a:prstGeom>
          <a:solidFill>
            <a:srgbClr val="F1F4F8"/>
          </a:solidFill>
          <a:ln/>
        </p:spPr>
      </p:sp>
      <p:sp>
        <p:nvSpPr>
          <p:cNvPr id="5" name="Shape 3"/>
          <p:cNvSpPr/>
          <p:nvPr/>
        </p:nvSpPr>
        <p:spPr>
          <a:xfrm>
            <a:off x="841248" y="1755648"/>
            <a:ext cx="475488" cy="475488"/>
          </a:xfrm>
          <a:prstGeom prst="ellipse">
            <a:avLst/>
          </a:prstGeom>
          <a:solidFill>
            <a:srgbClr val="12897B"/>
          </a:solidFill>
          <a:ln/>
        </p:spPr>
      </p:sp>
      <p:pic>
        <p:nvPicPr>
          <p:cNvPr id="6" name="Image 0" descr="/home/user/presentations/network-testing/.icons/activity.png">    </p:cNvPr>
          <p:cNvPicPr>
            <a:picLocks noChangeAspect="1"/>
          </p:cNvPicPr>
          <p:nvPr/>
        </p:nvPicPr>
        <p:blipFill>
          <a:blip r:embed="rId1"/>
          <a:stretch>
            <a:fillRect/>
          </a:stretch>
        </p:blipFill>
        <p:spPr>
          <a:xfrm>
            <a:off x="964875" y="1879275"/>
            <a:ext cx="228234" cy="228234"/>
          </a:xfrm>
          <a:prstGeom prst="rect">
            <a:avLst/>
          </a:prstGeom>
        </p:spPr>
      </p:pic>
      <p:sp>
        <p:nvSpPr>
          <p:cNvPr id="7" name="Text 4"/>
          <p:cNvSpPr/>
          <p:nvPr/>
        </p:nvSpPr>
        <p:spPr>
          <a:xfrm>
            <a:off x="1463040" y="1810512"/>
            <a:ext cx="2560320" cy="365760"/>
          </a:xfrm>
          <a:prstGeom prst="rect">
            <a:avLst/>
          </a:prstGeom>
          <a:noFill/>
          <a:ln/>
        </p:spPr>
        <p:txBody>
          <a:bodyPr wrap="square" lIns="0" tIns="0" rIns="0" bIns="0" rtlCol="0" anchor="ctr"/>
          <a:lstStyle/>
          <a:p>
            <a:pPr indent="0" marL="0">
              <a:buNone/>
            </a:pPr>
            <a:r>
              <a:rPr lang="en-US" sz="1350" b="1" dirty="0">
                <a:solidFill>
                  <a:srgbClr val="12897B"/>
                </a:solidFill>
                <a:latin typeface="Courier New" pitchFamily="34" charset="0"/>
                <a:ea typeface="Courier New" pitchFamily="34" charset="-122"/>
                <a:cs typeface="Courier New" pitchFamily="34" charset="-120"/>
              </a:rPr>
              <a:t>netmesh</a:t>
            </a:r>
            <a:endParaRPr lang="en-US" sz="1350" dirty="0"/>
          </a:p>
        </p:txBody>
      </p:sp>
      <p:sp>
        <p:nvSpPr>
          <p:cNvPr id="8" name="Text 5"/>
          <p:cNvSpPr/>
          <p:nvPr/>
        </p:nvSpPr>
        <p:spPr>
          <a:xfrm>
            <a:off x="841248" y="2414016"/>
            <a:ext cx="3017520" cy="868680"/>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What does the network do when it is idle?</a:t>
            </a:r>
            <a:endParaRPr lang="en-US" sz="1450" dirty="0"/>
          </a:p>
        </p:txBody>
      </p:sp>
      <p:sp>
        <p:nvSpPr>
          <p:cNvPr id="9" name="Text 6"/>
          <p:cNvSpPr/>
          <p:nvPr/>
        </p:nvSpPr>
        <p:spPr>
          <a:xfrm>
            <a:off x="841248" y="3355848"/>
            <a:ext cx="3063240" cy="19659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RTT, jitter, loss, path MTU between hosts</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UDP echoes between temporary agents</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~10 small packets/s per pair — safe on production</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The baseline every other number is read against</a:t>
            </a:r>
            <a:endParaRPr lang="en-US" sz="1150" dirty="0"/>
          </a:p>
        </p:txBody>
      </p:sp>
      <p:sp>
        <p:nvSpPr>
          <p:cNvPr id="10" name="Shape 7"/>
          <p:cNvSpPr/>
          <p:nvPr/>
        </p:nvSpPr>
        <p:spPr>
          <a:xfrm>
            <a:off x="4315968" y="1481328"/>
            <a:ext cx="3566160" cy="3977640"/>
          </a:xfrm>
          <a:prstGeom prst="roundRect">
            <a:avLst>
              <a:gd name="adj" fmla="val 2308"/>
            </a:avLst>
          </a:prstGeom>
          <a:solidFill>
            <a:srgbClr val="F1F4F8"/>
          </a:solidFill>
          <a:ln/>
        </p:spPr>
      </p:sp>
      <p:sp>
        <p:nvSpPr>
          <p:cNvPr id="11" name="Shape 8"/>
          <p:cNvSpPr/>
          <p:nvPr/>
        </p:nvSpPr>
        <p:spPr>
          <a:xfrm>
            <a:off x="4590288" y="1755648"/>
            <a:ext cx="475488" cy="475488"/>
          </a:xfrm>
          <a:prstGeom prst="ellipse">
            <a:avLst/>
          </a:prstGeom>
          <a:solidFill>
            <a:srgbClr val="D97C1F"/>
          </a:solidFill>
          <a:ln/>
        </p:spPr>
      </p:sp>
      <p:pic>
        <p:nvPicPr>
          <p:cNvPr id="12" name="Image 1" descr="/home/user/presentations/network-testing/.icons/zap.png">    </p:cNvPr>
          <p:cNvPicPr>
            <a:picLocks noChangeAspect="1"/>
          </p:cNvPicPr>
          <p:nvPr/>
        </p:nvPicPr>
        <p:blipFill>
          <a:blip r:embed="rId2"/>
          <a:stretch>
            <a:fillRect/>
          </a:stretch>
        </p:blipFill>
        <p:spPr>
          <a:xfrm>
            <a:off x="4713915" y="1879275"/>
            <a:ext cx="228234" cy="228234"/>
          </a:xfrm>
          <a:prstGeom prst="rect">
            <a:avLst/>
          </a:prstGeom>
        </p:spPr>
      </p:pic>
      <p:sp>
        <p:nvSpPr>
          <p:cNvPr id="13" name="Text 9"/>
          <p:cNvSpPr/>
          <p:nvPr/>
        </p:nvSpPr>
        <p:spPr>
          <a:xfrm>
            <a:off x="5212080" y="1810512"/>
            <a:ext cx="2560320" cy="365760"/>
          </a:xfrm>
          <a:prstGeom prst="rect">
            <a:avLst/>
          </a:prstGeom>
          <a:noFill/>
          <a:ln/>
        </p:spPr>
        <p:txBody>
          <a:bodyPr wrap="square" lIns="0" tIns="0" rIns="0" bIns="0" rtlCol="0" anchor="ctr"/>
          <a:lstStyle/>
          <a:p>
            <a:pPr indent="0" marL="0">
              <a:buNone/>
            </a:pPr>
            <a:r>
              <a:rPr lang="en-US" sz="1350" b="1" dirty="0">
                <a:solidFill>
                  <a:srgbClr val="D97C1F"/>
                </a:solidFill>
                <a:latin typeface="Courier New" pitchFamily="34" charset="0"/>
                <a:ea typeface="Courier New" pitchFamily="34" charset="-122"/>
                <a:cs typeface="Courier New" pitchFamily="34" charset="-120"/>
              </a:rPr>
              <a:t>iperf_orchestrator</a:t>
            </a:r>
            <a:endParaRPr lang="en-US" sz="1350" dirty="0"/>
          </a:p>
        </p:txBody>
      </p:sp>
      <p:sp>
        <p:nvSpPr>
          <p:cNvPr id="14" name="Text 10"/>
          <p:cNvSpPr/>
          <p:nvPr/>
        </p:nvSpPr>
        <p:spPr>
          <a:xfrm>
            <a:off x="4590288" y="2414016"/>
            <a:ext cx="3017520" cy="868680"/>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How much TCP bandwidth, everywhere at once?</a:t>
            </a:r>
            <a:endParaRPr lang="en-US" sz="1450" dirty="0"/>
          </a:p>
        </p:txBody>
      </p:sp>
      <p:sp>
        <p:nvSpPr>
          <p:cNvPr id="15" name="Text 11"/>
          <p:cNvSpPr/>
          <p:nvPr/>
        </p:nvSpPr>
        <p:spPr>
          <a:xfrm>
            <a:off x="4590288" y="3355848"/>
            <a:ext cx="3063240" cy="19659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Full-mesh iperf2 throughput sweep</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Every link loaded in both directions</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CSV, pivot table, heatmap + CPU samples</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Fabric stress testing: find what breaks</a:t>
            </a:r>
            <a:endParaRPr lang="en-US" sz="1150" dirty="0"/>
          </a:p>
        </p:txBody>
      </p:sp>
      <p:sp>
        <p:nvSpPr>
          <p:cNvPr id="16" name="Shape 12"/>
          <p:cNvSpPr/>
          <p:nvPr/>
        </p:nvSpPr>
        <p:spPr>
          <a:xfrm>
            <a:off x="8065008" y="1481328"/>
            <a:ext cx="3566160" cy="3977640"/>
          </a:xfrm>
          <a:prstGeom prst="roundRect">
            <a:avLst>
              <a:gd name="adj" fmla="val 2308"/>
            </a:avLst>
          </a:prstGeom>
          <a:solidFill>
            <a:srgbClr val="F1F4F8"/>
          </a:solidFill>
          <a:ln/>
        </p:spPr>
      </p:sp>
      <p:sp>
        <p:nvSpPr>
          <p:cNvPr id="17" name="Shape 13"/>
          <p:cNvSpPr/>
          <p:nvPr/>
        </p:nvSpPr>
        <p:spPr>
          <a:xfrm>
            <a:off x="8339328" y="1755648"/>
            <a:ext cx="475488" cy="475488"/>
          </a:xfrm>
          <a:prstGeom prst="ellipse">
            <a:avLst/>
          </a:prstGeom>
          <a:solidFill>
            <a:srgbClr val="BE3B4E"/>
          </a:solidFill>
          <a:ln/>
        </p:spPr>
      </p:sp>
      <p:pic>
        <p:nvPicPr>
          <p:cNvPr id="18" name="Image 2" descr="/home/user/presentations/network-testing/.icons/shuffle.png">    </p:cNvPr>
          <p:cNvPicPr>
            <a:picLocks noChangeAspect="1"/>
          </p:cNvPicPr>
          <p:nvPr/>
        </p:nvPicPr>
        <p:blipFill>
          <a:blip r:embed="rId3"/>
          <a:stretch>
            <a:fillRect/>
          </a:stretch>
        </p:blipFill>
        <p:spPr>
          <a:xfrm>
            <a:off x="8462955" y="1879275"/>
            <a:ext cx="228234" cy="228234"/>
          </a:xfrm>
          <a:prstGeom prst="rect">
            <a:avLst/>
          </a:prstGeom>
        </p:spPr>
      </p:pic>
      <p:sp>
        <p:nvSpPr>
          <p:cNvPr id="19" name="Text 14"/>
          <p:cNvSpPr/>
          <p:nvPr/>
        </p:nvSpPr>
        <p:spPr>
          <a:xfrm>
            <a:off x="8961120" y="1810512"/>
            <a:ext cx="2560320" cy="365760"/>
          </a:xfrm>
          <a:prstGeom prst="rect">
            <a:avLst/>
          </a:prstGeom>
          <a:noFill/>
          <a:ln/>
        </p:spPr>
        <p:txBody>
          <a:bodyPr wrap="square" lIns="0" tIns="0" rIns="0" bIns="0" rtlCol="0" anchor="ctr"/>
          <a:lstStyle/>
          <a:p>
            <a:pPr indent="0" marL="0">
              <a:buNone/>
            </a:pPr>
            <a:r>
              <a:rPr lang="en-US" sz="1350" b="1" dirty="0">
                <a:solidFill>
                  <a:srgbClr val="BE3B4E"/>
                </a:solidFill>
                <a:latin typeface="Courier New" pitchFamily="34" charset="0"/>
                <a:ea typeface="Courier New" pitchFamily="34" charset="-122"/>
                <a:cs typeface="Courier New" pitchFamily="34" charset="-120"/>
              </a:rPr>
              <a:t>matrix_orchestrator</a:t>
            </a:r>
            <a:endParaRPr lang="en-US" sz="1350" dirty="0"/>
          </a:p>
        </p:txBody>
      </p:sp>
      <p:sp>
        <p:nvSpPr>
          <p:cNvPr id="20" name="Text 15"/>
          <p:cNvSpPr/>
          <p:nvPr/>
        </p:nvSpPr>
        <p:spPr>
          <a:xfrm>
            <a:off x="8339328" y="2414016"/>
            <a:ext cx="3017520" cy="868680"/>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How many packets per second, when every packet is answered?</a:t>
            </a:r>
            <a:endParaRPr lang="en-US" sz="1450" dirty="0"/>
          </a:p>
        </p:txBody>
      </p:sp>
      <p:sp>
        <p:nvSpPr>
          <p:cNvPr id="21" name="Text 16"/>
          <p:cNvSpPr/>
          <p:nvPr/>
        </p:nvSpPr>
        <p:spPr>
          <a:xfrm>
            <a:off x="8339328" y="3355848"/>
            <a:ext cx="3063240" cy="196596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Request/response UDP traffic matrix</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pps headline, loss split by direction</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Round-trip time falls out for free</a:t>
            </a:r>
            <a:endParaRPr lang="en-US" sz="1150" dirty="0"/>
          </a:p>
          <a:p>
            <a:pPr marL="152400" indent="-152400">
              <a:spcAft>
                <a:spcPts val="600"/>
              </a:spcAft>
              <a:buSzPct val="100000"/>
              <a:buChar char="•"/>
            </a:pPr>
            <a:r>
              <a:rPr lang="en-US" sz="1150" dirty="0">
                <a:solidFill>
                  <a:srgbClr val="5C6B7A"/>
                </a:solidFill>
                <a:latin typeface="Calibri" pitchFamily="34" charset="0"/>
                <a:ea typeface="Calibri" pitchFamily="34" charset="-122"/>
                <a:cs typeface="Calibri" pitchFamily="34" charset="-120"/>
              </a:rPr>
              <a:t>The shape of real RPC / storage traffic</a:t>
            </a:r>
            <a:endParaRPr lang="en-US" sz="1150" dirty="0"/>
          </a:p>
        </p:txBody>
      </p:sp>
      <p:sp>
        <p:nvSpPr>
          <p:cNvPr id="22" name="Text 17"/>
          <p:cNvSpPr/>
          <p:nvPr/>
        </p:nvSpPr>
        <p:spPr>
          <a:xfrm>
            <a:off x="566928" y="5806440"/>
            <a:ext cx="11055096" cy="365760"/>
          </a:xfrm>
          <a:prstGeom prst="rect">
            <a:avLst/>
          </a:prstGeom>
          <a:noFill/>
          <a:ln/>
        </p:spPr>
        <p:txBody>
          <a:bodyPr wrap="square" lIns="0" tIns="0" rIns="0" bIns="0" rtlCol="0" anchor="ctr"/>
          <a:lstStyle/>
          <a:p>
            <a:pPr algn="ctr" indent="0" marL="0">
              <a:buNone/>
            </a:pPr>
            <a:r>
              <a:rPr lang="en-US" sz="1300" i="1" dirty="0">
                <a:solidFill>
                  <a:srgbClr val="3E5C76"/>
                </a:solidFill>
                <a:latin typeface="Calibri" pitchFamily="34" charset="0"/>
                <a:ea typeface="Calibri" pitchFamily="34" charset="-122"/>
                <a:cs typeface="Calibri" pitchFamily="34" charset="-120"/>
              </a:rPr>
              <a:t>Same servers.txt grammar · same ssh-only model · grids that open in the same spreadsheet and read the same way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3E5C76"/>
                </a:solidFill>
                <a:latin typeface="Calibri" pitchFamily="34" charset="0"/>
                <a:ea typeface="Calibri" pitchFamily="34" charset="-122"/>
                <a:cs typeface="Calibri" pitchFamily="34" charset="-120"/>
              </a:rPr>
              <a:t>OVERVIEW</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Why these tools</a:t>
            </a:r>
            <a:endParaRPr lang="en-US" sz="2900" dirty="0"/>
          </a:p>
        </p:txBody>
      </p:sp>
      <p:sp>
        <p:nvSpPr>
          <p:cNvPr id="4" name="Shape 2"/>
          <p:cNvSpPr/>
          <p:nvPr/>
        </p:nvSpPr>
        <p:spPr>
          <a:xfrm>
            <a:off x="566928" y="1618488"/>
            <a:ext cx="402336" cy="402336"/>
          </a:xfrm>
          <a:prstGeom prst="ellipse">
            <a:avLst/>
          </a:prstGeom>
          <a:solidFill>
            <a:srgbClr val="3E5C76"/>
          </a:solidFill>
          <a:ln/>
        </p:spPr>
      </p:sp>
      <p:pic>
        <p:nvPicPr>
          <p:cNvPr id="5" name="Image 0" descr="/home/user/presentations/network-testing/.icons/shield.png">    </p:cNvPr>
          <p:cNvPicPr>
            <a:picLocks noChangeAspect="1"/>
          </p:cNvPicPr>
          <p:nvPr/>
        </p:nvPicPr>
        <p:blipFill>
          <a:blip r:embed="rId1"/>
          <a:stretch>
            <a:fillRect/>
          </a:stretch>
        </p:blipFill>
        <p:spPr>
          <a:xfrm>
            <a:off x="671535" y="1723095"/>
            <a:ext cx="193121" cy="193121"/>
          </a:xfrm>
          <a:prstGeom prst="rect">
            <a:avLst/>
          </a:prstGeom>
        </p:spPr>
      </p:pic>
      <p:sp>
        <p:nvSpPr>
          <p:cNvPr id="6" name="Text 3"/>
          <p:cNvSpPr/>
          <p:nvPr/>
        </p:nvSpPr>
        <p:spPr>
          <a:xfrm>
            <a:off x="1133856" y="1545336"/>
            <a:ext cx="4732020"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No agents, no daemons, no root</a:t>
            </a:r>
            <a:endParaRPr lang="en-US" sz="1450" dirty="0"/>
          </a:p>
        </p:txBody>
      </p:sp>
      <p:sp>
        <p:nvSpPr>
          <p:cNvPr id="7" name="Text 4"/>
          <p:cNvSpPr/>
          <p:nvPr/>
        </p:nvSpPr>
        <p:spPr>
          <a:xfrm>
            <a:off x="1133856" y="1819656"/>
            <a:ext cx="4732020" cy="1161288"/>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Plain Python + ssh. Nothing is installed on the servers, no package, no sysctl, no unit file.</a:t>
            </a:r>
            <a:endParaRPr lang="en-US" sz="1200" dirty="0"/>
          </a:p>
        </p:txBody>
      </p:sp>
      <p:sp>
        <p:nvSpPr>
          <p:cNvPr id="8" name="Shape 5"/>
          <p:cNvSpPr/>
          <p:nvPr/>
        </p:nvSpPr>
        <p:spPr>
          <a:xfrm>
            <a:off x="566928" y="3035808"/>
            <a:ext cx="402336" cy="402336"/>
          </a:xfrm>
          <a:prstGeom prst="ellipse">
            <a:avLst/>
          </a:prstGeom>
          <a:solidFill>
            <a:srgbClr val="3E5C76"/>
          </a:solidFill>
          <a:ln/>
        </p:spPr>
      </p:sp>
      <p:pic>
        <p:nvPicPr>
          <p:cNvPr id="9" name="Image 1" descr="/home/user/presentations/network-testing/.icons/trash.png">    </p:cNvPr>
          <p:cNvPicPr>
            <a:picLocks noChangeAspect="1"/>
          </p:cNvPicPr>
          <p:nvPr/>
        </p:nvPicPr>
        <p:blipFill>
          <a:blip r:embed="rId2"/>
          <a:stretch>
            <a:fillRect/>
          </a:stretch>
        </p:blipFill>
        <p:spPr>
          <a:xfrm>
            <a:off x="671535" y="3140415"/>
            <a:ext cx="193121" cy="193121"/>
          </a:xfrm>
          <a:prstGeom prst="rect">
            <a:avLst/>
          </a:prstGeom>
        </p:spPr>
      </p:pic>
      <p:sp>
        <p:nvSpPr>
          <p:cNvPr id="10" name="Text 6"/>
          <p:cNvSpPr/>
          <p:nvPr/>
        </p:nvSpPr>
        <p:spPr>
          <a:xfrm>
            <a:off x="1133856" y="2962656"/>
            <a:ext cx="4732020"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Leave no trace</a:t>
            </a:r>
            <a:endParaRPr lang="en-US" sz="1450" dirty="0"/>
          </a:p>
        </p:txBody>
      </p:sp>
      <p:sp>
        <p:nvSpPr>
          <p:cNvPr id="11" name="Text 7"/>
          <p:cNvSpPr/>
          <p:nvPr/>
        </p:nvSpPr>
        <p:spPr>
          <a:xfrm>
            <a:off x="1133856" y="3236976"/>
            <a:ext cx="4732020" cy="1161288"/>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Everything lives in one remote directory. clean deletes it and refuses to report success until it is verifiably gone.</a:t>
            </a:r>
            <a:endParaRPr lang="en-US" sz="1200" dirty="0"/>
          </a:p>
        </p:txBody>
      </p:sp>
      <p:sp>
        <p:nvSpPr>
          <p:cNvPr id="12" name="Shape 8"/>
          <p:cNvSpPr/>
          <p:nvPr/>
        </p:nvSpPr>
        <p:spPr>
          <a:xfrm>
            <a:off x="566928" y="4453128"/>
            <a:ext cx="402336" cy="402336"/>
          </a:xfrm>
          <a:prstGeom prst="ellipse">
            <a:avLst/>
          </a:prstGeom>
          <a:solidFill>
            <a:srgbClr val="3E5C76"/>
          </a:solidFill>
          <a:ln/>
        </p:spPr>
      </p:sp>
      <p:pic>
        <p:nvPicPr>
          <p:cNvPr id="13" name="Image 2" descr="/home/user/presentations/network-testing/.icons/check.png">    </p:cNvPr>
          <p:cNvPicPr>
            <a:picLocks noChangeAspect="1"/>
          </p:cNvPicPr>
          <p:nvPr/>
        </p:nvPicPr>
        <p:blipFill>
          <a:blip r:embed="rId3"/>
          <a:stretch>
            <a:fillRect/>
          </a:stretch>
        </p:blipFill>
        <p:spPr>
          <a:xfrm>
            <a:off x="671535" y="4557735"/>
            <a:ext cx="193121" cy="193121"/>
          </a:xfrm>
          <a:prstGeom prst="rect">
            <a:avLst/>
          </a:prstGeom>
        </p:spPr>
      </p:pic>
      <p:sp>
        <p:nvSpPr>
          <p:cNvPr id="14" name="Text 9"/>
          <p:cNvSpPr/>
          <p:nvPr/>
        </p:nvSpPr>
        <p:spPr>
          <a:xfrm>
            <a:off x="1133856" y="4379976"/>
            <a:ext cx="4732020"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Honest numbers</a:t>
            </a:r>
            <a:endParaRPr lang="en-US" sz="1450" dirty="0"/>
          </a:p>
        </p:txBody>
      </p:sp>
      <p:sp>
        <p:nvSpPr>
          <p:cNvPr id="15" name="Text 10"/>
          <p:cNvSpPr/>
          <p:nvPr/>
        </p:nvSpPr>
        <p:spPr>
          <a:xfrm>
            <a:off x="1133856" y="4654296"/>
            <a:ext cx="4732020" cy="1161288"/>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Blank means "not measured", never zero. DELIVERED (what arrived) outranks what was sent. Causes outrank symptoms.</a:t>
            </a:r>
            <a:endParaRPr lang="en-US" sz="1200" dirty="0"/>
          </a:p>
        </p:txBody>
      </p:sp>
      <p:sp>
        <p:nvSpPr>
          <p:cNvPr id="16" name="Shape 11"/>
          <p:cNvSpPr/>
          <p:nvPr/>
        </p:nvSpPr>
        <p:spPr>
          <a:xfrm>
            <a:off x="6323076" y="1618488"/>
            <a:ext cx="402336" cy="402336"/>
          </a:xfrm>
          <a:prstGeom prst="ellipse">
            <a:avLst/>
          </a:prstGeom>
          <a:solidFill>
            <a:srgbClr val="3E5C76"/>
          </a:solidFill>
          <a:ln/>
        </p:spPr>
      </p:sp>
      <p:pic>
        <p:nvPicPr>
          <p:cNvPr id="17" name="Image 3" descr="/home/user/presentations/network-testing/.icons/file.png">    </p:cNvPr>
          <p:cNvPicPr>
            <a:picLocks noChangeAspect="1"/>
          </p:cNvPicPr>
          <p:nvPr/>
        </p:nvPicPr>
        <p:blipFill>
          <a:blip r:embed="rId4"/>
          <a:stretch>
            <a:fillRect/>
          </a:stretch>
        </p:blipFill>
        <p:spPr>
          <a:xfrm>
            <a:off x="6427683" y="1723095"/>
            <a:ext cx="193121" cy="193121"/>
          </a:xfrm>
          <a:prstGeom prst="rect">
            <a:avLst/>
          </a:prstGeom>
        </p:spPr>
      </p:pic>
      <p:sp>
        <p:nvSpPr>
          <p:cNvPr id="18" name="Text 12"/>
          <p:cNvSpPr/>
          <p:nvPr/>
        </p:nvSpPr>
        <p:spPr>
          <a:xfrm>
            <a:off x="6890004" y="1545336"/>
            <a:ext cx="4732020"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One self-contained file each</a:t>
            </a:r>
            <a:endParaRPr lang="en-US" sz="1450" dirty="0"/>
          </a:p>
        </p:txBody>
      </p:sp>
      <p:sp>
        <p:nvSpPr>
          <p:cNvPr id="19" name="Text 13"/>
          <p:cNvSpPr/>
          <p:nvPr/>
        </p:nvSpPr>
        <p:spPr>
          <a:xfrm>
            <a:off x="6890004" y="1819656"/>
            <a:ext cx="4732020" cy="1161288"/>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scp-able, stdlib-only. Run from a checkout with zero install, or pip install for a PATH command.</a:t>
            </a:r>
            <a:endParaRPr lang="en-US" sz="1200" dirty="0"/>
          </a:p>
        </p:txBody>
      </p:sp>
      <p:sp>
        <p:nvSpPr>
          <p:cNvPr id="20" name="Shape 14"/>
          <p:cNvSpPr/>
          <p:nvPr/>
        </p:nvSpPr>
        <p:spPr>
          <a:xfrm>
            <a:off x="6323076" y="3035808"/>
            <a:ext cx="402336" cy="402336"/>
          </a:xfrm>
          <a:prstGeom prst="ellipse">
            <a:avLst/>
          </a:prstGeom>
          <a:solidFill>
            <a:srgbClr val="3E5C76"/>
          </a:solidFill>
          <a:ln/>
        </p:spPr>
      </p:sp>
      <p:pic>
        <p:nvPicPr>
          <p:cNvPr id="21" name="Image 4" descr="/home/user/presentations/network-testing/.icons/server.png">    </p:cNvPr>
          <p:cNvPicPr>
            <a:picLocks noChangeAspect="1"/>
          </p:cNvPicPr>
          <p:nvPr/>
        </p:nvPicPr>
        <p:blipFill>
          <a:blip r:embed="rId5"/>
          <a:stretch>
            <a:fillRect/>
          </a:stretch>
        </p:blipFill>
        <p:spPr>
          <a:xfrm>
            <a:off x="6427683" y="3140415"/>
            <a:ext cx="193121" cy="193121"/>
          </a:xfrm>
          <a:prstGeom prst="rect">
            <a:avLst/>
          </a:prstGeom>
        </p:spPr>
      </p:pic>
      <p:sp>
        <p:nvSpPr>
          <p:cNvPr id="22" name="Text 15"/>
          <p:cNvSpPr/>
          <p:nvPr/>
        </p:nvSpPr>
        <p:spPr>
          <a:xfrm>
            <a:off x="6890004" y="2962656"/>
            <a:ext cx="4732020"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Built for fleets</a:t>
            </a:r>
            <a:endParaRPr lang="en-US" sz="1450" dirty="0"/>
          </a:p>
        </p:txBody>
      </p:sp>
      <p:sp>
        <p:nvSpPr>
          <p:cNvPr id="23" name="Text 16"/>
          <p:cNvSpPr/>
          <p:nvPr/>
        </p:nvSpPr>
        <p:spPr>
          <a:xfrm>
            <a:off x="6890004" y="3236976"/>
            <a:ext cx="4732020" cy="1161288"/>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Capped parallel ssh fan-out, balanced load assignment, batched collection — patterns proven at N=100+.</a:t>
            </a:r>
            <a:endParaRPr lang="en-US" sz="1200" dirty="0"/>
          </a:p>
        </p:txBody>
      </p:sp>
      <p:sp>
        <p:nvSpPr>
          <p:cNvPr id="24" name="Shape 17"/>
          <p:cNvSpPr/>
          <p:nvPr/>
        </p:nvSpPr>
        <p:spPr>
          <a:xfrm>
            <a:off x="6323076" y="4453128"/>
            <a:ext cx="402336" cy="402336"/>
          </a:xfrm>
          <a:prstGeom prst="ellipse">
            <a:avLst/>
          </a:prstGeom>
          <a:solidFill>
            <a:srgbClr val="3E5C76"/>
          </a:solidFill>
          <a:ln/>
        </p:spPr>
      </p:sp>
      <p:pic>
        <p:nvPicPr>
          <p:cNvPr id="25" name="Image 5" descr="/home/user/presentations/network-testing/.icons/layers.png">    </p:cNvPr>
          <p:cNvPicPr>
            <a:picLocks noChangeAspect="1"/>
          </p:cNvPicPr>
          <p:nvPr/>
        </p:nvPicPr>
        <p:blipFill>
          <a:blip r:embed="rId6"/>
          <a:stretch>
            <a:fillRect/>
          </a:stretch>
        </p:blipFill>
        <p:spPr>
          <a:xfrm>
            <a:off x="6427683" y="4557735"/>
            <a:ext cx="193121" cy="193121"/>
          </a:xfrm>
          <a:prstGeom prst="rect">
            <a:avLst/>
          </a:prstGeom>
        </p:spPr>
      </p:pic>
      <p:sp>
        <p:nvSpPr>
          <p:cNvPr id="26" name="Text 18"/>
          <p:cNvSpPr/>
          <p:nvPr/>
        </p:nvSpPr>
        <p:spPr>
          <a:xfrm>
            <a:off x="6890004" y="4379976"/>
            <a:ext cx="4732020"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They compose</a:t>
            </a:r>
            <a:endParaRPr lang="en-US" sz="1450" dirty="0"/>
          </a:p>
        </p:txBody>
      </p:sp>
      <p:sp>
        <p:nvSpPr>
          <p:cNvPr id="27" name="Text 19"/>
          <p:cNvSpPr/>
          <p:nvPr/>
        </p:nvSpPr>
        <p:spPr>
          <a:xfrm>
            <a:off x="6890004" y="4654296"/>
            <a:ext cx="4732020" cy="1161288"/>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Shared servers.txt grammar and matching grid outputs — prune with reachable, baseline with netmesh, then load.</a:t>
            </a:r>
            <a:endParaRPr lang="en-US" sz="1200" dirty="0"/>
          </a:p>
        </p:txBody>
      </p:sp>
      <p:sp>
        <p:nvSpPr>
          <p:cNvPr id="28" name="Text 20"/>
          <p:cNvSpPr/>
          <p:nvPr/>
        </p:nvSpPr>
        <p:spPr>
          <a:xfrm>
            <a:off x="566928" y="5943600"/>
            <a:ext cx="11055096" cy="365760"/>
          </a:xfrm>
          <a:prstGeom prst="rect">
            <a:avLst/>
          </a:prstGeom>
          <a:noFill/>
          <a:ln/>
        </p:spPr>
        <p:txBody>
          <a:bodyPr wrap="square" lIns="0" tIns="0" rIns="0" bIns="0" rtlCol="0" anchor="ctr"/>
          <a:lstStyle/>
          <a:p>
            <a:pPr algn="ctr" indent="0" marL="0">
              <a:buNone/>
            </a:pPr>
            <a:r>
              <a:rPr lang="en-US" sz="1350" i="1" dirty="0">
                <a:solidFill>
                  <a:srgbClr val="5C6B7A"/>
                </a:solidFill>
                <a:latin typeface="Calibri" pitchFamily="34" charset="0"/>
                <a:ea typeface="Calibri" pitchFamily="34" charset="-122"/>
                <a:cs typeface="Calibri" pitchFamily="34" charset="-120"/>
              </a:rPr>
              <a:t>The alternative is a week of hand-run iperf, ad-hoc pssh loops, and numbers nobody trusts.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3E5C76"/>
                </a:solidFill>
                <a:latin typeface="Calibri" pitchFamily="34" charset="0"/>
                <a:ea typeface="Calibri" pitchFamily="34" charset="-122"/>
                <a:cs typeface="Calibri" pitchFamily="34" charset="-120"/>
              </a:rPr>
              <a:t>OVERVIEW</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What each tool is actually measuring</a:t>
            </a:r>
            <a:endParaRPr lang="en-US" sz="2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00200"/>
          <a:ext cx="11055096" cy="914400"/>
        </p:xfrm>
        <a:graphic>
          <a:graphicData uri="http://schemas.openxmlformats.org/drawingml/2006/table">
            <a:tbl>
              <a:tblPr/>
              <a:tblGrid>
                <a:gridCol w="2286000"/>
                <a:gridCol w="2148840"/>
                <a:gridCol w="3063240"/>
                <a:gridCol w="2148840"/>
                <a:gridCol w="1408176"/>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Tool</a:t>
                      </a:r>
                      <a:endParaRPr lang="en-US" sz="125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Traffic</a:t>
                      </a:r>
                      <a:endParaRPr lang="en-US" sz="125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Headline number</a:t>
                      </a:r>
                      <a:endParaRPr lang="en-US" sz="125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Network state</a:t>
                      </a:r>
                      <a:endParaRPr lang="en-US" sz="125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Footprint</a:t>
                      </a:r>
                      <a:endParaRPr lang="en-US" sz="125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r>
              <a:tr h="914400">
                <a:tc>
                  <a:txBody>
                    <a:bodyPr/>
                    <a:lstStyle/>
                    <a:p>
                      <a:pPr indent="0" marL="0">
                        <a:buNone/>
                      </a:pPr>
                      <a:r>
                        <a:rPr lang="en-US" sz="1200" b="1" dirty="0">
                          <a:solidFill>
                            <a:srgbClr val="12897B"/>
                          </a:solidFill>
                          <a:latin typeface="Courier New" pitchFamily="34" charset="0"/>
                          <a:ea typeface="Courier New" pitchFamily="34" charset="-122"/>
                          <a:cs typeface="Courier New" pitchFamily="34" charset="-120"/>
                        </a:rPr>
                        <a:t>netmesh</a:t>
                      </a:r>
                      <a:endParaRPr lang="en-US" sz="1200" dirty="0">
                        <a:latin typeface="Courier New" charset="0"/>
                        <a:ea typeface="Courier New" charset="0"/>
                        <a:cs typeface="Courier New"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UDP echo probes</a:t>
                      </a:r>
                      <a:endParaRPr lang="en-US" sz="1200" dirty="0">
                        <a:latin typeface="Calibri" charset="0"/>
                        <a:ea typeface="Calibri" charset="0"/>
                        <a:cs typeface="Calibri" charset="0"/>
                      </a:endParaRPr>
                    </a:p>
                    <a:p>
                      <a:pPr indent="0" marL="0">
                        <a:buNone/>
                      </a:pPr>
                      <a:r>
                        <a:rPr lang="en-US" sz="1200" dirty="0">
                          <a:solidFill>
                            <a:srgbClr val="1C2B3A"/>
                          </a:solidFill>
                          <a:latin typeface="Calibri" pitchFamily="34" charset="0"/>
                          <a:ea typeface="Calibri" pitchFamily="34" charset="-122"/>
                          <a:cs typeface="Calibri" pitchFamily="34" charset="-120"/>
                        </a:rPr>
                        <a:t>(agents both ends)</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RTT p50/p99, jitter, loss split, path MTU</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Idle — the baseline</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~10 pkts/s per pair;</a:t>
                      </a:r>
                      <a:endParaRPr lang="en-US" sz="1200" dirty="0">
                        <a:latin typeface="Calibri" charset="0"/>
                        <a:ea typeface="Calibri" charset="0"/>
                        <a:cs typeface="Calibri" charset="0"/>
                      </a:endParaRPr>
                    </a:p>
                    <a:p>
                      <a:pPr indent="0" marL="0">
                        <a:buNone/>
                      </a:pPr>
                      <a:r>
                        <a:rPr lang="en-US" sz="1200" dirty="0">
                          <a:solidFill>
                            <a:srgbClr val="1C2B3A"/>
                          </a:solidFill>
                          <a:latin typeface="Calibri" pitchFamily="34" charset="0"/>
                          <a:ea typeface="Calibri" pitchFamily="34" charset="-122"/>
                          <a:cs typeface="Calibri" pitchFamily="34" charset="-120"/>
                        </a:rPr>
                        <a:t>safe during incidents</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D97C1F"/>
                          </a:solidFill>
                          <a:latin typeface="Courier New" pitchFamily="34" charset="0"/>
                          <a:ea typeface="Courier New" pitchFamily="34" charset="-122"/>
                          <a:cs typeface="Courier New" pitchFamily="34" charset="-120"/>
                        </a:rPr>
                        <a:t>iperf_orchestrator</a:t>
                      </a:r>
                      <a:endParaRPr lang="en-US" sz="1200" dirty="0">
                        <a:latin typeface="Courier New" charset="0"/>
                        <a:ea typeface="Courier New" charset="0"/>
                        <a:cs typeface="Courier New"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TCP, full-duplex</a:t>
                      </a:r>
                      <a:endParaRPr lang="en-US" sz="1200" dirty="0">
                        <a:latin typeface="Calibri" charset="0"/>
                        <a:ea typeface="Calibri" charset="0"/>
                        <a:cs typeface="Calibri" charset="0"/>
                      </a:endParaRPr>
                    </a:p>
                    <a:p>
                      <a:pPr indent="0" marL="0">
                        <a:buNone/>
                      </a:pPr>
                      <a:r>
                        <a:rPr lang="en-US" sz="1200" dirty="0">
                          <a:solidFill>
                            <a:srgbClr val="1C2B3A"/>
                          </a:solidFill>
                          <a:latin typeface="Calibri" pitchFamily="34" charset="0"/>
                          <a:ea typeface="Calibri" pitchFamily="34" charset="-122"/>
                          <a:cs typeface="Calibri" pitchFamily="34" charset="-120"/>
                        </a:rPr>
                        <a:t>(iperf2)</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Mbps per direction, per pair + peak CPU</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Saturated — as loaded as it gets</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Line-rate flood;</a:t>
                      </a:r>
                      <a:endParaRPr lang="en-US" sz="1200" dirty="0">
                        <a:latin typeface="Calibri" charset="0"/>
                        <a:ea typeface="Calibri" charset="0"/>
                        <a:cs typeface="Calibri" charset="0"/>
                      </a:endParaRPr>
                    </a:p>
                    <a:p>
                      <a:pPr indent="0" marL="0">
                        <a:buNone/>
                      </a:pPr>
                      <a:r>
                        <a:rPr lang="en-US" sz="1200" dirty="0">
                          <a:solidFill>
                            <a:srgbClr val="1C2B3A"/>
                          </a:solidFill>
                          <a:latin typeface="Calibri" pitchFamily="34" charset="0"/>
                          <a:ea typeface="Calibri" pitchFamily="34" charset="-122"/>
                          <a:cs typeface="Calibri" pitchFamily="34" charset="-120"/>
                        </a:rPr>
                        <a:t>schedule a window</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r>
              <a:tr h="914400">
                <a:tc>
                  <a:txBody>
                    <a:bodyPr/>
                    <a:lstStyle/>
                    <a:p>
                      <a:pPr indent="0" marL="0">
                        <a:buNone/>
                      </a:pPr>
                      <a:r>
                        <a:rPr lang="en-US" sz="1200" b="1" dirty="0">
                          <a:solidFill>
                            <a:srgbClr val="BE3B4E"/>
                          </a:solidFill>
                          <a:latin typeface="Courier New" pitchFamily="34" charset="0"/>
                          <a:ea typeface="Courier New" pitchFamily="34" charset="-122"/>
                          <a:cs typeface="Courier New" pitchFamily="34" charset="-120"/>
                        </a:rPr>
                        <a:t>matrix_orchestrator</a:t>
                      </a:r>
                      <a:endParaRPr lang="en-US" sz="1200" dirty="0">
                        <a:latin typeface="Courier New" charset="0"/>
                        <a:ea typeface="Courier New" charset="0"/>
                        <a:cs typeface="Courier New"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UDP request/response</a:t>
                      </a:r>
                      <a:endParaRPr lang="en-US" sz="1200" dirty="0">
                        <a:latin typeface="Calibri" charset="0"/>
                        <a:ea typeface="Calibri" charset="0"/>
                        <a:cs typeface="Calibri" charset="0"/>
                      </a:endParaRPr>
                    </a:p>
                    <a:p>
                      <a:pPr indent="0" marL="0">
                        <a:buNone/>
                      </a:pPr>
                      <a:r>
                        <a:rPr lang="en-US" sz="1200" dirty="0">
                          <a:solidFill>
                            <a:srgbClr val="1C2B3A"/>
                          </a:solidFill>
                          <a:latin typeface="Calibri" pitchFamily="34" charset="0"/>
                          <a:ea typeface="Calibri" pitchFamily="34" charset="-122"/>
                          <a:cs typeface="Calibri" pitchFamily="34" charset="-120"/>
                        </a:rPr>
                        <a:t>(paced)</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pps + Gbps wire, loss by leg, true RTT</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Loaded at the rate you asked for</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1C2B3A"/>
                          </a:solidFill>
                          <a:latin typeface="Calibri" pitchFamily="34" charset="0"/>
                          <a:ea typeface="Calibri" pitchFamily="34" charset="-122"/>
                          <a:cs typeface="Calibri" pitchFamily="34" charset="-120"/>
                        </a:rPr>
                        <a:t>Tunable, from gentle</a:t>
                      </a:r>
                      <a:endParaRPr lang="en-US" sz="1200" dirty="0">
                        <a:latin typeface="Calibri" charset="0"/>
                        <a:ea typeface="Calibri" charset="0"/>
                        <a:cs typeface="Calibri" charset="0"/>
                      </a:endParaRPr>
                    </a:p>
                    <a:p>
                      <a:pPr indent="0" marL="0">
                        <a:buNone/>
                      </a:pPr>
                      <a:r>
                        <a:rPr lang="en-US" sz="1200" dirty="0">
                          <a:solidFill>
                            <a:srgbClr val="1C2B3A"/>
                          </a:solidFill>
                          <a:latin typeface="Calibri" pitchFamily="34" charset="0"/>
                          <a:ea typeface="Calibri" pitchFamily="34" charset="-122"/>
                          <a:cs typeface="Calibri" pitchFamily="34" charset="-120"/>
                        </a:rPr>
                        <a:t>to torture test</a:t>
                      </a:r>
                      <a:endParaRPr lang="en-US" sz="1200" dirty="0">
                        <a:latin typeface="Calibri" charset="0"/>
                        <a:ea typeface="Calibri" charset="0"/>
                        <a:cs typeface="Calibri" charset="0"/>
                      </a:endParaRPr>
                    </a:p>
                  </a:txBody>
                  <a:tcPr marL="82296" marR="82296" marT="82296" marB="82296"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r>
            </a:tbl>
          </a:graphicData>
        </a:graphic>
      </p:graphicFrame>
      <p:sp>
        <p:nvSpPr>
          <p:cNvPr id="5" name="Text 2"/>
          <p:cNvSpPr/>
          <p:nvPr/>
        </p:nvSpPr>
        <p:spPr>
          <a:xfrm>
            <a:off x="566928" y="5623560"/>
            <a:ext cx="11055096" cy="685800"/>
          </a:xfrm>
          <a:prstGeom prst="rect">
            <a:avLst/>
          </a:prstGeom>
          <a:noFill/>
          <a:ln/>
        </p:spPr>
        <p:txBody>
          <a:bodyPr wrap="square" lIns="0" tIns="0" rIns="0" bIns="0" rtlCol="0" anchor="ctr"/>
          <a:lstStyle/>
          <a:p>
            <a:pPr indent="0" marL="0">
              <a:buNone/>
            </a:pPr>
            <a:r>
              <a:rPr lang="en-US" sz="1300" b="1" dirty="0">
                <a:solidFill>
                  <a:srgbClr val="1C2B3A"/>
                </a:solidFill>
                <a:latin typeface="Calibri" pitchFamily="34" charset="0"/>
                <a:ea typeface="Calibri" pitchFamily="34" charset="-122"/>
                <a:cs typeface="Calibri" pitchFamily="34" charset="-120"/>
              </a:rPr>
              <a:t>Different layers of the same fabric.  </a:t>
            </a:r>
            <a:pPr indent="0" marL="0">
              <a:buNone/>
            </a:pPr>
            <a:r>
              <a:rPr lang="en-US" sz="1300" dirty="0">
                <a:solidFill>
                  <a:srgbClr val="5C6B7A"/>
                </a:solidFill>
                <a:latin typeface="Calibri" pitchFamily="34" charset="0"/>
                <a:ea typeface="Calibri" pitchFamily="34" charset="-122"/>
                <a:cs typeface="Calibri" pitchFamily="34" charset="-120"/>
              </a:rPr>
              <a:t>A 9.4 Gbit/s iperf result at 300 µs idle RTT and one at 42 ms are different results — you need more than one of these numbers to know which you have.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3E5C76"/>
                </a:solidFill>
                <a:latin typeface="Calibri" pitchFamily="34" charset="0"/>
                <a:ea typeface="Calibri" pitchFamily="34" charset="-122"/>
                <a:cs typeface="Calibri" pitchFamily="34" charset="-120"/>
              </a:rPr>
              <a:t>OVERVIEW</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When to reach for which</a:t>
            </a:r>
            <a:endParaRPr lang="en-US" sz="2900" dirty="0"/>
          </a:p>
        </p:txBody>
      </p:sp>
      <p:sp>
        <p:nvSpPr>
          <p:cNvPr id="4" name="Shape 2"/>
          <p:cNvSpPr/>
          <p:nvPr/>
        </p:nvSpPr>
        <p:spPr>
          <a:xfrm>
            <a:off x="566928" y="1508760"/>
            <a:ext cx="11055096" cy="932688"/>
          </a:xfrm>
          <a:prstGeom prst="roundRect">
            <a:avLst>
              <a:gd name="adj" fmla="val 8824"/>
            </a:avLst>
          </a:prstGeom>
          <a:solidFill>
            <a:srgbClr val="F1F4F8"/>
          </a:solidFill>
          <a:ln/>
        </p:spPr>
      </p:sp>
      <p:sp>
        <p:nvSpPr>
          <p:cNvPr id="5" name="Shape 3"/>
          <p:cNvSpPr/>
          <p:nvPr/>
        </p:nvSpPr>
        <p:spPr>
          <a:xfrm>
            <a:off x="731520" y="1673352"/>
            <a:ext cx="2286000" cy="603504"/>
          </a:xfrm>
          <a:prstGeom prst="roundRect">
            <a:avLst>
              <a:gd name="adj" fmla="val 10606"/>
            </a:avLst>
          </a:prstGeom>
          <a:solidFill>
            <a:srgbClr val="3D8B4F"/>
          </a:solidFill>
          <a:ln/>
        </p:spPr>
      </p:sp>
      <p:sp>
        <p:nvSpPr>
          <p:cNvPr id="6" name="Text 4"/>
          <p:cNvSpPr/>
          <p:nvPr/>
        </p:nvSpPr>
        <p:spPr>
          <a:xfrm>
            <a:off x="731520" y="1673352"/>
            <a:ext cx="22860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reachable</a:t>
            </a:r>
            <a:endParaRPr lang="en-US" sz="1300" dirty="0"/>
          </a:p>
        </p:txBody>
      </p:sp>
      <p:sp>
        <p:nvSpPr>
          <p:cNvPr id="7" name="Text 5"/>
          <p:cNvSpPr/>
          <p:nvPr/>
        </p:nvSpPr>
        <p:spPr>
          <a:xfrm>
            <a:off x="3264408" y="1618488"/>
            <a:ext cx="4343400" cy="749808"/>
          </a:xfrm>
          <a:prstGeom prst="rect">
            <a:avLst/>
          </a:prstGeom>
          <a:noFill/>
          <a:ln/>
        </p:spPr>
        <p:txBody>
          <a:bodyPr wrap="square" lIns="0" tIns="0" rIns="0" bIns="0" rtlCol="0" anchor="ctr"/>
          <a:lstStyle/>
          <a:p>
            <a:pPr indent="0" marL="0">
              <a:buNone/>
            </a:pPr>
            <a:r>
              <a:rPr lang="en-US" sz="1250" b="1" dirty="0">
                <a:solidFill>
                  <a:srgbClr val="1C2B3A"/>
                </a:solidFill>
                <a:latin typeface="Calibri" pitchFamily="34" charset="0"/>
                <a:ea typeface="Calibri" pitchFamily="34" charset="-122"/>
                <a:cs typeface="Calibri" pitchFamily="34" charset="-120"/>
              </a:rPr>
              <a:t>Before any fan-out — every time</a:t>
            </a:r>
            <a:endParaRPr lang="en-US" sz="1250" dirty="0"/>
          </a:p>
        </p:txBody>
      </p:sp>
      <p:sp>
        <p:nvSpPr>
          <p:cNvPr id="8" name="Text 6"/>
          <p:cNvSpPr/>
          <p:nvPr/>
        </p:nvSpPr>
        <p:spPr>
          <a:xfrm>
            <a:off x="7790688" y="1618488"/>
            <a:ext cx="3648456" cy="749808"/>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Prune dead entries so the run measures the fleet, not the list.</a:t>
            </a:r>
            <a:endParaRPr lang="en-US" sz="1150" dirty="0"/>
          </a:p>
        </p:txBody>
      </p:sp>
      <p:sp>
        <p:nvSpPr>
          <p:cNvPr id="9" name="Shape 7"/>
          <p:cNvSpPr/>
          <p:nvPr/>
        </p:nvSpPr>
        <p:spPr>
          <a:xfrm>
            <a:off x="566928" y="2551176"/>
            <a:ext cx="11055096" cy="932688"/>
          </a:xfrm>
          <a:prstGeom prst="roundRect">
            <a:avLst>
              <a:gd name="adj" fmla="val 8824"/>
            </a:avLst>
          </a:prstGeom>
          <a:solidFill>
            <a:srgbClr val="F1F4F8"/>
          </a:solidFill>
          <a:ln/>
        </p:spPr>
      </p:sp>
      <p:sp>
        <p:nvSpPr>
          <p:cNvPr id="10" name="Shape 8"/>
          <p:cNvSpPr/>
          <p:nvPr/>
        </p:nvSpPr>
        <p:spPr>
          <a:xfrm>
            <a:off x="731520" y="2715768"/>
            <a:ext cx="2286000" cy="603504"/>
          </a:xfrm>
          <a:prstGeom prst="roundRect">
            <a:avLst>
              <a:gd name="adj" fmla="val 10606"/>
            </a:avLst>
          </a:prstGeom>
          <a:solidFill>
            <a:srgbClr val="12897B"/>
          </a:solidFill>
          <a:ln/>
        </p:spPr>
      </p:sp>
      <p:sp>
        <p:nvSpPr>
          <p:cNvPr id="11" name="Text 9"/>
          <p:cNvSpPr/>
          <p:nvPr/>
        </p:nvSpPr>
        <p:spPr>
          <a:xfrm>
            <a:off x="731520" y="2715768"/>
            <a:ext cx="22860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netmesh</a:t>
            </a:r>
            <a:endParaRPr lang="en-US" sz="1300" dirty="0"/>
          </a:p>
        </p:txBody>
      </p:sp>
      <p:sp>
        <p:nvSpPr>
          <p:cNvPr id="12" name="Text 10"/>
          <p:cNvSpPr/>
          <p:nvPr/>
        </p:nvSpPr>
        <p:spPr>
          <a:xfrm>
            <a:off x="3264408" y="2660904"/>
            <a:ext cx="4343400" cy="749808"/>
          </a:xfrm>
          <a:prstGeom prst="rect">
            <a:avLst/>
          </a:prstGeom>
          <a:noFill/>
          <a:ln/>
        </p:spPr>
        <p:txBody>
          <a:bodyPr wrap="square" lIns="0" tIns="0" rIns="0" bIns="0" rtlCol="0" anchor="ctr"/>
          <a:lstStyle/>
          <a:p>
            <a:pPr indent="0" marL="0">
              <a:buNone/>
            </a:pPr>
            <a:r>
              <a:rPr lang="en-US" sz="1250" b="1" dirty="0">
                <a:solidFill>
                  <a:srgbClr val="1C2B3A"/>
                </a:solidFill>
                <a:latin typeface="Calibri" pitchFamily="34" charset="0"/>
                <a:ea typeface="Calibri" pitchFamily="34" charset="-122"/>
                <a:cs typeface="Calibri" pitchFamily="34" charset="-120"/>
              </a:rPr>
              <a:t>“Is it the network?” — incidents, new fabric, before blaming anything</a:t>
            </a:r>
            <a:endParaRPr lang="en-US" sz="1250" dirty="0"/>
          </a:p>
        </p:txBody>
      </p:sp>
      <p:sp>
        <p:nvSpPr>
          <p:cNvPr id="13" name="Text 11"/>
          <p:cNvSpPr/>
          <p:nvPr/>
        </p:nvSpPr>
        <p:spPr>
          <a:xfrm>
            <a:off x="7790688" y="2660904"/>
            <a:ext cx="3648456" cy="749808"/>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Idle baseline; prod-safe; splits loss by direction; finds MTU black holes and sick LAG members.</a:t>
            </a:r>
            <a:endParaRPr lang="en-US" sz="1150" dirty="0"/>
          </a:p>
        </p:txBody>
      </p:sp>
      <p:sp>
        <p:nvSpPr>
          <p:cNvPr id="14" name="Shape 12"/>
          <p:cNvSpPr/>
          <p:nvPr/>
        </p:nvSpPr>
        <p:spPr>
          <a:xfrm>
            <a:off x="566928" y="3593592"/>
            <a:ext cx="11055096" cy="932688"/>
          </a:xfrm>
          <a:prstGeom prst="roundRect">
            <a:avLst>
              <a:gd name="adj" fmla="val 8824"/>
            </a:avLst>
          </a:prstGeom>
          <a:solidFill>
            <a:srgbClr val="F1F4F8"/>
          </a:solidFill>
          <a:ln/>
        </p:spPr>
      </p:sp>
      <p:sp>
        <p:nvSpPr>
          <p:cNvPr id="15" name="Shape 13"/>
          <p:cNvSpPr/>
          <p:nvPr/>
        </p:nvSpPr>
        <p:spPr>
          <a:xfrm>
            <a:off x="731520" y="3758184"/>
            <a:ext cx="2286000" cy="603504"/>
          </a:xfrm>
          <a:prstGeom prst="roundRect">
            <a:avLst>
              <a:gd name="adj" fmla="val 10606"/>
            </a:avLst>
          </a:prstGeom>
          <a:solidFill>
            <a:srgbClr val="D97C1F"/>
          </a:solidFill>
          <a:ln/>
        </p:spPr>
      </p:sp>
      <p:sp>
        <p:nvSpPr>
          <p:cNvPr id="16" name="Text 14"/>
          <p:cNvSpPr/>
          <p:nvPr/>
        </p:nvSpPr>
        <p:spPr>
          <a:xfrm>
            <a:off x="731520" y="3758184"/>
            <a:ext cx="22860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iperf_orchestrator</a:t>
            </a:r>
            <a:endParaRPr lang="en-US" sz="1300" dirty="0"/>
          </a:p>
        </p:txBody>
      </p:sp>
      <p:sp>
        <p:nvSpPr>
          <p:cNvPr id="17" name="Text 15"/>
          <p:cNvSpPr/>
          <p:nvPr/>
        </p:nvSpPr>
        <p:spPr>
          <a:xfrm>
            <a:off x="3264408" y="3703320"/>
            <a:ext cx="4343400" cy="749808"/>
          </a:xfrm>
          <a:prstGeom prst="rect">
            <a:avLst/>
          </a:prstGeom>
          <a:noFill/>
          <a:ln/>
        </p:spPr>
        <p:txBody>
          <a:bodyPr wrap="square" lIns="0" tIns="0" rIns="0" bIns="0" rtlCol="0" anchor="ctr"/>
          <a:lstStyle/>
          <a:p>
            <a:pPr indent="0" marL="0">
              <a:buNone/>
            </a:pPr>
            <a:r>
              <a:rPr lang="en-US" sz="1250" b="1" dirty="0">
                <a:solidFill>
                  <a:srgbClr val="1C2B3A"/>
                </a:solidFill>
                <a:latin typeface="Calibri" pitchFamily="34" charset="0"/>
                <a:ea typeface="Calibri" pitchFamily="34" charset="-122"/>
                <a:cs typeface="Calibri" pitchFamily="34" charset="-120"/>
              </a:rPr>
              <a:t>Fabric acceptance &amp; stress — “will it carry line rate?”</a:t>
            </a:r>
            <a:endParaRPr lang="en-US" sz="1250" dirty="0"/>
          </a:p>
        </p:txBody>
      </p:sp>
      <p:sp>
        <p:nvSpPr>
          <p:cNvPr id="18" name="Text 16"/>
          <p:cNvSpPr/>
          <p:nvPr/>
        </p:nvSpPr>
        <p:spPr>
          <a:xfrm>
            <a:off x="7790688" y="3703320"/>
            <a:ext cx="3648456" cy="749808"/>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Loads every link both directions at once; heatmap shows the slow rows/columns.</a:t>
            </a:r>
            <a:endParaRPr lang="en-US" sz="1150" dirty="0"/>
          </a:p>
        </p:txBody>
      </p:sp>
      <p:sp>
        <p:nvSpPr>
          <p:cNvPr id="19" name="Shape 17"/>
          <p:cNvSpPr/>
          <p:nvPr/>
        </p:nvSpPr>
        <p:spPr>
          <a:xfrm>
            <a:off x="566928" y="4636008"/>
            <a:ext cx="11055096" cy="932688"/>
          </a:xfrm>
          <a:prstGeom prst="roundRect">
            <a:avLst>
              <a:gd name="adj" fmla="val 8824"/>
            </a:avLst>
          </a:prstGeom>
          <a:solidFill>
            <a:srgbClr val="F1F4F8"/>
          </a:solidFill>
          <a:ln/>
        </p:spPr>
      </p:sp>
      <p:sp>
        <p:nvSpPr>
          <p:cNvPr id="20" name="Shape 18"/>
          <p:cNvSpPr/>
          <p:nvPr/>
        </p:nvSpPr>
        <p:spPr>
          <a:xfrm>
            <a:off x="731520" y="4800600"/>
            <a:ext cx="2286000" cy="603504"/>
          </a:xfrm>
          <a:prstGeom prst="roundRect">
            <a:avLst>
              <a:gd name="adj" fmla="val 10606"/>
            </a:avLst>
          </a:prstGeom>
          <a:solidFill>
            <a:srgbClr val="BE3B4E"/>
          </a:solidFill>
          <a:ln/>
        </p:spPr>
      </p:sp>
      <p:sp>
        <p:nvSpPr>
          <p:cNvPr id="21" name="Text 19"/>
          <p:cNvSpPr/>
          <p:nvPr/>
        </p:nvSpPr>
        <p:spPr>
          <a:xfrm>
            <a:off x="731520" y="4800600"/>
            <a:ext cx="2286000" cy="603504"/>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matrix_orchestrator</a:t>
            </a:r>
            <a:endParaRPr lang="en-US" sz="1300" dirty="0"/>
          </a:p>
        </p:txBody>
      </p:sp>
      <p:sp>
        <p:nvSpPr>
          <p:cNvPr id="22" name="Text 20"/>
          <p:cNvSpPr/>
          <p:nvPr/>
        </p:nvSpPr>
        <p:spPr>
          <a:xfrm>
            <a:off x="3264408" y="4745736"/>
            <a:ext cx="4343400" cy="749808"/>
          </a:xfrm>
          <a:prstGeom prst="rect">
            <a:avLst/>
          </a:prstGeom>
          <a:noFill/>
          <a:ln/>
        </p:spPr>
        <p:txBody>
          <a:bodyPr wrap="square" lIns="0" tIns="0" rIns="0" bIns="0" rtlCol="0" anchor="ctr"/>
          <a:lstStyle/>
          <a:p>
            <a:pPr indent="0" marL="0">
              <a:buNone/>
            </a:pPr>
            <a:r>
              <a:rPr lang="en-US" sz="1250" b="1" dirty="0">
                <a:solidFill>
                  <a:srgbClr val="1C2B3A"/>
                </a:solidFill>
                <a:latin typeface="Calibri" pitchFamily="34" charset="0"/>
                <a:ea typeface="Calibri" pitchFamily="34" charset="-122"/>
                <a:cs typeface="Calibri" pitchFamily="34" charset="-120"/>
              </a:rPr>
              <a:t>RPC-shaped capacity — “how many answered packets/sec?”</a:t>
            </a:r>
            <a:endParaRPr lang="en-US" sz="1250" dirty="0"/>
          </a:p>
        </p:txBody>
      </p:sp>
      <p:sp>
        <p:nvSpPr>
          <p:cNvPr id="23" name="Text 21"/>
          <p:cNvSpPr/>
          <p:nvPr/>
        </p:nvSpPr>
        <p:spPr>
          <a:xfrm>
            <a:off x="7790688" y="4745736"/>
            <a:ext cx="3648456" cy="749808"/>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Small packets at rate is where fabrics and NICs actually fall over.</a:t>
            </a:r>
            <a:endParaRPr lang="en-US" sz="1150" dirty="0"/>
          </a:p>
        </p:txBody>
      </p:sp>
      <p:sp>
        <p:nvSpPr>
          <p:cNvPr id="24" name="Text 22"/>
          <p:cNvSpPr/>
          <p:nvPr/>
        </p:nvSpPr>
        <p:spPr>
          <a:xfrm>
            <a:off x="566928" y="5870448"/>
            <a:ext cx="11055096" cy="411480"/>
          </a:xfrm>
          <a:prstGeom prst="rect">
            <a:avLst/>
          </a:prstGeom>
          <a:noFill/>
          <a:ln/>
        </p:spPr>
        <p:txBody>
          <a:bodyPr wrap="square" lIns="0" tIns="0" rIns="0" bIns="0" rtlCol="0" anchor="ctr"/>
          <a:lstStyle/>
          <a:p>
            <a:pPr algn="ctr" indent="0" marL="0">
              <a:buNone/>
            </a:pPr>
            <a:r>
              <a:rPr lang="en-US" sz="1350" b="1" dirty="0">
                <a:solidFill>
                  <a:srgbClr val="1C2B3A"/>
                </a:solidFill>
                <a:latin typeface="Calibri" pitchFamily="34" charset="0"/>
                <a:ea typeface="Calibri" pitchFamily="34" charset="-122"/>
                <a:cs typeface="Calibri" pitchFamily="34" charset="-120"/>
              </a:rPr>
              <a:t>Commissioning a new fabric?  Run them in order:  </a:t>
            </a:r>
            <a:pPr algn="ctr" indent="0" marL="0">
              <a:buNone/>
            </a:pPr>
            <a:r>
              <a:rPr lang="en-US" sz="1350" b="1" dirty="0">
                <a:solidFill>
                  <a:srgbClr val="3E5C76"/>
                </a:solidFill>
                <a:latin typeface="Courier New" pitchFamily="34" charset="0"/>
                <a:ea typeface="Courier New" pitchFamily="34" charset="-122"/>
                <a:cs typeface="Courier New" pitchFamily="34" charset="-120"/>
              </a:rPr>
              <a:t>reachable → netmesh → iperf_orchestrator → mx → netmesh under load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3D8B4F"/>
                </a:solidFill>
                <a:latin typeface="Calibri" pitchFamily="34" charset="0"/>
                <a:ea typeface="Calibri" pitchFamily="34" charset="-122"/>
                <a:cs typeface="Calibri" pitchFamily="34" charset="-120"/>
              </a:rPr>
              <a:t>BINNACLE · REACHABLE</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A run that survives dead servers</a:t>
            </a:r>
            <a:endParaRPr lang="en-US" sz="2900" dirty="0"/>
          </a:p>
        </p:txBody>
      </p:sp>
      <p:sp>
        <p:nvSpPr>
          <p:cNvPr id="4" name="Text 2"/>
          <p:cNvSpPr/>
          <p:nvPr/>
        </p:nvSpPr>
        <p:spPr>
          <a:xfrm>
            <a:off x="9336024" y="420624"/>
            <a:ext cx="2286000" cy="274320"/>
          </a:xfrm>
          <a:prstGeom prst="rect">
            <a:avLst/>
          </a:prstGeom>
          <a:noFill/>
          <a:ln/>
        </p:spPr>
        <p:txBody>
          <a:bodyPr wrap="square" lIns="0" tIns="0" rIns="0" bIns="0" rtlCol="0" anchor="ctr"/>
          <a:lstStyle/>
          <a:p>
            <a:pPr algn="r" indent="0" marL="0">
              <a:buNone/>
            </a:pPr>
            <a:r>
              <a:rPr lang="en-US" sz="1100" b="1" dirty="0">
                <a:solidFill>
                  <a:srgbClr val="3D8B4F"/>
                </a:solidFill>
                <a:latin typeface="Courier New" pitchFamily="34" charset="0"/>
                <a:ea typeface="Courier New" pitchFamily="34" charset="-122"/>
                <a:cs typeface="Courier New" pitchFamily="34" charset="-120"/>
              </a:rPr>
              <a:t>pip install binnacle</a:t>
            </a:r>
            <a:endParaRPr lang="en-US" sz="1100" dirty="0"/>
          </a:p>
        </p:txBody>
      </p:sp>
      <p:sp>
        <p:nvSpPr>
          <p:cNvPr id="5" name="Text 3"/>
          <p:cNvSpPr/>
          <p:nvPr/>
        </p:nvSpPr>
        <p:spPr>
          <a:xfrm>
            <a:off x="566928" y="1554480"/>
            <a:ext cx="5806440" cy="393192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1C2B3A"/>
                </a:solidFill>
                <a:latin typeface="Calibri" pitchFamily="34" charset="0"/>
                <a:ea typeface="Calibri" pitchFamily="34" charset="-122"/>
                <a:cs typeface="Calibri" pitchFamily="34" charset="-120"/>
              </a:rPr>
              <a:t>Server lists rot: boxes get decommissioned, renamed, rebuilt without your key. A fan-out that silently skips 11 of 200 hosts looks identical to one that had nothing to say.</a:t>
            </a:r>
            <a:endParaRPr lang="en-US" sz="1250" dirty="0"/>
          </a:p>
          <a:p>
            <a:pPr marL="152400" indent="-152400">
              <a:spcAft>
                <a:spcPts val="1000"/>
              </a:spcAft>
              <a:buSzPct val="100000"/>
              <a:buChar char="•"/>
            </a:pPr>
            <a:r>
              <a:rPr lang="en-US" sz="1250" dirty="0">
                <a:solidFill>
                  <a:srgbClr val="1C2B3A"/>
                </a:solidFill>
                <a:latin typeface="Calibri" pitchFamily="34" charset="0"/>
                <a:ea typeface="Calibri" pitchFamily="34" charset="-122"/>
                <a:cs typeface="Calibri" pitchFamily="34" charset="-120"/>
              </a:rPr>
              <a:t>reachable pings and ssh’s every entry, then comments out failures — with the reason and date — leaving a file every other tool still reads.</a:t>
            </a:r>
            <a:endParaRPr lang="en-US" sz="1250" dirty="0"/>
          </a:p>
          <a:p>
            <a:pPr marL="152400" indent="-152400">
              <a:spcAft>
                <a:spcPts val="1000"/>
              </a:spcAft>
              <a:buSzPct val="100000"/>
              <a:buChar char="•"/>
            </a:pPr>
            <a:r>
              <a:rPr lang="en-US" sz="1250" dirty="0">
                <a:solidFill>
                  <a:srgbClr val="1C2B3A"/>
                </a:solidFill>
                <a:latin typeface="Calibri" pitchFamily="34" charset="0"/>
                <a:ea typeface="Calibri" pitchFamily="34" charset="-122"/>
                <a:cs typeface="Calibri" pitchFamily="34" charset="-120"/>
              </a:rPr>
              <a:t>ssh is the gate, ping is the explanation: a host answering ssh is kept even with ICMP blocked; auth / refused / dns / no-route / timeout / down are distinguished.</a:t>
            </a:r>
            <a:endParaRPr lang="en-US" sz="1250" dirty="0"/>
          </a:p>
          <a:p>
            <a:pPr marL="152400" indent="-152400">
              <a:spcAft>
                <a:spcPts val="1000"/>
              </a:spcAft>
              <a:buSzPct val="100000"/>
              <a:buChar char="•"/>
            </a:pPr>
            <a:r>
              <a:rPr lang="en-US" sz="1250" dirty="0">
                <a:solidFill>
                  <a:srgbClr val="1C2B3A"/>
                </a:solidFill>
                <a:latin typeface="Calibri" pitchFamily="34" charset="0"/>
                <a:ea typeface="Calibri" pitchFamily="34" charset="-122"/>
                <a:cs typeface="Calibri" pitchFamily="34" charset="-120"/>
              </a:rPr>
              <a:t>Run it again and commented hosts are re-tested and uncommented when they return — the list converges instead of decaying. Your own comments are never touched.</a:t>
            </a:r>
            <a:endParaRPr lang="en-US" sz="1250" dirty="0"/>
          </a:p>
          <a:p>
            <a:pPr marL="152400" indent="-152400">
              <a:spcAft>
                <a:spcPts val="1000"/>
              </a:spcAft>
              <a:buSzPct val="100000"/>
              <a:buChar char="•"/>
            </a:pPr>
            <a:r>
              <a:rPr lang="en-US" sz="1250" dirty="0">
                <a:solidFill>
                  <a:srgbClr val="1C2B3A"/>
                </a:solidFill>
                <a:latin typeface="Calibri" pitchFamily="34" charset="0"/>
                <a:ea typeface="Calibri" pitchFamily="34" charset="-122"/>
                <a:cs typeface="Calibri" pitchFamily="34" charset="-120"/>
              </a:rPr>
              <a:t>Exit codes for cron: 0 all usable, 1 something wasn’t. Ranges like node[01-24] expand; mixed results split per host.</a:t>
            </a:r>
            <a:endParaRPr lang="en-US" sz="1250" dirty="0"/>
          </a:p>
        </p:txBody>
      </p:sp>
      <p:sp>
        <p:nvSpPr>
          <p:cNvPr id="6" name="Shape 4"/>
          <p:cNvSpPr/>
          <p:nvPr/>
        </p:nvSpPr>
        <p:spPr>
          <a:xfrm>
            <a:off x="6629400" y="1554480"/>
            <a:ext cx="4992624" cy="3291840"/>
          </a:xfrm>
          <a:prstGeom prst="roundRect">
            <a:avLst>
              <a:gd name="adj" fmla="val 2500"/>
            </a:avLst>
          </a:prstGeom>
          <a:solidFill>
            <a:srgbClr val="13233A"/>
          </a:solidFill>
          <a:ln/>
        </p:spPr>
      </p:sp>
      <p:sp>
        <p:nvSpPr>
          <p:cNvPr id="7" name="Text 5"/>
          <p:cNvSpPr/>
          <p:nvPr/>
        </p:nvSpPr>
        <p:spPr>
          <a:xfrm>
            <a:off x="6830568" y="1682496"/>
            <a:ext cx="4590288" cy="3035808"/>
          </a:xfrm>
          <a:prstGeom prst="rect">
            <a:avLst/>
          </a:prstGeom>
          <a:noFill/>
          <a:ln/>
        </p:spPr>
        <p:txBody>
          <a:bodyPr wrap="square" lIns="0" tIns="0" rIns="0" bIns="0" rtlCol="0" anchor="t"/>
          <a:lstStyle/>
          <a:p>
            <a:pPr indent="0" marL="0">
              <a:lnSpc>
                <a:spcPct val="112000"/>
              </a:lnSpc>
              <a:buNone/>
            </a:pPr>
            <a:r>
              <a:rPr lang="en-US" sz="1100" dirty="0">
                <a:solidFill>
                  <a:srgbClr val="7C8CA0"/>
                </a:solidFill>
                <a:latin typeface="Courier New" pitchFamily="34" charset="0"/>
                <a:ea typeface="Courier New" pitchFamily="34" charset="-122"/>
                <a:cs typeface="Courier New" pitchFamily="34" charset="-120"/>
              </a:rPr>
              <a:t># production web tier</a:t>
            </a:r>
            <a:endParaRPr lang="en-US" sz="1100" dirty="0"/>
          </a:p>
          <a:p>
            <a:pPr indent="0" marL="0">
              <a:lnSpc>
                <a:spcPct val="112000"/>
              </a:lnSpc>
              <a:buNone/>
            </a:pPr>
            <a:r>
              <a:rPr lang="en-US" sz="1100" dirty="0">
                <a:solidFill>
                  <a:srgbClr val="E8EEF6"/>
                </a:solidFill>
                <a:latin typeface="Courier New" pitchFamily="34" charset="0"/>
                <a:ea typeface="Courier New" pitchFamily="34" charset="-122"/>
                <a:cs typeface="Courier New" pitchFamily="34" charset="-120"/>
              </a:rPr>
              <a:t>web01</a:t>
            </a:r>
            <a:endParaRPr lang="en-US" sz="1100" dirty="0"/>
          </a:p>
          <a:p>
            <a:pPr indent="0" marL="0">
              <a:lnSpc>
                <a:spcPct val="112000"/>
              </a:lnSpc>
              <a:buNone/>
            </a:pPr>
            <a:r>
              <a:rPr lang="en-US" sz="1100" dirty="0">
                <a:solidFill>
                  <a:srgbClr val="6FCF97"/>
                </a:solidFill>
                <a:latin typeface="Courier New" pitchFamily="34" charset="0"/>
                <a:ea typeface="Courier New" pitchFamily="34" charset="-122"/>
                <a:cs typeface="Courier New" pitchFamily="34" charset="-120"/>
              </a:rPr>
              <a:t># db07  #[unreachable] pings but ssh does</a:t>
            </a:r>
            <a:endParaRPr lang="en-US" sz="1100" dirty="0"/>
          </a:p>
          <a:p>
            <a:pPr indent="0" marL="0">
              <a:lnSpc>
                <a:spcPct val="112000"/>
              </a:lnSpc>
              <a:buNone/>
            </a:pPr>
            <a:r>
              <a:rPr lang="en-US" sz="1100" dirty="0">
                <a:solidFill>
                  <a:srgbClr val="6FCF97"/>
                </a:solidFill>
                <a:latin typeface="Courier New" pitchFamily="34" charset="0"/>
                <a:ea typeface="Courier New" pitchFamily="34" charset="-122"/>
                <a:cs typeface="Courier New" pitchFamily="34" charset="-120"/>
              </a:rPr>
              <a:t>#       not answer - 2026-08-15</a:t>
            </a:r>
            <a:endParaRPr lang="en-US" sz="1100" dirty="0"/>
          </a:p>
          <a:p>
            <a:pPr indent="0" marL="0">
              <a:lnSpc>
                <a:spcPct val="112000"/>
              </a:lnSpc>
              <a:buNone/>
            </a:pPr>
            <a:r>
              <a:rPr lang="en-US" sz="1100" dirty="0">
                <a:solidFill>
                  <a:srgbClr val="E8EEF6"/>
                </a:solidFill>
                <a:latin typeface="Courier New" pitchFamily="34" charset="0"/>
                <a:ea typeface="Courier New" pitchFamily="34" charset="-122"/>
                <a:cs typeface="Courier New" pitchFamily="34" charset="-120"/>
              </a:rPr>
              <a:t>cache02  # the slow one</a:t>
            </a:r>
            <a:endParaRPr lang="en-US" sz="1100" dirty="0"/>
          </a:p>
          <a:p>
            <a:pPr indent="0" marL="0">
              <a:lnSpc>
                <a:spcPct val="112000"/>
              </a:lnSpc>
              <a:buNone/>
            </a:pPr>
            <a:r>
              <a:rPr lang="en-US" sz="1100" dirty="0">
                <a:solidFill>
                  <a:srgbClr val="6FCF97"/>
                </a:solidFill>
                <a:latin typeface="Courier New" pitchFamily="34" charset="0"/>
                <a:ea typeface="Courier New" pitchFamily="34" charset="-122"/>
                <a:cs typeface="Courier New" pitchFamily="34" charset="-120"/>
              </a:rPr>
              <a:t># ghost  #[unreachable] name does not</a:t>
            </a:r>
            <a:endParaRPr lang="en-US" sz="1100" dirty="0"/>
          </a:p>
          <a:p>
            <a:pPr indent="0" marL="0">
              <a:lnSpc>
                <a:spcPct val="112000"/>
              </a:lnSpc>
              <a:buNone/>
            </a:pPr>
            <a:r>
              <a:rPr lang="en-US" sz="1100" dirty="0">
                <a:solidFill>
                  <a:srgbClr val="6FCF97"/>
                </a:solidFill>
                <a:latin typeface="Courier New" pitchFamily="34" charset="0"/>
                <a:ea typeface="Courier New" pitchFamily="34" charset="-122"/>
                <a:cs typeface="Courier New" pitchFamily="34" charset="-120"/>
              </a:rPr>
              <a:t>#        resolve - 2026-08-15</a:t>
            </a:r>
            <a:endParaRPr lang="en-US" sz="1100" dirty="0"/>
          </a:p>
          <a:p>
            <a:pPr indent="0" marL="0">
              <a:lnSpc>
                <a:spcPct val="112000"/>
              </a:lnSpc>
              <a:buNone/>
            </a:pPr>
            <a:r>
              <a:rPr lang="en-US" sz="1100" dirty="0">
                <a:solidFill>
                  <a:srgbClr val="E8EEF6"/>
                </a:solidFill>
                <a:latin typeface="Courier New" pitchFamily="34" charset="0"/>
                <a:ea typeface="Courier New" pitchFamily="34" charset="-122"/>
                <a:cs typeface="Courier New" pitchFamily="34" charset="-120"/>
              </a:rPr>
              <a:t>noicmp   # ICMP blocked here by policy</a:t>
            </a:r>
            <a:endParaRPr lang="en-US" sz="1100" dirty="0"/>
          </a:p>
          <a:p>
            <a:pPr indent="0" marL="0">
              <a:lnSpc>
                <a:spcPct val="112000"/>
              </a:lnSpc>
              <a:buNone/>
            </a:pPr>
            <a:endParaRPr lang="en-US" sz="1100" dirty="0"/>
          </a:p>
          <a:p>
            <a:pPr indent="0" marL="0">
              <a:lnSpc>
                <a:spcPct val="112000"/>
              </a:lnSpc>
              <a:buNone/>
            </a:pPr>
            <a:r>
              <a:rPr lang="en-US" sz="1100" b="1" dirty="0">
                <a:solidFill>
                  <a:srgbClr val="6FCF97"/>
                </a:solidFill>
                <a:latin typeface="Courier New" pitchFamily="34" charset="0"/>
                <a:ea typeface="Courier New" pitchFamily="34" charset="-122"/>
                <a:cs typeface="Courier New" pitchFamily="34" charset="-120"/>
              </a:rPr>
              <a:t>$ </a:t>
            </a:r>
            <a:pPr indent="0" marL="0">
              <a:lnSpc>
                <a:spcPct val="112000"/>
              </a:lnSpc>
              <a:buNone/>
            </a:pPr>
            <a:r>
              <a:rPr lang="en-US" sz="1100" b="1" dirty="0">
                <a:solidFill>
                  <a:srgbClr val="FFFFFF"/>
                </a:solidFill>
                <a:latin typeface="Courier New" pitchFamily="34" charset="0"/>
                <a:ea typeface="Courier New" pitchFamily="34" charset="-122"/>
                <a:cs typeface="Courier New" pitchFamily="34" charset="-120"/>
              </a:rPr>
              <a:t>reachable prod.txt -i</a:t>
            </a:r>
            <a:pPr indent="0" marL="0">
              <a:lnSpc>
                <a:spcPct val="112000"/>
              </a:lnSpc>
              <a:buNone/>
            </a:pPr>
            <a:r>
              <a:rPr lang="en-US" sz="1100" dirty="0">
                <a:solidFill>
                  <a:srgbClr val="7C8CA0"/>
                </a:solidFill>
                <a:latin typeface="Courier New" pitchFamily="34" charset="0"/>
                <a:ea typeface="Courier New" pitchFamily="34" charset="-122"/>
                <a:cs typeface="Courier New" pitchFamily="34" charset="-120"/>
              </a:rPr>
              <a:t>   # atomic, keeps .bak</a:t>
            </a:r>
            <a:endParaRPr lang="en-US" sz="1100" dirty="0"/>
          </a:p>
        </p:txBody>
      </p:sp>
      <p:sp>
        <p:nvSpPr>
          <p:cNvPr id="8" name="Shape 6"/>
          <p:cNvSpPr/>
          <p:nvPr/>
        </p:nvSpPr>
        <p:spPr>
          <a:xfrm>
            <a:off x="6629400" y="5029200"/>
            <a:ext cx="4992624" cy="1051560"/>
          </a:xfrm>
          <a:prstGeom prst="roundRect">
            <a:avLst>
              <a:gd name="adj" fmla="val 7826"/>
            </a:avLst>
          </a:prstGeom>
          <a:solidFill>
            <a:srgbClr val="F1F4F8"/>
          </a:solidFill>
          <a:ln/>
        </p:spPr>
      </p:sp>
      <p:sp>
        <p:nvSpPr>
          <p:cNvPr id="9" name="Text 7"/>
          <p:cNvSpPr/>
          <p:nvPr/>
        </p:nvSpPr>
        <p:spPr>
          <a:xfrm>
            <a:off x="6812280" y="5138928"/>
            <a:ext cx="4626864" cy="868680"/>
          </a:xfrm>
          <a:prstGeom prst="rect">
            <a:avLst/>
          </a:prstGeom>
          <a:noFill/>
          <a:ln/>
        </p:spPr>
        <p:txBody>
          <a:bodyPr wrap="square" lIns="0" tIns="0" rIns="0" bIns="0" rtlCol="0" anchor="ctr"/>
          <a:lstStyle/>
          <a:p>
            <a:pPr indent="0" marL="0">
              <a:buNone/>
            </a:pPr>
            <a:r>
              <a:rPr lang="en-US" sz="1150" b="1" dirty="0">
                <a:solidFill>
                  <a:srgbClr val="1C2B3A"/>
                </a:solidFill>
                <a:latin typeface="Calibri" pitchFamily="34" charset="0"/>
                <a:ea typeface="Calibri" pitchFamily="34" charset="-122"/>
                <a:cs typeface="Calibri" pitchFamily="34" charset="-120"/>
              </a:rPr>
              <a:t>Belt and braces: </a:t>
            </a:r>
            <a:pPr indent="0" marL="0">
              <a:buNone/>
            </a:pPr>
            <a:r>
              <a:rPr lang="en-US" sz="1150" dirty="0">
                <a:solidFill>
                  <a:srgbClr val="5C6B7A"/>
                </a:solidFill>
                <a:latin typeface="Calibri" pitchFamily="34" charset="0"/>
                <a:ea typeface="Calibri" pitchFamily="34" charset="-122"/>
                <a:cs typeface="Calibri" pitchFamily="34" charset="-120"/>
              </a:rPr>
              <a:t>the orchestrators also fail open — per-host failures are tracked and reported, and iperf_orchestrator’s --keep-going finishes the fleet past a bad host.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8814816" y="1371600"/>
            <a:ext cx="475488" cy="475488"/>
          </a:xfrm>
          <a:prstGeom prst="roundRect">
            <a:avLst>
              <a:gd name="adj" fmla="val 18000"/>
            </a:avLst>
          </a:prstGeom>
          <a:solidFill>
            <a:srgbClr val="16283E"/>
          </a:solidFill>
          <a:ln/>
        </p:spPr>
      </p:sp>
      <p:sp>
        <p:nvSpPr>
          <p:cNvPr id="3" name="Shape 1"/>
          <p:cNvSpPr/>
          <p:nvPr/>
        </p:nvSpPr>
        <p:spPr>
          <a:xfrm>
            <a:off x="9400032" y="1371600"/>
            <a:ext cx="475488" cy="475488"/>
          </a:xfrm>
          <a:prstGeom prst="roundRect">
            <a:avLst>
              <a:gd name="adj" fmla="val 18000"/>
            </a:avLst>
          </a:prstGeom>
          <a:solidFill>
            <a:srgbClr val="223650"/>
          </a:solidFill>
          <a:ln/>
        </p:spPr>
      </p:sp>
      <p:sp>
        <p:nvSpPr>
          <p:cNvPr id="4" name="Shape 2"/>
          <p:cNvSpPr/>
          <p:nvPr/>
        </p:nvSpPr>
        <p:spPr>
          <a:xfrm>
            <a:off x="9985248" y="1371600"/>
            <a:ext cx="475488" cy="475488"/>
          </a:xfrm>
          <a:prstGeom prst="roundRect">
            <a:avLst>
              <a:gd name="adj" fmla="val 18000"/>
            </a:avLst>
          </a:prstGeom>
          <a:solidFill>
            <a:srgbClr val="16283E"/>
          </a:solidFill>
          <a:ln/>
        </p:spPr>
      </p:sp>
      <p:sp>
        <p:nvSpPr>
          <p:cNvPr id="5" name="Shape 3"/>
          <p:cNvSpPr/>
          <p:nvPr/>
        </p:nvSpPr>
        <p:spPr>
          <a:xfrm>
            <a:off x="10570464" y="1371600"/>
            <a:ext cx="475488" cy="475488"/>
          </a:xfrm>
          <a:prstGeom prst="roundRect">
            <a:avLst>
              <a:gd name="adj" fmla="val 18000"/>
            </a:avLst>
          </a:prstGeom>
          <a:solidFill>
            <a:srgbClr val="223650"/>
          </a:solidFill>
          <a:ln/>
        </p:spPr>
      </p:sp>
      <p:sp>
        <p:nvSpPr>
          <p:cNvPr id="6" name="Shape 4"/>
          <p:cNvSpPr/>
          <p:nvPr/>
        </p:nvSpPr>
        <p:spPr>
          <a:xfrm>
            <a:off x="11155680" y="1371600"/>
            <a:ext cx="475488" cy="475488"/>
          </a:xfrm>
          <a:prstGeom prst="roundRect">
            <a:avLst>
              <a:gd name="adj" fmla="val 18000"/>
            </a:avLst>
          </a:prstGeom>
          <a:solidFill>
            <a:srgbClr val="16283E"/>
          </a:solidFill>
          <a:ln/>
        </p:spPr>
      </p:sp>
      <p:sp>
        <p:nvSpPr>
          <p:cNvPr id="7" name="Shape 5"/>
          <p:cNvSpPr/>
          <p:nvPr/>
        </p:nvSpPr>
        <p:spPr>
          <a:xfrm>
            <a:off x="11740896" y="1371600"/>
            <a:ext cx="475488" cy="475488"/>
          </a:xfrm>
          <a:prstGeom prst="roundRect">
            <a:avLst>
              <a:gd name="adj" fmla="val 18000"/>
            </a:avLst>
          </a:prstGeom>
          <a:solidFill>
            <a:srgbClr val="16283E"/>
          </a:solidFill>
          <a:ln/>
        </p:spPr>
      </p:sp>
      <p:sp>
        <p:nvSpPr>
          <p:cNvPr id="8" name="Shape 6"/>
          <p:cNvSpPr/>
          <p:nvPr/>
        </p:nvSpPr>
        <p:spPr>
          <a:xfrm>
            <a:off x="8229600" y="1956816"/>
            <a:ext cx="475488" cy="475488"/>
          </a:xfrm>
          <a:prstGeom prst="roundRect">
            <a:avLst>
              <a:gd name="adj" fmla="val 18000"/>
            </a:avLst>
          </a:prstGeom>
          <a:solidFill>
            <a:srgbClr val="16283E"/>
          </a:solidFill>
          <a:ln/>
        </p:spPr>
      </p:sp>
      <p:sp>
        <p:nvSpPr>
          <p:cNvPr id="9" name="Shape 7"/>
          <p:cNvSpPr/>
          <p:nvPr/>
        </p:nvSpPr>
        <p:spPr>
          <a:xfrm>
            <a:off x="9400032" y="1956816"/>
            <a:ext cx="475488" cy="475488"/>
          </a:xfrm>
          <a:prstGeom prst="roundRect">
            <a:avLst>
              <a:gd name="adj" fmla="val 18000"/>
            </a:avLst>
          </a:prstGeom>
          <a:solidFill>
            <a:srgbClr val="16283E"/>
          </a:solidFill>
          <a:ln/>
        </p:spPr>
      </p:sp>
      <p:sp>
        <p:nvSpPr>
          <p:cNvPr id="10" name="Shape 8"/>
          <p:cNvSpPr/>
          <p:nvPr/>
        </p:nvSpPr>
        <p:spPr>
          <a:xfrm>
            <a:off x="9985248" y="1956816"/>
            <a:ext cx="475488" cy="475488"/>
          </a:xfrm>
          <a:prstGeom prst="roundRect">
            <a:avLst>
              <a:gd name="adj" fmla="val 18000"/>
            </a:avLst>
          </a:prstGeom>
          <a:solidFill>
            <a:srgbClr val="16283E"/>
          </a:solidFill>
          <a:ln/>
        </p:spPr>
      </p:sp>
      <p:sp>
        <p:nvSpPr>
          <p:cNvPr id="11" name="Shape 9"/>
          <p:cNvSpPr/>
          <p:nvPr/>
        </p:nvSpPr>
        <p:spPr>
          <a:xfrm>
            <a:off x="10570464" y="1956816"/>
            <a:ext cx="475488" cy="475488"/>
          </a:xfrm>
          <a:prstGeom prst="roundRect">
            <a:avLst>
              <a:gd name="adj" fmla="val 18000"/>
            </a:avLst>
          </a:prstGeom>
          <a:solidFill>
            <a:srgbClr val="16283E"/>
          </a:solidFill>
          <a:ln/>
        </p:spPr>
      </p:sp>
      <p:sp>
        <p:nvSpPr>
          <p:cNvPr id="12" name="Shape 10"/>
          <p:cNvSpPr/>
          <p:nvPr/>
        </p:nvSpPr>
        <p:spPr>
          <a:xfrm>
            <a:off x="11155680" y="1956816"/>
            <a:ext cx="475488" cy="475488"/>
          </a:xfrm>
          <a:prstGeom prst="roundRect">
            <a:avLst>
              <a:gd name="adj" fmla="val 18000"/>
            </a:avLst>
          </a:prstGeom>
          <a:solidFill>
            <a:srgbClr val="16283E"/>
          </a:solidFill>
          <a:ln/>
        </p:spPr>
      </p:sp>
      <p:sp>
        <p:nvSpPr>
          <p:cNvPr id="13" name="Shape 11"/>
          <p:cNvSpPr/>
          <p:nvPr/>
        </p:nvSpPr>
        <p:spPr>
          <a:xfrm>
            <a:off x="11740896" y="1956816"/>
            <a:ext cx="475488" cy="475488"/>
          </a:xfrm>
          <a:prstGeom prst="roundRect">
            <a:avLst>
              <a:gd name="adj" fmla="val 18000"/>
            </a:avLst>
          </a:prstGeom>
          <a:solidFill>
            <a:srgbClr val="16283E"/>
          </a:solidFill>
          <a:ln/>
        </p:spPr>
      </p:sp>
      <p:sp>
        <p:nvSpPr>
          <p:cNvPr id="14" name="Shape 12"/>
          <p:cNvSpPr/>
          <p:nvPr/>
        </p:nvSpPr>
        <p:spPr>
          <a:xfrm>
            <a:off x="8229600" y="2542032"/>
            <a:ext cx="475488" cy="475488"/>
          </a:xfrm>
          <a:prstGeom prst="roundRect">
            <a:avLst>
              <a:gd name="adj" fmla="val 18000"/>
            </a:avLst>
          </a:prstGeom>
          <a:solidFill>
            <a:srgbClr val="16283E"/>
          </a:solidFill>
          <a:ln/>
        </p:spPr>
      </p:sp>
      <p:sp>
        <p:nvSpPr>
          <p:cNvPr id="15" name="Shape 13"/>
          <p:cNvSpPr/>
          <p:nvPr/>
        </p:nvSpPr>
        <p:spPr>
          <a:xfrm>
            <a:off x="8814816" y="2542032"/>
            <a:ext cx="475488" cy="475488"/>
          </a:xfrm>
          <a:prstGeom prst="roundRect">
            <a:avLst>
              <a:gd name="adj" fmla="val 18000"/>
            </a:avLst>
          </a:prstGeom>
          <a:solidFill>
            <a:srgbClr val="16283E"/>
          </a:solidFill>
          <a:ln/>
        </p:spPr>
      </p:sp>
      <p:sp>
        <p:nvSpPr>
          <p:cNvPr id="16" name="Shape 14"/>
          <p:cNvSpPr/>
          <p:nvPr/>
        </p:nvSpPr>
        <p:spPr>
          <a:xfrm>
            <a:off x="9985248" y="2542032"/>
            <a:ext cx="475488" cy="475488"/>
          </a:xfrm>
          <a:prstGeom prst="roundRect">
            <a:avLst>
              <a:gd name="adj" fmla="val 18000"/>
            </a:avLst>
          </a:prstGeom>
          <a:solidFill>
            <a:srgbClr val="16283E"/>
          </a:solidFill>
          <a:ln/>
        </p:spPr>
      </p:sp>
      <p:sp>
        <p:nvSpPr>
          <p:cNvPr id="17" name="Shape 15"/>
          <p:cNvSpPr/>
          <p:nvPr/>
        </p:nvSpPr>
        <p:spPr>
          <a:xfrm>
            <a:off x="10570464" y="2542032"/>
            <a:ext cx="475488" cy="475488"/>
          </a:xfrm>
          <a:prstGeom prst="roundRect">
            <a:avLst>
              <a:gd name="adj" fmla="val 18000"/>
            </a:avLst>
          </a:prstGeom>
          <a:solidFill>
            <a:srgbClr val="D97C1F"/>
          </a:solidFill>
          <a:ln/>
        </p:spPr>
      </p:sp>
      <p:sp>
        <p:nvSpPr>
          <p:cNvPr id="18" name="Shape 16"/>
          <p:cNvSpPr/>
          <p:nvPr/>
        </p:nvSpPr>
        <p:spPr>
          <a:xfrm>
            <a:off x="11155680" y="2542032"/>
            <a:ext cx="475488" cy="475488"/>
          </a:xfrm>
          <a:prstGeom prst="roundRect">
            <a:avLst>
              <a:gd name="adj" fmla="val 18000"/>
            </a:avLst>
          </a:prstGeom>
          <a:solidFill>
            <a:srgbClr val="16283E"/>
          </a:solidFill>
          <a:ln/>
        </p:spPr>
      </p:sp>
      <p:sp>
        <p:nvSpPr>
          <p:cNvPr id="19" name="Shape 17"/>
          <p:cNvSpPr/>
          <p:nvPr/>
        </p:nvSpPr>
        <p:spPr>
          <a:xfrm>
            <a:off x="11740896" y="2542032"/>
            <a:ext cx="475488" cy="475488"/>
          </a:xfrm>
          <a:prstGeom prst="roundRect">
            <a:avLst>
              <a:gd name="adj" fmla="val 18000"/>
            </a:avLst>
          </a:prstGeom>
          <a:solidFill>
            <a:srgbClr val="16283E"/>
          </a:solidFill>
          <a:ln/>
        </p:spPr>
      </p:sp>
      <p:sp>
        <p:nvSpPr>
          <p:cNvPr id="20" name="Shape 18"/>
          <p:cNvSpPr/>
          <p:nvPr/>
        </p:nvSpPr>
        <p:spPr>
          <a:xfrm>
            <a:off x="8229600" y="3127248"/>
            <a:ext cx="475488" cy="475488"/>
          </a:xfrm>
          <a:prstGeom prst="roundRect">
            <a:avLst>
              <a:gd name="adj" fmla="val 18000"/>
            </a:avLst>
          </a:prstGeom>
          <a:solidFill>
            <a:srgbClr val="16283E"/>
          </a:solidFill>
          <a:ln/>
        </p:spPr>
      </p:sp>
      <p:sp>
        <p:nvSpPr>
          <p:cNvPr id="21" name="Shape 19"/>
          <p:cNvSpPr/>
          <p:nvPr/>
        </p:nvSpPr>
        <p:spPr>
          <a:xfrm>
            <a:off x="8814816" y="3127248"/>
            <a:ext cx="475488" cy="475488"/>
          </a:xfrm>
          <a:prstGeom prst="roundRect">
            <a:avLst>
              <a:gd name="adj" fmla="val 18000"/>
            </a:avLst>
          </a:prstGeom>
          <a:solidFill>
            <a:srgbClr val="16283E"/>
          </a:solidFill>
          <a:ln/>
        </p:spPr>
      </p:sp>
      <p:sp>
        <p:nvSpPr>
          <p:cNvPr id="22" name="Shape 20"/>
          <p:cNvSpPr/>
          <p:nvPr/>
        </p:nvSpPr>
        <p:spPr>
          <a:xfrm>
            <a:off x="9400032" y="3127248"/>
            <a:ext cx="475488" cy="475488"/>
          </a:xfrm>
          <a:prstGeom prst="roundRect">
            <a:avLst>
              <a:gd name="adj" fmla="val 18000"/>
            </a:avLst>
          </a:prstGeom>
          <a:solidFill>
            <a:srgbClr val="16283E"/>
          </a:solidFill>
          <a:ln/>
        </p:spPr>
      </p:sp>
      <p:sp>
        <p:nvSpPr>
          <p:cNvPr id="23" name="Shape 21"/>
          <p:cNvSpPr/>
          <p:nvPr/>
        </p:nvSpPr>
        <p:spPr>
          <a:xfrm>
            <a:off x="10570464" y="3127248"/>
            <a:ext cx="475488" cy="475488"/>
          </a:xfrm>
          <a:prstGeom prst="roundRect">
            <a:avLst>
              <a:gd name="adj" fmla="val 18000"/>
            </a:avLst>
          </a:prstGeom>
          <a:solidFill>
            <a:srgbClr val="16283E"/>
          </a:solidFill>
          <a:ln/>
        </p:spPr>
      </p:sp>
      <p:sp>
        <p:nvSpPr>
          <p:cNvPr id="24" name="Shape 22"/>
          <p:cNvSpPr/>
          <p:nvPr/>
        </p:nvSpPr>
        <p:spPr>
          <a:xfrm>
            <a:off x="11155680" y="3127248"/>
            <a:ext cx="475488" cy="475488"/>
          </a:xfrm>
          <a:prstGeom prst="roundRect">
            <a:avLst>
              <a:gd name="adj" fmla="val 18000"/>
            </a:avLst>
          </a:prstGeom>
          <a:solidFill>
            <a:srgbClr val="223650"/>
          </a:solidFill>
          <a:ln/>
        </p:spPr>
      </p:sp>
      <p:sp>
        <p:nvSpPr>
          <p:cNvPr id="25" name="Shape 23"/>
          <p:cNvSpPr/>
          <p:nvPr/>
        </p:nvSpPr>
        <p:spPr>
          <a:xfrm>
            <a:off x="11740896" y="3127248"/>
            <a:ext cx="475488" cy="475488"/>
          </a:xfrm>
          <a:prstGeom prst="roundRect">
            <a:avLst>
              <a:gd name="adj" fmla="val 18000"/>
            </a:avLst>
          </a:prstGeom>
          <a:solidFill>
            <a:srgbClr val="16283E"/>
          </a:solidFill>
          <a:ln/>
        </p:spPr>
      </p:sp>
      <p:sp>
        <p:nvSpPr>
          <p:cNvPr id="26" name="Shape 24"/>
          <p:cNvSpPr/>
          <p:nvPr/>
        </p:nvSpPr>
        <p:spPr>
          <a:xfrm>
            <a:off x="8229600" y="3712464"/>
            <a:ext cx="475488" cy="475488"/>
          </a:xfrm>
          <a:prstGeom prst="roundRect">
            <a:avLst>
              <a:gd name="adj" fmla="val 18000"/>
            </a:avLst>
          </a:prstGeom>
          <a:solidFill>
            <a:srgbClr val="16283E"/>
          </a:solidFill>
          <a:ln/>
        </p:spPr>
      </p:sp>
      <p:sp>
        <p:nvSpPr>
          <p:cNvPr id="27" name="Shape 25"/>
          <p:cNvSpPr/>
          <p:nvPr/>
        </p:nvSpPr>
        <p:spPr>
          <a:xfrm>
            <a:off x="8814816" y="3712464"/>
            <a:ext cx="475488" cy="475488"/>
          </a:xfrm>
          <a:prstGeom prst="roundRect">
            <a:avLst>
              <a:gd name="adj" fmla="val 18000"/>
            </a:avLst>
          </a:prstGeom>
          <a:solidFill>
            <a:srgbClr val="16283E"/>
          </a:solidFill>
          <a:ln/>
        </p:spPr>
      </p:sp>
      <p:sp>
        <p:nvSpPr>
          <p:cNvPr id="28" name="Shape 26"/>
          <p:cNvSpPr/>
          <p:nvPr/>
        </p:nvSpPr>
        <p:spPr>
          <a:xfrm>
            <a:off x="9400032" y="3712464"/>
            <a:ext cx="475488" cy="475488"/>
          </a:xfrm>
          <a:prstGeom prst="roundRect">
            <a:avLst>
              <a:gd name="adj" fmla="val 18000"/>
            </a:avLst>
          </a:prstGeom>
          <a:solidFill>
            <a:srgbClr val="16283E"/>
          </a:solidFill>
          <a:ln/>
        </p:spPr>
      </p:sp>
      <p:sp>
        <p:nvSpPr>
          <p:cNvPr id="29" name="Shape 27"/>
          <p:cNvSpPr/>
          <p:nvPr/>
        </p:nvSpPr>
        <p:spPr>
          <a:xfrm>
            <a:off x="9985248" y="3712464"/>
            <a:ext cx="475488" cy="475488"/>
          </a:xfrm>
          <a:prstGeom prst="roundRect">
            <a:avLst>
              <a:gd name="adj" fmla="val 18000"/>
            </a:avLst>
          </a:prstGeom>
          <a:solidFill>
            <a:srgbClr val="16283E"/>
          </a:solidFill>
          <a:ln/>
        </p:spPr>
      </p:sp>
      <p:sp>
        <p:nvSpPr>
          <p:cNvPr id="30" name="Shape 28"/>
          <p:cNvSpPr/>
          <p:nvPr/>
        </p:nvSpPr>
        <p:spPr>
          <a:xfrm>
            <a:off x="11155680" y="3712464"/>
            <a:ext cx="475488" cy="475488"/>
          </a:xfrm>
          <a:prstGeom prst="roundRect">
            <a:avLst>
              <a:gd name="adj" fmla="val 18000"/>
            </a:avLst>
          </a:prstGeom>
          <a:solidFill>
            <a:srgbClr val="16283E"/>
          </a:solidFill>
          <a:ln/>
        </p:spPr>
      </p:sp>
      <p:sp>
        <p:nvSpPr>
          <p:cNvPr id="31" name="Shape 29"/>
          <p:cNvSpPr/>
          <p:nvPr/>
        </p:nvSpPr>
        <p:spPr>
          <a:xfrm>
            <a:off x="11740896" y="3712464"/>
            <a:ext cx="475488" cy="475488"/>
          </a:xfrm>
          <a:prstGeom prst="roundRect">
            <a:avLst>
              <a:gd name="adj" fmla="val 18000"/>
            </a:avLst>
          </a:prstGeom>
          <a:solidFill>
            <a:srgbClr val="16283E"/>
          </a:solidFill>
          <a:ln/>
        </p:spPr>
      </p:sp>
      <p:sp>
        <p:nvSpPr>
          <p:cNvPr id="32" name="Shape 30"/>
          <p:cNvSpPr/>
          <p:nvPr/>
        </p:nvSpPr>
        <p:spPr>
          <a:xfrm>
            <a:off x="8229600" y="4297680"/>
            <a:ext cx="475488" cy="475488"/>
          </a:xfrm>
          <a:prstGeom prst="roundRect">
            <a:avLst>
              <a:gd name="adj" fmla="val 18000"/>
            </a:avLst>
          </a:prstGeom>
          <a:solidFill>
            <a:srgbClr val="223650"/>
          </a:solidFill>
          <a:ln/>
        </p:spPr>
      </p:sp>
      <p:sp>
        <p:nvSpPr>
          <p:cNvPr id="33" name="Shape 31"/>
          <p:cNvSpPr/>
          <p:nvPr/>
        </p:nvSpPr>
        <p:spPr>
          <a:xfrm>
            <a:off x="8814816" y="4297680"/>
            <a:ext cx="475488" cy="475488"/>
          </a:xfrm>
          <a:prstGeom prst="roundRect">
            <a:avLst>
              <a:gd name="adj" fmla="val 18000"/>
            </a:avLst>
          </a:prstGeom>
          <a:solidFill>
            <a:srgbClr val="16283E"/>
          </a:solidFill>
          <a:ln/>
        </p:spPr>
      </p:sp>
      <p:sp>
        <p:nvSpPr>
          <p:cNvPr id="34" name="Shape 32"/>
          <p:cNvSpPr/>
          <p:nvPr/>
        </p:nvSpPr>
        <p:spPr>
          <a:xfrm>
            <a:off x="9400032" y="4297680"/>
            <a:ext cx="475488" cy="475488"/>
          </a:xfrm>
          <a:prstGeom prst="roundRect">
            <a:avLst>
              <a:gd name="adj" fmla="val 18000"/>
            </a:avLst>
          </a:prstGeom>
          <a:solidFill>
            <a:srgbClr val="16283E"/>
          </a:solidFill>
          <a:ln/>
        </p:spPr>
      </p:sp>
      <p:sp>
        <p:nvSpPr>
          <p:cNvPr id="35" name="Shape 33"/>
          <p:cNvSpPr/>
          <p:nvPr/>
        </p:nvSpPr>
        <p:spPr>
          <a:xfrm>
            <a:off x="9985248" y="4297680"/>
            <a:ext cx="475488" cy="475488"/>
          </a:xfrm>
          <a:prstGeom prst="roundRect">
            <a:avLst>
              <a:gd name="adj" fmla="val 18000"/>
            </a:avLst>
          </a:prstGeom>
          <a:solidFill>
            <a:srgbClr val="D97C1F"/>
          </a:solidFill>
          <a:ln/>
        </p:spPr>
      </p:sp>
      <p:sp>
        <p:nvSpPr>
          <p:cNvPr id="36" name="Shape 34"/>
          <p:cNvSpPr/>
          <p:nvPr/>
        </p:nvSpPr>
        <p:spPr>
          <a:xfrm>
            <a:off x="10570464" y="4297680"/>
            <a:ext cx="475488" cy="475488"/>
          </a:xfrm>
          <a:prstGeom prst="roundRect">
            <a:avLst>
              <a:gd name="adj" fmla="val 18000"/>
            </a:avLst>
          </a:prstGeom>
          <a:solidFill>
            <a:srgbClr val="16283E"/>
          </a:solidFill>
          <a:ln/>
        </p:spPr>
      </p:sp>
      <p:sp>
        <p:nvSpPr>
          <p:cNvPr id="37" name="Shape 35"/>
          <p:cNvSpPr/>
          <p:nvPr/>
        </p:nvSpPr>
        <p:spPr>
          <a:xfrm>
            <a:off x="11740896" y="4297680"/>
            <a:ext cx="475488" cy="475488"/>
          </a:xfrm>
          <a:prstGeom prst="roundRect">
            <a:avLst>
              <a:gd name="adj" fmla="val 18000"/>
            </a:avLst>
          </a:prstGeom>
          <a:solidFill>
            <a:srgbClr val="16283E"/>
          </a:solidFill>
          <a:ln/>
        </p:spPr>
      </p:sp>
      <p:sp>
        <p:nvSpPr>
          <p:cNvPr id="38" name="Shape 36"/>
          <p:cNvSpPr/>
          <p:nvPr/>
        </p:nvSpPr>
        <p:spPr>
          <a:xfrm>
            <a:off x="8229600" y="4882896"/>
            <a:ext cx="475488" cy="475488"/>
          </a:xfrm>
          <a:prstGeom prst="roundRect">
            <a:avLst>
              <a:gd name="adj" fmla="val 18000"/>
            </a:avLst>
          </a:prstGeom>
          <a:solidFill>
            <a:srgbClr val="16283E"/>
          </a:solidFill>
          <a:ln/>
        </p:spPr>
      </p:sp>
      <p:sp>
        <p:nvSpPr>
          <p:cNvPr id="39" name="Shape 37"/>
          <p:cNvSpPr/>
          <p:nvPr/>
        </p:nvSpPr>
        <p:spPr>
          <a:xfrm>
            <a:off x="8814816" y="4882896"/>
            <a:ext cx="475488" cy="475488"/>
          </a:xfrm>
          <a:prstGeom prst="roundRect">
            <a:avLst>
              <a:gd name="adj" fmla="val 18000"/>
            </a:avLst>
          </a:prstGeom>
          <a:solidFill>
            <a:srgbClr val="16283E"/>
          </a:solidFill>
          <a:ln/>
        </p:spPr>
      </p:sp>
      <p:sp>
        <p:nvSpPr>
          <p:cNvPr id="40" name="Shape 38"/>
          <p:cNvSpPr/>
          <p:nvPr/>
        </p:nvSpPr>
        <p:spPr>
          <a:xfrm>
            <a:off x="9400032" y="4882896"/>
            <a:ext cx="475488" cy="475488"/>
          </a:xfrm>
          <a:prstGeom prst="roundRect">
            <a:avLst>
              <a:gd name="adj" fmla="val 18000"/>
            </a:avLst>
          </a:prstGeom>
          <a:solidFill>
            <a:srgbClr val="16283E"/>
          </a:solidFill>
          <a:ln/>
        </p:spPr>
      </p:sp>
      <p:sp>
        <p:nvSpPr>
          <p:cNvPr id="41" name="Shape 39"/>
          <p:cNvSpPr/>
          <p:nvPr/>
        </p:nvSpPr>
        <p:spPr>
          <a:xfrm>
            <a:off x="9985248" y="4882896"/>
            <a:ext cx="475488" cy="475488"/>
          </a:xfrm>
          <a:prstGeom prst="roundRect">
            <a:avLst>
              <a:gd name="adj" fmla="val 18000"/>
            </a:avLst>
          </a:prstGeom>
          <a:solidFill>
            <a:srgbClr val="16283E"/>
          </a:solidFill>
          <a:ln/>
        </p:spPr>
      </p:sp>
      <p:sp>
        <p:nvSpPr>
          <p:cNvPr id="42" name="Shape 40"/>
          <p:cNvSpPr/>
          <p:nvPr/>
        </p:nvSpPr>
        <p:spPr>
          <a:xfrm>
            <a:off x="10570464" y="4882896"/>
            <a:ext cx="475488" cy="475488"/>
          </a:xfrm>
          <a:prstGeom prst="roundRect">
            <a:avLst>
              <a:gd name="adj" fmla="val 18000"/>
            </a:avLst>
          </a:prstGeom>
          <a:solidFill>
            <a:srgbClr val="223650"/>
          </a:solidFill>
          <a:ln/>
        </p:spPr>
      </p:sp>
      <p:sp>
        <p:nvSpPr>
          <p:cNvPr id="43" name="Shape 41"/>
          <p:cNvSpPr/>
          <p:nvPr/>
        </p:nvSpPr>
        <p:spPr>
          <a:xfrm>
            <a:off x="11155680" y="4882896"/>
            <a:ext cx="475488" cy="475488"/>
          </a:xfrm>
          <a:prstGeom prst="roundRect">
            <a:avLst>
              <a:gd name="adj" fmla="val 18000"/>
            </a:avLst>
          </a:prstGeom>
          <a:solidFill>
            <a:srgbClr val="16283E"/>
          </a:solidFill>
          <a:ln/>
        </p:spPr>
      </p:sp>
      <p:sp>
        <p:nvSpPr>
          <p:cNvPr id="44" name="Text 42"/>
          <p:cNvSpPr/>
          <p:nvPr/>
        </p:nvSpPr>
        <p:spPr>
          <a:xfrm>
            <a:off x="566928" y="1554480"/>
            <a:ext cx="2743200" cy="1280160"/>
          </a:xfrm>
          <a:prstGeom prst="rect">
            <a:avLst/>
          </a:prstGeom>
          <a:noFill/>
          <a:ln/>
        </p:spPr>
        <p:txBody>
          <a:bodyPr wrap="square" lIns="0" tIns="0" rIns="0" bIns="0" rtlCol="0" anchor="ctr"/>
          <a:lstStyle/>
          <a:p>
            <a:pPr indent="0" marL="0">
              <a:buNone/>
            </a:pPr>
            <a:r>
              <a:rPr lang="en-US" sz="8400" b="1" dirty="0">
                <a:solidFill>
                  <a:srgbClr val="D97C1F"/>
                </a:solidFill>
                <a:latin typeface="Calibri" pitchFamily="34" charset="0"/>
                <a:ea typeface="Calibri" pitchFamily="34" charset="-122"/>
                <a:cs typeface="Calibri" pitchFamily="34" charset="-120"/>
              </a:rPr>
              <a:t>01</a:t>
            </a:r>
            <a:endParaRPr lang="en-US" sz="8400" dirty="0"/>
          </a:p>
        </p:txBody>
      </p:sp>
      <p:sp>
        <p:nvSpPr>
          <p:cNvPr id="45" name="Text 43"/>
          <p:cNvSpPr/>
          <p:nvPr/>
        </p:nvSpPr>
        <p:spPr>
          <a:xfrm>
            <a:off x="566928" y="2880360"/>
            <a:ext cx="7498080" cy="7772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iperf_orchestrator</a:t>
            </a:r>
            <a:endParaRPr lang="en-US" sz="4000" dirty="0"/>
          </a:p>
        </p:txBody>
      </p:sp>
      <p:sp>
        <p:nvSpPr>
          <p:cNvPr id="46" name="Text 44"/>
          <p:cNvSpPr/>
          <p:nvPr/>
        </p:nvSpPr>
        <p:spPr>
          <a:xfrm>
            <a:off x="566928" y="3703320"/>
            <a:ext cx="7223760" cy="822960"/>
          </a:xfrm>
          <a:prstGeom prst="rect">
            <a:avLst/>
          </a:prstGeom>
          <a:noFill/>
          <a:ln/>
        </p:spPr>
        <p:txBody>
          <a:bodyPr wrap="square" lIns="0" tIns="0" rIns="0" bIns="0" rtlCol="0" anchor="ctr"/>
          <a:lstStyle/>
          <a:p>
            <a:pPr indent="0" marL="0">
              <a:buNone/>
            </a:pPr>
            <a:r>
              <a:rPr lang="en-US" sz="1600" dirty="0">
                <a:solidFill>
                  <a:srgbClr val="9FB0C1"/>
                </a:solidFill>
                <a:latin typeface="Calibri" pitchFamily="34" charset="0"/>
                <a:ea typeface="Calibri" pitchFamily="34" charset="-122"/>
                <a:cs typeface="Calibri" pitchFamily="34" charset="-120"/>
              </a:rPr>
              <a:t>TCP bandwidth, every link, both directions, all at once — full-mesh iperf2 with the numbers you can defend.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What it is, and why you run it</a:t>
            </a:r>
            <a:endParaRPr lang="en-US" sz="2900" dirty="0"/>
          </a:p>
        </p:txBody>
      </p:sp>
      <p:sp>
        <p:nvSpPr>
          <p:cNvPr id="4" name="Text 2"/>
          <p:cNvSpPr/>
          <p:nvPr/>
        </p:nvSpPr>
        <p:spPr>
          <a:xfrm>
            <a:off x="9336024" y="420624"/>
            <a:ext cx="2286000" cy="274320"/>
          </a:xfrm>
          <a:prstGeom prst="rect">
            <a:avLst/>
          </a:prstGeom>
          <a:noFill/>
          <a:ln/>
        </p:spPr>
        <p:txBody>
          <a:bodyPr wrap="square" lIns="0" tIns="0" rIns="0" bIns="0" rtlCol="0" anchor="ctr"/>
          <a:lstStyle/>
          <a:p>
            <a:pPr algn="r" indent="0" marL="0">
              <a:buNone/>
            </a:pPr>
            <a:r>
              <a:rPr lang="en-US" sz="1100" b="1" dirty="0">
                <a:solidFill>
                  <a:srgbClr val="D97C1F"/>
                </a:solidFill>
                <a:latin typeface="Courier New" pitchFamily="34" charset="0"/>
                <a:ea typeface="Courier New" pitchFamily="34" charset="-122"/>
                <a:cs typeface="Courier New" pitchFamily="34" charset="-120"/>
              </a:rPr>
              <a:t>pip install iperf-orchestrator</a:t>
            </a:r>
            <a:endParaRPr lang="en-US" sz="1100" dirty="0"/>
          </a:p>
        </p:txBody>
      </p:sp>
      <p:sp>
        <p:nvSpPr>
          <p:cNvPr id="5" name="Text 3"/>
          <p:cNvSpPr/>
          <p:nvPr/>
        </p:nvSpPr>
        <p:spPr>
          <a:xfrm>
            <a:off x="566928" y="1572768"/>
            <a:ext cx="6126480" cy="4023360"/>
          </a:xfrm>
          <a:prstGeom prst="rect">
            <a:avLst/>
          </a:prstGeom>
          <a:noFill/>
          <a:ln/>
        </p:spPr>
        <p:txBody>
          <a:bodyPr wrap="square" lIns="0" tIns="0" rIns="0" bIns="0" rtlCol="0" anchor="t"/>
          <a:lstStyle/>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A single self-contained bash script (plus embedded Python) that runs a full-mesh iperf2 throughput test across a list of servers.</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Samples per-host CPU during the run, then parses everything into a CSV, a pivot table, and a heatmap + bar chart.</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Built for fabric stress testing: load every link in both directions simultaneously and find out what breaks or degrades.</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Also a one-off “is the network healthy?” survey for a fleet — one command, one picture.</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Stateless: each run gets a timestamped results/&lt;run-id&gt;/ directory; results/latest always points at the newest.</a:t>
            </a:r>
            <a:endParaRPr lang="en-US" sz="1300" dirty="0"/>
          </a:p>
        </p:txBody>
      </p:sp>
      <p:sp>
        <p:nvSpPr>
          <p:cNvPr id="6" name="Shape 4"/>
          <p:cNvSpPr/>
          <p:nvPr/>
        </p:nvSpPr>
        <p:spPr>
          <a:xfrm>
            <a:off x="7178040" y="1572768"/>
            <a:ext cx="4443984" cy="4480560"/>
          </a:xfrm>
          <a:prstGeom prst="roundRect">
            <a:avLst>
              <a:gd name="adj" fmla="val 1852"/>
            </a:avLst>
          </a:prstGeom>
          <a:solidFill>
            <a:srgbClr val="F1F4F8"/>
          </a:solidFill>
          <a:ln/>
        </p:spPr>
      </p:sp>
      <p:sp>
        <p:nvSpPr>
          <p:cNvPr id="7" name="Text 5"/>
          <p:cNvSpPr/>
          <p:nvPr/>
        </p:nvSpPr>
        <p:spPr>
          <a:xfrm>
            <a:off x="7452360" y="1783080"/>
            <a:ext cx="3895344" cy="274320"/>
          </a:xfrm>
          <a:prstGeom prst="rect">
            <a:avLst/>
          </a:prstGeom>
          <a:noFill/>
          <a:ln/>
        </p:spPr>
        <p:txBody>
          <a:bodyPr wrap="square" lIns="0" tIns="0" rIns="0" bIns="0" rtlCol="0" anchor="ctr"/>
          <a:lstStyle/>
          <a:p>
            <a:pPr indent="0" marL="0">
              <a:buNone/>
            </a:pPr>
            <a:r>
              <a:rPr lang="en-US" sz="1100" b="1" dirty="0">
                <a:solidFill>
                  <a:srgbClr val="5C6B7A"/>
                </a:solidFill>
                <a:latin typeface="Calibri" pitchFamily="34" charset="0"/>
                <a:ea typeface="Calibri" pitchFamily="34" charset="-122"/>
                <a:cs typeface="Calibri" pitchFamily="34" charset="-120"/>
              </a:rPr>
              <a:t>one command in …</a:t>
            </a:r>
            <a:endParaRPr lang="en-US" sz="1100" dirty="0"/>
          </a:p>
        </p:txBody>
      </p:sp>
      <p:sp>
        <p:nvSpPr>
          <p:cNvPr id="8" name="Shape 6"/>
          <p:cNvSpPr/>
          <p:nvPr/>
        </p:nvSpPr>
        <p:spPr>
          <a:xfrm>
            <a:off x="7452360" y="2084832"/>
            <a:ext cx="3895344" cy="502920"/>
          </a:xfrm>
          <a:prstGeom prst="roundRect">
            <a:avLst>
              <a:gd name="adj" fmla="val 16364"/>
            </a:avLst>
          </a:prstGeom>
          <a:solidFill>
            <a:srgbClr val="13233A"/>
          </a:solidFill>
          <a:ln/>
        </p:spPr>
      </p:sp>
      <p:sp>
        <p:nvSpPr>
          <p:cNvPr id="9" name="Text 7"/>
          <p:cNvSpPr/>
          <p:nvPr/>
        </p:nvSpPr>
        <p:spPr>
          <a:xfrm>
            <a:off x="7653528" y="2212848"/>
            <a:ext cx="3493008" cy="246888"/>
          </a:xfrm>
          <a:prstGeom prst="rect">
            <a:avLst/>
          </a:prstGeom>
          <a:noFill/>
          <a:ln/>
        </p:spPr>
        <p:txBody>
          <a:bodyPr wrap="square" lIns="0" tIns="0" rIns="0" bIns="0" rtlCol="0" anchor="t"/>
          <a:lstStyle/>
          <a:p>
            <a:pPr indent="0" marL="0">
              <a:lnSpc>
                <a:spcPct val="112000"/>
              </a:lnSpc>
              <a:buNone/>
            </a:pPr>
            <a:r>
              <a:rPr lang="en-US" sz="1050" b="1" dirty="0">
                <a:solidFill>
                  <a:srgbClr val="F2A65A"/>
                </a:solidFill>
                <a:latin typeface="Courier New" pitchFamily="34" charset="0"/>
                <a:ea typeface="Courier New" pitchFamily="34" charset="-122"/>
                <a:cs typeface="Courier New" pitchFamily="34" charset="-120"/>
              </a:rPr>
              <a:t>$ </a:t>
            </a:r>
            <a:pPr indent="0" marL="0">
              <a:lnSpc>
                <a:spcPct val="112000"/>
              </a:lnSpc>
              <a:buNone/>
            </a:pPr>
            <a:r>
              <a:rPr lang="en-US" sz="1050" b="1" dirty="0">
                <a:solidFill>
                  <a:srgbClr val="FFFFFF"/>
                </a:solidFill>
                <a:latin typeface="Courier New" pitchFamily="34" charset="0"/>
                <a:ea typeface="Courier New" pitchFamily="34" charset="-122"/>
                <a:cs typeface="Courier New" pitchFamily="34" charset="-120"/>
              </a:rPr>
              <a:t>iperf-orchestrator --servers servers.txt all</a:t>
            </a:r>
            <a:endParaRPr lang="en-US" sz="1050" dirty="0"/>
          </a:p>
        </p:txBody>
      </p:sp>
      <p:sp>
        <p:nvSpPr>
          <p:cNvPr id="10" name="Text 8"/>
          <p:cNvSpPr/>
          <p:nvPr/>
        </p:nvSpPr>
        <p:spPr>
          <a:xfrm>
            <a:off x="7452360" y="2743200"/>
            <a:ext cx="3895344" cy="274320"/>
          </a:xfrm>
          <a:prstGeom prst="rect">
            <a:avLst/>
          </a:prstGeom>
          <a:noFill/>
          <a:ln/>
        </p:spPr>
        <p:txBody>
          <a:bodyPr wrap="square" lIns="0" tIns="0" rIns="0" bIns="0" rtlCol="0" anchor="ctr"/>
          <a:lstStyle/>
          <a:p>
            <a:pPr indent="0" marL="0">
              <a:buNone/>
            </a:pPr>
            <a:r>
              <a:rPr lang="en-US" sz="1100" b="1" dirty="0">
                <a:solidFill>
                  <a:srgbClr val="5C6B7A"/>
                </a:solidFill>
                <a:latin typeface="Calibri" pitchFamily="34" charset="0"/>
                <a:ea typeface="Calibri" pitchFamily="34" charset="-122"/>
                <a:cs typeface="Calibri" pitchFamily="34" charset="-120"/>
              </a:rPr>
              <a:t>… four artifacts out</a:t>
            </a:r>
            <a:endParaRPr lang="en-US" sz="1100" dirty="0"/>
          </a:p>
        </p:txBody>
      </p:sp>
      <p:sp>
        <p:nvSpPr>
          <p:cNvPr id="11" name="Shape 9"/>
          <p:cNvSpPr/>
          <p:nvPr/>
        </p:nvSpPr>
        <p:spPr>
          <a:xfrm>
            <a:off x="7452360" y="3063240"/>
            <a:ext cx="3895344" cy="603504"/>
          </a:xfrm>
          <a:prstGeom prst="roundRect">
            <a:avLst>
              <a:gd name="adj" fmla="val 9091"/>
            </a:avLst>
          </a:prstGeom>
          <a:solidFill>
            <a:srgbClr val="FFFFFF"/>
          </a:solidFill>
          <a:ln w="12700">
            <a:solidFill>
              <a:srgbClr val="DCE4EC"/>
            </a:solidFill>
            <a:prstDash val="solid"/>
          </a:ln>
        </p:spPr>
      </p:sp>
      <p:sp>
        <p:nvSpPr>
          <p:cNvPr id="12" name="Text 10"/>
          <p:cNvSpPr/>
          <p:nvPr/>
        </p:nvSpPr>
        <p:spPr>
          <a:xfrm>
            <a:off x="7635240" y="3127248"/>
            <a:ext cx="3529584" cy="237744"/>
          </a:xfrm>
          <a:prstGeom prst="rect">
            <a:avLst/>
          </a:prstGeom>
          <a:noFill/>
          <a:ln/>
        </p:spPr>
        <p:txBody>
          <a:bodyPr wrap="square" lIns="0" tIns="0" rIns="0" bIns="0" rtlCol="0" anchor="ctr"/>
          <a:lstStyle/>
          <a:p>
            <a:pPr indent="0" marL="0">
              <a:buNone/>
            </a:pPr>
            <a:r>
              <a:rPr lang="en-US" sz="1150" b="1" dirty="0">
                <a:solidFill>
                  <a:srgbClr val="B4651A"/>
                </a:solidFill>
                <a:latin typeface="Courier New" pitchFamily="34" charset="0"/>
                <a:ea typeface="Courier New" pitchFamily="34" charset="-122"/>
                <a:cs typeface="Courier New" pitchFamily="34" charset="-120"/>
              </a:rPr>
              <a:t>iperf_results.csv</a:t>
            </a:r>
            <a:endParaRPr lang="en-US" sz="1150" dirty="0"/>
          </a:p>
        </p:txBody>
      </p:sp>
      <p:sp>
        <p:nvSpPr>
          <p:cNvPr id="13" name="Text 11"/>
          <p:cNvSpPr/>
          <p:nvPr/>
        </p:nvSpPr>
        <p:spPr>
          <a:xfrm>
            <a:off x="7635240" y="3364992"/>
            <a:ext cx="3529584" cy="23774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every test, both directions, parsed</a:t>
            </a:r>
            <a:endParaRPr lang="en-US" sz="1050" dirty="0"/>
          </a:p>
        </p:txBody>
      </p:sp>
      <p:sp>
        <p:nvSpPr>
          <p:cNvPr id="14" name="Shape 12"/>
          <p:cNvSpPr/>
          <p:nvPr/>
        </p:nvSpPr>
        <p:spPr>
          <a:xfrm>
            <a:off x="7452360" y="3776472"/>
            <a:ext cx="3895344" cy="603504"/>
          </a:xfrm>
          <a:prstGeom prst="roundRect">
            <a:avLst>
              <a:gd name="adj" fmla="val 9091"/>
            </a:avLst>
          </a:prstGeom>
          <a:solidFill>
            <a:srgbClr val="FFFFFF"/>
          </a:solidFill>
          <a:ln w="12700">
            <a:solidFill>
              <a:srgbClr val="DCE4EC"/>
            </a:solidFill>
            <a:prstDash val="solid"/>
          </a:ln>
        </p:spPr>
      </p:sp>
      <p:sp>
        <p:nvSpPr>
          <p:cNvPr id="15" name="Text 13"/>
          <p:cNvSpPr/>
          <p:nvPr/>
        </p:nvSpPr>
        <p:spPr>
          <a:xfrm>
            <a:off x="7635240" y="3840480"/>
            <a:ext cx="3529584" cy="237744"/>
          </a:xfrm>
          <a:prstGeom prst="rect">
            <a:avLst/>
          </a:prstGeom>
          <a:noFill/>
          <a:ln/>
        </p:spPr>
        <p:txBody>
          <a:bodyPr wrap="square" lIns="0" tIns="0" rIns="0" bIns="0" rtlCol="0" anchor="ctr"/>
          <a:lstStyle/>
          <a:p>
            <a:pPr indent="0" marL="0">
              <a:buNone/>
            </a:pPr>
            <a:r>
              <a:rPr lang="en-US" sz="1150" b="1" dirty="0">
                <a:solidFill>
                  <a:srgbClr val="B4651A"/>
                </a:solidFill>
                <a:latin typeface="Courier New" pitchFamily="34" charset="0"/>
                <a:ea typeface="Courier New" pitchFamily="34" charset="-122"/>
                <a:cs typeface="Courier New" pitchFamily="34" charset="-120"/>
              </a:rPr>
              <a:t>cpu_summary.csv</a:t>
            </a:r>
            <a:endParaRPr lang="en-US" sz="1150" dirty="0"/>
          </a:p>
        </p:txBody>
      </p:sp>
      <p:sp>
        <p:nvSpPr>
          <p:cNvPr id="16" name="Text 14"/>
          <p:cNvSpPr/>
          <p:nvPr/>
        </p:nvSpPr>
        <p:spPr>
          <a:xfrm>
            <a:off x="7635240" y="4078224"/>
            <a:ext cx="3529584" cy="23774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per-host CPU peaks during the run</a:t>
            </a:r>
            <a:endParaRPr lang="en-US" sz="1050" dirty="0"/>
          </a:p>
        </p:txBody>
      </p:sp>
      <p:sp>
        <p:nvSpPr>
          <p:cNvPr id="17" name="Shape 15"/>
          <p:cNvSpPr/>
          <p:nvPr/>
        </p:nvSpPr>
        <p:spPr>
          <a:xfrm>
            <a:off x="7452360" y="4489704"/>
            <a:ext cx="3895344" cy="603504"/>
          </a:xfrm>
          <a:prstGeom prst="roundRect">
            <a:avLst>
              <a:gd name="adj" fmla="val 9091"/>
            </a:avLst>
          </a:prstGeom>
          <a:solidFill>
            <a:srgbClr val="FFFFFF"/>
          </a:solidFill>
          <a:ln w="12700">
            <a:solidFill>
              <a:srgbClr val="DCE4EC"/>
            </a:solidFill>
            <a:prstDash val="solid"/>
          </a:ln>
        </p:spPr>
      </p:sp>
      <p:sp>
        <p:nvSpPr>
          <p:cNvPr id="18" name="Text 16"/>
          <p:cNvSpPr/>
          <p:nvPr/>
        </p:nvSpPr>
        <p:spPr>
          <a:xfrm>
            <a:off x="7635240" y="4553712"/>
            <a:ext cx="3529584" cy="237744"/>
          </a:xfrm>
          <a:prstGeom prst="rect">
            <a:avLst/>
          </a:prstGeom>
          <a:noFill/>
          <a:ln/>
        </p:spPr>
        <p:txBody>
          <a:bodyPr wrap="square" lIns="0" tIns="0" rIns="0" bIns="0" rtlCol="0" anchor="ctr"/>
          <a:lstStyle/>
          <a:p>
            <a:pPr indent="0" marL="0">
              <a:buNone/>
            </a:pPr>
            <a:r>
              <a:rPr lang="en-US" sz="1150" b="1" dirty="0">
                <a:solidFill>
                  <a:srgbClr val="B4651A"/>
                </a:solidFill>
                <a:latin typeface="Courier New" pitchFamily="34" charset="0"/>
                <a:ea typeface="Courier New" pitchFamily="34" charset="-122"/>
                <a:cs typeface="Courier New" pitchFamily="34" charset="-120"/>
              </a:rPr>
              <a:t>iperf_pivot.txt</a:t>
            </a:r>
            <a:endParaRPr lang="en-US" sz="1150" dirty="0"/>
          </a:p>
        </p:txBody>
      </p:sp>
      <p:sp>
        <p:nvSpPr>
          <p:cNvPr id="19" name="Text 17"/>
          <p:cNvSpPr/>
          <p:nvPr/>
        </p:nvSpPr>
        <p:spPr>
          <a:xfrm>
            <a:off x="7635240" y="4791456"/>
            <a:ext cx="3529584" cy="23774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text pivot of throughput</a:t>
            </a:r>
            <a:endParaRPr lang="en-US" sz="1050" dirty="0"/>
          </a:p>
        </p:txBody>
      </p:sp>
      <p:sp>
        <p:nvSpPr>
          <p:cNvPr id="20" name="Shape 18"/>
          <p:cNvSpPr/>
          <p:nvPr/>
        </p:nvSpPr>
        <p:spPr>
          <a:xfrm>
            <a:off x="7452360" y="5202936"/>
            <a:ext cx="3895344" cy="603504"/>
          </a:xfrm>
          <a:prstGeom prst="roundRect">
            <a:avLst>
              <a:gd name="adj" fmla="val 9091"/>
            </a:avLst>
          </a:prstGeom>
          <a:solidFill>
            <a:srgbClr val="FFFFFF"/>
          </a:solidFill>
          <a:ln w="12700">
            <a:solidFill>
              <a:srgbClr val="DCE4EC"/>
            </a:solidFill>
            <a:prstDash val="solid"/>
          </a:ln>
        </p:spPr>
      </p:sp>
      <p:sp>
        <p:nvSpPr>
          <p:cNvPr id="21" name="Text 19"/>
          <p:cNvSpPr/>
          <p:nvPr/>
        </p:nvSpPr>
        <p:spPr>
          <a:xfrm>
            <a:off x="7635240" y="5266944"/>
            <a:ext cx="3529584" cy="237744"/>
          </a:xfrm>
          <a:prstGeom prst="rect">
            <a:avLst/>
          </a:prstGeom>
          <a:noFill/>
          <a:ln/>
        </p:spPr>
        <p:txBody>
          <a:bodyPr wrap="square" lIns="0" tIns="0" rIns="0" bIns="0" rtlCol="0" anchor="ctr"/>
          <a:lstStyle/>
          <a:p>
            <a:pPr indent="0" marL="0">
              <a:buNone/>
            </a:pPr>
            <a:r>
              <a:rPr lang="en-US" sz="1150" b="1" dirty="0">
                <a:solidFill>
                  <a:srgbClr val="B4651A"/>
                </a:solidFill>
                <a:latin typeface="Courier New" pitchFamily="34" charset="0"/>
                <a:ea typeface="Courier New" pitchFamily="34" charset="-122"/>
                <a:cs typeface="Courier New" pitchFamily="34" charset="-120"/>
              </a:rPr>
              <a:t>iperf_heatmap.png</a:t>
            </a:r>
            <a:endParaRPr lang="en-US" sz="1150" dirty="0"/>
          </a:p>
        </p:txBody>
      </p:sp>
      <p:sp>
        <p:nvSpPr>
          <p:cNvPr id="22" name="Text 20"/>
          <p:cNvSpPr/>
          <p:nvPr/>
        </p:nvSpPr>
        <p:spPr>
          <a:xfrm>
            <a:off x="7635240" y="5504688"/>
            <a:ext cx="3529584" cy="237744"/>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heatmap + ranked bars, CPU annotated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What is iperf — and why iperf2, not iperf3</a:t>
            </a:r>
            <a:endParaRPr lang="en-US" sz="2900" dirty="0"/>
          </a:p>
        </p:txBody>
      </p:sp>
      <p:sp>
        <p:nvSpPr>
          <p:cNvPr id="4" name="Shape 2"/>
          <p:cNvSpPr/>
          <p:nvPr/>
        </p:nvSpPr>
        <p:spPr>
          <a:xfrm>
            <a:off x="566928" y="1554480"/>
            <a:ext cx="5344668" cy="4343400"/>
          </a:xfrm>
          <a:prstGeom prst="roundRect">
            <a:avLst>
              <a:gd name="adj" fmla="val 1895"/>
            </a:avLst>
          </a:prstGeom>
          <a:solidFill>
            <a:srgbClr val="F1F4F8"/>
          </a:solidFill>
          <a:ln/>
        </p:spPr>
      </p:sp>
      <p:sp>
        <p:nvSpPr>
          <p:cNvPr id="5" name="Text 3"/>
          <p:cNvSpPr/>
          <p:nvPr/>
        </p:nvSpPr>
        <p:spPr>
          <a:xfrm>
            <a:off x="841248" y="1783080"/>
            <a:ext cx="4796028" cy="320040"/>
          </a:xfrm>
          <a:prstGeom prst="rect">
            <a:avLst/>
          </a:prstGeom>
          <a:noFill/>
          <a:ln/>
        </p:spPr>
        <p:txBody>
          <a:bodyPr wrap="square" lIns="0" tIns="0" rIns="0" bIns="0" rtlCol="0" anchor="ctr"/>
          <a:lstStyle/>
          <a:p>
            <a:pPr indent="0" marL="0">
              <a:buNone/>
            </a:pPr>
            <a:r>
              <a:rPr lang="en-US" sz="1600" b="1" dirty="0">
                <a:solidFill>
                  <a:srgbClr val="1C2B3A"/>
                </a:solidFill>
                <a:latin typeface="Calibri" pitchFamily="34" charset="0"/>
                <a:ea typeface="Calibri" pitchFamily="34" charset="-122"/>
                <a:cs typeface="Calibri" pitchFamily="34" charset="-120"/>
              </a:rPr>
              <a:t>iperf, in one breath</a:t>
            </a:r>
            <a:endParaRPr lang="en-US" sz="1600" dirty="0"/>
          </a:p>
        </p:txBody>
      </p:sp>
      <p:sp>
        <p:nvSpPr>
          <p:cNvPr id="6" name="Text 4"/>
          <p:cNvSpPr/>
          <p:nvPr/>
        </p:nvSpPr>
        <p:spPr>
          <a:xfrm>
            <a:off x="841248" y="2194560"/>
            <a:ext cx="4796028" cy="356616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The standard network throughput tool: a client opens a TCP connection to a server and pushes bytes as fast as it can for N seconds.</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The report is the achieved bandwidth — what the path actually carried, end to end.</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iperf2 and iperf3 are different codebases with different behavior, not versions of each other.</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The orchestrator uses iperf2’s --full-duplex: both directions concurrently on a single TCP socket — one test per pair, and closer to real traffic.</a:t>
            </a:r>
            <a:endParaRPr lang="en-US" sz="1250" dirty="0"/>
          </a:p>
        </p:txBody>
      </p:sp>
      <p:sp>
        <p:nvSpPr>
          <p:cNvPr id="7" name="Shape 5"/>
          <p:cNvSpPr/>
          <p:nvPr/>
        </p:nvSpPr>
        <p:spPr>
          <a:xfrm>
            <a:off x="6277356" y="1554480"/>
            <a:ext cx="5344668" cy="4343400"/>
          </a:xfrm>
          <a:prstGeom prst="roundRect">
            <a:avLst>
              <a:gd name="adj" fmla="val 1895"/>
            </a:avLst>
          </a:prstGeom>
          <a:solidFill>
            <a:srgbClr val="FBF1E4"/>
          </a:solidFill>
          <a:ln/>
        </p:spPr>
      </p:sp>
      <p:sp>
        <p:nvSpPr>
          <p:cNvPr id="8" name="Text 6"/>
          <p:cNvSpPr/>
          <p:nvPr/>
        </p:nvSpPr>
        <p:spPr>
          <a:xfrm>
            <a:off x="6551676" y="1783080"/>
            <a:ext cx="4796028" cy="320040"/>
          </a:xfrm>
          <a:prstGeom prst="rect">
            <a:avLst/>
          </a:prstGeom>
          <a:noFill/>
          <a:ln/>
        </p:spPr>
        <p:txBody>
          <a:bodyPr wrap="square" lIns="0" tIns="0" rIns="0" bIns="0" rtlCol="0" anchor="ctr"/>
          <a:lstStyle/>
          <a:p>
            <a:pPr indent="0" marL="0">
              <a:buNone/>
            </a:pPr>
            <a:r>
              <a:rPr lang="en-US" sz="1600" b="1" dirty="0">
                <a:solidFill>
                  <a:srgbClr val="B4651A"/>
                </a:solidFill>
                <a:latin typeface="Calibri" pitchFamily="34" charset="0"/>
                <a:ea typeface="Calibri" pitchFamily="34" charset="-122"/>
                <a:cs typeface="Calibri" pitchFamily="34" charset="-120"/>
              </a:rPr>
              <a:t>Why not iperf3?</a:t>
            </a:r>
            <a:endParaRPr lang="en-US" sz="1600" dirty="0"/>
          </a:p>
        </p:txBody>
      </p:sp>
      <p:sp>
        <p:nvSpPr>
          <p:cNvPr id="9" name="Text 7"/>
          <p:cNvSpPr/>
          <p:nvPr/>
        </p:nvSpPr>
        <p:spPr>
          <a:xfrm>
            <a:off x="6551676" y="2194560"/>
            <a:ext cx="4796028" cy="356616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iperf3’s server is single-threaded and accepts one client at a time — in a mesh, everyone else gets “the server is busy”.</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Working around that at N=100 means 100 daemons per host, on 100 ports, with 100× the firewall holes, plus a port-assignment scheme.</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iperf2’s multi-threaded server takes concurrent clients on one port: one daemon per host on 5001, done.</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Lesson learned the hard way — the first version used iperf3 and the architecture collapsed under its own workarounds.</a:t>
            </a:r>
            <a:endParaRPr lang="en-US" sz="1250" dirty="0"/>
          </a:p>
        </p:txBody>
      </p:sp>
      <p:sp>
        <p:nvSpPr>
          <p:cNvPr id="10" name="Text 8"/>
          <p:cNvSpPr/>
          <p:nvPr/>
        </p:nvSpPr>
        <p:spPr>
          <a:xfrm>
            <a:off x="566928" y="6035040"/>
            <a:ext cx="11055096" cy="320040"/>
          </a:xfrm>
          <a:prstGeom prst="rect">
            <a:avLst/>
          </a:prstGeom>
          <a:noFill/>
          <a:ln/>
        </p:spPr>
        <p:txBody>
          <a:bodyPr wrap="square" lIns="0" tIns="0" rIns="0" bIns="0" rtlCol="0" anchor="ctr"/>
          <a:lstStyle/>
          <a:p>
            <a:pPr algn="ctr" indent="0" marL="0">
              <a:buNone/>
            </a:pPr>
            <a:r>
              <a:rPr lang="en-US" sz="1200" i="1" dirty="0">
                <a:solidFill>
                  <a:srgbClr val="5C6B7A"/>
                </a:solidFill>
                <a:latin typeface="Calibri" pitchFamily="34" charset="0"/>
                <a:ea typeface="Calibri" pitchFamily="34" charset="-122"/>
                <a:cs typeface="Calibri" pitchFamily="34" charset="-120"/>
              </a:rPr>
              <a:t>Watch out: some distros ship “iperf” as a symlink to iperf3 — check-iperf catches WRONG_VERSION for you.</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Why an orchestrator was necessary</a:t>
            </a:r>
            <a:endParaRPr lang="en-US" sz="2900" dirty="0"/>
          </a:p>
        </p:txBody>
      </p:sp>
      <p:sp>
        <p:nvSpPr>
          <p:cNvPr id="4" name="Shape 2"/>
          <p:cNvSpPr/>
          <p:nvPr/>
        </p:nvSpPr>
        <p:spPr>
          <a:xfrm>
            <a:off x="566928" y="1554480"/>
            <a:ext cx="2592324" cy="2148840"/>
          </a:xfrm>
          <a:prstGeom prst="roundRect">
            <a:avLst>
              <a:gd name="adj" fmla="val 3830"/>
            </a:avLst>
          </a:prstGeom>
          <a:solidFill>
            <a:srgbClr val="F1F4F8"/>
          </a:solidFill>
          <a:ln/>
        </p:spPr>
      </p:sp>
      <p:sp>
        <p:nvSpPr>
          <p:cNvPr id="5" name="Text 3"/>
          <p:cNvSpPr/>
          <p:nvPr/>
        </p:nvSpPr>
        <p:spPr>
          <a:xfrm>
            <a:off x="768096" y="1755648"/>
            <a:ext cx="2189988" cy="731520"/>
          </a:xfrm>
          <a:prstGeom prst="rect">
            <a:avLst/>
          </a:prstGeom>
          <a:noFill/>
          <a:ln/>
        </p:spPr>
        <p:txBody>
          <a:bodyPr wrap="square" lIns="0" tIns="0" rIns="0" bIns="0" rtlCol="0" anchor="ctr"/>
          <a:lstStyle/>
          <a:p>
            <a:pPr indent="0" marL="0">
              <a:buNone/>
            </a:pPr>
            <a:r>
              <a:rPr lang="en-US" sz="3400" b="1" dirty="0">
                <a:solidFill>
                  <a:srgbClr val="D97C1F"/>
                </a:solidFill>
                <a:latin typeface="Calibri" pitchFamily="34" charset="0"/>
                <a:ea typeface="Calibri" pitchFamily="34" charset="-122"/>
                <a:cs typeface="Calibri" pitchFamily="34" charset="-120"/>
              </a:rPr>
              <a:t>4,950</a:t>
            </a:r>
            <a:endParaRPr lang="en-US" sz="3400" dirty="0"/>
          </a:p>
        </p:txBody>
      </p:sp>
      <p:sp>
        <p:nvSpPr>
          <p:cNvPr id="6" name="Text 4"/>
          <p:cNvSpPr/>
          <p:nvPr/>
        </p:nvSpPr>
        <p:spPr>
          <a:xfrm>
            <a:off x="768096" y="2542032"/>
            <a:ext cx="2189988" cy="105156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pairs at N=100 — nobody runs that by hand</a:t>
            </a:r>
            <a:endParaRPr lang="en-US" sz="1100" dirty="0"/>
          </a:p>
        </p:txBody>
      </p:sp>
      <p:sp>
        <p:nvSpPr>
          <p:cNvPr id="7" name="Shape 5"/>
          <p:cNvSpPr/>
          <p:nvPr/>
        </p:nvSpPr>
        <p:spPr>
          <a:xfrm>
            <a:off x="3387852" y="1554480"/>
            <a:ext cx="2592324" cy="2148840"/>
          </a:xfrm>
          <a:prstGeom prst="roundRect">
            <a:avLst>
              <a:gd name="adj" fmla="val 3830"/>
            </a:avLst>
          </a:prstGeom>
          <a:solidFill>
            <a:srgbClr val="F1F4F8"/>
          </a:solidFill>
          <a:ln/>
        </p:spPr>
      </p:sp>
      <p:sp>
        <p:nvSpPr>
          <p:cNvPr id="8" name="Text 6"/>
          <p:cNvSpPr/>
          <p:nvPr/>
        </p:nvSpPr>
        <p:spPr>
          <a:xfrm>
            <a:off x="3589020" y="1755648"/>
            <a:ext cx="2189988" cy="731520"/>
          </a:xfrm>
          <a:prstGeom prst="rect">
            <a:avLst/>
          </a:prstGeom>
          <a:noFill/>
          <a:ln/>
        </p:spPr>
        <p:txBody>
          <a:bodyPr wrap="square" lIns="0" tIns="0" rIns="0" bIns="0" rtlCol="0" anchor="ctr"/>
          <a:lstStyle/>
          <a:p>
            <a:pPr indent="0" marL="0">
              <a:buNone/>
            </a:pPr>
            <a:r>
              <a:rPr lang="en-US" sz="3400" b="1" dirty="0">
                <a:solidFill>
                  <a:srgbClr val="3E5C76"/>
                </a:solidFill>
                <a:latin typeface="Calibri" pitchFamily="34" charset="0"/>
                <a:ea typeface="Calibri" pitchFamily="34" charset="-122"/>
                <a:cs typeface="Calibri" pitchFamily="34" charset="-120"/>
              </a:rPr>
              <a:t>&lt;1 s</a:t>
            </a:r>
            <a:endParaRPr lang="en-US" sz="3400" dirty="0"/>
          </a:p>
        </p:txBody>
      </p:sp>
      <p:sp>
        <p:nvSpPr>
          <p:cNvPr id="9" name="Text 7"/>
          <p:cNvSpPr/>
          <p:nvPr/>
        </p:nvSpPr>
        <p:spPr>
          <a:xfrm>
            <a:off x="3589020" y="2542032"/>
            <a:ext cx="2189988" cy="105156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start spread: one future epoch pushed to all hosts — no coordination protocol</a:t>
            </a:r>
            <a:endParaRPr lang="en-US" sz="1100" dirty="0"/>
          </a:p>
        </p:txBody>
      </p:sp>
      <p:sp>
        <p:nvSpPr>
          <p:cNvPr id="10" name="Shape 8"/>
          <p:cNvSpPr/>
          <p:nvPr/>
        </p:nvSpPr>
        <p:spPr>
          <a:xfrm>
            <a:off x="6208776" y="1554480"/>
            <a:ext cx="2592324" cy="2148840"/>
          </a:xfrm>
          <a:prstGeom prst="roundRect">
            <a:avLst>
              <a:gd name="adj" fmla="val 3830"/>
            </a:avLst>
          </a:prstGeom>
          <a:solidFill>
            <a:srgbClr val="F1F4F8"/>
          </a:solidFill>
          <a:ln/>
        </p:spPr>
      </p:sp>
      <p:sp>
        <p:nvSpPr>
          <p:cNvPr id="11" name="Text 9"/>
          <p:cNvSpPr/>
          <p:nvPr/>
        </p:nvSpPr>
        <p:spPr>
          <a:xfrm>
            <a:off x="6409944" y="1755648"/>
            <a:ext cx="2189988" cy="731520"/>
          </a:xfrm>
          <a:prstGeom prst="rect">
            <a:avLst/>
          </a:prstGeom>
          <a:noFill/>
          <a:ln/>
        </p:spPr>
        <p:txBody>
          <a:bodyPr wrap="square" lIns="0" tIns="0" rIns="0" bIns="0" rtlCol="0" anchor="ctr"/>
          <a:lstStyle/>
          <a:p>
            <a:pPr indent="0" marL="0">
              <a:buNone/>
            </a:pPr>
            <a:r>
              <a:rPr lang="en-US" sz="3400" b="1" dirty="0">
                <a:solidFill>
                  <a:srgbClr val="3E5C76"/>
                </a:solidFill>
                <a:latin typeface="Calibri" pitchFamily="34" charset="0"/>
                <a:ea typeface="Calibri" pitchFamily="34" charset="-122"/>
                <a:cs typeface="Calibri" pitchFamily="34" charset="-120"/>
              </a:rPr>
              <a:t>49–50</a:t>
            </a:r>
            <a:endParaRPr lang="en-US" sz="3400" dirty="0"/>
          </a:p>
        </p:txBody>
      </p:sp>
      <p:sp>
        <p:nvSpPr>
          <p:cNvPr id="12" name="Text 10"/>
          <p:cNvSpPr/>
          <p:nvPr/>
        </p:nvSpPr>
        <p:spPr>
          <a:xfrm>
            <a:off x="6409944" y="2542032"/>
            <a:ext cx="2189988" cy="105156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clients per host under the parity rule — naive lex-order gives one host 99 and another 0</a:t>
            </a:r>
            <a:endParaRPr lang="en-US" sz="1100" dirty="0"/>
          </a:p>
        </p:txBody>
      </p:sp>
      <p:sp>
        <p:nvSpPr>
          <p:cNvPr id="13" name="Shape 11"/>
          <p:cNvSpPr/>
          <p:nvPr/>
        </p:nvSpPr>
        <p:spPr>
          <a:xfrm>
            <a:off x="9029700" y="1554480"/>
            <a:ext cx="2592324" cy="2148840"/>
          </a:xfrm>
          <a:prstGeom prst="roundRect">
            <a:avLst>
              <a:gd name="adj" fmla="val 3830"/>
            </a:avLst>
          </a:prstGeom>
          <a:solidFill>
            <a:srgbClr val="F1F4F8"/>
          </a:solidFill>
          <a:ln/>
        </p:spPr>
      </p:sp>
      <p:sp>
        <p:nvSpPr>
          <p:cNvPr id="14" name="Text 12"/>
          <p:cNvSpPr/>
          <p:nvPr/>
        </p:nvSpPr>
        <p:spPr>
          <a:xfrm>
            <a:off x="9230868" y="1755648"/>
            <a:ext cx="2189988" cy="731520"/>
          </a:xfrm>
          <a:prstGeom prst="rect">
            <a:avLst/>
          </a:prstGeom>
          <a:noFill/>
          <a:ln/>
        </p:spPr>
        <p:txBody>
          <a:bodyPr wrap="square" lIns="0" tIns="0" rIns="0" bIns="0" rtlCol="0" anchor="ctr"/>
          <a:lstStyle/>
          <a:p>
            <a:pPr indent="0" marL="0">
              <a:buNone/>
            </a:pPr>
            <a:r>
              <a:rPr lang="en-US" sz="3400" b="1" dirty="0">
                <a:solidFill>
                  <a:srgbClr val="3E5C76"/>
                </a:solidFill>
                <a:latin typeface="Calibri" pitchFamily="34" charset="0"/>
                <a:ea typeface="Calibri" pitchFamily="34" charset="-122"/>
                <a:cs typeface="Calibri" pitchFamily="34" charset="-120"/>
              </a:rPr>
              <a:t>~17×</a:t>
            </a:r>
            <a:endParaRPr lang="en-US" sz="3400" dirty="0"/>
          </a:p>
        </p:txBody>
      </p:sp>
      <p:sp>
        <p:nvSpPr>
          <p:cNvPr id="15" name="Text 13"/>
          <p:cNvSpPr/>
          <p:nvPr/>
        </p:nvSpPr>
        <p:spPr>
          <a:xfrm>
            <a:off x="9230868" y="2542032"/>
            <a:ext cx="2189988" cy="105156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faster collection: one tar + scp per host instead of N² scp calls</a:t>
            </a:r>
            <a:endParaRPr lang="en-US" sz="1100" dirty="0"/>
          </a:p>
        </p:txBody>
      </p:sp>
      <p:sp>
        <p:nvSpPr>
          <p:cNvPr id="16" name="Text 14"/>
          <p:cNvSpPr/>
          <p:nvPr/>
        </p:nvSpPr>
        <p:spPr>
          <a:xfrm>
            <a:off x="566928" y="3977640"/>
            <a:ext cx="11055096" cy="237744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A mesh is not N tests — it is N(N−1)/2 pairs that must start together, share the load fairly, and not trample each other’s logs.</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Synchronized start: compute start_time = now + 30 s once, push the timestamp; every host busy-waits and fires within a fraction of a second. No locks, no barrier protocol — just a number.</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Balanced pair assignment: for pair {i, j}, the client is the smaller index when i+j is even, the larger when odd. Both ends compute it independently and agree.</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CPU is sampled on every host during the run — because a throughput number without the CPU next to it is routinely misread (more on that shortly).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What it does — and deliberately doesn’t</a:t>
            </a:r>
            <a:endParaRPr lang="en-US" sz="2900" dirty="0"/>
          </a:p>
        </p:txBody>
      </p:sp>
      <p:sp>
        <p:nvSpPr>
          <p:cNvPr id="4" name="Shape 2"/>
          <p:cNvSpPr/>
          <p:nvPr/>
        </p:nvSpPr>
        <p:spPr>
          <a:xfrm>
            <a:off x="566928" y="1554480"/>
            <a:ext cx="5344668" cy="4480560"/>
          </a:xfrm>
          <a:prstGeom prst="roundRect">
            <a:avLst>
              <a:gd name="adj" fmla="val 1837"/>
            </a:avLst>
          </a:prstGeom>
          <a:solidFill>
            <a:srgbClr val="EFF7EF"/>
          </a:solidFill>
          <a:ln/>
        </p:spPr>
      </p:sp>
      <p:sp>
        <p:nvSpPr>
          <p:cNvPr id="5" name="Text 3"/>
          <p:cNvSpPr/>
          <p:nvPr/>
        </p:nvSpPr>
        <p:spPr>
          <a:xfrm>
            <a:off x="841248" y="1755648"/>
            <a:ext cx="4796028" cy="320040"/>
          </a:xfrm>
          <a:prstGeom prst="rect">
            <a:avLst/>
          </a:prstGeom>
          <a:noFill/>
          <a:ln/>
        </p:spPr>
        <p:txBody>
          <a:bodyPr wrap="square" lIns="0" tIns="0" rIns="0" bIns="0" rtlCol="0" anchor="ctr"/>
          <a:lstStyle/>
          <a:p>
            <a:pPr indent="0" marL="0">
              <a:buNone/>
            </a:pPr>
            <a:r>
              <a:rPr lang="en-US" sz="1500" b="1" dirty="0">
                <a:solidFill>
                  <a:srgbClr val="3D8B4F"/>
                </a:solidFill>
                <a:latin typeface="Calibri" pitchFamily="34" charset="0"/>
                <a:ea typeface="Calibri" pitchFamily="34" charset="-122"/>
                <a:cs typeface="Calibri" pitchFamily="34" charset="-120"/>
              </a:rPr>
              <a:t>It does</a:t>
            </a:r>
            <a:endParaRPr lang="en-US" sz="1500" dirty="0"/>
          </a:p>
        </p:txBody>
      </p:sp>
      <p:sp>
        <p:nvSpPr>
          <p:cNvPr id="6" name="Text 4"/>
          <p:cNvSpPr/>
          <p:nvPr/>
        </p:nvSpPr>
        <p:spPr>
          <a:xfrm>
            <a:off x="841248" y="2148840"/>
            <a:ext cx="4796028" cy="37490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Full-duplex TCP mesh with synchronized start and balanced client assignment</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Per-host CPU sampling (mpstat, with a /proc/stat fallback) alongside every run</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Parse → CSV → pivot → heatmap, re-runnable per run-id at any time</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Capped-concurrency ssh fan-out (--jobs), optional --retries with back-off</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Fails open: per-host failures are tracked and reported, not fatal — one bad host doesn’t abort a 100-host run</a:t>
            </a:r>
            <a:endParaRPr lang="en-US" sz="1250" dirty="0"/>
          </a:p>
        </p:txBody>
      </p:sp>
      <p:sp>
        <p:nvSpPr>
          <p:cNvPr id="7" name="Shape 5"/>
          <p:cNvSpPr/>
          <p:nvPr/>
        </p:nvSpPr>
        <p:spPr>
          <a:xfrm>
            <a:off x="6277356" y="1554480"/>
            <a:ext cx="5344668" cy="4480560"/>
          </a:xfrm>
          <a:prstGeom prst="roundRect">
            <a:avLst>
              <a:gd name="adj" fmla="val 1837"/>
            </a:avLst>
          </a:prstGeom>
          <a:solidFill>
            <a:srgbClr val="FDF0F0"/>
          </a:solidFill>
          <a:ln/>
        </p:spPr>
      </p:sp>
      <p:sp>
        <p:nvSpPr>
          <p:cNvPr id="8" name="Text 6"/>
          <p:cNvSpPr/>
          <p:nvPr/>
        </p:nvSpPr>
        <p:spPr>
          <a:xfrm>
            <a:off x="6551676" y="1755648"/>
            <a:ext cx="4796028" cy="320040"/>
          </a:xfrm>
          <a:prstGeom prst="rect">
            <a:avLst/>
          </a:prstGeom>
          <a:noFill/>
          <a:ln/>
        </p:spPr>
        <p:txBody>
          <a:bodyPr wrap="square" lIns="0" tIns="0" rIns="0" bIns="0" rtlCol="0" anchor="ctr"/>
          <a:lstStyle/>
          <a:p>
            <a:pPr indent="0" marL="0">
              <a:buNone/>
            </a:pPr>
            <a:r>
              <a:rPr lang="en-US" sz="1500" b="1" dirty="0">
                <a:solidFill>
                  <a:srgbClr val="9C2F40"/>
                </a:solidFill>
                <a:latin typeface="Calibri" pitchFamily="34" charset="0"/>
                <a:ea typeface="Calibri" pitchFamily="34" charset="-122"/>
                <a:cs typeface="Calibri" pitchFamily="34" charset="-120"/>
              </a:rPr>
              <a:t>It doesn’t</a:t>
            </a:r>
            <a:endParaRPr lang="en-US" sz="1500" dirty="0"/>
          </a:p>
        </p:txBody>
      </p:sp>
      <p:sp>
        <p:nvSpPr>
          <p:cNvPr id="9" name="Text 7"/>
          <p:cNvSpPr/>
          <p:nvPr/>
        </p:nvSpPr>
        <p:spPr>
          <a:xfrm>
            <a:off x="6551676" y="2148840"/>
            <a:ext cx="4796028" cy="37490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No UDP, no latency, no packet rate — that’s netmesh and mx territory</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Doesn’t install iperf2 or distribute ssh keys — check-iperf and doctor verify, you provision</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No normalization for mixed NIC speeds — a 1G/10G fleet makes the 1G hosts look red</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Heatmap past ~60 hosts drops cell labels by design — read the CSV for exact values</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sequential-pair at N=100 is ~14 hours — the cleanest mode is priced accordingly</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What setup actually needs</a:t>
            </a:r>
            <a:endParaRPr lang="en-US" sz="2900" dirty="0"/>
          </a:p>
        </p:txBody>
      </p:sp>
      <p:sp>
        <p:nvSpPr>
          <p:cNvPr id="4" name="Shape 2"/>
          <p:cNvSpPr/>
          <p:nvPr/>
        </p:nvSpPr>
        <p:spPr>
          <a:xfrm>
            <a:off x="566928" y="1554480"/>
            <a:ext cx="5344668" cy="2834640"/>
          </a:xfrm>
          <a:prstGeom prst="roundRect">
            <a:avLst>
              <a:gd name="adj" fmla="val 2903"/>
            </a:avLst>
          </a:prstGeom>
          <a:solidFill>
            <a:srgbClr val="F1F4F8"/>
          </a:solidFill>
          <a:ln/>
        </p:spPr>
      </p:sp>
      <p:sp>
        <p:nvSpPr>
          <p:cNvPr id="5" name="Text 3"/>
          <p:cNvSpPr/>
          <p:nvPr/>
        </p:nvSpPr>
        <p:spPr>
          <a:xfrm>
            <a:off x="841248" y="1755648"/>
            <a:ext cx="4796028" cy="320040"/>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On the orchestrator host</a:t>
            </a:r>
            <a:endParaRPr lang="en-US" sz="1450" dirty="0"/>
          </a:p>
        </p:txBody>
      </p:sp>
      <p:sp>
        <p:nvSpPr>
          <p:cNvPr id="6" name="Text 4"/>
          <p:cNvSpPr/>
          <p:nvPr/>
        </p:nvSpPr>
        <p:spPr>
          <a:xfrm>
            <a:off x="841248" y="2148840"/>
            <a:ext cx="4796028" cy="210312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bash 4+, ssh/scp, tar, gzip</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Python 3.6+ — stdlib only, except numpy + matplotlib for the heatmap step</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pip install iperf-orchestrator, or just run the script from a checkout</a:t>
            </a:r>
            <a:endParaRPr lang="en-US" sz="1250" dirty="0"/>
          </a:p>
        </p:txBody>
      </p:sp>
      <p:sp>
        <p:nvSpPr>
          <p:cNvPr id="7" name="Shape 5"/>
          <p:cNvSpPr/>
          <p:nvPr/>
        </p:nvSpPr>
        <p:spPr>
          <a:xfrm>
            <a:off x="6277356" y="1554480"/>
            <a:ext cx="5344668" cy="2834640"/>
          </a:xfrm>
          <a:prstGeom prst="roundRect">
            <a:avLst>
              <a:gd name="adj" fmla="val 2903"/>
            </a:avLst>
          </a:prstGeom>
          <a:solidFill>
            <a:srgbClr val="F1F4F8"/>
          </a:solidFill>
          <a:ln/>
        </p:spPr>
      </p:sp>
      <p:sp>
        <p:nvSpPr>
          <p:cNvPr id="8" name="Text 6"/>
          <p:cNvSpPr/>
          <p:nvPr/>
        </p:nvSpPr>
        <p:spPr>
          <a:xfrm>
            <a:off x="6551676" y="1755648"/>
            <a:ext cx="4796028" cy="320040"/>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On every server in the mesh</a:t>
            </a:r>
            <a:endParaRPr lang="en-US" sz="1450" dirty="0"/>
          </a:p>
        </p:txBody>
      </p:sp>
      <p:sp>
        <p:nvSpPr>
          <p:cNvPr id="9" name="Text 7"/>
          <p:cNvSpPr/>
          <p:nvPr/>
        </p:nvSpPr>
        <p:spPr>
          <a:xfrm>
            <a:off x="6551676" y="2148840"/>
            <a:ext cx="4796028" cy="210312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iperf2 — binary named iperf, not iperf3; 2.0.13+ for --full-duplex</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sysstat’s mpstat recommended — falls back to /proc/stat sampling</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Key-based ssh from the orchestrator (BatchMode — a password prompt is a failure)</a:t>
            </a:r>
            <a:endParaRPr lang="en-US" sz="1250" dirty="0"/>
          </a:p>
        </p:txBody>
      </p:sp>
      <p:sp>
        <p:nvSpPr>
          <p:cNvPr id="10" name="Shape 8"/>
          <p:cNvSpPr/>
          <p:nvPr/>
        </p:nvSpPr>
        <p:spPr>
          <a:xfrm>
            <a:off x="566928" y="4617720"/>
            <a:ext cx="11055096" cy="1463040"/>
          </a:xfrm>
          <a:prstGeom prst="roundRect">
            <a:avLst>
              <a:gd name="adj" fmla="val 5625"/>
            </a:avLst>
          </a:prstGeom>
          <a:solidFill>
            <a:srgbClr val="13233A"/>
          </a:solidFill>
          <a:ln/>
        </p:spPr>
      </p:sp>
      <p:sp>
        <p:nvSpPr>
          <p:cNvPr id="11" name="Text 9"/>
          <p:cNvSpPr/>
          <p:nvPr/>
        </p:nvSpPr>
        <p:spPr>
          <a:xfrm>
            <a:off x="768096" y="4745736"/>
            <a:ext cx="10652760" cy="1207008"/>
          </a:xfrm>
          <a:prstGeom prst="rect">
            <a:avLst/>
          </a:prstGeom>
          <a:noFill/>
          <a:ln/>
        </p:spPr>
        <p:txBody>
          <a:bodyPr wrap="square" lIns="0" tIns="0" rIns="0" bIns="0" rtlCol="0" anchor="t"/>
          <a:lstStyle/>
          <a:p>
            <a:pPr indent="0" marL="0">
              <a:lnSpc>
                <a:spcPct val="112000"/>
              </a:lnSpc>
              <a:buNone/>
            </a:pPr>
            <a:r>
              <a:rPr lang="en-US" sz="1200" b="1" dirty="0">
                <a:solidFill>
                  <a:srgbClr val="F2A65A"/>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FFFF"/>
                </a:solidFill>
                <a:latin typeface="Courier New" pitchFamily="34" charset="0"/>
                <a:ea typeface="Courier New" pitchFamily="34" charset="-122"/>
                <a:cs typeface="Courier New" pitchFamily="34" charset="-120"/>
              </a:rPr>
              <a:t>for h in $(grep -v '^#' servers.txt); do ssh-copy-id "$h"; done</a:t>
            </a:r>
            <a:pPr indent="0" marL="0">
              <a:lnSpc>
                <a:spcPct val="112000"/>
              </a:lnSpc>
              <a:buNone/>
            </a:pPr>
            <a:r>
              <a:rPr lang="en-US" sz="1200" dirty="0">
                <a:solidFill>
                  <a:srgbClr val="7C8CA0"/>
                </a:solidFill>
                <a:latin typeface="Courier New" pitchFamily="34" charset="0"/>
                <a:ea typeface="Courier New" pitchFamily="34" charset="-122"/>
                <a:cs typeface="Courier New" pitchFamily="34" charset="-120"/>
              </a:rPr>
              <a:t>   # keys first</a:t>
            </a:r>
            <a:endParaRPr lang="en-US" sz="1200" dirty="0"/>
          </a:p>
          <a:p>
            <a:pPr indent="0" marL="0">
              <a:lnSpc>
                <a:spcPct val="112000"/>
              </a:lnSpc>
              <a:buNone/>
            </a:pPr>
            <a:r>
              <a:rPr lang="en-US" sz="1200" b="1" dirty="0">
                <a:solidFill>
                  <a:srgbClr val="F2A65A"/>
                </a:solidFill>
                <a:latin typeface="Courier New" pitchFamily="34" charset="0"/>
                <a:ea typeface="Courier New" pitchFamily="34" charset="-122"/>
                <a:cs typeface="Courier New" pitchFamily="34" charset="-120"/>
              </a:rPr>
              <a:t>$ </a:t>
            </a:r>
            <a:pPr indent="0" marL="0">
              <a:lnSpc>
                <a:spcPct val="112000"/>
              </a:lnSpc>
              <a:buNone/>
            </a:pPr>
            <a:r>
              <a:rPr lang="en-US" sz="1200" b="1" dirty="0">
                <a:solidFill>
                  <a:srgbClr val="FFFFFF"/>
                </a:solidFill>
                <a:latin typeface="Courier New" pitchFamily="34" charset="0"/>
                <a:ea typeface="Courier New" pitchFamily="34" charset="-122"/>
                <a:cs typeface="Courier New" pitchFamily="34" charset="-120"/>
              </a:rPr>
              <a:t>iperf-orchestrator doctor</a:t>
            </a:r>
            <a:pPr indent="0" marL="0">
              <a:lnSpc>
                <a:spcPct val="112000"/>
              </a:lnSpc>
              <a:buNone/>
            </a:pPr>
            <a:r>
              <a:rPr lang="en-US" sz="1200" dirty="0">
                <a:solidFill>
                  <a:srgbClr val="7C8CA0"/>
                </a:solidFill>
                <a:latin typeface="Courier New" pitchFamily="34" charset="0"/>
                <a:ea typeface="Courier New" pitchFamily="34" charset="-122"/>
                <a:cs typeface="Courier New" pitchFamily="34" charset="-120"/>
              </a:rPr>
              <a:t>        # local prerequisites, with install hints</a:t>
            </a:r>
            <a:endParaRPr lang="en-US" sz="1200" dirty="0"/>
          </a:p>
          <a:p>
            <a:pPr indent="0" marL="0">
              <a:lnSpc>
                <a:spcPct val="112000"/>
              </a:lnSpc>
              <a:buNone/>
            </a:pPr>
            <a:r>
              <a:rPr lang="en-US" sz="1200" b="1" dirty="0">
                <a:solidFill>
                  <a:srgbClr val="F2A65A"/>
                </a:solidFill>
                <a:latin typeface="Courier New" pitchFamily="34" charset="0"/>
                <a:ea typeface="Courier New" pitchFamily="34" charset="-122"/>
                <a:cs typeface="Courier New" pitchFamily="34" charset="-120"/>
              </a:rPr>
              <a:t>$ </a:t>
            </a:r>
            <a:pPr indent="0" marL="0">
              <a:lnSpc>
                <a:spcPct val="112000"/>
              </a:lnSpc>
              <a:buNone/>
            </a:pPr>
            <a:r>
              <a:rPr lang="en-US" sz="1200" b="1" dirty="0">
                <a:solidFill>
                  <a:srgbClr val="FFFFFF"/>
                </a:solidFill>
                <a:latin typeface="Courier New" pitchFamily="34" charset="0"/>
                <a:ea typeface="Courier New" pitchFamily="34" charset="-122"/>
                <a:cs typeface="Courier New" pitchFamily="34" charset="-120"/>
              </a:rPr>
              <a:t>iperf-orchestrator --servers servers.txt check-iperf</a:t>
            </a:r>
            <a:pPr indent="0" marL="0">
              <a:lnSpc>
                <a:spcPct val="112000"/>
              </a:lnSpc>
              <a:buNone/>
            </a:pPr>
            <a:r>
              <a:rPr lang="en-US" sz="1200" dirty="0">
                <a:solidFill>
                  <a:srgbClr val="7C8CA0"/>
                </a:solidFill>
                <a:latin typeface="Courier New" pitchFamily="34" charset="0"/>
                <a:ea typeface="Courier New" pitchFamily="34" charset="-122"/>
                <a:cs typeface="Courier New" pitchFamily="34" charset="-120"/>
              </a:rPr>
              <a:t>   # iperf2 + mpstat on every host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Run → collect → interpret → clean</a:t>
            </a:r>
            <a:endParaRPr lang="en-US" sz="2900" dirty="0"/>
          </a:p>
        </p:txBody>
      </p:sp>
      <p:sp>
        <p:nvSpPr>
          <p:cNvPr id="4" name="Shape 2"/>
          <p:cNvSpPr/>
          <p:nvPr/>
        </p:nvSpPr>
        <p:spPr>
          <a:xfrm>
            <a:off x="566928" y="1627632"/>
            <a:ext cx="1700784" cy="713232"/>
          </a:xfrm>
          <a:prstGeom prst="roundRect">
            <a:avLst>
              <a:gd name="adj" fmla="val 10256"/>
            </a:avLst>
          </a:prstGeom>
          <a:solidFill>
            <a:srgbClr val="D97C1F"/>
          </a:solidFill>
          <a:ln/>
        </p:spPr>
      </p:sp>
      <p:sp>
        <p:nvSpPr>
          <p:cNvPr id="5" name="Text 3"/>
          <p:cNvSpPr/>
          <p:nvPr/>
        </p:nvSpPr>
        <p:spPr>
          <a:xfrm>
            <a:off x="566928" y="1627632"/>
            <a:ext cx="1700784" cy="713232"/>
          </a:xfrm>
          <a:prstGeom prst="rect">
            <a:avLst/>
          </a:prstGeom>
          <a:noFill/>
          <a:ln/>
        </p:spPr>
        <p:txBody>
          <a:bodyPr wrap="square" lIns="0" tIns="0" rIns="0" bIns="0" rtlCol="0" anchor="ctr"/>
          <a:lstStyle/>
          <a:p>
            <a:pPr algn="ctr" indent="0" marL="0">
              <a:buNone/>
            </a:pPr>
            <a:r>
              <a:rPr lang="en-US" sz="1050" b="1" dirty="0">
                <a:solidFill>
                  <a:srgbClr val="FFFFFF"/>
                </a:solidFill>
                <a:latin typeface="Courier New" pitchFamily="34" charset="0"/>
                <a:ea typeface="Courier New" pitchFamily="34" charset="-122"/>
                <a:cs typeface="Courier New" pitchFamily="34" charset="-120"/>
              </a:rPr>
              <a:t>start-servers</a:t>
            </a:r>
            <a:endParaRPr lang="en-US" sz="1050" dirty="0"/>
          </a:p>
        </p:txBody>
      </p:sp>
      <p:sp>
        <p:nvSpPr>
          <p:cNvPr id="6" name="Text 4"/>
          <p:cNvSpPr/>
          <p:nvPr/>
        </p:nvSpPr>
        <p:spPr>
          <a:xfrm>
            <a:off x="2231136" y="1755648"/>
            <a:ext cx="261518" cy="457200"/>
          </a:xfrm>
          <a:prstGeom prst="rect">
            <a:avLst/>
          </a:prstGeom>
          <a:noFill/>
          <a:ln/>
        </p:spPr>
        <p:txBody>
          <a:bodyPr wrap="square" lIns="0" tIns="0" rIns="0" bIns="0" rtlCol="0" anchor="ctr"/>
          <a:lstStyle/>
          <a:p>
            <a:pPr algn="ctr" indent="0" marL="0">
              <a:buNone/>
            </a:pPr>
            <a:r>
              <a:rPr lang="en-US" sz="1800" b="1" dirty="0">
                <a:solidFill>
                  <a:srgbClr val="5C6B7A"/>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2437790" y="1627632"/>
            <a:ext cx="1700784" cy="713232"/>
          </a:xfrm>
          <a:prstGeom prst="roundRect">
            <a:avLst>
              <a:gd name="adj" fmla="val 10256"/>
            </a:avLst>
          </a:prstGeom>
          <a:solidFill>
            <a:srgbClr val="D97C1F"/>
          </a:solidFill>
          <a:ln/>
        </p:spPr>
      </p:sp>
      <p:sp>
        <p:nvSpPr>
          <p:cNvPr id="8" name="Text 6"/>
          <p:cNvSpPr/>
          <p:nvPr/>
        </p:nvSpPr>
        <p:spPr>
          <a:xfrm>
            <a:off x="2437790" y="1627632"/>
            <a:ext cx="1700784" cy="713232"/>
          </a:xfrm>
          <a:prstGeom prst="rect">
            <a:avLst/>
          </a:prstGeom>
          <a:noFill/>
          <a:ln/>
        </p:spPr>
        <p:txBody>
          <a:bodyPr wrap="square" lIns="0" tIns="0" rIns="0" bIns="0" rtlCol="0" anchor="ctr"/>
          <a:lstStyle/>
          <a:p>
            <a:pPr algn="ctr" indent="0" marL="0">
              <a:buNone/>
            </a:pPr>
            <a:r>
              <a:rPr lang="en-US" sz="1050" b="1" dirty="0">
                <a:solidFill>
                  <a:srgbClr val="FFFFFF"/>
                </a:solidFill>
                <a:latin typeface="Courier New" pitchFamily="34" charset="0"/>
                <a:ea typeface="Courier New" pitchFamily="34" charset="-122"/>
                <a:cs typeface="Courier New" pitchFamily="34" charset="-120"/>
              </a:rPr>
              <a:t>run-tests</a:t>
            </a:r>
            <a:endParaRPr lang="en-US" sz="1050" dirty="0"/>
          </a:p>
        </p:txBody>
      </p:sp>
      <p:sp>
        <p:nvSpPr>
          <p:cNvPr id="9" name="Text 7"/>
          <p:cNvSpPr/>
          <p:nvPr/>
        </p:nvSpPr>
        <p:spPr>
          <a:xfrm>
            <a:off x="4101998" y="1755648"/>
            <a:ext cx="261518" cy="457200"/>
          </a:xfrm>
          <a:prstGeom prst="rect">
            <a:avLst/>
          </a:prstGeom>
          <a:noFill/>
          <a:ln/>
        </p:spPr>
        <p:txBody>
          <a:bodyPr wrap="square" lIns="0" tIns="0" rIns="0" bIns="0" rtlCol="0" anchor="ctr"/>
          <a:lstStyle/>
          <a:p>
            <a:pPr algn="ctr" indent="0" marL="0">
              <a:buNone/>
            </a:pPr>
            <a:r>
              <a:rPr lang="en-US" sz="1800" b="1" dirty="0">
                <a:solidFill>
                  <a:srgbClr val="5C6B7A"/>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4308653" y="1627632"/>
            <a:ext cx="1700784" cy="713232"/>
          </a:xfrm>
          <a:prstGeom prst="roundRect">
            <a:avLst>
              <a:gd name="adj" fmla="val 10256"/>
            </a:avLst>
          </a:prstGeom>
          <a:solidFill>
            <a:srgbClr val="D97C1F"/>
          </a:solidFill>
          <a:ln/>
        </p:spPr>
      </p:sp>
      <p:sp>
        <p:nvSpPr>
          <p:cNvPr id="11" name="Text 9"/>
          <p:cNvSpPr/>
          <p:nvPr/>
        </p:nvSpPr>
        <p:spPr>
          <a:xfrm>
            <a:off x="4308653" y="1627632"/>
            <a:ext cx="1700784" cy="713232"/>
          </a:xfrm>
          <a:prstGeom prst="rect">
            <a:avLst/>
          </a:prstGeom>
          <a:noFill/>
          <a:ln/>
        </p:spPr>
        <p:txBody>
          <a:bodyPr wrap="square" lIns="0" tIns="0" rIns="0" bIns="0" rtlCol="0" anchor="ctr"/>
          <a:lstStyle/>
          <a:p>
            <a:pPr algn="ctr" indent="0" marL="0">
              <a:buNone/>
            </a:pPr>
            <a:r>
              <a:rPr lang="en-US" sz="1050" b="1" dirty="0">
                <a:solidFill>
                  <a:srgbClr val="FFFFFF"/>
                </a:solidFill>
                <a:latin typeface="Courier New" pitchFamily="34" charset="0"/>
                <a:ea typeface="Courier New" pitchFamily="34" charset="-122"/>
                <a:cs typeface="Courier New" pitchFamily="34" charset="-120"/>
              </a:rPr>
              <a:t>collect-results</a:t>
            </a:r>
            <a:endParaRPr lang="en-US" sz="1050" dirty="0"/>
          </a:p>
        </p:txBody>
      </p:sp>
      <p:sp>
        <p:nvSpPr>
          <p:cNvPr id="12" name="Text 10"/>
          <p:cNvSpPr/>
          <p:nvPr/>
        </p:nvSpPr>
        <p:spPr>
          <a:xfrm>
            <a:off x="5972861" y="1755648"/>
            <a:ext cx="261518" cy="457200"/>
          </a:xfrm>
          <a:prstGeom prst="rect">
            <a:avLst/>
          </a:prstGeom>
          <a:noFill/>
          <a:ln/>
        </p:spPr>
        <p:txBody>
          <a:bodyPr wrap="square" lIns="0" tIns="0" rIns="0" bIns="0" rtlCol="0" anchor="ctr"/>
          <a:lstStyle/>
          <a:p>
            <a:pPr algn="ctr" indent="0" marL="0">
              <a:buNone/>
            </a:pPr>
            <a:r>
              <a:rPr lang="en-US" sz="1800" b="1" dirty="0">
                <a:solidFill>
                  <a:srgbClr val="5C6B7A"/>
                </a:solidFill>
                <a:latin typeface="Calibri" pitchFamily="34" charset="0"/>
                <a:ea typeface="Calibri" pitchFamily="34" charset="-122"/>
                <a:cs typeface="Calibri" pitchFamily="34" charset="-120"/>
              </a:rPr>
              <a:t>→</a:t>
            </a:r>
            <a:endParaRPr lang="en-US" sz="1800" dirty="0"/>
          </a:p>
        </p:txBody>
      </p:sp>
      <p:sp>
        <p:nvSpPr>
          <p:cNvPr id="13" name="Shape 11"/>
          <p:cNvSpPr/>
          <p:nvPr/>
        </p:nvSpPr>
        <p:spPr>
          <a:xfrm>
            <a:off x="6179515" y="1627632"/>
            <a:ext cx="1700784" cy="713232"/>
          </a:xfrm>
          <a:prstGeom prst="roundRect">
            <a:avLst>
              <a:gd name="adj" fmla="val 10256"/>
            </a:avLst>
          </a:prstGeom>
          <a:solidFill>
            <a:srgbClr val="D97C1F"/>
          </a:solidFill>
          <a:ln/>
        </p:spPr>
      </p:sp>
      <p:sp>
        <p:nvSpPr>
          <p:cNvPr id="14" name="Text 12"/>
          <p:cNvSpPr/>
          <p:nvPr/>
        </p:nvSpPr>
        <p:spPr>
          <a:xfrm>
            <a:off x="6179515" y="1627632"/>
            <a:ext cx="1700784" cy="713232"/>
          </a:xfrm>
          <a:prstGeom prst="rect">
            <a:avLst/>
          </a:prstGeom>
          <a:noFill/>
          <a:ln/>
        </p:spPr>
        <p:txBody>
          <a:bodyPr wrap="square" lIns="0" tIns="0" rIns="0" bIns="0" rtlCol="0" anchor="ctr"/>
          <a:lstStyle/>
          <a:p>
            <a:pPr algn="ctr" indent="0" marL="0">
              <a:buNone/>
            </a:pPr>
            <a:r>
              <a:rPr lang="en-US" sz="1050" b="1" dirty="0">
                <a:solidFill>
                  <a:srgbClr val="FFFFFF"/>
                </a:solidFill>
                <a:latin typeface="Courier New" pitchFamily="34" charset="0"/>
                <a:ea typeface="Courier New" pitchFamily="34" charset="-122"/>
                <a:cs typeface="Courier New" pitchFamily="34" charset="-120"/>
              </a:rPr>
              <a:t>parse + pivot</a:t>
            </a:r>
            <a:endParaRPr lang="en-US" sz="1050" dirty="0"/>
          </a:p>
          <a:p>
            <a:pPr algn="ctr" indent="0" marL="0">
              <a:buNone/>
            </a:pPr>
            <a:r>
              <a:rPr lang="en-US" sz="1050" b="1" dirty="0">
                <a:solidFill>
                  <a:srgbClr val="FFFFFF"/>
                </a:solidFill>
                <a:latin typeface="Courier New" pitchFamily="34" charset="0"/>
                <a:ea typeface="Courier New" pitchFamily="34" charset="-122"/>
                <a:cs typeface="Courier New" pitchFamily="34" charset="-120"/>
              </a:rPr>
              <a:t>+ heatmap</a:t>
            </a:r>
            <a:endParaRPr lang="en-US" sz="1050" dirty="0"/>
          </a:p>
        </p:txBody>
      </p:sp>
      <p:sp>
        <p:nvSpPr>
          <p:cNvPr id="15" name="Text 13"/>
          <p:cNvSpPr/>
          <p:nvPr/>
        </p:nvSpPr>
        <p:spPr>
          <a:xfrm>
            <a:off x="7843723" y="1755648"/>
            <a:ext cx="261518" cy="457200"/>
          </a:xfrm>
          <a:prstGeom prst="rect">
            <a:avLst/>
          </a:prstGeom>
          <a:noFill/>
          <a:ln/>
        </p:spPr>
        <p:txBody>
          <a:bodyPr wrap="square" lIns="0" tIns="0" rIns="0" bIns="0" rtlCol="0" anchor="ctr"/>
          <a:lstStyle/>
          <a:p>
            <a:pPr algn="ctr" indent="0" marL="0">
              <a:buNone/>
            </a:pPr>
            <a:r>
              <a:rPr lang="en-US" sz="1800" b="1" dirty="0">
                <a:solidFill>
                  <a:srgbClr val="5C6B7A"/>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8050378" y="1627632"/>
            <a:ext cx="1700784" cy="713232"/>
          </a:xfrm>
          <a:prstGeom prst="roundRect">
            <a:avLst>
              <a:gd name="adj" fmla="val 10256"/>
            </a:avLst>
          </a:prstGeom>
          <a:solidFill>
            <a:srgbClr val="D97C1F"/>
          </a:solidFill>
          <a:ln/>
        </p:spPr>
      </p:sp>
      <p:sp>
        <p:nvSpPr>
          <p:cNvPr id="17" name="Text 15"/>
          <p:cNvSpPr/>
          <p:nvPr/>
        </p:nvSpPr>
        <p:spPr>
          <a:xfrm>
            <a:off x="8050378" y="1627632"/>
            <a:ext cx="1700784" cy="713232"/>
          </a:xfrm>
          <a:prstGeom prst="rect">
            <a:avLst/>
          </a:prstGeom>
          <a:noFill/>
          <a:ln/>
        </p:spPr>
        <p:txBody>
          <a:bodyPr wrap="square" lIns="0" tIns="0" rIns="0" bIns="0" rtlCol="0" anchor="ctr"/>
          <a:lstStyle/>
          <a:p>
            <a:pPr algn="ctr" indent="0" marL="0">
              <a:buNone/>
            </a:pPr>
            <a:r>
              <a:rPr lang="en-US" sz="1050" b="1" dirty="0">
                <a:solidFill>
                  <a:srgbClr val="FFFFFF"/>
                </a:solidFill>
                <a:latin typeface="Courier New" pitchFamily="34" charset="0"/>
                <a:ea typeface="Courier New" pitchFamily="34" charset="-122"/>
                <a:cs typeface="Courier New" pitchFamily="34" charset="-120"/>
              </a:rPr>
              <a:t>stop-servers</a:t>
            </a:r>
            <a:endParaRPr lang="en-US" sz="1050" dirty="0"/>
          </a:p>
        </p:txBody>
      </p:sp>
      <p:sp>
        <p:nvSpPr>
          <p:cNvPr id="18" name="Text 16"/>
          <p:cNvSpPr/>
          <p:nvPr/>
        </p:nvSpPr>
        <p:spPr>
          <a:xfrm>
            <a:off x="9714586" y="1755648"/>
            <a:ext cx="261518" cy="457200"/>
          </a:xfrm>
          <a:prstGeom prst="rect">
            <a:avLst/>
          </a:prstGeom>
          <a:noFill/>
          <a:ln/>
        </p:spPr>
        <p:txBody>
          <a:bodyPr wrap="square" lIns="0" tIns="0" rIns="0" bIns="0" rtlCol="0" anchor="ctr"/>
          <a:lstStyle/>
          <a:p>
            <a:pPr algn="ctr" indent="0" marL="0">
              <a:buNone/>
            </a:pPr>
            <a:r>
              <a:rPr lang="en-US" sz="1800" b="1" dirty="0">
                <a:solidFill>
                  <a:srgbClr val="5C6B7A"/>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9921240" y="1627632"/>
            <a:ext cx="1700784" cy="713232"/>
          </a:xfrm>
          <a:prstGeom prst="roundRect">
            <a:avLst>
              <a:gd name="adj" fmla="val 10256"/>
            </a:avLst>
          </a:prstGeom>
          <a:solidFill>
            <a:srgbClr val="0F1C2E"/>
          </a:solidFill>
          <a:ln/>
        </p:spPr>
      </p:sp>
      <p:sp>
        <p:nvSpPr>
          <p:cNvPr id="20" name="Text 18"/>
          <p:cNvSpPr/>
          <p:nvPr/>
        </p:nvSpPr>
        <p:spPr>
          <a:xfrm>
            <a:off x="9921240" y="1627632"/>
            <a:ext cx="1700784" cy="713232"/>
          </a:xfrm>
          <a:prstGeom prst="rect">
            <a:avLst/>
          </a:prstGeom>
          <a:noFill/>
          <a:ln/>
        </p:spPr>
        <p:txBody>
          <a:bodyPr wrap="square" lIns="0" tIns="0" rIns="0" bIns="0" rtlCol="0" anchor="ctr"/>
          <a:lstStyle/>
          <a:p>
            <a:pPr algn="ctr" indent="0" marL="0">
              <a:buNone/>
            </a:pPr>
            <a:r>
              <a:rPr lang="en-US" sz="1050" b="1" dirty="0">
                <a:solidFill>
                  <a:srgbClr val="FFFFFF"/>
                </a:solidFill>
                <a:latin typeface="Courier New" pitchFamily="34" charset="0"/>
                <a:ea typeface="Courier New" pitchFamily="34" charset="-122"/>
                <a:cs typeface="Courier New" pitchFamily="34" charset="-120"/>
              </a:rPr>
              <a:t>cleanup --yes</a:t>
            </a:r>
            <a:endParaRPr lang="en-US" sz="1050" dirty="0"/>
          </a:p>
        </p:txBody>
      </p:sp>
      <p:sp>
        <p:nvSpPr>
          <p:cNvPr id="21" name="Text 19"/>
          <p:cNvSpPr/>
          <p:nvPr/>
        </p:nvSpPr>
        <p:spPr>
          <a:xfrm>
            <a:off x="566928" y="2487168"/>
            <a:ext cx="11055096" cy="320040"/>
          </a:xfrm>
          <a:prstGeom prst="rect">
            <a:avLst/>
          </a:prstGeom>
          <a:noFill/>
          <a:ln/>
        </p:spPr>
        <p:txBody>
          <a:bodyPr wrap="square" lIns="0" tIns="0" rIns="0" bIns="0" rtlCol="0" anchor="ctr"/>
          <a:lstStyle/>
          <a:p>
            <a:pPr indent="0" marL="0">
              <a:buNone/>
            </a:pPr>
            <a:r>
              <a:rPr lang="en-US" sz="1250" b="1" dirty="0">
                <a:solidFill>
                  <a:srgbClr val="B4651A"/>
                </a:solidFill>
                <a:latin typeface="Courier New" pitchFamily="34" charset="0"/>
                <a:ea typeface="Courier New" pitchFamily="34" charset="-122"/>
                <a:cs typeface="Courier New" pitchFamily="34" charset="-120"/>
              </a:rPr>
              <a:t>all</a:t>
            </a:r>
            <a:pPr indent="0" marL="0">
              <a:buNone/>
            </a:pPr>
            <a:r>
              <a:rPr lang="en-US" sz="1250" dirty="0">
                <a:solidFill>
                  <a:srgbClr val="5C6B7A"/>
                </a:solidFill>
                <a:latin typeface="Calibri" pitchFamily="34" charset="0"/>
                <a:ea typeface="Calibri" pitchFamily="34" charset="-122"/>
                <a:cs typeface="Calibri" pitchFamily="34" charset="-120"/>
              </a:rPr>
              <a:t> runs the whole pipeline; every step is also a standalone subcommand, safe to re-run individually.</a:t>
            </a:r>
            <a:endParaRPr lang="en-US" sz="1250" dirty="0"/>
          </a:p>
        </p:txBody>
      </p:sp>
      <p:sp>
        <p:nvSpPr>
          <p:cNvPr id="22" name="Text 20"/>
          <p:cNvSpPr/>
          <p:nvPr/>
        </p:nvSpPr>
        <p:spPr>
          <a:xfrm>
            <a:off x="566928" y="2971800"/>
            <a:ext cx="11055096" cy="310896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Each producing run gets results/&lt;run-id&gt;/ (timestamped); results/latest follows the newest. Analysis re-runs any time: --run-id addresses old runs.</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Collection is tar-batched: one ssh + one scp + one untar per host — minutes, not the ~80 minutes N² scp would cost at N=100.</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Interpreting starts with iperf_heatmap.png and results-summary (P50/P95/min/mean/max + the 5 slowest pairs); exact numbers live in iperf_results.csv.</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stop-servers kills the daemons; cleanup --yes removes the remote dir — scoped to the run-id, so parallel runs on a shared filesystem never collide.</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A run died halfway? all --resume skips completed steps; all --keep-going barrels past a flaky host.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Interpreting: read the heatmap, then check the CPU</a:t>
            </a:r>
            <a:endParaRPr lang="en-US" sz="2900" dirty="0"/>
          </a:p>
        </p:txBody>
      </p:sp>
      <p:sp>
        <p:nvSpPr>
          <p:cNvPr id="4" name="Shape 2"/>
          <p:cNvSpPr/>
          <p:nvPr/>
        </p:nvSpPr>
        <p:spPr>
          <a:xfrm>
            <a:off x="1152144" y="1783080"/>
            <a:ext cx="384048" cy="384048"/>
          </a:xfrm>
          <a:prstGeom prst="roundRect">
            <a:avLst>
              <a:gd name="adj" fmla="val 11905"/>
            </a:avLst>
          </a:prstGeom>
          <a:solidFill>
            <a:srgbClr val="FBE3C4"/>
          </a:solidFill>
          <a:ln/>
        </p:spPr>
      </p:sp>
      <p:sp>
        <p:nvSpPr>
          <p:cNvPr id="5" name="Shape 3"/>
          <p:cNvSpPr/>
          <p:nvPr/>
        </p:nvSpPr>
        <p:spPr>
          <a:xfrm>
            <a:off x="1600200" y="1783080"/>
            <a:ext cx="384048" cy="384048"/>
          </a:xfrm>
          <a:prstGeom prst="roundRect">
            <a:avLst>
              <a:gd name="adj" fmla="val 11905"/>
            </a:avLst>
          </a:prstGeom>
          <a:solidFill>
            <a:srgbClr val="D95F4B"/>
          </a:solidFill>
          <a:ln/>
        </p:spPr>
      </p:sp>
      <p:sp>
        <p:nvSpPr>
          <p:cNvPr id="6" name="Shape 4"/>
          <p:cNvSpPr/>
          <p:nvPr/>
        </p:nvSpPr>
        <p:spPr>
          <a:xfrm>
            <a:off x="2048256" y="1783080"/>
            <a:ext cx="384048" cy="384048"/>
          </a:xfrm>
          <a:prstGeom prst="roundRect">
            <a:avLst>
              <a:gd name="adj" fmla="val 11905"/>
            </a:avLst>
          </a:prstGeom>
          <a:solidFill>
            <a:srgbClr val="F5C77E"/>
          </a:solidFill>
          <a:ln/>
        </p:spPr>
      </p:sp>
      <p:sp>
        <p:nvSpPr>
          <p:cNvPr id="7" name="Shape 5"/>
          <p:cNvSpPr/>
          <p:nvPr/>
        </p:nvSpPr>
        <p:spPr>
          <a:xfrm>
            <a:off x="2496312" y="1783080"/>
            <a:ext cx="384048" cy="384048"/>
          </a:xfrm>
          <a:prstGeom prst="roundRect">
            <a:avLst>
              <a:gd name="adj" fmla="val 11905"/>
            </a:avLst>
          </a:prstGeom>
          <a:solidFill>
            <a:srgbClr val="F5C77E"/>
          </a:solidFill>
          <a:ln/>
        </p:spPr>
      </p:sp>
      <p:sp>
        <p:nvSpPr>
          <p:cNvPr id="8" name="Shape 6"/>
          <p:cNvSpPr/>
          <p:nvPr/>
        </p:nvSpPr>
        <p:spPr>
          <a:xfrm>
            <a:off x="2944368" y="1783080"/>
            <a:ext cx="384048" cy="384048"/>
          </a:xfrm>
          <a:prstGeom prst="roundRect">
            <a:avLst>
              <a:gd name="adj" fmla="val 11905"/>
            </a:avLst>
          </a:prstGeom>
          <a:solidFill>
            <a:srgbClr val="F2A65A"/>
          </a:solidFill>
          <a:ln/>
        </p:spPr>
      </p:sp>
      <p:sp>
        <p:nvSpPr>
          <p:cNvPr id="9" name="Shape 7"/>
          <p:cNvSpPr/>
          <p:nvPr/>
        </p:nvSpPr>
        <p:spPr>
          <a:xfrm>
            <a:off x="3392424" y="1783080"/>
            <a:ext cx="384048" cy="384048"/>
          </a:xfrm>
          <a:prstGeom prst="roundRect">
            <a:avLst>
              <a:gd name="adj" fmla="val 11905"/>
            </a:avLst>
          </a:prstGeom>
          <a:solidFill>
            <a:srgbClr val="F2A65A"/>
          </a:solidFill>
          <a:ln/>
        </p:spPr>
      </p:sp>
      <p:sp>
        <p:nvSpPr>
          <p:cNvPr id="10" name="Shape 8"/>
          <p:cNvSpPr/>
          <p:nvPr/>
        </p:nvSpPr>
        <p:spPr>
          <a:xfrm>
            <a:off x="3840480" y="1783080"/>
            <a:ext cx="384048" cy="384048"/>
          </a:xfrm>
          <a:prstGeom prst="roundRect">
            <a:avLst>
              <a:gd name="adj" fmla="val 11905"/>
            </a:avLst>
          </a:prstGeom>
          <a:solidFill>
            <a:srgbClr val="FBE3C4"/>
          </a:solidFill>
          <a:ln/>
        </p:spPr>
      </p:sp>
      <p:sp>
        <p:nvSpPr>
          <p:cNvPr id="11" name="Shape 9"/>
          <p:cNvSpPr/>
          <p:nvPr/>
        </p:nvSpPr>
        <p:spPr>
          <a:xfrm>
            <a:off x="704088" y="2231136"/>
            <a:ext cx="384048" cy="384048"/>
          </a:xfrm>
          <a:prstGeom prst="roundRect">
            <a:avLst>
              <a:gd name="adj" fmla="val 11905"/>
            </a:avLst>
          </a:prstGeom>
          <a:solidFill>
            <a:srgbClr val="F5C77E"/>
          </a:solidFill>
          <a:ln/>
        </p:spPr>
      </p:sp>
      <p:sp>
        <p:nvSpPr>
          <p:cNvPr id="12" name="Shape 10"/>
          <p:cNvSpPr/>
          <p:nvPr/>
        </p:nvSpPr>
        <p:spPr>
          <a:xfrm>
            <a:off x="1600200" y="2231136"/>
            <a:ext cx="384048" cy="384048"/>
          </a:xfrm>
          <a:prstGeom prst="roundRect">
            <a:avLst>
              <a:gd name="adj" fmla="val 11905"/>
            </a:avLst>
          </a:prstGeom>
          <a:solidFill>
            <a:srgbClr val="D95F4B"/>
          </a:solidFill>
          <a:ln/>
        </p:spPr>
      </p:sp>
      <p:sp>
        <p:nvSpPr>
          <p:cNvPr id="13" name="Shape 11"/>
          <p:cNvSpPr/>
          <p:nvPr/>
        </p:nvSpPr>
        <p:spPr>
          <a:xfrm>
            <a:off x="2048256" y="2231136"/>
            <a:ext cx="384048" cy="384048"/>
          </a:xfrm>
          <a:prstGeom prst="roundRect">
            <a:avLst>
              <a:gd name="adj" fmla="val 11905"/>
            </a:avLst>
          </a:prstGeom>
          <a:solidFill>
            <a:srgbClr val="FBE3C4"/>
          </a:solidFill>
          <a:ln/>
        </p:spPr>
      </p:sp>
      <p:sp>
        <p:nvSpPr>
          <p:cNvPr id="14" name="Shape 12"/>
          <p:cNvSpPr/>
          <p:nvPr/>
        </p:nvSpPr>
        <p:spPr>
          <a:xfrm>
            <a:off x="2496312" y="2231136"/>
            <a:ext cx="384048" cy="384048"/>
          </a:xfrm>
          <a:prstGeom prst="roundRect">
            <a:avLst>
              <a:gd name="adj" fmla="val 11905"/>
            </a:avLst>
          </a:prstGeom>
          <a:solidFill>
            <a:srgbClr val="FBE3C4"/>
          </a:solidFill>
          <a:ln/>
        </p:spPr>
      </p:sp>
      <p:sp>
        <p:nvSpPr>
          <p:cNvPr id="15" name="Shape 13"/>
          <p:cNvSpPr/>
          <p:nvPr/>
        </p:nvSpPr>
        <p:spPr>
          <a:xfrm>
            <a:off x="2944368" y="2231136"/>
            <a:ext cx="384048" cy="384048"/>
          </a:xfrm>
          <a:prstGeom prst="roundRect">
            <a:avLst>
              <a:gd name="adj" fmla="val 11905"/>
            </a:avLst>
          </a:prstGeom>
          <a:solidFill>
            <a:srgbClr val="F5C77E"/>
          </a:solidFill>
          <a:ln/>
        </p:spPr>
      </p:sp>
      <p:sp>
        <p:nvSpPr>
          <p:cNvPr id="16" name="Shape 14"/>
          <p:cNvSpPr/>
          <p:nvPr/>
        </p:nvSpPr>
        <p:spPr>
          <a:xfrm>
            <a:off x="3392424" y="2231136"/>
            <a:ext cx="384048" cy="384048"/>
          </a:xfrm>
          <a:prstGeom prst="roundRect">
            <a:avLst>
              <a:gd name="adj" fmla="val 11905"/>
            </a:avLst>
          </a:prstGeom>
          <a:solidFill>
            <a:srgbClr val="F5C77E"/>
          </a:solidFill>
          <a:ln/>
        </p:spPr>
      </p:sp>
      <p:sp>
        <p:nvSpPr>
          <p:cNvPr id="17" name="Shape 15"/>
          <p:cNvSpPr/>
          <p:nvPr/>
        </p:nvSpPr>
        <p:spPr>
          <a:xfrm>
            <a:off x="3840480" y="2231136"/>
            <a:ext cx="384048" cy="384048"/>
          </a:xfrm>
          <a:prstGeom prst="roundRect">
            <a:avLst>
              <a:gd name="adj" fmla="val 11905"/>
            </a:avLst>
          </a:prstGeom>
          <a:solidFill>
            <a:srgbClr val="F5C77E"/>
          </a:solidFill>
          <a:ln/>
        </p:spPr>
      </p:sp>
      <p:sp>
        <p:nvSpPr>
          <p:cNvPr id="18" name="Shape 16"/>
          <p:cNvSpPr/>
          <p:nvPr/>
        </p:nvSpPr>
        <p:spPr>
          <a:xfrm>
            <a:off x="704088" y="2679192"/>
            <a:ext cx="384048" cy="384048"/>
          </a:xfrm>
          <a:prstGeom prst="roundRect">
            <a:avLst>
              <a:gd name="adj" fmla="val 11905"/>
            </a:avLst>
          </a:prstGeom>
          <a:solidFill>
            <a:srgbClr val="FBE3C4"/>
          </a:solidFill>
          <a:ln/>
        </p:spPr>
      </p:sp>
      <p:sp>
        <p:nvSpPr>
          <p:cNvPr id="19" name="Shape 17"/>
          <p:cNvSpPr/>
          <p:nvPr/>
        </p:nvSpPr>
        <p:spPr>
          <a:xfrm>
            <a:off x="1152144" y="2679192"/>
            <a:ext cx="384048" cy="384048"/>
          </a:xfrm>
          <a:prstGeom prst="roundRect">
            <a:avLst>
              <a:gd name="adj" fmla="val 11905"/>
            </a:avLst>
          </a:prstGeom>
          <a:solidFill>
            <a:srgbClr val="F5C77E"/>
          </a:solidFill>
          <a:ln/>
        </p:spPr>
      </p:sp>
      <p:sp>
        <p:nvSpPr>
          <p:cNvPr id="20" name="Shape 18"/>
          <p:cNvSpPr/>
          <p:nvPr/>
        </p:nvSpPr>
        <p:spPr>
          <a:xfrm>
            <a:off x="2048256" y="2679192"/>
            <a:ext cx="384048" cy="384048"/>
          </a:xfrm>
          <a:prstGeom prst="roundRect">
            <a:avLst>
              <a:gd name="adj" fmla="val 11905"/>
            </a:avLst>
          </a:prstGeom>
          <a:solidFill>
            <a:srgbClr val="F5C77E"/>
          </a:solidFill>
          <a:ln/>
        </p:spPr>
      </p:sp>
      <p:sp>
        <p:nvSpPr>
          <p:cNvPr id="21" name="Shape 19"/>
          <p:cNvSpPr/>
          <p:nvPr/>
        </p:nvSpPr>
        <p:spPr>
          <a:xfrm>
            <a:off x="2496312" y="2679192"/>
            <a:ext cx="384048" cy="384048"/>
          </a:xfrm>
          <a:prstGeom prst="roundRect">
            <a:avLst>
              <a:gd name="adj" fmla="val 11905"/>
            </a:avLst>
          </a:prstGeom>
          <a:solidFill>
            <a:srgbClr val="F2A65A"/>
          </a:solidFill>
          <a:ln/>
        </p:spPr>
      </p:sp>
      <p:sp>
        <p:nvSpPr>
          <p:cNvPr id="22" name="Shape 20"/>
          <p:cNvSpPr/>
          <p:nvPr/>
        </p:nvSpPr>
        <p:spPr>
          <a:xfrm>
            <a:off x="2944368" y="2679192"/>
            <a:ext cx="384048" cy="384048"/>
          </a:xfrm>
          <a:prstGeom prst="roundRect">
            <a:avLst>
              <a:gd name="adj" fmla="val 11905"/>
            </a:avLst>
          </a:prstGeom>
          <a:solidFill>
            <a:srgbClr val="F2A65A"/>
          </a:solidFill>
          <a:ln/>
        </p:spPr>
      </p:sp>
      <p:sp>
        <p:nvSpPr>
          <p:cNvPr id="23" name="Shape 21"/>
          <p:cNvSpPr/>
          <p:nvPr/>
        </p:nvSpPr>
        <p:spPr>
          <a:xfrm>
            <a:off x="3392424" y="2679192"/>
            <a:ext cx="384048" cy="384048"/>
          </a:xfrm>
          <a:prstGeom prst="roundRect">
            <a:avLst>
              <a:gd name="adj" fmla="val 11905"/>
            </a:avLst>
          </a:prstGeom>
          <a:solidFill>
            <a:srgbClr val="FBE3C4"/>
          </a:solidFill>
          <a:ln/>
        </p:spPr>
      </p:sp>
      <p:sp>
        <p:nvSpPr>
          <p:cNvPr id="24" name="Shape 22"/>
          <p:cNvSpPr/>
          <p:nvPr/>
        </p:nvSpPr>
        <p:spPr>
          <a:xfrm>
            <a:off x="3840480" y="2679192"/>
            <a:ext cx="384048" cy="384048"/>
          </a:xfrm>
          <a:prstGeom prst="roundRect">
            <a:avLst>
              <a:gd name="adj" fmla="val 11905"/>
            </a:avLst>
          </a:prstGeom>
          <a:solidFill>
            <a:srgbClr val="F5C77E"/>
          </a:solidFill>
          <a:ln/>
        </p:spPr>
      </p:sp>
      <p:sp>
        <p:nvSpPr>
          <p:cNvPr id="25" name="Shape 23"/>
          <p:cNvSpPr/>
          <p:nvPr/>
        </p:nvSpPr>
        <p:spPr>
          <a:xfrm>
            <a:off x="704088" y="3127248"/>
            <a:ext cx="384048" cy="384048"/>
          </a:xfrm>
          <a:prstGeom prst="roundRect">
            <a:avLst>
              <a:gd name="adj" fmla="val 11905"/>
            </a:avLst>
          </a:prstGeom>
          <a:solidFill>
            <a:srgbClr val="F2A65A"/>
          </a:solidFill>
          <a:ln/>
        </p:spPr>
      </p:sp>
      <p:sp>
        <p:nvSpPr>
          <p:cNvPr id="26" name="Shape 24"/>
          <p:cNvSpPr/>
          <p:nvPr/>
        </p:nvSpPr>
        <p:spPr>
          <a:xfrm>
            <a:off x="1152144" y="3127248"/>
            <a:ext cx="384048" cy="384048"/>
          </a:xfrm>
          <a:prstGeom prst="roundRect">
            <a:avLst>
              <a:gd name="adj" fmla="val 11905"/>
            </a:avLst>
          </a:prstGeom>
          <a:solidFill>
            <a:srgbClr val="F2A65A"/>
          </a:solidFill>
          <a:ln/>
        </p:spPr>
      </p:sp>
      <p:sp>
        <p:nvSpPr>
          <p:cNvPr id="27" name="Shape 25"/>
          <p:cNvSpPr/>
          <p:nvPr/>
        </p:nvSpPr>
        <p:spPr>
          <a:xfrm>
            <a:off x="1600200" y="3127248"/>
            <a:ext cx="384048" cy="384048"/>
          </a:xfrm>
          <a:prstGeom prst="roundRect">
            <a:avLst>
              <a:gd name="adj" fmla="val 11905"/>
            </a:avLst>
          </a:prstGeom>
          <a:solidFill>
            <a:srgbClr val="D95F4B"/>
          </a:solidFill>
          <a:ln/>
        </p:spPr>
      </p:sp>
      <p:sp>
        <p:nvSpPr>
          <p:cNvPr id="28" name="Shape 26"/>
          <p:cNvSpPr/>
          <p:nvPr/>
        </p:nvSpPr>
        <p:spPr>
          <a:xfrm>
            <a:off x="2496312" y="3127248"/>
            <a:ext cx="384048" cy="384048"/>
          </a:xfrm>
          <a:prstGeom prst="roundRect">
            <a:avLst>
              <a:gd name="adj" fmla="val 11905"/>
            </a:avLst>
          </a:prstGeom>
          <a:solidFill>
            <a:srgbClr val="F5C77E"/>
          </a:solidFill>
          <a:ln/>
        </p:spPr>
      </p:sp>
      <p:sp>
        <p:nvSpPr>
          <p:cNvPr id="29" name="Shape 27"/>
          <p:cNvSpPr/>
          <p:nvPr/>
        </p:nvSpPr>
        <p:spPr>
          <a:xfrm>
            <a:off x="2944368" y="3127248"/>
            <a:ext cx="384048" cy="384048"/>
          </a:xfrm>
          <a:prstGeom prst="roundRect">
            <a:avLst>
              <a:gd name="adj" fmla="val 11905"/>
            </a:avLst>
          </a:prstGeom>
          <a:solidFill>
            <a:srgbClr val="F5C77E"/>
          </a:solidFill>
          <a:ln/>
        </p:spPr>
      </p:sp>
      <p:sp>
        <p:nvSpPr>
          <p:cNvPr id="30" name="Shape 28"/>
          <p:cNvSpPr/>
          <p:nvPr/>
        </p:nvSpPr>
        <p:spPr>
          <a:xfrm>
            <a:off x="3392424" y="3127248"/>
            <a:ext cx="384048" cy="384048"/>
          </a:xfrm>
          <a:prstGeom prst="roundRect">
            <a:avLst>
              <a:gd name="adj" fmla="val 11905"/>
            </a:avLst>
          </a:prstGeom>
          <a:solidFill>
            <a:srgbClr val="F2A65A"/>
          </a:solidFill>
          <a:ln/>
        </p:spPr>
      </p:sp>
      <p:sp>
        <p:nvSpPr>
          <p:cNvPr id="31" name="Shape 29"/>
          <p:cNvSpPr/>
          <p:nvPr/>
        </p:nvSpPr>
        <p:spPr>
          <a:xfrm>
            <a:off x="3840480" y="3127248"/>
            <a:ext cx="384048" cy="384048"/>
          </a:xfrm>
          <a:prstGeom prst="roundRect">
            <a:avLst>
              <a:gd name="adj" fmla="val 11905"/>
            </a:avLst>
          </a:prstGeom>
          <a:solidFill>
            <a:srgbClr val="F2A65A"/>
          </a:solidFill>
          <a:ln/>
        </p:spPr>
      </p:sp>
      <p:sp>
        <p:nvSpPr>
          <p:cNvPr id="32" name="Shape 30"/>
          <p:cNvSpPr/>
          <p:nvPr/>
        </p:nvSpPr>
        <p:spPr>
          <a:xfrm>
            <a:off x="704088" y="3575304"/>
            <a:ext cx="384048" cy="384048"/>
          </a:xfrm>
          <a:prstGeom prst="roundRect">
            <a:avLst>
              <a:gd name="adj" fmla="val 11905"/>
            </a:avLst>
          </a:prstGeom>
          <a:solidFill>
            <a:srgbClr val="F5C77E"/>
          </a:solidFill>
          <a:ln/>
        </p:spPr>
      </p:sp>
      <p:sp>
        <p:nvSpPr>
          <p:cNvPr id="33" name="Shape 31"/>
          <p:cNvSpPr/>
          <p:nvPr/>
        </p:nvSpPr>
        <p:spPr>
          <a:xfrm>
            <a:off x="1152144" y="3575304"/>
            <a:ext cx="384048" cy="384048"/>
          </a:xfrm>
          <a:prstGeom prst="roundRect">
            <a:avLst>
              <a:gd name="adj" fmla="val 11905"/>
            </a:avLst>
          </a:prstGeom>
          <a:solidFill>
            <a:srgbClr val="F5C77E"/>
          </a:solidFill>
          <a:ln/>
        </p:spPr>
      </p:sp>
      <p:sp>
        <p:nvSpPr>
          <p:cNvPr id="34" name="Shape 32"/>
          <p:cNvSpPr/>
          <p:nvPr/>
        </p:nvSpPr>
        <p:spPr>
          <a:xfrm>
            <a:off x="1600200" y="3575304"/>
            <a:ext cx="384048" cy="384048"/>
          </a:xfrm>
          <a:prstGeom prst="roundRect">
            <a:avLst>
              <a:gd name="adj" fmla="val 11905"/>
            </a:avLst>
          </a:prstGeom>
          <a:solidFill>
            <a:srgbClr val="D95F4B"/>
          </a:solidFill>
          <a:ln/>
        </p:spPr>
      </p:sp>
      <p:sp>
        <p:nvSpPr>
          <p:cNvPr id="35" name="Shape 33"/>
          <p:cNvSpPr/>
          <p:nvPr/>
        </p:nvSpPr>
        <p:spPr>
          <a:xfrm>
            <a:off x="2048256" y="3575304"/>
            <a:ext cx="384048" cy="384048"/>
          </a:xfrm>
          <a:prstGeom prst="roundRect">
            <a:avLst>
              <a:gd name="adj" fmla="val 11905"/>
            </a:avLst>
          </a:prstGeom>
          <a:solidFill>
            <a:srgbClr val="F2A65A"/>
          </a:solidFill>
          <a:ln/>
        </p:spPr>
      </p:sp>
      <p:sp>
        <p:nvSpPr>
          <p:cNvPr id="36" name="Shape 34"/>
          <p:cNvSpPr/>
          <p:nvPr/>
        </p:nvSpPr>
        <p:spPr>
          <a:xfrm>
            <a:off x="2944368" y="3575304"/>
            <a:ext cx="384048" cy="384048"/>
          </a:xfrm>
          <a:prstGeom prst="roundRect">
            <a:avLst>
              <a:gd name="adj" fmla="val 11905"/>
            </a:avLst>
          </a:prstGeom>
          <a:solidFill>
            <a:srgbClr val="FBE3C4"/>
          </a:solidFill>
          <a:ln/>
        </p:spPr>
      </p:sp>
      <p:sp>
        <p:nvSpPr>
          <p:cNvPr id="37" name="Shape 35"/>
          <p:cNvSpPr/>
          <p:nvPr/>
        </p:nvSpPr>
        <p:spPr>
          <a:xfrm>
            <a:off x="3392424" y="3575304"/>
            <a:ext cx="384048" cy="384048"/>
          </a:xfrm>
          <a:prstGeom prst="roundRect">
            <a:avLst>
              <a:gd name="adj" fmla="val 11905"/>
            </a:avLst>
          </a:prstGeom>
          <a:solidFill>
            <a:srgbClr val="F5C77E"/>
          </a:solidFill>
          <a:ln/>
        </p:spPr>
      </p:sp>
      <p:sp>
        <p:nvSpPr>
          <p:cNvPr id="38" name="Shape 36"/>
          <p:cNvSpPr/>
          <p:nvPr/>
        </p:nvSpPr>
        <p:spPr>
          <a:xfrm>
            <a:off x="3840480" y="3575304"/>
            <a:ext cx="384048" cy="384048"/>
          </a:xfrm>
          <a:prstGeom prst="roundRect">
            <a:avLst>
              <a:gd name="adj" fmla="val 11905"/>
            </a:avLst>
          </a:prstGeom>
          <a:solidFill>
            <a:srgbClr val="F5C77E"/>
          </a:solidFill>
          <a:ln/>
        </p:spPr>
      </p:sp>
      <p:sp>
        <p:nvSpPr>
          <p:cNvPr id="39" name="Shape 37"/>
          <p:cNvSpPr/>
          <p:nvPr/>
        </p:nvSpPr>
        <p:spPr>
          <a:xfrm>
            <a:off x="704088" y="4023360"/>
            <a:ext cx="384048" cy="384048"/>
          </a:xfrm>
          <a:prstGeom prst="roundRect">
            <a:avLst>
              <a:gd name="adj" fmla="val 11905"/>
            </a:avLst>
          </a:prstGeom>
          <a:solidFill>
            <a:srgbClr val="C0392B"/>
          </a:solidFill>
          <a:ln/>
        </p:spPr>
      </p:sp>
      <p:sp>
        <p:nvSpPr>
          <p:cNvPr id="40" name="Shape 38"/>
          <p:cNvSpPr/>
          <p:nvPr/>
        </p:nvSpPr>
        <p:spPr>
          <a:xfrm>
            <a:off x="1152144" y="4023360"/>
            <a:ext cx="384048" cy="384048"/>
          </a:xfrm>
          <a:prstGeom prst="roundRect">
            <a:avLst>
              <a:gd name="adj" fmla="val 11905"/>
            </a:avLst>
          </a:prstGeom>
          <a:solidFill>
            <a:srgbClr val="C0392B"/>
          </a:solidFill>
          <a:ln/>
        </p:spPr>
      </p:sp>
      <p:sp>
        <p:nvSpPr>
          <p:cNvPr id="41" name="Shape 39"/>
          <p:cNvSpPr/>
          <p:nvPr/>
        </p:nvSpPr>
        <p:spPr>
          <a:xfrm>
            <a:off x="1600200" y="4023360"/>
            <a:ext cx="384048" cy="384048"/>
          </a:xfrm>
          <a:prstGeom prst="roundRect">
            <a:avLst>
              <a:gd name="adj" fmla="val 11905"/>
            </a:avLst>
          </a:prstGeom>
          <a:solidFill>
            <a:srgbClr val="C0392B"/>
          </a:solidFill>
          <a:ln/>
        </p:spPr>
      </p:sp>
      <p:sp>
        <p:nvSpPr>
          <p:cNvPr id="42" name="Shape 40"/>
          <p:cNvSpPr/>
          <p:nvPr/>
        </p:nvSpPr>
        <p:spPr>
          <a:xfrm>
            <a:off x="2048256" y="4023360"/>
            <a:ext cx="384048" cy="384048"/>
          </a:xfrm>
          <a:prstGeom prst="roundRect">
            <a:avLst>
              <a:gd name="adj" fmla="val 11905"/>
            </a:avLst>
          </a:prstGeom>
          <a:solidFill>
            <a:srgbClr val="C0392B"/>
          </a:solidFill>
          <a:ln/>
        </p:spPr>
      </p:sp>
      <p:sp>
        <p:nvSpPr>
          <p:cNvPr id="43" name="Shape 41"/>
          <p:cNvSpPr/>
          <p:nvPr/>
        </p:nvSpPr>
        <p:spPr>
          <a:xfrm>
            <a:off x="2496312" y="4023360"/>
            <a:ext cx="384048" cy="384048"/>
          </a:xfrm>
          <a:prstGeom prst="roundRect">
            <a:avLst>
              <a:gd name="adj" fmla="val 11905"/>
            </a:avLst>
          </a:prstGeom>
          <a:solidFill>
            <a:srgbClr val="C0392B"/>
          </a:solidFill>
          <a:ln/>
        </p:spPr>
      </p:sp>
      <p:sp>
        <p:nvSpPr>
          <p:cNvPr id="44" name="Shape 42"/>
          <p:cNvSpPr/>
          <p:nvPr/>
        </p:nvSpPr>
        <p:spPr>
          <a:xfrm>
            <a:off x="3392424" y="4023360"/>
            <a:ext cx="384048" cy="384048"/>
          </a:xfrm>
          <a:prstGeom prst="roundRect">
            <a:avLst>
              <a:gd name="adj" fmla="val 11905"/>
            </a:avLst>
          </a:prstGeom>
          <a:solidFill>
            <a:srgbClr val="C0392B"/>
          </a:solidFill>
          <a:ln/>
        </p:spPr>
      </p:sp>
      <p:sp>
        <p:nvSpPr>
          <p:cNvPr id="45" name="Shape 43"/>
          <p:cNvSpPr/>
          <p:nvPr/>
        </p:nvSpPr>
        <p:spPr>
          <a:xfrm>
            <a:off x="3840480" y="4023360"/>
            <a:ext cx="384048" cy="384048"/>
          </a:xfrm>
          <a:prstGeom prst="roundRect">
            <a:avLst>
              <a:gd name="adj" fmla="val 11905"/>
            </a:avLst>
          </a:prstGeom>
          <a:solidFill>
            <a:srgbClr val="C0392B"/>
          </a:solidFill>
          <a:ln/>
        </p:spPr>
      </p:sp>
      <p:sp>
        <p:nvSpPr>
          <p:cNvPr id="46" name="Shape 44"/>
          <p:cNvSpPr/>
          <p:nvPr/>
        </p:nvSpPr>
        <p:spPr>
          <a:xfrm>
            <a:off x="704088" y="4471416"/>
            <a:ext cx="384048" cy="384048"/>
          </a:xfrm>
          <a:prstGeom prst="roundRect">
            <a:avLst>
              <a:gd name="adj" fmla="val 11905"/>
            </a:avLst>
          </a:prstGeom>
          <a:solidFill>
            <a:srgbClr val="F5C77E"/>
          </a:solidFill>
          <a:ln/>
        </p:spPr>
      </p:sp>
      <p:sp>
        <p:nvSpPr>
          <p:cNvPr id="47" name="Shape 45"/>
          <p:cNvSpPr/>
          <p:nvPr/>
        </p:nvSpPr>
        <p:spPr>
          <a:xfrm>
            <a:off x="1152144" y="4471416"/>
            <a:ext cx="384048" cy="384048"/>
          </a:xfrm>
          <a:prstGeom prst="roundRect">
            <a:avLst>
              <a:gd name="adj" fmla="val 11905"/>
            </a:avLst>
          </a:prstGeom>
          <a:solidFill>
            <a:srgbClr val="F2A65A"/>
          </a:solidFill>
          <a:ln/>
        </p:spPr>
      </p:sp>
      <p:sp>
        <p:nvSpPr>
          <p:cNvPr id="48" name="Shape 46"/>
          <p:cNvSpPr/>
          <p:nvPr/>
        </p:nvSpPr>
        <p:spPr>
          <a:xfrm>
            <a:off x="1600200" y="4471416"/>
            <a:ext cx="384048" cy="384048"/>
          </a:xfrm>
          <a:prstGeom prst="roundRect">
            <a:avLst>
              <a:gd name="adj" fmla="val 11905"/>
            </a:avLst>
          </a:prstGeom>
          <a:solidFill>
            <a:srgbClr val="D95F4B"/>
          </a:solidFill>
          <a:ln/>
        </p:spPr>
      </p:sp>
      <p:sp>
        <p:nvSpPr>
          <p:cNvPr id="49" name="Shape 47"/>
          <p:cNvSpPr/>
          <p:nvPr/>
        </p:nvSpPr>
        <p:spPr>
          <a:xfrm>
            <a:off x="2048256" y="4471416"/>
            <a:ext cx="384048" cy="384048"/>
          </a:xfrm>
          <a:prstGeom prst="roundRect">
            <a:avLst>
              <a:gd name="adj" fmla="val 11905"/>
            </a:avLst>
          </a:prstGeom>
          <a:solidFill>
            <a:srgbClr val="FBE3C4"/>
          </a:solidFill>
          <a:ln/>
        </p:spPr>
      </p:sp>
      <p:sp>
        <p:nvSpPr>
          <p:cNvPr id="50" name="Shape 48"/>
          <p:cNvSpPr/>
          <p:nvPr/>
        </p:nvSpPr>
        <p:spPr>
          <a:xfrm>
            <a:off x="2496312" y="4471416"/>
            <a:ext cx="384048" cy="384048"/>
          </a:xfrm>
          <a:prstGeom prst="roundRect">
            <a:avLst>
              <a:gd name="adj" fmla="val 11905"/>
            </a:avLst>
          </a:prstGeom>
          <a:solidFill>
            <a:srgbClr val="F5C77E"/>
          </a:solidFill>
          <a:ln/>
        </p:spPr>
      </p:sp>
      <p:sp>
        <p:nvSpPr>
          <p:cNvPr id="51" name="Shape 49"/>
          <p:cNvSpPr/>
          <p:nvPr/>
        </p:nvSpPr>
        <p:spPr>
          <a:xfrm>
            <a:off x="2944368" y="4471416"/>
            <a:ext cx="384048" cy="384048"/>
          </a:xfrm>
          <a:prstGeom prst="roundRect">
            <a:avLst>
              <a:gd name="adj" fmla="val 11905"/>
            </a:avLst>
          </a:prstGeom>
          <a:solidFill>
            <a:srgbClr val="F5C77E"/>
          </a:solidFill>
          <a:ln/>
        </p:spPr>
      </p:sp>
      <p:sp>
        <p:nvSpPr>
          <p:cNvPr id="52" name="Shape 50"/>
          <p:cNvSpPr/>
          <p:nvPr/>
        </p:nvSpPr>
        <p:spPr>
          <a:xfrm>
            <a:off x="3840480" y="4471416"/>
            <a:ext cx="384048" cy="384048"/>
          </a:xfrm>
          <a:prstGeom prst="roundRect">
            <a:avLst>
              <a:gd name="adj" fmla="val 11905"/>
            </a:avLst>
          </a:prstGeom>
          <a:solidFill>
            <a:srgbClr val="F2A65A"/>
          </a:solidFill>
          <a:ln/>
        </p:spPr>
      </p:sp>
      <p:sp>
        <p:nvSpPr>
          <p:cNvPr id="53" name="Shape 51"/>
          <p:cNvSpPr/>
          <p:nvPr/>
        </p:nvSpPr>
        <p:spPr>
          <a:xfrm>
            <a:off x="704088" y="4919472"/>
            <a:ext cx="384048" cy="384048"/>
          </a:xfrm>
          <a:prstGeom prst="roundRect">
            <a:avLst>
              <a:gd name="adj" fmla="val 11905"/>
            </a:avLst>
          </a:prstGeom>
          <a:solidFill>
            <a:srgbClr val="F5C77E"/>
          </a:solidFill>
          <a:ln/>
        </p:spPr>
      </p:sp>
      <p:sp>
        <p:nvSpPr>
          <p:cNvPr id="54" name="Shape 52"/>
          <p:cNvSpPr/>
          <p:nvPr/>
        </p:nvSpPr>
        <p:spPr>
          <a:xfrm>
            <a:off x="1152144" y="4919472"/>
            <a:ext cx="384048" cy="384048"/>
          </a:xfrm>
          <a:prstGeom prst="roundRect">
            <a:avLst>
              <a:gd name="adj" fmla="val 11905"/>
            </a:avLst>
          </a:prstGeom>
          <a:solidFill>
            <a:srgbClr val="F5C77E"/>
          </a:solidFill>
          <a:ln/>
        </p:spPr>
      </p:sp>
      <p:sp>
        <p:nvSpPr>
          <p:cNvPr id="55" name="Shape 53"/>
          <p:cNvSpPr/>
          <p:nvPr/>
        </p:nvSpPr>
        <p:spPr>
          <a:xfrm>
            <a:off x="1600200" y="4919472"/>
            <a:ext cx="384048" cy="384048"/>
          </a:xfrm>
          <a:prstGeom prst="roundRect">
            <a:avLst>
              <a:gd name="adj" fmla="val 11905"/>
            </a:avLst>
          </a:prstGeom>
          <a:solidFill>
            <a:srgbClr val="D95F4B"/>
          </a:solidFill>
          <a:ln/>
        </p:spPr>
      </p:sp>
      <p:sp>
        <p:nvSpPr>
          <p:cNvPr id="56" name="Shape 54"/>
          <p:cNvSpPr/>
          <p:nvPr/>
        </p:nvSpPr>
        <p:spPr>
          <a:xfrm>
            <a:off x="2048256" y="4919472"/>
            <a:ext cx="384048" cy="384048"/>
          </a:xfrm>
          <a:prstGeom prst="roundRect">
            <a:avLst>
              <a:gd name="adj" fmla="val 11905"/>
            </a:avLst>
          </a:prstGeom>
          <a:solidFill>
            <a:srgbClr val="F2A65A"/>
          </a:solidFill>
          <a:ln/>
        </p:spPr>
      </p:sp>
      <p:sp>
        <p:nvSpPr>
          <p:cNvPr id="57" name="Shape 55"/>
          <p:cNvSpPr/>
          <p:nvPr/>
        </p:nvSpPr>
        <p:spPr>
          <a:xfrm>
            <a:off x="2496312" y="4919472"/>
            <a:ext cx="384048" cy="384048"/>
          </a:xfrm>
          <a:prstGeom prst="roundRect">
            <a:avLst>
              <a:gd name="adj" fmla="val 11905"/>
            </a:avLst>
          </a:prstGeom>
          <a:solidFill>
            <a:srgbClr val="F2A65A"/>
          </a:solidFill>
          <a:ln/>
        </p:spPr>
      </p:sp>
      <p:sp>
        <p:nvSpPr>
          <p:cNvPr id="58" name="Shape 56"/>
          <p:cNvSpPr/>
          <p:nvPr/>
        </p:nvSpPr>
        <p:spPr>
          <a:xfrm>
            <a:off x="2944368" y="4919472"/>
            <a:ext cx="384048" cy="384048"/>
          </a:xfrm>
          <a:prstGeom prst="roundRect">
            <a:avLst>
              <a:gd name="adj" fmla="val 11905"/>
            </a:avLst>
          </a:prstGeom>
          <a:solidFill>
            <a:srgbClr val="FBE3C4"/>
          </a:solidFill>
          <a:ln/>
        </p:spPr>
      </p:sp>
      <p:sp>
        <p:nvSpPr>
          <p:cNvPr id="59" name="Shape 57"/>
          <p:cNvSpPr/>
          <p:nvPr/>
        </p:nvSpPr>
        <p:spPr>
          <a:xfrm>
            <a:off x="3392424" y="4919472"/>
            <a:ext cx="384048" cy="384048"/>
          </a:xfrm>
          <a:prstGeom prst="roundRect">
            <a:avLst>
              <a:gd name="adj" fmla="val 11905"/>
            </a:avLst>
          </a:prstGeom>
          <a:solidFill>
            <a:srgbClr val="FBE3C4"/>
          </a:solidFill>
          <a:ln/>
        </p:spPr>
      </p:sp>
      <p:sp>
        <p:nvSpPr>
          <p:cNvPr id="60" name="Text 58"/>
          <p:cNvSpPr/>
          <p:nvPr/>
        </p:nvSpPr>
        <p:spPr>
          <a:xfrm>
            <a:off x="704088" y="5440680"/>
            <a:ext cx="3566160" cy="27432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rows = sender →</a:t>
            </a:r>
            <a:endParaRPr lang="en-US" sz="1100" dirty="0"/>
          </a:p>
        </p:txBody>
      </p:sp>
      <p:sp>
        <p:nvSpPr>
          <p:cNvPr id="61" name="Text 59"/>
          <p:cNvSpPr/>
          <p:nvPr/>
        </p:nvSpPr>
        <p:spPr>
          <a:xfrm>
            <a:off x="4425696" y="4005072"/>
            <a:ext cx="2377440" cy="548640"/>
          </a:xfrm>
          <a:prstGeom prst="rect">
            <a:avLst/>
          </a:prstGeom>
          <a:noFill/>
          <a:ln/>
        </p:spPr>
        <p:txBody>
          <a:bodyPr wrap="square" lIns="0" tIns="0" rIns="0" bIns="0" rtlCol="0" anchor="ctr"/>
          <a:lstStyle/>
          <a:p>
            <a:pPr indent="0" marL="0">
              <a:buNone/>
            </a:pPr>
            <a:r>
              <a:rPr lang="en-US" sz="1100" b="1" dirty="0">
                <a:solidFill>
                  <a:srgbClr val="9C2F40"/>
                </a:solidFill>
                <a:latin typeface="Calibri" pitchFamily="34" charset="0"/>
                <a:ea typeface="Calibri" pitchFamily="34" charset="-122"/>
                <a:cs typeface="Calibri" pitchFamily="34" charset="-120"/>
              </a:rPr>
              <a:t>← red row: that host’s outbound is sick</a:t>
            </a:r>
            <a:endParaRPr lang="en-US" sz="1100" dirty="0"/>
          </a:p>
        </p:txBody>
      </p:sp>
      <p:sp>
        <p:nvSpPr>
          <p:cNvPr id="62" name="Text 60"/>
          <p:cNvSpPr/>
          <p:nvPr/>
        </p:nvSpPr>
        <p:spPr>
          <a:xfrm>
            <a:off x="612648" y="1472184"/>
            <a:ext cx="3200400" cy="274320"/>
          </a:xfrm>
          <a:prstGeom prst="rect">
            <a:avLst/>
          </a:prstGeom>
          <a:noFill/>
          <a:ln/>
        </p:spPr>
        <p:txBody>
          <a:bodyPr wrap="square" lIns="0" tIns="0" rIns="0" bIns="0" rtlCol="0" anchor="ctr"/>
          <a:lstStyle/>
          <a:p>
            <a:pPr indent="0" marL="0">
              <a:buNone/>
            </a:pPr>
            <a:r>
              <a:rPr lang="en-US" sz="1100" b="1" dirty="0">
                <a:solidFill>
                  <a:srgbClr val="D95F4B"/>
                </a:solidFill>
                <a:latin typeface="Calibri" pitchFamily="34" charset="0"/>
                <a:ea typeface="Calibri" pitchFamily="34" charset="-122"/>
                <a:cs typeface="Calibri" pitchFamily="34" charset="-120"/>
              </a:rPr>
              <a:t>red column: sick inbound ↓</a:t>
            </a:r>
            <a:endParaRPr lang="en-US" sz="1100" dirty="0"/>
          </a:p>
        </p:txBody>
      </p:sp>
      <p:sp>
        <p:nvSpPr>
          <p:cNvPr id="63" name="Text 61"/>
          <p:cNvSpPr/>
          <p:nvPr/>
        </p:nvSpPr>
        <p:spPr>
          <a:xfrm>
            <a:off x="6400800" y="1645920"/>
            <a:ext cx="5221224"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Cell (A, B) = throughput A→B during the full-duplex test. All-red row → bad outbound; all-red column → bad inbound; a red block → a congested leaf pair.</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The bar chart underneath ranks hosts by mean outgoing Mbps — with peak CPU% written on each bar.</a:t>
            </a:r>
            <a:endParaRPr lang="en-US" sz="1250" dirty="0"/>
          </a:p>
        </p:txBody>
      </p:sp>
      <p:sp>
        <p:nvSpPr>
          <p:cNvPr id="64" name="Shape 62"/>
          <p:cNvSpPr/>
          <p:nvPr/>
        </p:nvSpPr>
        <p:spPr>
          <a:xfrm>
            <a:off x="6400800" y="3611880"/>
            <a:ext cx="5221224" cy="2514600"/>
          </a:xfrm>
          <a:prstGeom prst="roundRect">
            <a:avLst>
              <a:gd name="adj" fmla="val 3273"/>
            </a:avLst>
          </a:prstGeom>
          <a:solidFill>
            <a:srgbClr val="FDF0F0"/>
          </a:solidFill>
          <a:ln/>
        </p:spPr>
      </p:sp>
      <p:sp>
        <p:nvSpPr>
          <p:cNvPr id="65" name="Text 63"/>
          <p:cNvSpPr/>
          <p:nvPr/>
        </p:nvSpPr>
        <p:spPr>
          <a:xfrm>
            <a:off x="6656832" y="3794760"/>
            <a:ext cx="4709160" cy="292608"/>
          </a:xfrm>
          <a:prstGeom prst="rect">
            <a:avLst/>
          </a:prstGeom>
          <a:noFill/>
          <a:ln/>
        </p:spPr>
        <p:txBody>
          <a:bodyPr wrap="square" lIns="0" tIns="0" rIns="0" bIns="0" rtlCol="0" anchor="ctr"/>
          <a:lstStyle/>
          <a:p>
            <a:pPr indent="0" marL="0">
              <a:buNone/>
            </a:pPr>
            <a:r>
              <a:rPr lang="en-US" sz="1400" b="1" dirty="0">
                <a:solidFill>
                  <a:srgbClr val="9C2F40"/>
                </a:solidFill>
                <a:latin typeface="Calibri" pitchFamily="34" charset="0"/>
                <a:ea typeface="Calibri" pitchFamily="34" charset="-122"/>
                <a:cs typeface="Calibri" pitchFamily="34" charset="-120"/>
              </a:rPr>
              <a:t>The classic misread</a:t>
            </a:r>
            <a:endParaRPr lang="en-US" sz="1400" dirty="0"/>
          </a:p>
        </p:txBody>
      </p:sp>
      <p:sp>
        <p:nvSpPr>
          <p:cNvPr id="66" name="Text 64"/>
          <p:cNvSpPr/>
          <p:nvPr/>
        </p:nvSpPr>
        <p:spPr>
          <a:xfrm>
            <a:off x="6656832" y="4160520"/>
            <a:ext cx="4709160" cy="182880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1C2B3A"/>
                </a:solidFill>
                <a:latin typeface="Calibri" pitchFamily="34" charset="0"/>
                <a:ea typeface="Calibri" pitchFamily="34" charset="-122"/>
                <a:cs typeface="Calibri" pitchFamily="34" charset="-120"/>
              </a:rPr>
              <a:t>Slow host on the heatmap + peak_total_pct ≈ 100% in cpu_summary.csv ⇒ you measured the CPU, not the fabric.</a:t>
            </a:r>
            <a:endParaRPr lang="en-US" sz="1200" dirty="0"/>
          </a:p>
          <a:p>
            <a:pPr marL="152400" indent="-152400">
              <a:spcAft>
                <a:spcPts val="800"/>
              </a:spcAft>
              <a:buSzPct val="100000"/>
              <a:buChar char="•"/>
            </a:pPr>
            <a:r>
              <a:rPr lang="en-US" sz="1200" dirty="0">
                <a:solidFill>
                  <a:srgbClr val="1C2B3A"/>
                </a:solidFill>
                <a:latin typeface="Calibri" pitchFamily="34" charset="0"/>
                <a:ea typeface="Calibri" pitchFamily="34" charset="-122"/>
                <a:cs typeface="Calibri" pitchFamily="34" charset="-120"/>
              </a:rPr>
              <a:t>Box-wide CPU 30% but softirq pinned at 100% on core 0 ⇒ RSS isn’t spreading NIC interrupts — invisible without per-core data, which is why mpstat -P ALL is preferred.</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Four run modes — and why they exist</a:t>
            </a:r>
            <a:endParaRPr lang="en-US" sz="2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148840"/>
                <a:gridCol w="3977640"/>
                <a:gridCol w="1691640"/>
                <a:gridCol w="3236976"/>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a:t>
                      </a:r>
                      <a:endParaRPr lang="en-US" sz="120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runs concurrently</a:t>
                      </a:r>
                      <a:endParaRPr lang="en-US" sz="120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 N=100, 10 s tests</a:t>
                      </a:r>
                      <a:endParaRPr lang="en-US" sz="120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Use it when</a:t>
                      </a:r>
                      <a:endParaRPr lang="en-US" sz="120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0F1C2E"/>
                    </a:solidFill>
                  </a:tcPr>
                </a:tc>
              </a:tr>
              <a:tr h="713232">
                <a:tc>
                  <a:txBody>
                    <a:bodyPr/>
                    <a:lstStyle/>
                    <a:p>
                      <a:pPr indent="0" marL="0">
                        <a:buNone/>
                      </a:pPr>
                      <a:r>
                        <a:rPr lang="en-US" sz="1150" b="1" dirty="0">
                          <a:solidFill>
                            <a:srgbClr val="B4651A"/>
                          </a:solidFill>
                          <a:latin typeface="Courier New" pitchFamily="34" charset="0"/>
                          <a:ea typeface="Courier New" pitchFamily="34" charset="-122"/>
                          <a:cs typeface="Courier New" pitchFamily="34" charset="-120"/>
                        </a:rPr>
                        <a:t>parallel  (default)</a:t>
                      </a:r>
                      <a:endParaRPr lang="en-US" sz="1150" dirty="0">
                        <a:latin typeface="Courier New" charset="0"/>
                        <a:ea typeface="Courier New" charset="0"/>
                        <a:cs typeface="Courier New"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150" dirty="0">
                          <a:solidFill>
                            <a:srgbClr val="1C2B3A"/>
                          </a:solidFill>
                          <a:latin typeface="Calibri" pitchFamily="34" charset="0"/>
                          <a:ea typeface="Calibri" pitchFamily="34" charset="-122"/>
                          <a:cs typeface="Calibri" pitchFamily="34" charset="-120"/>
                        </a:rPr>
                        <a:t>every host fires all its clients after one synchronized start</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150" b="1" dirty="0">
                          <a:solidFill>
                            <a:srgbClr val="1C2B3A"/>
                          </a:solidFill>
                          <a:latin typeface="Calibri" pitchFamily="34" charset="0"/>
                          <a:ea typeface="Calibri" pitchFamily="34" charset="-122"/>
                          <a:cs typeface="Calibri" pitchFamily="34" charset="-120"/>
                        </a:rPr>
                        <a:t>~50 s</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150" dirty="0">
                          <a:solidFill>
                            <a:srgbClr val="5C6B7A"/>
                          </a:solidFill>
                          <a:latin typeface="Calibri" pitchFamily="34" charset="0"/>
                          <a:ea typeface="Calibri" pitchFamily="34" charset="-122"/>
                          <a:cs typeface="Calibri" pitchFamily="34" charset="-120"/>
                        </a:rPr>
                        <a:t>Stress: load the whole fabric at once, see what breaks</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B4651A"/>
                          </a:solidFill>
                          <a:latin typeface="Courier New" pitchFamily="34" charset="0"/>
                          <a:ea typeface="Courier New" pitchFamily="34" charset="-122"/>
                          <a:cs typeface="Courier New" pitchFamily="34" charset="-120"/>
                        </a:rPr>
                        <a:t>sequential-host</a:t>
                      </a:r>
                      <a:endParaRPr lang="en-US" sz="1150" dirty="0">
                        <a:latin typeface="Courier New" charset="0"/>
                        <a:ea typeface="Courier New" charset="0"/>
                        <a:cs typeface="Courier New"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150" dirty="0">
                          <a:solidFill>
                            <a:srgbClr val="1C2B3A"/>
                          </a:solidFill>
                          <a:latin typeface="Calibri" pitchFamily="34" charset="0"/>
                          <a:ea typeface="Calibri" pitchFamily="34" charset="-122"/>
                          <a:cs typeface="Calibri" pitchFamily="34" charset="-120"/>
                        </a:rPr>
                        <a:t>one host at a time runs all its clients</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150" b="1" dirty="0">
                          <a:solidFill>
                            <a:srgbClr val="1C2B3A"/>
                          </a:solidFill>
                          <a:latin typeface="Calibri" pitchFamily="34" charset="0"/>
                          <a:ea typeface="Calibri" pitchFamily="34" charset="-122"/>
                          <a:cs typeface="Calibri" pitchFamily="34" charset="-120"/>
                        </a:rPr>
                        <a:t>~17 min</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150" dirty="0">
                          <a:solidFill>
                            <a:srgbClr val="5C6B7A"/>
                          </a:solidFill>
                          <a:latin typeface="Calibri" pitchFamily="34" charset="0"/>
                          <a:ea typeface="Calibri" pitchFamily="34" charset="-122"/>
                          <a:cs typeface="Calibri" pitchFamily="34" charset="-120"/>
                        </a:rPr>
                        <a:t>Clean per-host numbers, no inter-host interference</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r>
              <a:tr h="713232">
                <a:tc>
                  <a:txBody>
                    <a:bodyPr/>
                    <a:lstStyle/>
                    <a:p>
                      <a:pPr indent="0" marL="0">
                        <a:buNone/>
                      </a:pPr>
                      <a:r>
                        <a:rPr lang="en-US" sz="1150" b="1" dirty="0">
                          <a:solidFill>
                            <a:srgbClr val="B4651A"/>
                          </a:solidFill>
                          <a:latin typeface="Courier New" pitchFamily="34" charset="0"/>
                          <a:ea typeface="Courier New" pitchFamily="34" charset="-122"/>
                          <a:cs typeface="Courier New" pitchFamily="34" charset="-120"/>
                        </a:rPr>
                        <a:t>sequential-pair</a:t>
                      </a:r>
                      <a:endParaRPr lang="en-US" sz="1150" dirty="0">
                        <a:latin typeface="Courier New" charset="0"/>
                        <a:ea typeface="Courier New" charset="0"/>
                        <a:cs typeface="Courier New"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150" dirty="0">
                          <a:solidFill>
                            <a:srgbClr val="1C2B3A"/>
                          </a:solidFill>
                          <a:latin typeface="Calibri" pitchFamily="34" charset="0"/>
                          <a:ea typeface="Calibri" pitchFamily="34" charset="-122"/>
                          <a:cs typeface="Calibri" pitchFamily="34" charset="-120"/>
                        </a:rPr>
                        <a:t>exactly one connection on the wire</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150" b="1" dirty="0">
                          <a:solidFill>
                            <a:srgbClr val="1C2B3A"/>
                          </a:solidFill>
                          <a:latin typeface="Calibri" pitchFamily="34" charset="0"/>
                          <a:ea typeface="Calibri" pitchFamily="34" charset="-122"/>
                          <a:cs typeface="Calibri" pitchFamily="34" charset="-120"/>
                        </a:rPr>
                        <a:t>~14 h</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150" dirty="0">
                          <a:solidFill>
                            <a:srgbClr val="5C6B7A"/>
                          </a:solidFill>
                          <a:latin typeface="Calibri" pitchFamily="34" charset="0"/>
                          <a:ea typeface="Calibri" pitchFamily="34" charset="-122"/>
                          <a:cs typeface="Calibri" pitchFamily="34" charset="-120"/>
                        </a:rPr>
                        <a:t>Cleanest per-pair numbers — usually overkill</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FFFFF"/>
                    </a:solidFill>
                  </a:tcPr>
                </a:tc>
              </a:tr>
              <a:tr h="868680">
                <a:tc>
                  <a:txBody>
                    <a:bodyPr/>
                    <a:lstStyle/>
                    <a:p>
                      <a:pPr indent="0" marL="0">
                        <a:buNone/>
                      </a:pPr>
                      <a:r>
                        <a:rPr lang="en-US" sz="1150" b="1" dirty="0">
                          <a:solidFill>
                            <a:srgbClr val="B4651A"/>
                          </a:solidFill>
                          <a:latin typeface="Courier New" pitchFamily="34" charset="0"/>
                          <a:ea typeface="Courier New" pitchFamily="34" charset="-122"/>
                          <a:cs typeface="Courier New" pitchFamily="34" charset="-120"/>
                        </a:rPr>
                        <a:t>rolling</a:t>
                      </a:r>
                      <a:endParaRPr lang="en-US" sz="1150" dirty="0">
                        <a:latin typeface="Courier New" charset="0"/>
                        <a:ea typeface="Courier New" charset="0"/>
                        <a:cs typeface="Courier New"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150" dirty="0">
                          <a:solidFill>
                            <a:srgbClr val="1C2B3A"/>
                          </a:solidFill>
                          <a:latin typeface="Calibri" pitchFamily="34" charset="0"/>
                          <a:ea typeface="Calibri" pitchFamily="34" charset="-122"/>
                          <a:cs typeface="Calibri" pitchFamily="34" charset="-120"/>
                        </a:rPr>
                        <a:t>each host keeps picking its least-tested peer; ≤ --flows tests at once, for --total-time</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150" b="1" dirty="0">
                          <a:solidFill>
                            <a:srgbClr val="1C2B3A"/>
                          </a:solidFill>
                          <a:latin typeface="Calibri" pitchFamily="34" charset="0"/>
                          <a:ea typeface="Calibri" pitchFamily="34" charset="-122"/>
                          <a:cs typeface="Calibri" pitchFamily="34" charset="-120"/>
                        </a:rPr>
                        <a:t>bounded by --total-time</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c>
                  <a:txBody>
                    <a:bodyPr/>
                    <a:lstStyle/>
                    <a:p>
                      <a:pPr indent="0" marL="0">
                        <a:buNone/>
                      </a:pPr>
                      <a:r>
                        <a:rPr lang="en-US" sz="1150" dirty="0">
                          <a:solidFill>
                            <a:srgbClr val="5C6B7A"/>
                          </a:solidFill>
                          <a:latin typeface="Calibri" pitchFamily="34" charset="0"/>
                          <a:ea typeface="Calibri" pitchFamily="34" charset="-122"/>
                          <a:cs typeface="Calibri" pitchFamily="34" charset="-120"/>
                        </a:rPr>
                        <a:t>Very large N: per-host load stays constant regardless of fleet size</a:t>
                      </a:r>
                      <a:endParaRPr lang="en-US" sz="1150" dirty="0">
                        <a:latin typeface="Calibri" charset="0"/>
                        <a:ea typeface="Calibri" charset="0"/>
                        <a:cs typeface="Calibri" charset="0"/>
                      </a:endParaRPr>
                    </a:p>
                  </a:txBody>
                  <a:tcPr marL="73152" marR="73152" marT="73152" marB="73152" anchor="ctr">
                    <a:lnL w="9525" cap="flat" cmpd="sng" algn="ctr">
                      <a:solidFill>
                        <a:srgbClr val="DCE4EC"/>
                      </a:solidFill>
                      <a:prstDash val="solid"/>
                      <a:round/>
                      <a:headEnd type="none" w="med" len="med"/>
                      <a:tailEnd type="none" w="med" len="med"/>
                    </a:lnL>
                    <a:lnR w="9525" cap="flat" cmpd="sng" algn="ctr">
                      <a:solidFill>
                        <a:srgbClr val="DCE4EC"/>
                      </a:solidFill>
                      <a:prstDash val="solid"/>
                      <a:round/>
                      <a:headEnd type="none" w="med" len="med"/>
                      <a:tailEnd type="none" w="med" len="med"/>
                    </a:lnR>
                    <a:lnT w="9525" cap="flat" cmpd="sng" algn="ctr">
                      <a:solidFill>
                        <a:srgbClr val="DCE4EC"/>
                      </a:solidFill>
                      <a:prstDash val="solid"/>
                      <a:round/>
                      <a:headEnd type="none" w="med" len="med"/>
                      <a:tailEnd type="none" w="med" len="med"/>
                    </a:lnT>
                    <a:lnB w="9525" cap="flat" cmpd="sng" algn="ctr">
                      <a:solidFill>
                        <a:srgbClr val="DCE4EC"/>
                      </a:solidFill>
                      <a:prstDash val="solid"/>
                      <a:round/>
                      <a:headEnd type="none" w="med" len="med"/>
                      <a:tailEnd type="none" w="med" len="med"/>
                    </a:lnB>
                    <a:solidFill>
                      <a:srgbClr val="F1F4F8"/>
                    </a:solidFill>
                  </a:tcPr>
                </a:tc>
              </a:tr>
            </a:tbl>
          </a:graphicData>
        </a:graphic>
      </p:graphicFrame>
      <p:sp>
        <p:nvSpPr>
          <p:cNvPr id="5" name="Text 2"/>
          <p:cNvSpPr/>
          <p:nvPr/>
        </p:nvSpPr>
        <p:spPr>
          <a:xfrm>
            <a:off x="566928" y="5349240"/>
            <a:ext cx="11055096" cy="1051560"/>
          </a:xfrm>
          <a:prstGeom prst="rect">
            <a:avLst/>
          </a:prstGeom>
          <a:noFill/>
          <a:ln/>
        </p:spPr>
        <p:txBody>
          <a:bodyPr wrap="square" lIns="0" tIns="0" rIns="0" bIns="0" rtlCol="0" anchor="ctr"/>
          <a:lstStyle/>
          <a:p>
            <a:pPr indent="0" marL="0">
              <a:buNone/>
            </a:pPr>
            <a:r>
              <a:rPr lang="en-US" sz="1250" b="1" dirty="0">
                <a:solidFill>
                  <a:srgbClr val="1C2B3A"/>
                </a:solidFill>
                <a:latin typeface="Calibri" pitchFamily="34" charset="0"/>
                <a:ea typeface="Calibri" pitchFamily="34" charset="-122"/>
                <a:cs typeface="Calibri" pitchFamily="34" charset="-120"/>
              </a:rPr>
              <a:t>Why modes at all?  </a:t>
            </a:r>
            <a:pPr indent="0" marL="0">
              <a:buNone/>
            </a:pPr>
            <a:r>
              <a:rPr lang="en-US" sz="1250" dirty="0">
                <a:solidFill>
                  <a:srgbClr val="5C6B7A"/>
                </a:solidFill>
                <a:latin typeface="Calibri" pitchFamily="34" charset="0"/>
                <a:ea typeface="Calibri" pitchFamily="34" charset="-122"/>
                <a:cs typeface="Calibri" pitchFamily="34" charset="-120"/>
              </a:rPr>
              <a:t>One knob — how much traffic shares the wire at once — trades realism against isolation against wall-clock. parallel answers “what breaks under load?”; the sequential modes answer “what is each host / pair capable of?”; rolling exists because at very large N even parallel setup cost and full-mesh load become the problem, so each host just keeps a few flows rolling for a fixed time.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D97C1F"/>
                </a:solidFill>
                <a:latin typeface="Calibri" pitchFamily="34" charset="0"/>
                <a:ea typeface="Calibri" pitchFamily="34" charset="-122"/>
                <a:cs typeface="Calibri" pitchFamily="34" charset="-120"/>
              </a:rPr>
              <a:t>IPERF_ORCHESTRATOR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Different ways to run it</a:t>
            </a:r>
            <a:endParaRPr lang="en-US" sz="2900" dirty="0"/>
          </a:p>
        </p:txBody>
      </p:sp>
      <p:sp>
        <p:nvSpPr>
          <p:cNvPr id="4" name="Shape 2"/>
          <p:cNvSpPr/>
          <p:nvPr/>
        </p:nvSpPr>
        <p:spPr>
          <a:xfrm>
            <a:off x="566928" y="1554480"/>
            <a:ext cx="3532632" cy="4343400"/>
          </a:xfrm>
          <a:prstGeom prst="roundRect">
            <a:avLst>
              <a:gd name="adj" fmla="val 2330"/>
            </a:avLst>
          </a:prstGeom>
          <a:solidFill>
            <a:srgbClr val="F1F4F8"/>
          </a:solidFill>
          <a:ln/>
        </p:spPr>
      </p:sp>
      <p:sp>
        <p:nvSpPr>
          <p:cNvPr id="5" name="Text 3"/>
          <p:cNvSpPr/>
          <p:nvPr/>
        </p:nvSpPr>
        <p:spPr>
          <a:xfrm>
            <a:off x="822960" y="1755648"/>
            <a:ext cx="3020568" cy="320040"/>
          </a:xfrm>
          <a:prstGeom prst="rect">
            <a:avLst/>
          </a:prstGeom>
          <a:noFill/>
          <a:ln/>
        </p:spPr>
        <p:txBody>
          <a:bodyPr wrap="square" lIns="0" tIns="0" rIns="0" bIns="0" rtlCol="0" anchor="ctr"/>
          <a:lstStyle/>
          <a:p>
            <a:pPr indent="0" marL="0">
              <a:buNone/>
            </a:pPr>
            <a:r>
              <a:rPr lang="en-US" sz="1500" b="1" dirty="0">
                <a:solidFill>
                  <a:srgbClr val="D97C1F"/>
                </a:solidFill>
                <a:latin typeface="Calibri" pitchFamily="34" charset="0"/>
                <a:ea typeface="Calibri" pitchFamily="34" charset="-122"/>
                <a:cs typeface="Calibri" pitchFamily="34" charset="-120"/>
              </a:rPr>
              <a:t>Scale it</a:t>
            </a:r>
            <a:endParaRPr lang="en-US" sz="1500" dirty="0"/>
          </a:p>
        </p:txBody>
      </p:sp>
      <p:sp>
        <p:nvSpPr>
          <p:cNvPr id="6" name="Text 4"/>
          <p:cNvSpPr/>
          <p:nvPr/>
        </p:nvSpPr>
        <p:spPr>
          <a:xfrm>
            <a:off x="822960" y="2194560"/>
            <a:ext cx="3020568" cy="3566160"/>
          </a:xfrm>
          <a:prstGeom prst="rect">
            <a:avLst/>
          </a:prstGeom>
          <a:noFill/>
          <a:ln/>
        </p:spPr>
        <p:txBody>
          <a:bodyPr wrap="square" lIns="0" tIns="0" rIns="0" bIns="0" rtlCol="0" anchor="t"/>
          <a:lstStyle/>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--jobs 64 — cap on parallel ssh fan-out (setup/teardown only)</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--retries N — re-try flaky hosts with linear back-off</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--duration / -P — seconds per test, parallel streams within it</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rolling: --total-time, --flows</a:t>
            </a:r>
            <a:endParaRPr lang="en-US" sz="1150" dirty="0"/>
          </a:p>
        </p:txBody>
      </p:sp>
      <p:sp>
        <p:nvSpPr>
          <p:cNvPr id="7" name="Shape 5"/>
          <p:cNvSpPr/>
          <p:nvPr/>
        </p:nvSpPr>
        <p:spPr>
          <a:xfrm>
            <a:off x="4328160" y="1554480"/>
            <a:ext cx="3532632" cy="4343400"/>
          </a:xfrm>
          <a:prstGeom prst="roundRect">
            <a:avLst>
              <a:gd name="adj" fmla="val 2330"/>
            </a:avLst>
          </a:prstGeom>
          <a:solidFill>
            <a:srgbClr val="F1F4F8"/>
          </a:solidFill>
          <a:ln/>
        </p:spPr>
      </p:sp>
      <p:sp>
        <p:nvSpPr>
          <p:cNvPr id="8" name="Text 6"/>
          <p:cNvSpPr/>
          <p:nvPr/>
        </p:nvSpPr>
        <p:spPr>
          <a:xfrm>
            <a:off x="4584192" y="1755648"/>
            <a:ext cx="3020568" cy="320040"/>
          </a:xfrm>
          <a:prstGeom prst="rect">
            <a:avLst/>
          </a:prstGeom>
          <a:noFill/>
          <a:ln/>
        </p:spPr>
        <p:txBody>
          <a:bodyPr wrap="square" lIns="0" tIns="0" rIns="0" bIns="0" rtlCol="0" anchor="ctr"/>
          <a:lstStyle/>
          <a:p>
            <a:pPr indent="0" marL="0">
              <a:buNone/>
            </a:pPr>
            <a:r>
              <a:rPr lang="en-US" sz="1500" b="1" dirty="0">
                <a:solidFill>
                  <a:srgbClr val="3E5C76"/>
                </a:solidFill>
                <a:latin typeface="Calibri" pitchFamily="34" charset="0"/>
                <a:ea typeface="Calibri" pitchFamily="34" charset="-122"/>
                <a:cs typeface="Calibri" pitchFamily="34" charset="-120"/>
              </a:rPr>
              <a:t>Trust it</a:t>
            </a:r>
            <a:endParaRPr lang="en-US" sz="1500" dirty="0"/>
          </a:p>
        </p:txBody>
      </p:sp>
      <p:sp>
        <p:nvSpPr>
          <p:cNvPr id="9" name="Text 7"/>
          <p:cNvSpPr/>
          <p:nvPr/>
        </p:nvSpPr>
        <p:spPr>
          <a:xfrm>
            <a:off x="4584192" y="2194560"/>
            <a:ext cx="3020568" cy="3566160"/>
          </a:xfrm>
          <a:prstGeom prst="rect">
            <a:avLst/>
          </a:prstGeom>
          <a:noFill/>
          <a:ln/>
        </p:spPr>
        <p:txBody>
          <a:bodyPr wrap="square" lIns="0" tIns="0" rIns="0" bIns="0" rtlCol="0" anchor="t"/>
          <a:lstStyle/>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--dry-run — print every ssh/scp command instead of executing</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--keep-going — finish the fleet past per-host failures</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--resume — pick up an aborted all where it stopped</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status — probe hosts live, list runs</a:t>
            </a:r>
            <a:endParaRPr lang="en-US" sz="1150" dirty="0"/>
          </a:p>
        </p:txBody>
      </p:sp>
      <p:sp>
        <p:nvSpPr>
          <p:cNvPr id="10" name="Shape 8"/>
          <p:cNvSpPr/>
          <p:nvPr/>
        </p:nvSpPr>
        <p:spPr>
          <a:xfrm>
            <a:off x="8089392" y="1554480"/>
            <a:ext cx="3532632" cy="4343400"/>
          </a:xfrm>
          <a:prstGeom prst="roundRect">
            <a:avLst>
              <a:gd name="adj" fmla="val 2330"/>
            </a:avLst>
          </a:prstGeom>
          <a:solidFill>
            <a:srgbClr val="F1F4F8"/>
          </a:solidFill>
          <a:ln/>
        </p:spPr>
      </p:sp>
      <p:sp>
        <p:nvSpPr>
          <p:cNvPr id="11" name="Text 9"/>
          <p:cNvSpPr/>
          <p:nvPr/>
        </p:nvSpPr>
        <p:spPr>
          <a:xfrm>
            <a:off x="8345424" y="1755648"/>
            <a:ext cx="3020568" cy="320040"/>
          </a:xfrm>
          <a:prstGeom prst="rect">
            <a:avLst/>
          </a:prstGeom>
          <a:noFill/>
          <a:ln/>
        </p:spPr>
        <p:txBody>
          <a:bodyPr wrap="square" lIns="0" tIns="0" rIns="0" bIns="0" rtlCol="0" anchor="ctr"/>
          <a:lstStyle/>
          <a:p>
            <a:pPr indent="0" marL="0">
              <a:buNone/>
            </a:pPr>
            <a:r>
              <a:rPr lang="en-US" sz="1500" b="1" dirty="0">
                <a:solidFill>
                  <a:srgbClr val="3E5C76"/>
                </a:solidFill>
                <a:latin typeface="Calibri" pitchFamily="34" charset="0"/>
                <a:ea typeface="Calibri" pitchFamily="34" charset="-122"/>
                <a:cs typeface="Calibri" pitchFamily="34" charset="-120"/>
              </a:rPr>
              <a:t>Fit it in</a:t>
            </a:r>
            <a:endParaRPr lang="en-US" sz="1500" dirty="0"/>
          </a:p>
        </p:txBody>
      </p:sp>
      <p:sp>
        <p:nvSpPr>
          <p:cNvPr id="12" name="Text 10"/>
          <p:cNvSpPr/>
          <p:nvPr/>
        </p:nvSpPr>
        <p:spPr>
          <a:xfrm>
            <a:off x="8345424" y="2194560"/>
            <a:ext cx="3020568" cy="3566160"/>
          </a:xfrm>
          <a:prstGeom prst="rect">
            <a:avLst/>
          </a:prstGeom>
          <a:noFill/>
          <a:ln/>
        </p:spPr>
        <p:txBody>
          <a:bodyPr wrap="square" lIns="0" tIns="0" rIns="0" bIns="0" rtlCol="0" anchor="t"/>
          <a:lstStyle/>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Every flag is also an env var (IPERF_DURATION=60 …) — script it either way</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--run-id — address any historical run</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REMOTE_DIR safe on shared filesystems — files embed host + run-id</a:t>
            </a:r>
            <a:endParaRPr lang="en-US" sz="1150" dirty="0"/>
          </a:p>
          <a:p>
            <a:pPr marL="152400" indent="-152400">
              <a:spcAft>
                <a:spcPts val="900"/>
              </a:spcAft>
              <a:buSzPct val="100000"/>
              <a:buChar char="•"/>
            </a:pPr>
            <a:r>
              <a:rPr lang="en-US" sz="1150" dirty="0">
                <a:solidFill>
                  <a:srgbClr val="1C2B3A"/>
                </a:solidFill>
                <a:latin typeface="Calibri" pitchFamily="34" charset="0"/>
                <a:ea typeface="Calibri" pitchFamily="34" charset="-122"/>
                <a:cs typeface="Calibri" pitchFamily="34" charset="-120"/>
              </a:rPr>
              <a:t>Stateless: state is derived by probing, never stored</a:t>
            </a:r>
            <a:endParaRPr lang="en-US" sz="1150" dirty="0"/>
          </a:p>
        </p:txBody>
      </p:sp>
      <p:sp>
        <p:nvSpPr>
          <p:cNvPr id="13" name="Text 11"/>
          <p:cNvSpPr/>
          <p:nvPr/>
        </p:nvSpPr>
        <p:spPr>
          <a:xfrm>
            <a:off x="566928" y="6035040"/>
            <a:ext cx="11055096" cy="320040"/>
          </a:xfrm>
          <a:prstGeom prst="rect">
            <a:avLst/>
          </a:prstGeom>
          <a:noFill/>
          <a:ln/>
        </p:spPr>
        <p:txBody>
          <a:bodyPr wrap="square" lIns="0" tIns="0" rIns="0" bIns="0" rtlCol="0" anchor="ctr"/>
          <a:lstStyle/>
          <a:p>
            <a:pPr algn="ctr" indent="0" marL="0">
              <a:buNone/>
            </a:pPr>
            <a:r>
              <a:rPr lang="en-US" sz="1200" b="1" dirty="0">
                <a:solidFill>
                  <a:srgbClr val="B4651A"/>
                </a:solidFill>
                <a:latin typeface="Courier New" pitchFamily="34" charset="0"/>
                <a:ea typeface="Courier New" pitchFamily="34" charset="-122"/>
                <a:cs typeface="Courier New" pitchFamily="34" charset="-120"/>
              </a:rPr>
              <a:t>One-liner to remember:  iperf-orchestrator --servers servers.txt all   — everything else is refinement.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8814816" y="1371600"/>
            <a:ext cx="475488" cy="475488"/>
          </a:xfrm>
          <a:prstGeom prst="roundRect">
            <a:avLst>
              <a:gd name="adj" fmla="val 18000"/>
            </a:avLst>
          </a:prstGeom>
          <a:solidFill>
            <a:srgbClr val="223650"/>
          </a:solidFill>
          <a:ln/>
        </p:spPr>
      </p:sp>
      <p:sp>
        <p:nvSpPr>
          <p:cNvPr id="3" name="Shape 1"/>
          <p:cNvSpPr/>
          <p:nvPr/>
        </p:nvSpPr>
        <p:spPr>
          <a:xfrm>
            <a:off x="9400032" y="1371600"/>
            <a:ext cx="475488" cy="475488"/>
          </a:xfrm>
          <a:prstGeom prst="roundRect">
            <a:avLst>
              <a:gd name="adj" fmla="val 18000"/>
            </a:avLst>
          </a:prstGeom>
          <a:solidFill>
            <a:srgbClr val="16283E"/>
          </a:solidFill>
          <a:ln/>
        </p:spPr>
      </p:sp>
      <p:sp>
        <p:nvSpPr>
          <p:cNvPr id="4" name="Shape 2"/>
          <p:cNvSpPr/>
          <p:nvPr/>
        </p:nvSpPr>
        <p:spPr>
          <a:xfrm>
            <a:off x="9985248" y="1371600"/>
            <a:ext cx="475488" cy="475488"/>
          </a:xfrm>
          <a:prstGeom prst="roundRect">
            <a:avLst>
              <a:gd name="adj" fmla="val 18000"/>
            </a:avLst>
          </a:prstGeom>
          <a:solidFill>
            <a:srgbClr val="16283E"/>
          </a:solidFill>
          <a:ln/>
        </p:spPr>
      </p:sp>
      <p:sp>
        <p:nvSpPr>
          <p:cNvPr id="5" name="Shape 3"/>
          <p:cNvSpPr/>
          <p:nvPr/>
        </p:nvSpPr>
        <p:spPr>
          <a:xfrm>
            <a:off x="10570464" y="1371600"/>
            <a:ext cx="475488" cy="475488"/>
          </a:xfrm>
          <a:prstGeom prst="roundRect">
            <a:avLst>
              <a:gd name="adj" fmla="val 18000"/>
            </a:avLst>
          </a:prstGeom>
          <a:solidFill>
            <a:srgbClr val="BE3B4E"/>
          </a:solidFill>
          <a:ln/>
        </p:spPr>
      </p:sp>
      <p:sp>
        <p:nvSpPr>
          <p:cNvPr id="6" name="Shape 4"/>
          <p:cNvSpPr/>
          <p:nvPr/>
        </p:nvSpPr>
        <p:spPr>
          <a:xfrm>
            <a:off x="11155680" y="1371600"/>
            <a:ext cx="475488" cy="475488"/>
          </a:xfrm>
          <a:prstGeom prst="roundRect">
            <a:avLst>
              <a:gd name="adj" fmla="val 18000"/>
            </a:avLst>
          </a:prstGeom>
          <a:solidFill>
            <a:srgbClr val="16283E"/>
          </a:solidFill>
          <a:ln/>
        </p:spPr>
      </p:sp>
      <p:sp>
        <p:nvSpPr>
          <p:cNvPr id="7" name="Shape 5"/>
          <p:cNvSpPr/>
          <p:nvPr/>
        </p:nvSpPr>
        <p:spPr>
          <a:xfrm>
            <a:off x="11740896" y="1371600"/>
            <a:ext cx="475488" cy="475488"/>
          </a:xfrm>
          <a:prstGeom prst="roundRect">
            <a:avLst>
              <a:gd name="adj" fmla="val 18000"/>
            </a:avLst>
          </a:prstGeom>
          <a:solidFill>
            <a:srgbClr val="BE3B4E"/>
          </a:solidFill>
          <a:ln/>
        </p:spPr>
      </p:sp>
      <p:sp>
        <p:nvSpPr>
          <p:cNvPr id="8" name="Shape 6"/>
          <p:cNvSpPr/>
          <p:nvPr/>
        </p:nvSpPr>
        <p:spPr>
          <a:xfrm>
            <a:off x="8229600" y="1956816"/>
            <a:ext cx="475488" cy="475488"/>
          </a:xfrm>
          <a:prstGeom prst="roundRect">
            <a:avLst>
              <a:gd name="adj" fmla="val 18000"/>
            </a:avLst>
          </a:prstGeom>
          <a:solidFill>
            <a:srgbClr val="16283E"/>
          </a:solidFill>
          <a:ln/>
        </p:spPr>
      </p:sp>
      <p:sp>
        <p:nvSpPr>
          <p:cNvPr id="9" name="Shape 7"/>
          <p:cNvSpPr/>
          <p:nvPr/>
        </p:nvSpPr>
        <p:spPr>
          <a:xfrm>
            <a:off x="9400032" y="1956816"/>
            <a:ext cx="475488" cy="475488"/>
          </a:xfrm>
          <a:prstGeom prst="roundRect">
            <a:avLst>
              <a:gd name="adj" fmla="val 18000"/>
            </a:avLst>
          </a:prstGeom>
          <a:solidFill>
            <a:srgbClr val="16283E"/>
          </a:solidFill>
          <a:ln/>
        </p:spPr>
      </p:sp>
      <p:sp>
        <p:nvSpPr>
          <p:cNvPr id="10" name="Shape 8"/>
          <p:cNvSpPr/>
          <p:nvPr/>
        </p:nvSpPr>
        <p:spPr>
          <a:xfrm>
            <a:off x="9985248" y="1956816"/>
            <a:ext cx="475488" cy="475488"/>
          </a:xfrm>
          <a:prstGeom prst="roundRect">
            <a:avLst>
              <a:gd name="adj" fmla="val 18000"/>
            </a:avLst>
          </a:prstGeom>
          <a:solidFill>
            <a:srgbClr val="16283E"/>
          </a:solidFill>
          <a:ln/>
        </p:spPr>
      </p:sp>
      <p:sp>
        <p:nvSpPr>
          <p:cNvPr id="11" name="Shape 9"/>
          <p:cNvSpPr/>
          <p:nvPr/>
        </p:nvSpPr>
        <p:spPr>
          <a:xfrm>
            <a:off x="10570464" y="1956816"/>
            <a:ext cx="475488" cy="475488"/>
          </a:xfrm>
          <a:prstGeom prst="roundRect">
            <a:avLst>
              <a:gd name="adj" fmla="val 18000"/>
            </a:avLst>
          </a:prstGeom>
          <a:solidFill>
            <a:srgbClr val="16283E"/>
          </a:solidFill>
          <a:ln/>
        </p:spPr>
      </p:sp>
      <p:sp>
        <p:nvSpPr>
          <p:cNvPr id="12" name="Shape 10"/>
          <p:cNvSpPr/>
          <p:nvPr/>
        </p:nvSpPr>
        <p:spPr>
          <a:xfrm>
            <a:off x="11155680" y="1956816"/>
            <a:ext cx="475488" cy="475488"/>
          </a:xfrm>
          <a:prstGeom prst="roundRect">
            <a:avLst>
              <a:gd name="adj" fmla="val 18000"/>
            </a:avLst>
          </a:prstGeom>
          <a:solidFill>
            <a:srgbClr val="223650"/>
          </a:solidFill>
          <a:ln/>
        </p:spPr>
      </p:sp>
      <p:sp>
        <p:nvSpPr>
          <p:cNvPr id="13" name="Shape 11"/>
          <p:cNvSpPr/>
          <p:nvPr/>
        </p:nvSpPr>
        <p:spPr>
          <a:xfrm>
            <a:off x="11740896" y="1956816"/>
            <a:ext cx="475488" cy="475488"/>
          </a:xfrm>
          <a:prstGeom prst="roundRect">
            <a:avLst>
              <a:gd name="adj" fmla="val 18000"/>
            </a:avLst>
          </a:prstGeom>
          <a:solidFill>
            <a:srgbClr val="16283E"/>
          </a:solidFill>
          <a:ln/>
        </p:spPr>
      </p:sp>
      <p:sp>
        <p:nvSpPr>
          <p:cNvPr id="14" name="Shape 12"/>
          <p:cNvSpPr/>
          <p:nvPr/>
        </p:nvSpPr>
        <p:spPr>
          <a:xfrm>
            <a:off x="8229600" y="2542032"/>
            <a:ext cx="475488" cy="475488"/>
          </a:xfrm>
          <a:prstGeom prst="roundRect">
            <a:avLst>
              <a:gd name="adj" fmla="val 18000"/>
            </a:avLst>
          </a:prstGeom>
          <a:solidFill>
            <a:srgbClr val="16283E"/>
          </a:solidFill>
          <a:ln/>
        </p:spPr>
      </p:sp>
      <p:sp>
        <p:nvSpPr>
          <p:cNvPr id="15" name="Shape 13"/>
          <p:cNvSpPr/>
          <p:nvPr/>
        </p:nvSpPr>
        <p:spPr>
          <a:xfrm>
            <a:off x="8814816" y="2542032"/>
            <a:ext cx="475488" cy="475488"/>
          </a:xfrm>
          <a:prstGeom prst="roundRect">
            <a:avLst>
              <a:gd name="adj" fmla="val 18000"/>
            </a:avLst>
          </a:prstGeom>
          <a:solidFill>
            <a:srgbClr val="BE3B4E"/>
          </a:solidFill>
          <a:ln/>
        </p:spPr>
      </p:sp>
      <p:sp>
        <p:nvSpPr>
          <p:cNvPr id="16" name="Shape 14"/>
          <p:cNvSpPr/>
          <p:nvPr/>
        </p:nvSpPr>
        <p:spPr>
          <a:xfrm>
            <a:off x="9985248" y="2542032"/>
            <a:ext cx="475488" cy="475488"/>
          </a:xfrm>
          <a:prstGeom prst="roundRect">
            <a:avLst>
              <a:gd name="adj" fmla="val 18000"/>
            </a:avLst>
          </a:prstGeom>
          <a:solidFill>
            <a:srgbClr val="16283E"/>
          </a:solidFill>
          <a:ln/>
        </p:spPr>
      </p:sp>
      <p:sp>
        <p:nvSpPr>
          <p:cNvPr id="17" name="Shape 15"/>
          <p:cNvSpPr/>
          <p:nvPr/>
        </p:nvSpPr>
        <p:spPr>
          <a:xfrm>
            <a:off x="10570464" y="2542032"/>
            <a:ext cx="475488" cy="475488"/>
          </a:xfrm>
          <a:prstGeom prst="roundRect">
            <a:avLst>
              <a:gd name="adj" fmla="val 18000"/>
            </a:avLst>
          </a:prstGeom>
          <a:solidFill>
            <a:srgbClr val="16283E"/>
          </a:solidFill>
          <a:ln/>
        </p:spPr>
      </p:sp>
      <p:sp>
        <p:nvSpPr>
          <p:cNvPr id="18" name="Shape 16"/>
          <p:cNvSpPr/>
          <p:nvPr/>
        </p:nvSpPr>
        <p:spPr>
          <a:xfrm>
            <a:off x="11155680" y="2542032"/>
            <a:ext cx="475488" cy="475488"/>
          </a:xfrm>
          <a:prstGeom prst="roundRect">
            <a:avLst>
              <a:gd name="adj" fmla="val 18000"/>
            </a:avLst>
          </a:prstGeom>
          <a:solidFill>
            <a:srgbClr val="16283E"/>
          </a:solidFill>
          <a:ln/>
        </p:spPr>
      </p:sp>
      <p:sp>
        <p:nvSpPr>
          <p:cNvPr id="19" name="Shape 17"/>
          <p:cNvSpPr/>
          <p:nvPr/>
        </p:nvSpPr>
        <p:spPr>
          <a:xfrm>
            <a:off x="11740896" y="2542032"/>
            <a:ext cx="475488" cy="475488"/>
          </a:xfrm>
          <a:prstGeom prst="roundRect">
            <a:avLst>
              <a:gd name="adj" fmla="val 18000"/>
            </a:avLst>
          </a:prstGeom>
          <a:solidFill>
            <a:srgbClr val="16283E"/>
          </a:solidFill>
          <a:ln/>
        </p:spPr>
      </p:sp>
      <p:sp>
        <p:nvSpPr>
          <p:cNvPr id="20" name="Shape 18"/>
          <p:cNvSpPr/>
          <p:nvPr/>
        </p:nvSpPr>
        <p:spPr>
          <a:xfrm>
            <a:off x="8229600" y="3127248"/>
            <a:ext cx="475488" cy="475488"/>
          </a:xfrm>
          <a:prstGeom prst="roundRect">
            <a:avLst>
              <a:gd name="adj" fmla="val 18000"/>
            </a:avLst>
          </a:prstGeom>
          <a:solidFill>
            <a:srgbClr val="223650"/>
          </a:solidFill>
          <a:ln/>
        </p:spPr>
      </p:sp>
      <p:sp>
        <p:nvSpPr>
          <p:cNvPr id="21" name="Shape 19"/>
          <p:cNvSpPr/>
          <p:nvPr/>
        </p:nvSpPr>
        <p:spPr>
          <a:xfrm>
            <a:off x="8814816" y="3127248"/>
            <a:ext cx="475488" cy="475488"/>
          </a:xfrm>
          <a:prstGeom prst="roundRect">
            <a:avLst>
              <a:gd name="adj" fmla="val 18000"/>
            </a:avLst>
          </a:prstGeom>
          <a:solidFill>
            <a:srgbClr val="16283E"/>
          </a:solidFill>
          <a:ln/>
        </p:spPr>
      </p:sp>
      <p:sp>
        <p:nvSpPr>
          <p:cNvPr id="22" name="Shape 20"/>
          <p:cNvSpPr/>
          <p:nvPr/>
        </p:nvSpPr>
        <p:spPr>
          <a:xfrm>
            <a:off x="9400032" y="3127248"/>
            <a:ext cx="475488" cy="475488"/>
          </a:xfrm>
          <a:prstGeom prst="roundRect">
            <a:avLst>
              <a:gd name="adj" fmla="val 18000"/>
            </a:avLst>
          </a:prstGeom>
          <a:solidFill>
            <a:srgbClr val="223650"/>
          </a:solidFill>
          <a:ln/>
        </p:spPr>
      </p:sp>
      <p:sp>
        <p:nvSpPr>
          <p:cNvPr id="23" name="Shape 21"/>
          <p:cNvSpPr/>
          <p:nvPr/>
        </p:nvSpPr>
        <p:spPr>
          <a:xfrm>
            <a:off x="10570464" y="3127248"/>
            <a:ext cx="475488" cy="475488"/>
          </a:xfrm>
          <a:prstGeom prst="roundRect">
            <a:avLst>
              <a:gd name="adj" fmla="val 18000"/>
            </a:avLst>
          </a:prstGeom>
          <a:solidFill>
            <a:srgbClr val="16283E"/>
          </a:solidFill>
          <a:ln/>
        </p:spPr>
      </p:sp>
      <p:sp>
        <p:nvSpPr>
          <p:cNvPr id="24" name="Shape 22"/>
          <p:cNvSpPr/>
          <p:nvPr/>
        </p:nvSpPr>
        <p:spPr>
          <a:xfrm>
            <a:off x="11155680" y="3127248"/>
            <a:ext cx="475488" cy="475488"/>
          </a:xfrm>
          <a:prstGeom prst="roundRect">
            <a:avLst>
              <a:gd name="adj" fmla="val 18000"/>
            </a:avLst>
          </a:prstGeom>
          <a:solidFill>
            <a:srgbClr val="BE3B4E"/>
          </a:solidFill>
          <a:ln/>
        </p:spPr>
      </p:sp>
      <p:sp>
        <p:nvSpPr>
          <p:cNvPr id="25" name="Shape 23"/>
          <p:cNvSpPr/>
          <p:nvPr/>
        </p:nvSpPr>
        <p:spPr>
          <a:xfrm>
            <a:off x="11740896" y="3127248"/>
            <a:ext cx="475488" cy="475488"/>
          </a:xfrm>
          <a:prstGeom prst="roundRect">
            <a:avLst>
              <a:gd name="adj" fmla="val 18000"/>
            </a:avLst>
          </a:prstGeom>
          <a:solidFill>
            <a:srgbClr val="16283E"/>
          </a:solidFill>
          <a:ln/>
        </p:spPr>
      </p:sp>
      <p:sp>
        <p:nvSpPr>
          <p:cNvPr id="26" name="Shape 24"/>
          <p:cNvSpPr/>
          <p:nvPr/>
        </p:nvSpPr>
        <p:spPr>
          <a:xfrm>
            <a:off x="8229600" y="3712464"/>
            <a:ext cx="475488" cy="475488"/>
          </a:xfrm>
          <a:prstGeom prst="roundRect">
            <a:avLst>
              <a:gd name="adj" fmla="val 18000"/>
            </a:avLst>
          </a:prstGeom>
          <a:solidFill>
            <a:srgbClr val="16283E"/>
          </a:solidFill>
          <a:ln/>
        </p:spPr>
      </p:sp>
      <p:sp>
        <p:nvSpPr>
          <p:cNvPr id="27" name="Shape 25"/>
          <p:cNvSpPr/>
          <p:nvPr/>
        </p:nvSpPr>
        <p:spPr>
          <a:xfrm>
            <a:off x="8814816" y="3712464"/>
            <a:ext cx="475488" cy="475488"/>
          </a:xfrm>
          <a:prstGeom prst="roundRect">
            <a:avLst>
              <a:gd name="adj" fmla="val 18000"/>
            </a:avLst>
          </a:prstGeom>
          <a:solidFill>
            <a:srgbClr val="16283E"/>
          </a:solidFill>
          <a:ln/>
        </p:spPr>
      </p:sp>
      <p:sp>
        <p:nvSpPr>
          <p:cNvPr id="28" name="Shape 26"/>
          <p:cNvSpPr/>
          <p:nvPr/>
        </p:nvSpPr>
        <p:spPr>
          <a:xfrm>
            <a:off x="9400032" y="3712464"/>
            <a:ext cx="475488" cy="475488"/>
          </a:xfrm>
          <a:prstGeom prst="roundRect">
            <a:avLst>
              <a:gd name="adj" fmla="val 18000"/>
            </a:avLst>
          </a:prstGeom>
          <a:solidFill>
            <a:srgbClr val="16283E"/>
          </a:solidFill>
          <a:ln/>
        </p:spPr>
      </p:sp>
      <p:sp>
        <p:nvSpPr>
          <p:cNvPr id="29" name="Shape 27"/>
          <p:cNvSpPr/>
          <p:nvPr/>
        </p:nvSpPr>
        <p:spPr>
          <a:xfrm>
            <a:off x="9985248" y="3712464"/>
            <a:ext cx="475488" cy="475488"/>
          </a:xfrm>
          <a:prstGeom prst="roundRect">
            <a:avLst>
              <a:gd name="adj" fmla="val 18000"/>
            </a:avLst>
          </a:prstGeom>
          <a:solidFill>
            <a:srgbClr val="16283E"/>
          </a:solidFill>
          <a:ln/>
        </p:spPr>
      </p:sp>
      <p:sp>
        <p:nvSpPr>
          <p:cNvPr id="30" name="Shape 28"/>
          <p:cNvSpPr/>
          <p:nvPr/>
        </p:nvSpPr>
        <p:spPr>
          <a:xfrm>
            <a:off x="11155680" y="3712464"/>
            <a:ext cx="475488" cy="475488"/>
          </a:xfrm>
          <a:prstGeom prst="roundRect">
            <a:avLst>
              <a:gd name="adj" fmla="val 18000"/>
            </a:avLst>
          </a:prstGeom>
          <a:solidFill>
            <a:srgbClr val="16283E"/>
          </a:solidFill>
          <a:ln/>
        </p:spPr>
      </p:sp>
      <p:sp>
        <p:nvSpPr>
          <p:cNvPr id="31" name="Shape 29"/>
          <p:cNvSpPr/>
          <p:nvPr/>
        </p:nvSpPr>
        <p:spPr>
          <a:xfrm>
            <a:off x="11740896" y="3712464"/>
            <a:ext cx="475488" cy="475488"/>
          </a:xfrm>
          <a:prstGeom prst="roundRect">
            <a:avLst>
              <a:gd name="adj" fmla="val 18000"/>
            </a:avLst>
          </a:prstGeom>
          <a:solidFill>
            <a:srgbClr val="223650"/>
          </a:solidFill>
          <a:ln/>
        </p:spPr>
      </p:sp>
      <p:sp>
        <p:nvSpPr>
          <p:cNvPr id="32" name="Shape 30"/>
          <p:cNvSpPr/>
          <p:nvPr/>
        </p:nvSpPr>
        <p:spPr>
          <a:xfrm>
            <a:off x="8229600" y="4297680"/>
            <a:ext cx="475488" cy="475488"/>
          </a:xfrm>
          <a:prstGeom prst="roundRect">
            <a:avLst>
              <a:gd name="adj" fmla="val 18000"/>
            </a:avLst>
          </a:prstGeom>
          <a:solidFill>
            <a:srgbClr val="BE3B4E"/>
          </a:solidFill>
          <a:ln/>
        </p:spPr>
      </p:sp>
      <p:sp>
        <p:nvSpPr>
          <p:cNvPr id="33" name="Shape 31"/>
          <p:cNvSpPr/>
          <p:nvPr/>
        </p:nvSpPr>
        <p:spPr>
          <a:xfrm>
            <a:off x="8814816" y="4297680"/>
            <a:ext cx="475488" cy="475488"/>
          </a:xfrm>
          <a:prstGeom prst="roundRect">
            <a:avLst>
              <a:gd name="adj" fmla="val 18000"/>
            </a:avLst>
          </a:prstGeom>
          <a:solidFill>
            <a:srgbClr val="16283E"/>
          </a:solidFill>
          <a:ln/>
        </p:spPr>
      </p:sp>
      <p:sp>
        <p:nvSpPr>
          <p:cNvPr id="34" name="Shape 32"/>
          <p:cNvSpPr/>
          <p:nvPr/>
        </p:nvSpPr>
        <p:spPr>
          <a:xfrm>
            <a:off x="9400032" y="4297680"/>
            <a:ext cx="475488" cy="475488"/>
          </a:xfrm>
          <a:prstGeom prst="roundRect">
            <a:avLst>
              <a:gd name="adj" fmla="val 18000"/>
            </a:avLst>
          </a:prstGeom>
          <a:solidFill>
            <a:srgbClr val="BE3B4E"/>
          </a:solidFill>
          <a:ln/>
        </p:spPr>
      </p:sp>
      <p:sp>
        <p:nvSpPr>
          <p:cNvPr id="35" name="Shape 33"/>
          <p:cNvSpPr/>
          <p:nvPr/>
        </p:nvSpPr>
        <p:spPr>
          <a:xfrm>
            <a:off x="9985248" y="4297680"/>
            <a:ext cx="475488" cy="475488"/>
          </a:xfrm>
          <a:prstGeom prst="roundRect">
            <a:avLst>
              <a:gd name="adj" fmla="val 18000"/>
            </a:avLst>
          </a:prstGeom>
          <a:solidFill>
            <a:srgbClr val="16283E"/>
          </a:solidFill>
          <a:ln/>
        </p:spPr>
      </p:sp>
      <p:sp>
        <p:nvSpPr>
          <p:cNvPr id="36" name="Shape 34"/>
          <p:cNvSpPr/>
          <p:nvPr/>
        </p:nvSpPr>
        <p:spPr>
          <a:xfrm>
            <a:off x="10570464" y="4297680"/>
            <a:ext cx="475488" cy="475488"/>
          </a:xfrm>
          <a:prstGeom prst="roundRect">
            <a:avLst>
              <a:gd name="adj" fmla="val 18000"/>
            </a:avLst>
          </a:prstGeom>
          <a:solidFill>
            <a:srgbClr val="16283E"/>
          </a:solidFill>
          <a:ln/>
        </p:spPr>
      </p:sp>
      <p:sp>
        <p:nvSpPr>
          <p:cNvPr id="37" name="Shape 35"/>
          <p:cNvSpPr/>
          <p:nvPr/>
        </p:nvSpPr>
        <p:spPr>
          <a:xfrm>
            <a:off x="11740896" y="4297680"/>
            <a:ext cx="475488" cy="475488"/>
          </a:xfrm>
          <a:prstGeom prst="roundRect">
            <a:avLst>
              <a:gd name="adj" fmla="val 18000"/>
            </a:avLst>
          </a:prstGeom>
          <a:solidFill>
            <a:srgbClr val="16283E"/>
          </a:solidFill>
          <a:ln/>
        </p:spPr>
      </p:sp>
      <p:sp>
        <p:nvSpPr>
          <p:cNvPr id="38" name="Shape 36"/>
          <p:cNvSpPr/>
          <p:nvPr/>
        </p:nvSpPr>
        <p:spPr>
          <a:xfrm>
            <a:off x="8229600" y="4882896"/>
            <a:ext cx="475488" cy="475488"/>
          </a:xfrm>
          <a:prstGeom prst="roundRect">
            <a:avLst>
              <a:gd name="adj" fmla="val 18000"/>
            </a:avLst>
          </a:prstGeom>
          <a:solidFill>
            <a:srgbClr val="16283E"/>
          </a:solidFill>
          <a:ln/>
        </p:spPr>
      </p:sp>
      <p:sp>
        <p:nvSpPr>
          <p:cNvPr id="39" name="Shape 37"/>
          <p:cNvSpPr/>
          <p:nvPr/>
        </p:nvSpPr>
        <p:spPr>
          <a:xfrm>
            <a:off x="8814816" y="4882896"/>
            <a:ext cx="475488" cy="475488"/>
          </a:xfrm>
          <a:prstGeom prst="roundRect">
            <a:avLst>
              <a:gd name="adj" fmla="val 18000"/>
            </a:avLst>
          </a:prstGeom>
          <a:solidFill>
            <a:srgbClr val="223650"/>
          </a:solidFill>
          <a:ln/>
        </p:spPr>
      </p:sp>
      <p:sp>
        <p:nvSpPr>
          <p:cNvPr id="40" name="Shape 38"/>
          <p:cNvSpPr/>
          <p:nvPr/>
        </p:nvSpPr>
        <p:spPr>
          <a:xfrm>
            <a:off x="9400032" y="4882896"/>
            <a:ext cx="475488" cy="475488"/>
          </a:xfrm>
          <a:prstGeom prst="roundRect">
            <a:avLst>
              <a:gd name="adj" fmla="val 18000"/>
            </a:avLst>
          </a:prstGeom>
          <a:solidFill>
            <a:srgbClr val="16283E"/>
          </a:solidFill>
          <a:ln/>
        </p:spPr>
      </p:sp>
      <p:sp>
        <p:nvSpPr>
          <p:cNvPr id="41" name="Shape 39"/>
          <p:cNvSpPr/>
          <p:nvPr/>
        </p:nvSpPr>
        <p:spPr>
          <a:xfrm>
            <a:off x="9985248" y="4882896"/>
            <a:ext cx="475488" cy="475488"/>
          </a:xfrm>
          <a:prstGeom prst="roundRect">
            <a:avLst>
              <a:gd name="adj" fmla="val 18000"/>
            </a:avLst>
          </a:prstGeom>
          <a:solidFill>
            <a:srgbClr val="223650"/>
          </a:solidFill>
          <a:ln/>
        </p:spPr>
      </p:sp>
      <p:sp>
        <p:nvSpPr>
          <p:cNvPr id="42" name="Shape 40"/>
          <p:cNvSpPr/>
          <p:nvPr/>
        </p:nvSpPr>
        <p:spPr>
          <a:xfrm>
            <a:off x="10570464" y="4882896"/>
            <a:ext cx="475488" cy="475488"/>
          </a:xfrm>
          <a:prstGeom prst="roundRect">
            <a:avLst>
              <a:gd name="adj" fmla="val 18000"/>
            </a:avLst>
          </a:prstGeom>
          <a:solidFill>
            <a:srgbClr val="16283E"/>
          </a:solidFill>
          <a:ln/>
        </p:spPr>
      </p:sp>
      <p:sp>
        <p:nvSpPr>
          <p:cNvPr id="43" name="Shape 41"/>
          <p:cNvSpPr/>
          <p:nvPr/>
        </p:nvSpPr>
        <p:spPr>
          <a:xfrm>
            <a:off x="11155680" y="4882896"/>
            <a:ext cx="475488" cy="475488"/>
          </a:xfrm>
          <a:prstGeom prst="roundRect">
            <a:avLst>
              <a:gd name="adj" fmla="val 18000"/>
            </a:avLst>
          </a:prstGeom>
          <a:solidFill>
            <a:srgbClr val="16283E"/>
          </a:solidFill>
          <a:ln/>
        </p:spPr>
      </p:sp>
      <p:sp>
        <p:nvSpPr>
          <p:cNvPr id="44" name="Text 42"/>
          <p:cNvSpPr/>
          <p:nvPr/>
        </p:nvSpPr>
        <p:spPr>
          <a:xfrm>
            <a:off x="566928" y="1554480"/>
            <a:ext cx="2743200" cy="1280160"/>
          </a:xfrm>
          <a:prstGeom prst="rect">
            <a:avLst/>
          </a:prstGeom>
          <a:noFill/>
          <a:ln/>
        </p:spPr>
        <p:txBody>
          <a:bodyPr wrap="square" lIns="0" tIns="0" rIns="0" bIns="0" rtlCol="0" anchor="ctr"/>
          <a:lstStyle/>
          <a:p>
            <a:pPr indent="0" marL="0">
              <a:buNone/>
            </a:pPr>
            <a:r>
              <a:rPr lang="en-US" sz="8400" b="1" dirty="0">
                <a:solidFill>
                  <a:srgbClr val="BE3B4E"/>
                </a:solidFill>
                <a:latin typeface="Calibri" pitchFamily="34" charset="0"/>
                <a:ea typeface="Calibri" pitchFamily="34" charset="-122"/>
                <a:cs typeface="Calibri" pitchFamily="34" charset="-120"/>
              </a:rPr>
              <a:t>02</a:t>
            </a:r>
            <a:endParaRPr lang="en-US" sz="8400" dirty="0"/>
          </a:p>
        </p:txBody>
      </p:sp>
      <p:sp>
        <p:nvSpPr>
          <p:cNvPr id="45" name="Text 43"/>
          <p:cNvSpPr/>
          <p:nvPr/>
        </p:nvSpPr>
        <p:spPr>
          <a:xfrm>
            <a:off x="566928" y="2880360"/>
            <a:ext cx="7498080" cy="7772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matrix_orchestrator</a:t>
            </a:r>
            <a:endParaRPr lang="en-US" sz="4000" dirty="0"/>
          </a:p>
        </p:txBody>
      </p:sp>
      <p:sp>
        <p:nvSpPr>
          <p:cNvPr id="46" name="Text 44"/>
          <p:cNvSpPr/>
          <p:nvPr/>
        </p:nvSpPr>
        <p:spPr>
          <a:xfrm>
            <a:off x="566928" y="3703320"/>
            <a:ext cx="7223760" cy="822960"/>
          </a:xfrm>
          <a:prstGeom prst="rect">
            <a:avLst/>
          </a:prstGeom>
          <a:noFill/>
          <a:ln/>
        </p:spPr>
        <p:txBody>
          <a:bodyPr wrap="square" lIns="0" tIns="0" rIns="0" bIns="0" rtlCol="0" anchor="ctr"/>
          <a:lstStyle/>
          <a:p>
            <a:pPr indent="0" marL="0">
              <a:buNone/>
            </a:pPr>
            <a:r>
              <a:rPr lang="en-US" sz="1600" dirty="0">
                <a:solidFill>
                  <a:srgbClr val="9FB0C1"/>
                </a:solidFill>
                <a:latin typeface="Calibri" pitchFamily="34" charset="0"/>
                <a:ea typeface="Calibri" pitchFamily="34" charset="-122"/>
                <a:cs typeface="Calibri" pitchFamily="34" charset="-120"/>
              </a:rPr>
              <a:t>mx — a request/response traffic matrix over the whole fleet, with packets per second as the headline number.</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The question iperf can’t answer</a:t>
            </a:r>
            <a:endParaRPr lang="en-US" sz="2900" dirty="0"/>
          </a:p>
        </p:txBody>
      </p:sp>
      <p:sp>
        <p:nvSpPr>
          <p:cNvPr id="4" name="Text 2"/>
          <p:cNvSpPr/>
          <p:nvPr/>
        </p:nvSpPr>
        <p:spPr>
          <a:xfrm>
            <a:off x="9336024" y="420624"/>
            <a:ext cx="2286000" cy="274320"/>
          </a:xfrm>
          <a:prstGeom prst="rect">
            <a:avLst/>
          </a:prstGeom>
          <a:noFill/>
          <a:ln/>
        </p:spPr>
        <p:txBody>
          <a:bodyPr wrap="square" lIns="0" tIns="0" rIns="0" bIns="0" rtlCol="0" anchor="ctr"/>
          <a:lstStyle/>
          <a:p>
            <a:pPr algn="r" indent="0" marL="0">
              <a:buNone/>
            </a:pPr>
            <a:r>
              <a:rPr lang="en-US" sz="1100" b="1" dirty="0">
                <a:solidFill>
                  <a:srgbClr val="BE3B4E"/>
                </a:solidFill>
                <a:latin typeface="Courier New" pitchFamily="34" charset="0"/>
                <a:ea typeface="Courier New" pitchFamily="34" charset="-122"/>
                <a:cs typeface="Courier New" pitchFamily="34" charset="-120"/>
              </a:rPr>
              <a:t>pip install matrix-orchestrator</a:t>
            </a:r>
            <a:endParaRPr lang="en-US" sz="1100" dirty="0"/>
          </a:p>
        </p:txBody>
      </p:sp>
      <p:sp>
        <p:nvSpPr>
          <p:cNvPr id="5" name="Text 3"/>
          <p:cNvSpPr/>
          <p:nvPr/>
        </p:nvSpPr>
        <p:spPr>
          <a:xfrm>
            <a:off x="566928" y="1572768"/>
            <a:ext cx="7040880" cy="4480560"/>
          </a:xfrm>
          <a:prstGeom prst="rect">
            <a:avLst/>
          </a:prstGeom>
          <a:noFill/>
          <a:ln/>
        </p:spPr>
        <p:txBody>
          <a:bodyPr wrap="square" lIns="0" tIns="0" rIns="0" bIns="0" rtlCol="0" anchor="t"/>
          <a:lstStyle/>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iperf_orchestrator tells you each pair’s maximum TCP bandwidth. But real traffic isn’t bulk bytes — it’s RPCs, storage reads, control planes: small requests, sized answers, measured in packets.</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mx runs that shape: every host sends x-byte requests at a target rate to every peer, and every request gets a y-byte reply. That’s the whole model.</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Headline number: packets per second the fleet can exchange when every packet must be answered — where fabrics and NICs actually fall over.</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RTT falls out for free: the reply carries the request’s timestamp back, so it’s a true round trip with no clock sync anywhere.</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Asymmetric by design: --tx-size 128 --rx-size 8192 is an RPC — equal pps both ways, 64× the bandwidth on the reply path. That asymmetry is usually what breaks first, and the report keeps the directions separate.</a:t>
            </a:r>
            <a:endParaRPr lang="en-US" sz="1300" dirty="0"/>
          </a:p>
        </p:txBody>
      </p:sp>
      <p:sp>
        <p:nvSpPr>
          <p:cNvPr id="6" name="Shape 4"/>
          <p:cNvSpPr/>
          <p:nvPr/>
        </p:nvSpPr>
        <p:spPr>
          <a:xfrm>
            <a:off x="7955280" y="1572768"/>
            <a:ext cx="3666744" cy="2834640"/>
          </a:xfrm>
          <a:prstGeom prst="roundRect">
            <a:avLst>
              <a:gd name="adj" fmla="val 2903"/>
            </a:avLst>
          </a:prstGeom>
          <a:solidFill>
            <a:srgbClr val="FDF0F0"/>
          </a:solidFill>
          <a:ln/>
        </p:spPr>
      </p:sp>
      <p:sp>
        <p:nvSpPr>
          <p:cNvPr id="7" name="Text 5"/>
          <p:cNvSpPr/>
          <p:nvPr/>
        </p:nvSpPr>
        <p:spPr>
          <a:xfrm>
            <a:off x="8211312" y="1773936"/>
            <a:ext cx="3154680" cy="320040"/>
          </a:xfrm>
          <a:prstGeom prst="rect">
            <a:avLst/>
          </a:prstGeom>
          <a:noFill/>
          <a:ln/>
        </p:spPr>
        <p:txBody>
          <a:bodyPr wrap="square" lIns="0" tIns="0" rIns="0" bIns="0" rtlCol="0" anchor="ctr"/>
          <a:lstStyle/>
          <a:p>
            <a:pPr indent="0" marL="0">
              <a:buNone/>
            </a:pPr>
            <a:r>
              <a:rPr lang="en-US" sz="1500" b="1" dirty="0">
                <a:solidFill>
                  <a:srgbClr val="9C2F40"/>
                </a:solidFill>
                <a:latin typeface="Calibri" pitchFamily="34" charset="0"/>
                <a:ea typeface="Calibri" pitchFamily="34" charset="-122"/>
                <a:cs typeface="Calibri" pitchFamily="34" charset="-120"/>
              </a:rPr>
              <a:t>Why UDP only?</a:t>
            </a:r>
            <a:endParaRPr lang="en-US" sz="1500" dirty="0"/>
          </a:p>
        </p:txBody>
      </p:sp>
      <p:sp>
        <p:nvSpPr>
          <p:cNvPr id="8" name="Text 6"/>
          <p:cNvSpPr/>
          <p:nvPr/>
        </p:nvSpPr>
        <p:spPr>
          <a:xfrm>
            <a:off x="8211312" y="2194560"/>
            <a:ext cx="3154680" cy="2103120"/>
          </a:xfrm>
          <a:prstGeom prst="rect">
            <a:avLst/>
          </a:prstGeom>
          <a:noFill/>
          <a:ln/>
        </p:spPr>
        <p:txBody>
          <a:bodyPr wrap="square" lIns="0" tIns="0" rIns="0" bIns="0" rtlCol="0" anchor="ctr"/>
          <a:lstStyle/>
          <a:p>
            <a:pPr indent="0" marL="0">
              <a:buNone/>
            </a:pPr>
            <a:r>
              <a:rPr lang="en-US" sz="1250" dirty="0">
                <a:solidFill>
                  <a:srgbClr val="1C2B3A"/>
                </a:solidFill>
                <a:latin typeface="Calibri" pitchFamily="34" charset="0"/>
                <a:ea typeface="Calibri" pitchFamily="34" charset="-122"/>
                <a:cs typeface="Calibri" pitchFamily="34" charset="-120"/>
              </a:rPr>
              <a:t>“Every x-byte request gets a y-byte reply” is a statement about packets. TCP would coalesce and re-segment them — the pps number would be fiction. Want TCP goodput? That’s iperf_orchestrator.</a:t>
            </a:r>
            <a:endParaRPr lang="en-US" sz="1250" dirty="0"/>
          </a:p>
        </p:txBody>
      </p:sp>
      <p:sp>
        <p:nvSpPr>
          <p:cNvPr id="9" name="Shape 7"/>
          <p:cNvSpPr/>
          <p:nvPr/>
        </p:nvSpPr>
        <p:spPr>
          <a:xfrm>
            <a:off x="7955280" y="4572000"/>
            <a:ext cx="3666744" cy="1481328"/>
          </a:xfrm>
          <a:prstGeom prst="roundRect">
            <a:avLst>
              <a:gd name="adj" fmla="val 5556"/>
            </a:avLst>
          </a:prstGeom>
          <a:solidFill>
            <a:srgbClr val="F1F4F8"/>
          </a:solidFill>
          <a:ln/>
        </p:spPr>
      </p:sp>
      <p:sp>
        <p:nvSpPr>
          <p:cNvPr id="10" name="Text 8"/>
          <p:cNvSpPr/>
          <p:nvPr/>
        </p:nvSpPr>
        <p:spPr>
          <a:xfrm>
            <a:off x="8211312" y="4754880"/>
            <a:ext cx="3154680" cy="1188720"/>
          </a:xfrm>
          <a:prstGeom prst="rect">
            <a:avLst/>
          </a:prstGeom>
          <a:noFill/>
          <a:ln/>
        </p:spPr>
        <p:txBody>
          <a:bodyPr wrap="square" lIns="0" tIns="0" rIns="0" bIns="0" rtlCol="0" anchor="ctr"/>
          <a:lstStyle/>
          <a:p>
            <a:pPr indent="0" marL="0">
              <a:buNone/>
            </a:pPr>
            <a:r>
              <a:rPr lang="en-US" sz="1250" b="1" dirty="0">
                <a:solidFill>
                  <a:srgbClr val="1C2B3A"/>
                </a:solidFill>
                <a:latin typeface="Calibri" pitchFamily="34" charset="0"/>
                <a:ea typeface="Calibri" pitchFamily="34" charset="-122"/>
                <a:cs typeface="Calibri" pitchFamily="34" charset="-120"/>
              </a:rPr>
              <a:t>Zero footprint: </a:t>
            </a:r>
            <a:pPr indent="0" marL="0">
              <a:buNone/>
            </a:pPr>
            <a:r>
              <a:rPr lang="en-US" sz="1250" dirty="0">
                <a:solidFill>
                  <a:srgbClr val="5C6B7A"/>
                </a:solidFill>
                <a:latin typeface="Calibri" pitchFamily="34" charset="0"/>
                <a:ea typeface="Calibri" pitchFamily="34" charset="-122"/>
                <a:cs typeface="Calibri" pitchFamily="34" charset="-120"/>
              </a:rPr>
              <a:t>stdlib-only Python, one file, no dependencies — nothing installed on servers, no root.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What it does — and where it stops</a:t>
            </a:r>
            <a:endParaRPr lang="en-US" sz="2900" dirty="0"/>
          </a:p>
        </p:txBody>
      </p:sp>
      <p:sp>
        <p:nvSpPr>
          <p:cNvPr id="4" name="Shape 2"/>
          <p:cNvSpPr/>
          <p:nvPr/>
        </p:nvSpPr>
        <p:spPr>
          <a:xfrm>
            <a:off x="566928" y="1554480"/>
            <a:ext cx="5344668" cy="4480560"/>
          </a:xfrm>
          <a:prstGeom prst="roundRect">
            <a:avLst>
              <a:gd name="adj" fmla="val 1837"/>
            </a:avLst>
          </a:prstGeom>
          <a:solidFill>
            <a:srgbClr val="EFF7EF"/>
          </a:solidFill>
          <a:ln/>
        </p:spPr>
      </p:sp>
      <p:sp>
        <p:nvSpPr>
          <p:cNvPr id="5" name="Text 3"/>
          <p:cNvSpPr/>
          <p:nvPr/>
        </p:nvSpPr>
        <p:spPr>
          <a:xfrm>
            <a:off x="841248" y="1755648"/>
            <a:ext cx="4796028" cy="320040"/>
          </a:xfrm>
          <a:prstGeom prst="rect">
            <a:avLst/>
          </a:prstGeom>
          <a:noFill/>
          <a:ln/>
        </p:spPr>
        <p:txBody>
          <a:bodyPr wrap="square" lIns="0" tIns="0" rIns="0" bIns="0" rtlCol="0" anchor="ctr"/>
          <a:lstStyle/>
          <a:p>
            <a:pPr indent="0" marL="0">
              <a:buNone/>
            </a:pPr>
            <a:r>
              <a:rPr lang="en-US" sz="1500" b="1" dirty="0">
                <a:solidFill>
                  <a:srgbClr val="3D8B4F"/>
                </a:solidFill>
                <a:latin typeface="Calibri" pitchFamily="34" charset="0"/>
                <a:ea typeface="Calibri" pitchFamily="34" charset="-122"/>
                <a:cs typeface="Calibri" pitchFamily="34" charset="-120"/>
              </a:rPr>
              <a:t>It does</a:t>
            </a:r>
            <a:endParaRPr lang="en-US" sz="1500" dirty="0"/>
          </a:p>
        </p:txBody>
      </p:sp>
      <p:sp>
        <p:nvSpPr>
          <p:cNvPr id="6" name="Text 4"/>
          <p:cNvSpPr/>
          <p:nvPr/>
        </p:nvSpPr>
        <p:spPr>
          <a:xfrm>
            <a:off x="841248" y="2148840"/>
            <a:ext cx="4796028" cy="3749040"/>
          </a:xfrm>
          <a:prstGeom prst="rect">
            <a:avLst/>
          </a:prstGeom>
          <a:noFill/>
          <a:ln/>
        </p:spPr>
        <p:txBody>
          <a:bodyPr wrap="square" lIns="0" tIns="0" rIns="0" bIns="0" rtlCol="0" anchor="t"/>
          <a:lstStyle/>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Paced request/response matrix — per-pair rates, sizes and port all live in one editable CSV</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Reports both payload and wire rate (+66 B framing per packet) — the number a NIC actually carries</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Loss split into forward and return legs; DELIVERED (receiver-counted) as the honest headline</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RTT avg/p50/p99/max per flow; per-host CPU including the agent’s own share</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Multi-process agents, SO_REUSEPORT, fd limits raised automatically; preflight via mx check and mx doctor</a:t>
            </a:r>
            <a:endParaRPr lang="en-US" sz="1200" dirty="0"/>
          </a:p>
        </p:txBody>
      </p:sp>
      <p:sp>
        <p:nvSpPr>
          <p:cNvPr id="7" name="Shape 5"/>
          <p:cNvSpPr/>
          <p:nvPr/>
        </p:nvSpPr>
        <p:spPr>
          <a:xfrm>
            <a:off x="6277356" y="1554480"/>
            <a:ext cx="5344668" cy="4480560"/>
          </a:xfrm>
          <a:prstGeom prst="roundRect">
            <a:avLst>
              <a:gd name="adj" fmla="val 1837"/>
            </a:avLst>
          </a:prstGeom>
          <a:solidFill>
            <a:srgbClr val="FDF0F0"/>
          </a:solidFill>
          <a:ln/>
        </p:spPr>
      </p:sp>
      <p:sp>
        <p:nvSpPr>
          <p:cNvPr id="8" name="Text 6"/>
          <p:cNvSpPr/>
          <p:nvPr/>
        </p:nvSpPr>
        <p:spPr>
          <a:xfrm>
            <a:off x="6551676" y="1755648"/>
            <a:ext cx="4796028" cy="320040"/>
          </a:xfrm>
          <a:prstGeom prst="rect">
            <a:avLst/>
          </a:prstGeom>
          <a:noFill/>
          <a:ln/>
        </p:spPr>
        <p:txBody>
          <a:bodyPr wrap="square" lIns="0" tIns="0" rIns="0" bIns="0" rtlCol="0" anchor="ctr"/>
          <a:lstStyle/>
          <a:p>
            <a:pPr indent="0" marL="0">
              <a:buNone/>
            </a:pPr>
            <a:r>
              <a:rPr lang="en-US" sz="1500" b="1" dirty="0">
                <a:solidFill>
                  <a:srgbClr val="9C2F40"/>
                </a:solidFill>
                <a:latin typeface="Calibri" pitchFamily="34" charset="0"/>
                <a:ea typeface="Calibri" pitchFamily="34" charset="-122"/>
                <a:cs typeface="Calibri" pitchFamily="34" charset="-120"/>
              </a:rPr>
              <a:t>It doesn’t</a:t>
            </a:r>
            <a:endParaRPr lang="en-US" sz="1500" dirty="0"/>
          </a:p>
        </p:txBody>
      </p:sp>
      <p:sp>
        <p:nvSpPr>
          <p:cNvPr id="9" name="Text 7"/>
          <p:cNvSpPr/>
          <p:nvPr/>
        </p:nvSpPr>
        <p:spPr>
          <a:xfrm>
            <a:off x="6551676" y="2148840"/>
            <a:ext cx="4796028" cy="3749040"/>
          </a:xfrm>
          <a:prstGeom prst="rect">
            <a:avLst/>
          </a:prstGeom>
          <a:noFill/>
          <a:ln/>
        </p:spPr>
        <p:txBody>
          <a:bodyPr wrap="square" lIns="0" tIns="0" rIns="0" bIns="0" rtlCol="0" anchor="t"/>
          <a:lstStyle/>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No TCP — by design (goodput → iperf_orchestrator)</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No one-way delay — it would need clock sync it refuses to pretend it has</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Not a kernel-bypass blaster: ~200k pps per worker, 1–4 Mpps per typical host — beyond that the kernel UDP path is the wall and you want AF_XDP / DPDK</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Payload sizes 32–65507 bytes — it’s a packet tool, not a file-transfer tool</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Won’t hide its own limits: when a worker saturates, the summary says you’re measuring the tool — and names the fix</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Six commands drive it</a:t>
            </a:r>
            <a:endParaRPr lang="en-US" sz="2900" dirty="0"/>
          </a:p>
        </p:txBody>
      </p:sp>
      <p:sp>
        <p:nvSpPr>
          <p:cNvPr id="4" name="Shape 2"/>
          <p:cNvSpPr/>
          <p:nvPr/>
        </p:nvSpPr>
        <p:spPr>
          <a:xfrm>
            <a:off x="566928" y="1554480"/>
            <a:ext cx="5390388" cy="731520"/>
          </a:xfrm>
          <a:prstGeom prst="roundRect">
            <a:avLst>
              <a:gd name="adj" fmla="val 11250"/>
            </a:avLst>
          </a:prstGeom>
          <a:solidFill>
            <a:srgbClr val="F1F4F8"/>
          </a:solidFill>
          <a:ln/>
        </p:spPr>
      </p:sp>
      <p:sp>
        <p:nvSpPr>
          <p:cNvPr id="5" name="Text 3"/>
          <p:cNvSpPr/>
          <p:nvPr/>
        </p:nvSpPr>
        <p:spPr>
          <a:xfrm>
            <a:off x="731520" y="1700784"/>
            <a:ext cx="457200" cy="457200"/>
          </a:xfrm>
          <a:prstGeom prst="rect">
            <a:avLst/>
          </a:prstGeom>
          <a:noFill/>
          <a:ln/>
        </p:spPr>
        <p:txBody>
          <a:bodyPr wrap="square" lIns="0" tIns="0" rIns="0" bIns="0" rtlCol="0" anchor="ctr"/>
          <a:lstStyle/>
          <a:p>
            <a:pPr indent="0" marL="0">
              <a:buNone/>
            </a:pPr>
            <a:r>
              <a:rPr lang="en-US" sz="2200" b="1" dirty="0">
                <a:solidFill>
                  <a:srgbClr val="BE3B4E"/>
                </a:solidFill>
                <a:latin typeface="Calibri" pitchFamily="34" charset="0"/>
                <a:ea typeface="Calibri" pitchFamily="34" charset="-122"/>
                <a:cs typeface="Calibri" pitchFamily="34" charset="-120"/>
              </a:rPr>
              <a:t>1</a:t>
            </a:r>
            <a:endParaRPr lang="en-US" sz="2200" dirty="0"/>
          </a:p>
        </p:txBody>
      </p:sp>
      <p:sp>
        <p:nvSpPr>
          <p:cNvPr id="6" name="Text 4"/>
          <p:cNvSpPr/>
          <p:nvPr/>
        </p:nvSpPr>
        <p:spPr>
          <a:xfrm>
            <a:off x="1252728" y="1664208"/>
            <a:ext cx="2011680" cy="512064"/>
          </a:xfrm>
          <a:prstGeom prst="rect">
            <a:avLst/>
          </a:prstGeom>
          <a:noFill/>
          <a:ln/>
        </p:spPr>
        <p:txBody>
          <a:bodyPr wrap="square" lIns="0" tIns="0" rIns="0" bIns="0" rtlCol="0" anchor="ctr"/>
          <a:lstStyle/>
          <a:p>
            <a:pPr indent="0" marL="0">
              <a:buNone/>
            </a:pPr>
            <a:r>
              <a:rPr lang="en-US" sz="1350" b="1" dirty="0">
                <a:solidFill>
                  <a:srgbClr val="1C2B3A"/>
                </a:solidFill>
                <a:latin typeface="Courier New" pitchFamily="34" charset="0"/>
                <a:ea typeface="Courier New" pitchFamily="34" charset="-122"/>
                <a:cs typeface="Courier New" pitchFamily="34" charset="-120"/>
              </a:rPr>
              <a:t>mx gen</a:t>
            </a:r>
            <a:endParaRPr lang="en-US" sz="1350" dirty="0"/>
          </a:p>
        </p:txBody>
      </p:sp>
      <p:sp>
        <p:nvSpPr>
          <p:cNvPr id="7" name="Text 5"/>
          <p:cNvSpPr/>
          <p:nvPr/>
        </p:nvSpPr>
        <p:spPr>
          <a:xfrm>
            <a:off x="3264408" y="1664208"/>
            <a:ext cx="2555748" cy="512064"/>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build matrix.csv from your server list</a:t>
            </a:r>
            <a:endParaRPr lang="en-US" sz="1150" dirty="0"/>
          </a:p>
        </p:txBody>
      </p:sp>
      <p:sp>
        <p:nvSpPr>
          <p:cNvPr id="8" name="Shape 6"/>
          <p:cNvSpPr/>
          <p:nvPr/>
        </p:nvSpPr>
        <p:spPr>
          <a:xfrm>
            <a:off x="6231636" y="1554480"/>
            <a:ext cx="5390388" cy="731520"/>
          </a:xfrm>
          <a:prstGeom prst="roundRect">
            <a:avLst>
              <a:gd name="adj" fmla="val 11250"/>
            </a:avLst>
          </a:prstGeom>
          <a:solidFill>
            <a:srgbClr val="F1F4F8"/>
          </a:solidFill>
          <a:ln/>
        </p:spPr>
      </p:sp>
      <p:sp>
        <p:nvSpPr>
          <p:cNvPr id="9" name="Text 7"/>
          <p:cNvSpPr/>
          <p:nvPr/>
        </p:nvSpPr>
        <p:spPr>
          <a:xfrm>
            <a:off x="6396228" y="1700784"/>
            <a:ext cx="457200" cy="457200"/>
          </a:xfrm>
          <a:prstGeom prst="rect">
            <a:avLst/>
          </a:prstGeom>
          <a:noFill/>
          <a:ln/>
        </p:spPr>
        <p:txBody>
          <a:bodyPr wrap="square" lIns="0" tIns="0" rIns="0" bIns="0" rtlCol="0" anchor="ctr"/>
          <a:lstStyle/>
          <a:p>
            <a:pPr indent="0" marL="0">
              <a:buNone/>
            </a:pPr>
            <a:r>
              <a:rPr lang="en-US" sz="2200" b="1" dirty="0">
                <a:solidFill>
                  <a:srgbClr val="BE3B4E"/>
                </a:solidFill>
                <a:latin typeface="Calibri" pitchFamily="34" charset="0"/>
                <a:ea typeface="Calibri" pitchFamily="34" charset="-122"/>
                <a:cs typeface="Calibri" pitchFamily="34" charset="-120"/>
              </a:rPr>
              <a:t>2</a:t>
            </a:r>
            <a:endParaRPr lang="en-US" sz="2200" dirty="0"/>
          </a:p>
        </p:txBody>
      </p:sp>
      <p:sp>
        <p:nvSpPr>
          <p:cNvPr id="10" name="Text 8"/>
          <p:cNvSpPr/>
          <p:nvPr/>
        </p:nvSpPr>
        <p:spPr>
          <a:xfrm>
            <a:off x="6917436" y="1664208"/>
            <a:ext cx="2011680" cy="512064"/>
          </a:xfrm>
          <a:prstGeom prst="rect">
            <a:avLst/>
          </a:prstGeom>
          <a:noFill/>
          <a:ln/>
        </p:spPr>
        <p:txBody>
          <a:bodyPr wrap="square" lIns="0" tIns="0" rIns="0" bIns="0" rtlCol="0" anchor="ctr"/>
          <a:lstStyle/>
          <a:p>
            <a:pPr indent="0" marL="0">
              <a:buNone/>
            </a:pPr>
            <a:r>
              <a:rPr lang="en-US" sz="1350" b="1" dirty="0">
                <a:solidFill>
                  <a:srgbClr val="1C2B3A"/>
                </a:solidFill>
                <a:latin typeface="Courier New" pitchFamily="34" charset="0"/>
                <a:ea typeface="Courier New" pitchFamily="34" charset="-122"/>
                <a:cs typeface="Courier New" pitchFamily="34" charset="-120"/>
              </a:rPr>
              <a:t>mx start</a:t>
            </a:r>
            <a:endParaRPr lang="en-US" sz="1350" dirty="0"/>
          </a:p>
        </p:txBody>
      </p:sp>
      <p:sp>
        <p:nvSpPr>
          <p:cNvPr id="11" name="Text 9"/>
          <p:cNvSpPr/>
          <p:nvPr/>
        </p:nvSpPr>
        <p:spPr>
          <a:xfrm>
            <a:off x="8929116" y="1664208"/>
            <a:ext cx="2555748" cy="512064"/>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copy the agent + matrix to every host, start them</a:t>
            </a:r>
            <a:endParaRPr lang="en-US" sz="1150" dirty="0"/>
          </a:p>
        </p:txBody>
      </p:sp>
      <p:sp>
        <p:nvSpPr>
          <p:cNvPr id="12" name="Shape 10"/>
          <p:cNvSpPr/>
          <p:nvPr/>
        </p:nvSpPr>
        <p:spPr>
          <a:xfrm>
            <a:off x="566928" y="2395728"/>
            <a:ext cx="5390388" cy="731520"/>
          </a:xfrm>
          <a:prstGeom prst="roundRect">
            <a:avLst>
              <a:gd name="adj" fmla="val 11250"/>
            </a:avLst>
          </a:prstGeom>
          <a:solidFill>
            <a:srgbClr val="F1F4F8"/>
          </a:solidFill>
          <a:ln/>
        </p:spPr>
      </p:sp>
      <p:sp>
        <p:nvSpPr>
          <p:cNvPr id="13" name="Text 11"/>
          <p:cNvSpPr/>
          <p:nvPr/>
        </p:nvSpPr>
        <p:spPr>
          <a:xfrm>
            <a:off x="731520" y="2542032"/>
            <a:ext cx="457200" cy="457200"/>
          </a:xfrm>
          <a:prstGeom prst="rect">
            <a:avLst/>
          </a:prstGeom>
          <a:noFill/>
          <a:ln/>
        </p:spPr>
        <p:txBody>
          <a:bodyPr wrap="square" lIns="0" tIns="0" rIns="0" bIns="0" rtlCol="0" anchor="ctr"/>
          <a:lstStyle/>
          <a:p>
            <a:pPr indent="0" marL="0">
              <a:buNone/>
            </a:pPr>
            <a:r>
              <a:rPr lang="en-US" sz="2200" b="1" dirty="0">
                <a:solidFill>
                  <a:srgbClr val="BE3B4E"/>
                </a:solidFill>
                <a:latin typeface="Calibri" pitchFamily="34" charset="0"/>
                <a:ea typeface="Calibri" pitchFamily="34" charset="-122"/>
                <a:cs typeface="Calibri" pitchFamily="34" charset="-120"/>
              </a:rPr>
              <a:t>3</a:t>
            </a:r>
            <a:endParaRPr lang="en-US" sz="2200" dirty="0"/>
          </a:p>
        </p:txBody>
      </p:sp>
      <p:sp>
        <p:nvSpPr>
          <p:cNvPr id="14" name="Text 12"/>
          <p:cNvSpPr/>
          <p:nvPr/>
        </p:nvSpPr>
        <p:spPr>
          <a:xfrm>
            <a:off x="1252728" y="2505456"/>
            <a:ext cx="2011680" cy="512064"/>
          </a:xfrm>
          <a:prstGeom prst="rect">
            <a:avLst/>
          </a:prstGeom>
          <a:noFill/>
          <a:ln/>
        </p:spPr>
        <p:txBody>
          <a:bodyPr wrap="square" lIns="0" tIns="0" rIns="0" bIns="0" rtlCol="0" anchor="ctr"/>
          <a:lstStyle/>
          <a:p>
            <a:pPr indent="0" marL="0">
              <a:buNone/>
            </a:pPr>
            <a:r>
              <a:rPr lang="en-US" sz="1350" b="1" dirty="0">
                <a:solidFill>
                  <a:srgbClr val="1C2B3A"/>
                </a:solidFill>
                <a:latin typeface="Courier New" pitchFamily="34" charset="0"/>
                <a:ea typeface="Courier New" pitchFamily="34" charset="-122"/>
                <a:cs typeface="Courier New" pitchFamily="34" charset="-120"/>
              </a:rPr>
              <a:t>mx status</a:t>
            </a:r>
            <a:endParaRPr lang="en-US" sz="1350" dirty="0"/>
          </a:p>
        </p:txBody>
      </p:sp>
      <p:sp>
        <p:nvSpPr>
          <p:cNvPr id="15" name="Text 13"/>
          <p:cNvSpPr/>
          <p:nvPr/>
        </p:nvSpPr>
        <p:spPr>
          <a:xfrm>
            <a:off x="3264408" y="2505456"/>
            <a:ext cx="2555748" cy="512064"/>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one line per host: live ticker, or NOT-RUNNING</a:t>
            </a:r>
            <a:endParaRPr lang="en-US" sz="1150" dirty="0"/>
          </a:p>
        </p:txBody>
      </p:sp>
      <p:sp>
        <p:nvSpPr>
          <p:cNvPr id="16" name="Shape 14"/>
          <p:cNvSpPr/>
          <p:nvPr/>
        </p:nvSpPr>
        <p:spPr>
          <a:xfrm>
            <a:off x="6231636" y="2395728"/>
            <a:ext cx="5390388" cy="731520"/>
          </a:xfrm>
          <a:prstGeom prst="roundRect">
            <a:avLst>
              <a:gd name="adj" fmla="val 11250"/>
            </a:avLst>
          </a:prstGeom>
          <a:solidFill>
            <a:srgbClr val="F1F4F8"/>
          </a:solidFill>
          <a:ln/>
        </p:spPr>
      </p:sp>
      <p:sp>
        <p:nvSpPr>
          <p:cNvPr id="17" name="Text 15"/>
          <p:cNvSpPr/>
          <p:nvPr/>
        </p:nvSpPr>
        <p:spPr>
          <a:xfrm>
            <a:off x="6396228" y="2542032"/>
            <a:ext cx="457200" cy="457200"/>
          </a:xfrm>
          <a:prstGeom prst="rect">
            <a:avLst/>
          </a:prstGeom>
          <a:noFill/>
          <a:ln/>
        </p:spPr>
        <p:txBody>
          <a:bodyPr wrap="square" lIns="0" tIns="0" rIns="0" bIns="0" rtlCol="0" anchor="ctr"/>
          <a:lstStyle/>
          <a:p>
            <a:pPr indent="0" marL="0">
              <a:buNone/>
            </a:pPr>
            <a:r>
              <a:rPr lang="en-US" sz="2200" b="1" dirty="0">
                <a:solidFill>
                  <a:srgbClr val="BE3B4E"/>
                </a:solidFill>
                <a:latin typeface="Calibri" pitchFamily="34" charset="0"/>
                <a:ea typeface="Calibri" pitchFamily="34" charset="-122"/>
                <a:cs typeface="Calibri" pitchFamily="34" charset="-120"/>
              </a:rPr>
              <a:t>4</a:t>
            </a:r>
            <a:endParaRPr lang="en-US" sz="2200" dirty="0"/>
          </a:p>
        </p:txBody>
      </p:sp>
      <p:sp>
        <p:nvSpPr>
          <p:cNvPr id="18" name="Text 16"/>
          <p:cNvSpPr/>
          <p:nvPr/>
        </p:nvSpPr>
        <p:spPr>
          <a:xfrm>
            <a:off x="6917436" y="2505456"/>
            <a:ext cx="2011680" cy="512064"/>
          </a:xfrm>
          <a:prstGeom prst="rect">
            <a:avLst/>
          </a:prstGeom>
          <a:noFill/>
          <a:ln/>
        </p:spPr>
        <p:txBody>
          <a:bodyPr wrap="square" lIns="0" tIns="0" rIns="0" bIns="0" rtlCol="0" anchor="ctr"/>
          <a:lstStyle/>
          <a:p>
            <a:pPr indent="0" marL="0">
              <a:buNone/>
            </a:pPr>
            <a:r>
              <a:rPr lang="en-US" sz="1350" b="1" dirty="0">
                <a:solidFill>
                  <a:srgbClr val="1C2B3A"/>
                </a:solidFill>
                <a:latin typeface="Courier New" pitchFamily="34" charset="0"/>
                <a:ea typeface="Courier New" pitchFamily="34" charset="-122"/>
                <a:cs typeface="Courier New" pitchFamily="34" charset="-120"/>
              </a:rPr>
              <a:t>mx summarize</a:t>
            </a:r>
            <a:endParaRPr lang="en-US" sz="1350" dirty="0"/>
          </a:p>
        </p:txBody>
      </p:sp>
      <p:sp>
        <p:nvSpPr>
          <p:cNvPr id="19" name="Text 17"/>
          <p:cNvSpPr/>
          <p:nvPr/>
        </p:nvSpPr>
        <p:spPr>
          <a:xfrm>
            <a:off x="8929116" y="2505456"/>
            <a:ext cx="2555748" cy="512064"/>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collect reports → pps / Gbps / loss / RTT + what to do next</a:t>
            </a:r>
            <a:endParaRPr lang="en-US" sz="1150" dirty="0"/>
          </a:p>
        </p:txBody>
      </p:sp>
      <p:sp>
        <p:nvSpPr>
          <p:cNvPr id="20" name="Shape 18"/>
          <p:cNvSpPr/>
          <p:nvPr/>
        </p:nvSpPr>
        <p:spPr>
          <a:xfrm>
            <a:off x="566928" y="3236976"/>
            <a:ext cx="5390388" cy="731520"/>
          </a:xfrm>
          <a:prstGeom prst="roundRect">
            <a:avLst>
              <a:gd name="adj" fmla="val 11250"/>
            </a:avLst>
          </a:prstGeom>
          <a:solidFill>
            <a:srgbClr val="F1F4F8"/>
          </a:solidFill>
          <a:ln/>
        </p:spPr>
      </p:sp>
      <p:sp>
        <p:nvSpPr>
          <p:cNvPr id="21" name="Text 19"/>
          <p:cNvSpPr/>
          <p:nvPr/>
        </p:nvSpPr>
        <p:spPr>
          <a:xfrm>
            <a:off x="731520" y="3383280"/>
            <a:ext cx="457200" cy="457200"/>
          </a:xfrm>
          <a:prstGeom prst="rect">
            <a:avLst/>
          </a:prstGeom>
          <a:noFill/>
          <a:ln/>
        </p:spPr>
        <p:txBody>
          <a:bodyPr wrap="square" lIns="0" tIns="0" rIns="0" bIns="0" rtlCol="0" anchor="ctr"/>
          <a:lstStyle/>
          <a:p>
            <a:pPr indent="0" marL="0">
              <a:buNone/>
            </a:pPr>
            <a:r>
              <a:rPr lang="en-US" sz="2200" b="1" dirty="0">
                <a:solidFill>
                  <a:srgbClr val="BE3B4E"/>
                </a:solidFill>
                <a:latin typeface="Calibri" pitchFamily="34" charset="0"/>
                <a:ea typeface="Calibri" pitchFamily="34" charset="-122"/>
                <a:cs typeface="Calibri" pitchFamily="34" charset="-120"/>
              </a:rPr>
              <a:t>5</a:t>
            </a:r>
            <a:endParaRPr lang="en-US" sz="2200" dirty="0"/>
          </a:p>
        </p:txBody>
      </p:sp>
      <p:sp>
        <p:nvSpPr>
          <p:cNvPr id="22" name="Text 20"/>
          <p:cNvSpPr/>
          <p:nvPr/>
        </p:nvSpPr>
        <p:spPr>
          <a:xfrm>
            <a:off x="1252728" y="3346704"/>
            <a:ext cx="2011680" cy="512064"/>
          </a:xfrm>
          <a:prstGeom prst="rect">
            <a:avLst/>
          </a:prstGeom>
          <a:noFill/>
          <a:ln/>
        </p:spPr>
        <p:txBody>
          <a:bodyPr wrap="square" lIns="0" tIns="0" rIns="0" bIns="0" rtlCol="0" anchor="ctr"/>
          <a:lstStyle/>
          <a:p>
            <a:pPr indent="0" marL="0">
              <a:buNone/>
            </a:pPr>
            <a:r>
              <a:rPr lang="en-US" sz="1350" b="1" dirty="0">
                <a:solidFill>
                  <a:srgbClr val="1C2B3A"/>
                </a:solidFill>
                <a:latin typeface="Courier New" pitchFamily="34" charset="0"/>
                <a:ea typeface="Courier New" pitchFamily="34" charset="-122"/>
                <a:cs typeface="Courier New" pitchFamily="34" charset="-120"/>
              </a:rPr>
              <a:t>mx stop</a:t>
            </a:r>
            <a:endParaRPr lang="en-US" sz="1350" dirty="0"/>
          </a:p>
        </p:txBody>
      </p:sp>
      <p:sp>
        <p:nvSpPr>
          <p:cNvPr id="23" name="Text 21"/>
          <p:cNvSpPr/>
          <p:nvPr/>
        </p:nvSpPr>
        <p:spPr>
          <a:xfrm>
            <a:off x="3264408" y="3346704"/>
            <a:ext cx="2555748" cy="512064"/>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stop the agents — reports and logs stay on the hosts</a:t>
            </a:r>
            <a:endParaRPr lang="en-US" sz="1150" dirty="0"/>
          </a:p>
        </p:txBody>
      </p:sp>
      <p:sp>
        <p:nvSpPr>
          <p:cNvPr id="24" name="Shape 22"/>
          <p:cNvSpPr/>
          <p:nvPr/>
        </p:nvSpPr>
        <p:spPr>
          <a:xfrm>
            <a:off x="6231636" y="3236976"/>
            <a:ext cx="5390388" cy="731520"/>
          </a:xfrm>
          <a:prstGeom prst="roundRect">
            <a:avLst>
              <a:gd name="adj" fmla="val 11250"/>
            </a:avLst>
          </a:prstGeom>
          <a:solidFill>
            <a:srgbClr val="F1F4F8"/>
          </a:solidFill>
          <a:ln/>
        </p:spPr>
      </p:sp>
      <p:sp>
        <p:nvSpPr>
          <p:cNvPr id="25" name="Text 23"/>
          <p:cNvSpPr/>
          <p:nvPr/>
        </p:nvSpPr>
        <p:spPr>
          <a:xfrm>
            <a:off x="6396228" y="3383280"/>
            <a:ext cx="457200" cy="457200"/>
          </a:xfrm>
          <a:prstGeom prst="rect">
            <a:avLst/>
          </a:prstGeom>
          <a:noFill/>
          <a:ln/>
        </p:spPr>
        <p:txBody>
          <a:bodyPr wrap="square" lIns="0" tIns="0" rIns="0" bIns="0" rtlCol="0" anchor="ctr"/>
          <a:lstStyle/>
          <a:p>
            <a:pPr indent="0" marL="0">
              <a:buNone/>
            </a:pPr>
            <a:r>
              <a:rPr lang="en-US" sz="2200" b="1" dirty="0">
                <a:solidFill>
                  <a:srgbClr val="BE3B4E"/>
                </a:solidFill>
                <a:latin typeface="Calibri" pitchFamily="34" charset="0"/>
                <a:ea typeface="Calibri" pitchFamily="34" charset="-122"/>
                <a:cs typeface="Calibri" pitchFamily="34" charset="-120"/>
              </a:rPr>
              <a:t>6</a:t>
            </a:r>
            <a:endParaRPr lang="en-US" sz="2200" dirty="0"/>
          </a:p>
        </p:txBody>
      </p:sp>
      <p:sp>
        <p:nvSpPr>
          <p:cNvPr id="26" name="Text 24"/>
          <p:cNvSpPr/>
          <p:nvPr/>
        </p:nvSpPr>
        <p:spPr>
          <a:xfrm>
            <a:off x="6917436" y="3346704"/>
            <a:ext cx="2011680" cy="512064"/>
          </a:xfrm>
          <a:prstGeom prst="rect">
            <a:avLst/>
          </a:prstGeom>
          <a:noFill/>
          <a:ln/>
        </p:spPr>
        <p:txBody>
          <a:bodyPr wrap="square" lIns="0" tIns="0" rIns="0" bIns="0" rtlCol="0" anchor="ctr"/>
          <a:lstStyle/>
          <a:p>
            <a:pPr indent="0" marL="0">
              <a:buNone/>
            </a:pPr>
            <a:r>
              <a:rPr lang="en-US" sz="1350" b="1" dirty="0">
                <a:solidFill>
                  <a:srgbClr val="1C2B3A"/>
                </a:solidFill>
                <a:latin typeface="Courier New" pitchFamily="34" charset="0"/>
                <a:ea typeface="Courier New" pitchFamily="34" charset="-122"/>
                <a:cs typeface="Courier New" pitchFamily="34" charset="-120"/>
              </a:rPr>
              <a:t>mx clean</a:t>
            </a:r>
            <a:endParaRPr lang="en-US" sz="1350" dirty="0"/>
          </a:p>
        </p:txBody>
      </p:sp>
      <p:sp>
        <p:nvSpPr>
          <p:cNvPr id="27" name="Text 25"/>
          <p:cNvSpPr/>
          <p:nvPr/>
        </p:nvSpPr>
        <p:spPr>
          <a:xfrm>
            <a:off x="8929116" y="3346704"/>
            <a:ext cx="2555748" cy="512064"/>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stop, delete everything, verify no trace is left</a:t>
            </a:r>
            <a:endParaRPr lang="en-US" sz="1150" dirty="0"/>
          </a:p>
        </p:txBody>
      </p:sp>
      <p:sp>
        <p:nvSpPr>
          <p:cNvPr id="28" name="Shape 26"/>
          <p:cNvSpPr/>
          <p:nvPr/>
        </p:nvSpPr>
        <p:spPr>
          <a:xfrm>
            <a:off x="566928" y="4206240"/>
            <a:ext cx="6583680" cy="1874520"/>
          </a:xfrm>
          <a:prstGeom prst="roundRect">
            <a:avLst>
              <a:gd name="adj" fmla="val 4390"/>
            </a:avLst>
          </a:prstGeom>
          <a:solidFill>
            <a:srgbClr val="13233A"/>
          </a:solidFill>
          <a:ln/>
        </p:spPr>
      </p:sp>
      <p:sp>
        <p:nvSpPr>
          <p:cNvPr id="29" name="Text 27"/>
          <p:cNvSpPr/>
          <p:nvPr/>
        </p:nvSpPr>
        <p:spPr>
          <a:xfrm>
            <a:off x="768096" y="4334256"/>
            <a:ext cx="6181344" cy="1618488"/>
          </a:xfrm>
          <a:prstGeom prst="rect">
            <a:avLst/>
          </a:prstGeom>
          <a:noFill/>
          <a:ln/>
        </p:spPr>
        <p:txBody>
          <a:bodyPr wrap="square" lIns="0" tIns="0" rIns="0" bIns="0" rtlCol="0" anchor="t"/>
          <a:lstStyle/>
          <a:p>
            <a:pPr indent="0" marL="0">
              <a:lnSpc>
                <a:spcPct val="112000"/>
              </a:lnSpc>
              <a:buNone/>
            </a:pPr>
            <a:r>
              <a:rPr lang="en-US" sz="1200" b="1" dirty="0">
                <a:solidFill>
                  <a:srgbClr val="E98C99"/>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FFFF"/>
                </a:solidFill>
                <a:latin typeface="Courier New" pitchFamily="34" charset="0"/>
                <a:ea typeface="Courier New" pitchFamily="34" charset="-122"/>
                <a:cs typeface="Courier New" pitchFamily="34" charset="-120"/>
              </a:rPr>
              <a:t>printf '%s\n' 10.0.0.10 10.0.0.11 10.0.0.12 &gt; servers.txt</a:t>
            </a:r>
            <a:endParaRPr lang="en-US" sz="1200" dirty="0"/>
          </a:p>
          <a:p>
            <a:pPr indent="0" marL="0">
              <a:lnSpc>
                <a:spcPct val="112000"/>
              </a:lnSpc>
              <a:buNone/>
            </a:pPr>
            <a:r>
              <a:rPr lang="en-US" sz="1200" b="1" dirty="0">
                <a:solidFill>
                  <a:srgbClr val="E98C99"/>
                </a:solidFill>
                <a:latin typeface="Courier New" pitchFamily="34" charset="0"/>
                <a:ea typeface="Courier New" pitchFamily="34" charset="-122"/>
                <a:cs typeface="Courier New" pitchFamily="34" charset="-120"/>
              </a:rPr>
              <a:t>$ </a:t>
            </a:r>
            <a:pPr indent="0" marL="0">
              <a:lnSpc>
                <a:spcPct val="112000"/>
              </a:lnSpc>
              <a:buNone/>
            </a:pPr>
            <a:r>
              <a:rPr lang="en-US" sz="1200" b="1" dirty="0">
                <a:solidFill>
                  <a:srgbClr val="FFFFFF"/>
                </a:solidFill>
                <a:latin typeface="Courier New" pitchFamily="34" charset="0"/>
                <a:ea typeface="Courier New" pitchFamily="34" charset="-122"/>
                <a:cs typeface="Courier New" pitchFamily="34" charset="-120"/>
              </a:rPr>
              <a:t>mx gen --servers servers.txt --pps 20000</a:t>
            </a:r>
            <a:endParaRPr lang="en-US" sz="1200" dirty="0"/>
          </a:p>
          <a:p>
            <a:pPr indent="0" marL="0">
              <a:lnSpc>
                <a:spcPct val="112000"/>
              </a:lnSpc>
              <a:buNone/>
            </a:pPr>
            <a:r>
              <a:rPr lang="en-US" sz="1200" b="1" dirty="0">
                <a:solidFill>
                  <a:srgbClr val="E98C99"/>
                </a:solidFill>
                <a:latin typeface="Courier New" pitchFamily="34" charset="0"/>
                <a:ea typeface="Courier New" pitchFamily="34" charset="-122"/>
                <a:cs typeface="Courier New" pitchFamily="34" charset="-120"/>
              </a:rPr>
              <a:t>$ </a:t>
            </a:r>
            <a:pPr indent="0" marL="0">
              <a:lnSpc>
                <a:spcPct val="112000"/>
              </a:lnSpc>
              <a:buNone/>
            </a:pPr>
            <a:r>
              <a:rPr lang="en-US" sz="1200" b="1" dirty="0">
                <a:solidFill>
                  <a:srgbClr val="FFFFFF"/>
                </a:solidFill>
                <a:latin typeface="Courier New" pitchFamily="34" charset="0"/>
                <a:ea typeface="Courier New" pitchFamily="34" charset="-122"/>
                <a:cs typeface="Courier New" pitchFamily="34" charset="-120"/>
              </a:rPr>
              <a:t>mx run --for 60</a:t>
            </a:r>
            <a:pPr indent="0" marL="0">
              <a:lnSpc>
                <a:spcPct val="112000"/>
              </a:lnSpc>
              <a:buNone/>
            </a:pPr>
            <a:r>
              <a:rPr lang="en-US" sz="1200" dirty="0">
                <a:solidFill>
                  <a:srgbClr val="7C8CA0"/>
                </a:solidFill>
                <a:latin typeface="Courier New" pitchFamily="34" charset="0"/>
                <a:ea typeface="Courier New" pitchFamily="34" charset="-122"/>
                <a:cs typeface="Courier New" pitchFamily="34" charset="-120"/>
              </a:rPr>
              <a:t>     # or: the whole lifecycle in one shot</a:t>
            </a:r>
            <a:endParaRPr lang="en-US" sz="1200" dirty="0"/>
          </a:p>
          <a:p>
            <a:pPr indent="0" marL="0">
              <a:lnSpc>
                <a:spcPct val="112000"/>
              </a:lnSpc>
              <a:buNone/>
            </a:pPr>
            <a:r>
              <a:rPr lang="en-US" sz="1200" b="1" dirty="0">
                <a:solidFill>
                  <a:srgbClr val="E98C99"/>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FFFF"/>
                </a:solidFill>
                <a:latin typeface="Courier New" pitchFamily="34" charset="0"/>
                <a:ea typeface="Courier New" pitchFamily="34" charset="-122"/>
                <a:cs typeface="Courier New" pitchFamily="34" charset="-120"/>
              </a:rPr>
              <a:t>mx hints --pps-per-host 2000000</a:t>
            </a:r>
            <a:pPr indent="0" marL="0">
              <a:lnSpc>
                <a:spcPct val="112000"/>
              </a:lnSpc>
              <a:buNone/>
            </a:pPr>
            <a:r>
              <a:rPr lang="en-US" sz="1200" dirty="0">
                <a:solidFill>
                  <a:srgbClr val="7C8CA0"/>
                </a:solidFill>
                <a:latin typeface="Courier New" pitchFamily="34" charset="0"/>
                <a:ea typeface="Courier New" pitchFamily="34" charset="-122"/>
                <a:cs typeface="Courier New" pitchFamily="34" charset="-120"/>
              </a:rPr>
              <a:t>   # goal -&gt; the command for it</a:t>
            </a:r>
            <a:endParaRPr lang="en-US" sz="1200" dirty="0"/>
          </a:p>
        </p:txBody>
      </p:sp>
      <p:sp>
        <p:nvSpPr>
          <p:cNvPr id="30" name="Shape 28"/>
          <p:cNvSpPr/>
          <p:nvPr/>
        </p:nvSpPr>
        <p:spPr>
          <a:xfrm>
            <a:off x="7269480" y="4206240"/>
            <a:ext cx="4352544" cy="1874520"/>
          </a:xfrm>
          <a:prstGeom prst="roundRect">
            <a:avLst>
              <a:gd name="adj" fmla="val 4390"/>
            </a:avLst>
          </a:prstGeom>
          <a:solidFill>
            <a:srgbClr val="F1F4F8"/>
          </a:solidFill>
          <a:ln/>
        </p:spPr>
      </p:sp>
      <p:sp>
        <p:nvSpPr>
          <p:cNvPr id="31" name="Text 29"/>
          <p:cNvSpPr/>
          <p:nvPr/>
        </p:nvSpPr>
        <p:spPr>
          <a:xfrm>
            <a:off x="7498080" y="4370832"/>
            <a:ext cx="3895344" cy="274320"/>
          </a:xfrm>
          <a:prstGeom prst="rect">
            <a:avLst/>
          </a:prstGeom>
          <a:noFill/>
          <a:ln/>
        </p:spPr>
        <p:txBody>
          <a:bodyPr wrap="square" lIns="0" tIns="0" rIns="0" bIns="0" rtlCol="0" anchor="ctr"/>
          <a:lstStyle/>
          <a:p>
            <a:pPr indent="0" marL="0">
              <a:buNone/>
            </a:pPr>
            <a:r>
              <a:rPr lang="en-US" sz="1300" b="1" dirty="0">
                <a:solidFill>
                  <a:srgbClr val="1C2B3A"/>
                </a:solidFill>
                <a:latin typeface="Calibri" pitchFamily="34" charset="0"/>
                <a:ea typeface="Calibri" pitchFamily="34" charset="-122"/>
                <a:cs typeface="Calibri" pitchFamily="34" charset="-120"/>
              </a:rPr>
              <a:t>vs. iperf_orchestrator</a:t>
            </a:r>
            <a:endParaRPr lang="en-US" sz="1300" dirty="0"/>
          </a:p>
        </p:txBody>
      </p:sp>
      <p:sp>
        <p:nvSpPr>
          <p:cNvPr id="32" name="Text 30"/>
          <p:cNvSpPr/>
          <p:nvPr/>
        </p:nvSpPr>
        <p:spPr>
          <a:xfrm>
            <a:off x="7498080" y="4700016"/>
            <a:ext cx="3895344" cy="13258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C2B3A"/>
                </a:solidFill>
                <a:latin typeface="Calibri" pitchFamily="34" charset="0"/>
                <a:ea typeface="Calibri" pitchFamily="34" charset="-122"/>
                <a:cs typeface="Calibri" pitchFamily="34" charset="-120"/>
              </a:rPr>
              <a:t>Nothing needed on servers but Python — no iperf2 to install</a:t>
            </a:r>
            <a:endParaRPr lang="en-US" sz="1150" dirty="0"/>
          </a:p>
          <a:p>
            <a:pPr marL="152400" indent="-152400">
              <a:spcAft>
                <a:spcPts val="600"/>
              </a:spcAft>
              <a:buSzPct val="100000"/>
              <a:buChar char="•"/>
            </a:pPr>
            <a:r>
              <a:rPr lang="en-US" sz="1150" dirty="0">
                <a:solidFill>
                  <a:srgbClr val="1C2B3A"/>
                </a:solidFill>
                <a:latin typeface="Calibri" pitchFamily="34" charset="0"/>
                <a:ea typeface="Calibri" pitchFamily="34" charset="-122"/>
                <a:cs typeface="Calibri" pitchFamily="34" charset="-120"/>
              </a:rPr>
              <a:t>Config lives in matrix.csv, not in flags you re-type</a:t>
            </a:r>
            <a:endParaRPr lang="en-US" sz="1150" dirty="0"/>
          </a:p>
          <a:p>
            <a:pPr marL="152400" indent="-152400">
              <a:spcAft>
                <a:spcPts val="600"/>
              </a:spcAft>
              <a:buSzPct val="100000"/>
              <a:buChar char="•"/>
            </a:pPr>
            <a:r>
              <a:rPr lang="en-US" sz="1150" dirty="0">
                <a:solidFill>
                  <a:srgbClr val="1C2B3A"/>
                </a:solidFill>
                <a:latin typeface="Calibri" pitchFamily="34" charset="0"/>
                <a:ea typeface="Calibri" pitchFamily="34" charset="-122"/>
                <a:cs typeface="Calibri" pitchFamily="34" charset="-120"/>
              </a:rPr>
              <a:t>Plus: run, check, hints, logs, doctor</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The matrix file — and changing the run mid-stream</a:t>
            </a:r>
            <a:endParaRPr lang="en-US" sz="2900" dirty="0"/>
          </a:p>
        </p:txBody>
      </p:sp>
      <p:sp>
        <p:nvSpPr>
          <p:cNvPr id="4" name="Shape 2"/>
          <p:cNvSpPr/>
          <p:nvPr/>
        </p:nvSpPr>
        <p:spPr>
          <a:xfrm>
            <a:off x="566928" y="1572768"/>
            <a:ext cx="6035040" cy="2377440"/>
          </a:xfrm>
          <a:prstGeom prst="roundRect">
            <a:avLst>
              <a:gd name="adj" fmla="val 3462"/>
            </a:avLst>
          </a:prstGeom>
          <a:solidFill>
            <a:srgbClr val="13233A"/>
          </a:solidFill>
          <a:ln/>
        </p:spPr>
      </p:sp>
      <p:sp>
        <p:nvSpPr>
          <p:cNvPr id="5" name="Text 3"/>
          <p:cNvSpPr/>
          <p:nvPr/>
        </p:nvSpPr>
        <p:spPr>
          <a:xfrm>
            <a:off x="768096" y="1700784"/>
            <a:ext cx="5632704" cy="2121408"/>
          </a:xfrm>
          <a:prstGeom prst="rect">
            <a:avLst/>
          </a:prstGeom>
          <a:noFill/>
          <a:ln/>
        </p:spPr>
        <p:txBody>
          <a:bodyPr wrap="square" lIns="0" tIns="0" rIns="0" bIns="0" rtlCol="0" anchor="t"/>
          <a:lstStyle/>
          <a:p>
            <a:pPr indent="0" marL="0">
              <a:lnSpc>
                <a:spcPct val="112000"/>
              </a:lnSpc>
              <a:buNone/>
            </a:pPr>
            <a:r>
              <a:rPr lang="en-US" sz="1200" dirty="0">
                <a:solidFill>
                  <a:srgbClr val="7C8CA0"/>
                </a:solidFill>
                <a:latin typeface="Courier New" pitchFamily="34" charset="0"/>
                <a:ea typeface="Courier New" pitchFamily="34" charset="-122"/>
                <a:cs typeface="Courier New" pitchFamily="34" charset="-120"/>
              </a:rPr>
              <a:t># mx matrix v1 -- rows send, columns receive,</a:t>
            </a:r>
            <a:endParaRPr lang="en-US" sz="1200" dirty="0"/>
          </a:p>
          <a:p>
            <a:pPr indent="0" marL="0">
              <a:lnSpc>
                <a:spcPct val="112000"/>
              </a:lnSpc>
              <a:buNone/>
            </a:pPr>
            <a:r>
              <a:rPr lang="en-US" sz="1200" dirty="0">
                <a:solidFill>
                  <a:srgbClr val="7C8CA0"/>
                </a:solidFill>
                <a:latin typeface="Courier New" pitchFamily="34" charset="0"/>
                <a:ea typeface="Courier New" pitchFamily="34" charset="-122"/>
                <a:cs typeface="Courier New" pitchFamily="34" charset="-120"/>
              </a:rPr>
              <a:t>#   cells are packets/sec</a:t>
            </a:r>
            <a:endParaRPr lang="en-US" sz="1200" dirty="0"/>
          </a:p>
          <a:p>
            <a:pPr indent="0" marL="0">
              <a:lnSpc>
                <a:spcPct val="112000"/>
              </a:lnSpc>
              <a:buNone/>
            </a:pPr>
            <a:r>
              <a:rPr lang="en-US" sz="1200" dirty="0">
                <a:solidFill>
                  <a:srgbClr val="E98C99"/>
                </a:solidFill>
                <a:latin typeface="Courier New" pitchFamily="34" charset="0"/>
                <a:ea typeface="Courier New" pitchFamily="34" charset="-122"/>
                <a:cs typeface="Courier New" pitchFamily="34" charset="-120"/>
              </a:rPr>
              <a:t># tx_size=64 rx_size=512 port=5300</a:t>
            </a:r>
            <a:endParaRPr lang="en-US" sz="1200" dirty="0"/>
          </a:p>
          <a:p>
            <a:pPr indent="0" marL="0">
              <a:lnSpc>
                <a:spcPct val="112000"/>
              </a:lnSpc>
              <a:buNone/>
            </a:pPr>
            <a:r>
              <a:rPr lang="en-US" sz="1200" dirty="0">
                <a:solidFill>
                  <a:srgbClr val="E8EEF6"/>
                </a:solidFill>
                <a:latin typeface="Courier New" pitchFamily="34" charset="0"/>
                <a:ea typeface="Courier New" pitchFamily="34" charset="-122"/>
                <a:cs typeface="Courier New" pitchFamily="34" charset="-120"/>
              </a:rPr>
              <a:t>src\dst,10.0.0.10,10.0.0.11,10.0.0.12</a:t>
            </a:r>
            <a:endParaRPr lang="en-US" sz="1200" dirty="0"/>
          </a:p>
          <a:p>
            <a:pPr indent="0" marL="0">
              <a:lnSpc>
                <a:spcPct val="112000"/>
              </a:lnSpc>
              <a:buNone/>
            </a:pPr>
            <a:r>
              <a:rPr lang="en-US" sz="1200" dirty="0">
                <a:solidFill>
                  <a:srgbClr val="E8EEF6"/>
                </a:solidFill>
                <a:latin typeface="Courier New" pitchFamily="34" charset="0"/>
                <a:ea typeface="Courier New" pitchFamily="34" charset="-122"/>
                <a:cs typeface="Courier New" pitchFamily="34" charset="-120"/>
              </a:rPr>
              <a:t>10.0.0.10,,</a:t>
            </a:r>
            <a:pPr indent="0" marL="0">
              <a:lnSpc>
                <a:spcPct val="112000"/>
              </a:lnSpc>
              <a:buNone/>
            </a:pPr>
            <a:r>
              <a:rPr lang="en-US" sz="1200" b="1" dirty="0">
                <a:solidFill>
                  <a:srgbClr val="FFFFFF"/>
                </a:solidFill>
                <a:latin typeface="Courier New" pitchFamily="34" charset="0"/>
                <a:ea typeface="Courier New" pitchFamily="34" charset="-122"/>
                <a:cs typeface="Courier New" pitchFamily="34" charset="-120"/>
              </a:rPr>
              <a:t>20000</a:t>
            </a:r>
            <a:pPr indent="0" marL="0">
              <a:lnSpc>
                <a:spcPct val="112000"/>
              </a:lnSpc>
              <a:buNone/>
            </a:pPr>
            <a:r>
              <a:rPr lang="en-US" sz="1200" dirty="0">
                <a:solidFill>
                  <a:srgbClr val="E8EEF6"/>
                </a:solidFill>
                <a:latin typeface="Courier New" pitchFamily="34" charset="0"/>
                <a:ea typeface="Courier New" pitchFamily="34" charset="-122"/>
                <a:cs typeface="Courier New" pitchFamily="34" charset="-120"/>
              </a:rPr>
              <a:t>,</a:t>
            </a:r>
            <a:pPr indent="0" marL="0">
              <a:lnSpc>
                <a:spcPct val="112000"/>
              </a:lnSpc>
              <a:buNone/>
            </a:pPr>
            <a:r>
              <a:rPr lang="en-US" sz="1200" b="1" dirty="0">
                <a:solidFill>
                  <a:srgbClr val="FFFFFF"/>
                </a:solidFill>
                <a:latin typeface="Courier New" pitchFamily="34" charset="0"/>
                <a:ea typeface="Courier New" pitchFamily="34" charset="-122"/>
                <a:cs typeface="Courier New" pitchFamily="34" charset="-120"/>
              </a:rPr>
              <a:t>20000</a:t>
            </a:r>
            <a:endParaRPr lang="en-US" sz="1200" dirty="0"/>
          </a:p>
          <a:p>
            <a:pPr indent="0" marL="0">
              <a:lnSpc>
                <a:spcPct val="112000"/>
              </a:lnSpc>
              <a:buNone/>
            </a:pPr>
            <a:r>
              <a:rPr lang="en-US" sz="1200" dirty="0">
                <a:solidFill>
                  <a:srgbClr val="E8EEF6"/>
                </a:solidFill>
                <a:latin typeface="Courier New" pitchFamily="34" charset="0"/>
                <a:ea typeface="Courier New" pitchFamily="34" charset="-122"/>
                <a:cs typeface="Courier New" pitchFamily="34" charset="-120"/>
              </a:rPr>
              <a:t>10.0.0.11,</a:t>
            </a:r>
            <a:pPr indent="0" marL="0">
              <a:lnSpc>
                <a:spcPct val="112000"/>
              </a:lnSpc>
              <a:buNone/>
            </a:pPr>
            <a:r>
              <a:rPr lang="en-US" sz="1200" b="1" dirty="0">
                <a:solidFill>
                  <a:srgbClr val="F2C94C"/>
                </a:solidFill>
                <a:latin typeface="Courier New" pitchFamily="34" charset="0"/>
                <a:ea typeface="Courier New" pitchFamily="34" charset="-122"/>
                <a:cs typeface="Courier New" pitchFamily="34" charset="-120"/>
              </a:rPr>
              <a:t>5000</a:t>
            </a:r>
            <a:pPr indent="0" marL="0">
              <a:lnSpc>
                <a:spcPct val="112000"/>
              </a:lnSpc>
              <a:buNone/>
            </a:pPr>
            <a:r>
              <a:rPr lang="en-US" sz="1200" dirty="0">
                <a:solidFill>
                  <a:srgbClr val="E8EEF6"/>
                </a:solidFill>
                <a:latin typeface="Courier New" pitchFamily="34" charset="0"/>
                <a:ea typeface="Courier New" pitchFamily="34" charset="-122"/>
                <a:cs typeface="Courier New" pitchFamily="34" charset="-120"/>
              </a:rPr>
              <a:t>,,</a:t>
            </a:r>
            <a:pPr indent="0" marL="0">
              <a:lnSpc>
                <a:spcPct val="112000"/>
              </a:lnSpc>
              <a:buNone/>
            </a:pPr>
            <a:r>
              <a:rPr lang="en-US" sz="1200" b="1" dirty="0">
                <a:solidFill>
                  <a:srgbClr val="F2C94C"/>
                </a:solidFill>
                <a:latin typeface="Courier New" pitchFamily="34" charset="0"/>
                <a:ea typeface="Courier New" pitchFamily="34" charset="-122"/>
                <a:cs typeface="Courier New" pitchFamily="34" charset="-120"/>
              </a:rPr>
              <a:t>max</a:t>
            </a:r>
            <a:endParaRPr lang="en-US" sz="1200" dirty="0"/>
          </a:p>
          <a:p>
            <a:pPr indent="0" marL="0">
              <a:lnSpc>
                <a:spcPct val="112000"/>
              </a:lnSpc>
              <a:buNone/>
            </a:pPr>
            <a:r>
              <a:rPr lang="en-US" sz="1200" dirty="0">
                <a:solidFill>
                  <a:srgbClr val="E8EEF6"/>
                </a:solidFill>
                <a:latin typeface="Courier New" pitchFamily="34" charset="0"/>
                <a:ea typeface="Courier New" pitchFamily="34" charset="-122"/>
                <a:cs typeface="Courier New" pitchFamily="34" charset="-120"/>
              </a:rPr>
              <a:t>10.0.0.12,</a:t>
            </a:r>
            <a:pPr indent="0" marL="0">
              <a:lnSpc>
                <a:spcPct val="112000"/>
              </a:lnSpc>
              <a:buNone/>
            </a:pPr>
            <a:r>
              <a:rPr lang="en-US" sz="1200" b="1" dirty="0">
                <a:solidFill>
                  <a:srgbClr val="FFFFFF"/>
                </a:solidFill>
                <a:latin typeface="Courier New" pitchFamily="34" charset="0"/>
                <a:ea typeface="Courier New" pitchFamily="34" charset="-122"/>
                <a:cs typeface="Courier New" pitchFamily="34" charset="-120"/>
              </a:rPr>
              <a:t>20000</a:t>
            </a:r>
            <a:pPr indent="0" marL="0">
              <a:lnSpc>
                <a:spcPct val="112000"/>
              </a:lnSpc>
              <a:buNone/>
            </a:pPr>
            <a:r>
              <a:rPr lang="en-US" sz="1200" dirty="0">
                <a:solidFill>
                  <a:srgbClr val="E8EEF6"/>
                </a:solidFill>
                <a:latin typeface="Courier New" pitchFamily="34" charset="0"/>
                <a:ea typeface="Courier New" pitchFamily="34" charset="-122"/>
                <a:cs typeface="Courier New" pitchFamily="34" charset="-120"/>
              </a:rPr>
              <a:t>,</a:t>
            </a:r>
            <a:pPr indent="0" marL="0">
              <a:lnSpc>
                <a:spcPct val="112000"/>
              </a:lnSpc>
              <a:buNone/>
            </a:pPr>
            <a:pPr indent="0" marL="0">
              <a:lnSpc>
                <a:spcPct val="112000"/>
              </a:lnSpc>
              <a:buNone/>
            </a:pPr>
            <a:r>
              <a:rPr lang="en-US" sz="1200" dirty="0">
                <a:solidFill>
                  <a:srgbClr val="E8EEF6"/>
                </a:solidFill>
                <a:latin typeface="Courier New" pitchFamily="34" charset="0"/>
                <a:ea typeface="Courier New" pitchFamily="34" charset="-122"/>
                <a:cs typeface="Courier New" pitchFamily="34" charset="-120"/>
              </a:rPr>
              <a:t> ,</a:t>
            </a:r>
            <a:endParaRPr lang="en-US" sz="1200" dirty="0"/>
          </a:p>
        </p:txBody>
      </p:sp>
      <p:sp>
        <p:nvSpPr>
          <p:cNvPr id="6" name="Text 4"/>
          <p:cNvSpPr/>
          <p:nvPr/>
        </p:nvSpPr>
        <p:spPr>
          <a:xfrm>
            <a:off x="566928" y="4160520"/>
            <a:ext cx="6035040" cy="173736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mx gen writes it; everything about the traffic lives here — hosts, per-pair rates, sizes, port. No command needs those flags again.</a:t>
            </a:r>
            <a:endParaRPr lang="en-US" sz="1250" dirty="0"/>
          </a:p>
          <a:p>
            <a:pPr marL="152400" indent="-152400">
              <a:spcAft>
                <a:spcPts val="900"/>
              </a:spcAft>
              <a:buSzPct val="100000"/>
              <a:buChar char="•"/>
            </a:pPr>
            <a:r>
              <a:rPr lang="en-US" sz="1250" dirty="0">
                <a:solidFill>
                  <a:srgbClr val="1C2B3A"/>
                </a:solidFill>
                <a:latin typeface="Calibri" pitchFamily="34" charset="0"/>
                <a:ea typeface="Calibri" pitchFamily="34" charset="-122"/>
                <a:cs typeface="Calibri" pitchFamily="34" charset="-120"/>
              </a:rPr>
              <a:t>Host tokens: name[=addr[:port]] — bare IPs work; so does hostA=10.0.0.10:5399.</a:t>
            </a:r>
            <a:endParaRPr lang="en-US" sz="1250" dirty="0"/>
          </a:p>
        </p:txBody>
      </p:sp>
      <p:sp>
        <p:nvSpPr>
          <p:cNvPr id="7" name="Shape 5"/>
          <p:cNvSpPr/>
          <p:nvPr/>
        </p:nvSpPr>
        <p:spPr>
          <a:xfrm>
            <a:off x="6903720" y="1572768"/>
            <a:ext cx="4718304" cy="3291840"/>
          </a:xfrm>
          <a:prstGeom prst="roundRect">
            <a:avLst>
              <a:gd name="adj" fmla="val 2500"/>
            </a:avLst>
          </a:prstGeom>
          <a:solidFill>
            <a:srgbClr val="FDF0F0"/>
          </a:solidFill>
          <a:ln/>
        </p:spPr>
      </p:sp>
      <p:sp>
        <p:nvSpPr>
          <p:cNvPr id="8" name="Text 6"/>
          <p:cNvSpPr/>
          <p:nvPr/>
        </p:nvSpPr>
        <p:spPr>
          <a:xfrm>
            <a:off x="7159752" y="1773936"/>
            <a:ext cx="4206240" cy="320040"/>
          </a:xfrm>
          <a:prstGeom prst="rect">
            <a:avLst/>
          </a:prstGeom>
          <a:noFill/>
          <a:ln/>
        </p:spPr>
        <p:txBody>
          <a:bodyPr wrap="square" lIns="0" tIns="0" rIns="0" bIns="0" rtlCol="0" anchor="ctr"/>
          <a:lstStyle/>
          <a:p>
            <a:pPr indent="0" marL="0">
              <a:buNone/>
            </a:pPr>
            <a:r>
              <a:rPr lang="en-US" sz="1450" b="1" dirty="0">
                <a:solidFill>
                  <a:srgbClr val="9C2F40"/>
                </a:solidFill>
                <a:latin typeface="Calibri" pitchFamily="34" charset="0"/>
                <a:ea typeface="Calibri" pitchFamily="34" charset="-122"/>
                <a:cs typeface="Calibri" pitchFamily="34" charset="-120"/>
              </a:rPr>
              <a:t>Mid-stream changes = edit + restart</a:t>
            </a:r>
            <a:endParaRPr lang="en-US" sz="1450" dirty="0"/>
          </a:p>
        </p:txBody>
      </p:sp>
      <p:sp>
        <p:nvSpPr>
          <p:cNvPr id="9" name="Text 7"/>
          <p:cNvSpPr/>
          <p:nvPr/>
        </p:nvSpPr>
        <p:spPr>
          <a:xfrm>
            <a:off x="7159752" y="2194560"/>
            <a:ext cx="4206240" cy="26517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Blank a cell → that flow is gone</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Change a cell → that pair gets its own rate</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Write max → that pair runs unpaced</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Edit the header → reshape sizes / port</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Then mx start again — agents redeploy with the new matrix; reports keep accumulating</a:t>
            </a:r>
            <a:endParaRPr lang="en-US" sz="1250" dirty="0"/>
          </a:p>
        </p:txBody>
      </p:sp>
      <p:sp>
        <p:nvSpPr>
          <p:cNvPr id="10" name="Shape 8"/>
          <p:cNvSpPr/>
          <p:nvPr/>
        </p:nvSpPr>
        <p:spPr>
          <a:xfrm>
            <a:off x="6903720" y="5029200"/>
            <a:ext cx="4718304" cy="1051560"/>
          </a:xfrm>
          <a:prstGeom prst="roundRect">
            <a:avLst>
              <a:gd name="adj" fmla="val 7826"/>
            </a:avLst>
          </a:prstGeom>
          <a:solidFill>
            <a:srgbClr val="F1F4F8"/>
          </a:solidFill>
          <a:ln/>
        </p:spPr>
      </p:sp>
      <p:sp>
        <p:nvSpPr>
          <p:cNvPr id="11" name="Text 9"/>
          <p:cNvSpPr/>
          <p:nvPr/>
        </p:nvSpPr>
        <p:spPr>
          <a:xfrm>
            <a:off x="7159752" y="5157216"/>
            <a:ext cx="4206240" cy="822960"/>
          </a:xfrm>
          <a:prstGeom prst="rect">
            <a:avLst/>
          </a:prstGeom>
          <a:noFill/>
          <a:ln/>
        </p:spPr>
        <p:txBody>
          <a:bodyPr wrap="square" lIns="0" tIns="0" rIns="0" bIns="0" rtlCol="0" anchor="ctr"/>
          <a:lstStyle/>
          <a:p>
            <a:pPr indent="0" marL="0">
              <a:buNone/>
            </a:pPr>
            <a:r>
              <a:rPr lang="en-US" sz="1200" b="1" dirty="0">
                <a:solidFill>
                  <a:srgbClr val="1C2B3A"/>
                </a:solidFill>
                <a:latin typeface="Calibri" pitchFamily="34" charset="0"/>
                <a:ea typeface="Calibri" pitchFamily="34" charset="-122"/>
                <a:cs typeface="Calibri" pitchFamily="34" charset="-120"/>
              </a:rPr>
              <a:t>The file is the interface. </a:t>
            </a:r>
            <a:pPr indent="0" marL="0">
              <a:buNone/>
            </a:pPr>
            <a:r>
              <a:rPr lang="en-US" sz="1200" dirty="0">
                <a:solidFill>
                  <a:srgbClr val="5C6B7A"/>
                </a:solidFill>
                <a:latin typeface="Calibri" pitchFamily="34" charset="0"/>
                <a:ea typeface="Calibri" pitchFamily="34" charset="-122"/>
                <a:cs typeface="Calibri" pitchFamily="34" charset="-120"/>
              </a:rPr>
              <a:t>Non-uniform tests — hot pairs, quiet pairs, one unpaced probe — are hand edits, not new features.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Getting results out</a:t>
            </a:r>
            <a:endParaRPr lang="en-US" sz="2900" dirty="0"/>
          </a:p>
        </p:txBody>
      </p:sp>
      <p:sp>
        <p:nvSpPr>
          <p:cNvPr id="4" name="Shape 2"/>
          <p:cNvSpPr/>
          <p:nvPr/>
        </p:nvSpPr>
        <p:spPr>
          <a:xfrm>
            <a:off x="566928" y="1554480"/>
            <a:ext cx="11055096" cy="804672"/>
          </a:xfrm>
          <a:prstGeom prst="roundRect">
            <a:avLst>
              <a:gd name="adj" fmla="val 10227"/>
            </a:avLst>
          </a:prstGeom>
          <a:solidFill>
            <a:srgbClr val="F1F4F8"/>
          </a:solidFill>
          <a:ln/>
        </p:spPr>
      </p:sp>
      <p:sp>
        <p:nvSpPr>
          <p:cNvPr id="5" name="Text 3"/>
          <p:cNvSpPr/>
          <p:nvPr/>
        </p:nvSpPr>
        <p:spPr>
          <a:xfrm>
            <a:off x="795528" y="1645920"/>
            <a:ext cx="3063240" cy="621792"/>
          </a:xfrm>
          <a:prstGeom prst="rect">
            <a:avLst/>
          </a:prstGeom>
          <a:noFill/>
          <a:ln/>
        </p:spPr>
        <p:txBody>
          <a:bodyPr wrap="square" lIns="0" tIns="0" rIns="0" bIns="0" rtlCol="0" anchor="ctr"/>
          <a:lstStyle/>
          <a:p>
            <a:pPr indent="0" marL="0">
              <a:buNone/>
            </a:pPr>
            <a:r>
              <a:rPr lang="en-US" sz="1250" b="1" dirty="0">
                <a:solidFill>
                  <a:srgbClr val="9C2F40"/>
                </a:solidFill>
                <a:latin typeface="Courier New" pitchFamily="34" charset="0"/>
                <a:ea typeface="Courier New" pitchFamily="34" charset="-122"/>
                <a:cs typeface="Courier New" pitchFamily="34" charset="-120"/>
              </a:rPr>
              <a:t>mx status --watch 5</a:t>
            </a:r>
            <a:endParaRPr lang="en-US" sz="1250" dirty="0"/>
          </a:p>
        </p:txBody>
      </p:sp>
      <p:sp>
        <p:nvSpPr>
          <p:cNvPr id="6" name="Text 4"/>
          <p:cNvSpPr/>
          <p:nvPr/>
        </p:nvSpPr>
        <p:spPr>
          <a:xfrm>
            <a:off x="3995928" y="1645920"/>
            <a:ext cx="7397496" cy="621792"/>
          </a:xfrm>
          <a:prstGeom prst="rect">
            <a:avLst/>
          </a:prstGeom>
          <a:noFill/>
          <a:ln/>
        </p:spPr>
        <p:txBody>
          <a:bodyPr wrap="square" lIns="0" tIns="0" rIns="0" bIns="0" rtlCol="0" anchor="ctr"/>
          <a:lstStyle/>
          <a:p>
            <a:pPr indent="0" marL="0">
              <a:buNone/>
            </a:pPr>
            <a:r>
              <a:rPr lang="en-US" sz="1150" dirty="0">
                <a:solidFill>
                  <a:srgbClr val="1C2B3A"/>
                </a:solidFill>
                <a:latin typeface="Calibri" pitchFamily="34" charset="0"/>
                <a:ea typeface="Calibri" pitchFamily="34" charset="-122"/>
                <a:cs typeface="Calibri" pitchFamily="34" charset="-120"/>
              </a:rPr>
              <a:t>Live: one ticker line per host every 5 s — is it running, and how fast?</a:t>
            </a:r>
            <a:endParaRPr lang="en-US" sz="1150" dirty="0"/>
          </a:p>
        </p:txBody>
      </p:sp>
      <p:sp>
        <p:nvSpPr>
          <p:cNvPr id="7" name="Shape 5"/>
          <p:cNvSpPr/>
          <p:nvPr/>
        </p:nvSpPr>
        <p:spPr>
          <a:xfrm>
            <a:off x="566928" y="2459736"/>
            <a:ext cx="11055096" cy="804672"/>
          </a:xfrm>
          <a:prstGeom prst="roundRect">
            <a:avLst>
              <a:gd name="adj" fmla="val 10227"/>
            </a:avLst>
          </a:prstGeom>
          <a:solidFill>
            <a:srgbClr val="F1F4F8"/>
          </a:solidFill>
          <a:ln/>
        </p:spPr>
      </p:sp>
      <p:sp>
        <p:nvSpPr>
          <p:cNvPr id="8" name="Text 6"/>
          <p:cNvSpPr/>
          <p:nvPr/>
        </p:nvSpPr>
        <p:spPr>
          <a:xfrm>
            <a:off x="795528" y="2551176"/>
            <a:ext cx="3063240" cy="621792"/>
          </a:xfrm>
          <a:prstGeom prst="rect">
            <a:avLst/>
          </a:prstGeom>
          <a:noFill/>
          <a:ln/>
        </p:spPr>
        <p:txBody>
          <a:bodyPr wrap="square" lIns="0" tIns="0" rIns="0" bIns="0" rtlCol="0" anchor="ctr"/>
          <a:lstStyle/>
          <a:p>
            <a:pPr indent="0" marL="0">
              <a:buNone/>
            </a:pPr>
            <a:r>
              <a:rPr lang="en-US" sz="1250" b="1" dirty="0">
                <a:solidFill>
                  <a:srgbClr val="9C2F40"/>
                </a:solidFill>
                <a:latin typeface="Courier New" pitchFamily="34" charset="0"/>
                <a:ea typeface="Courier New" pitchFamily="34" charset="-122"/>
                <a:cs typeface="Courier New" pitchFamily="34" charset="-120"/>
              </a:rPr>
              <a:t>mx summarize</a:t>
            </a:r>
            <a:endParaRPr lang="en-US" sz="1250" dirty="0"/>
          </a:p>
        </p:txBody>
      </p:sp>
      <p:sp>
        <p:nvSpPr>
          <p:cNvPr id="9" name="Text 7"/>
          <p:cNvSpPr/>
          <p:nvPr/>
        </p:nvSpPr>
        <p:spPr>
          <a:xfrm>
            <a:off x="3995928" y="2551176"/>
            <a:ext cx="7397496" cy="621792"/>
          </a:xfrm>
          <a:prstGeom prst="rect">
            <a:avLst/>
          </a:prstGeom>
          <a:noFill/>
          <a:ln/>
        </p:spPr>
        <p:txBody>
          <a:bodyPr wrap="square" lIns="0" tIns="0" rIns="0" bIns="0" rtlCol="0" anchor="ctr"/>
          <a:lstStyle/>
          <a:p>
            <a:pPr indent="0" marL="0">
              <a:buNone/>
            </a:pPr>
            <a:r>
              <a:rPr lang="en-US" sz="1150" dirty="0">
                <a:solidFill>
                  <a:srgbClr val="1C2B3A"/>
                </a:solidFill>
                <a:latin typeface="Calibri" pitchFamily="34" charset="0"/>
                <a:ea typeface="Calibri" pitchFamily="34" charset="-122"/>
                <a:cs typeface="Calibri" pitchFamily="34" charset="-120"/>
              </a:rPr>
              <a:t>The analysis: fleet totals, per-host table (worst first), worst flows, and a computed WHAT TO DO NEXT.</a:t>
            </a:r>
            <a:endParaRPr lang="en-US" sz="1150" dirty="0"/>
          </a:p>
        </p:txBody>
      </p:sp>
      <p:sp>
        <p:nvSpPr>
          <p:cNvPr id="10" name="Shape 8"/>
          <p:cNvSpPr/>
          <p:nvPr/>
        </p:nvSpPr>
        <p:spPr>
          <a:xfrm>
            <a:off x="566928" y="3364992"/>
            <a:ext cx="11055096" cy="804672"/>
          </a:xfrm>
          <a:prstGeom prst="roundRect">
            <a:avLst>
              <a:gd name="adj" fmla="val 10227"/>
            </a:avLst>
          </a:prstGeom>
          <a:solidFill>
            <a:srgbClr val="F1F4F8"/>
          </a:solidFill>
          <a:ln/>
        </p:spPr>
      </p:sp>
      <p:sp>
        <p:nvSpPr>
          <p:cNvPr id="11" name="Text 9"/>
          <p:cNvSpPr/>
          <p:nvPr/>
        </p:nvSpPr>
        <p:spPr>
          <a:xfrm>
            <a:off x="795528" y="3456432"/>
            <a:ext cx="3063240" cy="621792"/>
          </a:xfrm>
          <a:prstGeom prst="rect">
            <a:avLst/>
          </a:prstGeom>
          <a:noFill/>
          <a:ln/>
        </p:spPr>
        <p:txBody>
          <a:bodyPr wrap="square" lIns="0" tIns="0" rIns="0" bIns="0" rtlCol="0" anchor="ctr"/>
          <a:lstStyle/>
          <a:p>
            <a:pPr indent="0" marL="0">
              <a:buNone/>
            </a:pPr>
            <a:r>
              <a:rPr lang="en-US" sz="1250" b="1" dirty="0">
                <a:solidFill>
                  <a:srgbClr val="9C2F40"/>
                </a:solidFill>
                <a:latin typeface="Courier New" pitchFamily="34" charset="0"/>
                <a:ea typeface="Courier New" pitchFamily="34" charset="-122"/>
                <a:cs typeface="Courier New" pitchFamily="34" charset="-120"/>
              </a:rPr>
              <a:t>mx summarize --grid g</a:t>
            </a:r>
            <a:endParaRPr lang="en-US" sz="1250" dirty="0"/>
          </a:p>
        </p:txBody>
      </p:sp>
      <p:sp>
        <p:nvSpPr>
          <p:cNvPr id="12" name="Text 10"/>
          <p:cNvSpPr/>
          <p:nvPr/>
        </p:nvSpPr>
        <p:spPr>
          <a:xfrm>
            <a:off x="3995928" y="3456432"/>
            <a:ext cx="7397496" cy="621792"/>
          </a:xfrm>
          <a:prstGeom prst="rect">
            <a:avLst/>
          </a:prstGeom>
          <a:noFill/>
          <a:ln/>
        </p:spPr>
        <p:txBody>
          <a:bodyPr wrap="square" lIns="0" tIns="0" rIns="0" bIns="0" rtlCol="0" anchor="ctr"/>
          <a:lstStyle/>
          <a:p>
            <a:pPr indent="0" marL="0">
              <a:buNone/>
            </a:pPr>
            <a:r>
              <a:rPr lang="en-US" sz="1150" dirty="0">
                <a:solidFill>
                  <a:srgbClr val="1C2B3A"/>
                </a:solidFill>
                <a:latin typeface="Calibri" pitchFamily="34" charset="0"/>
                <a:ea typeface="Calibri" pitchFamily="34" charset="-122"/>
                <a:cs typeface="Calibri" pitchFamily="34" charset="-120"/>
              </a:rPr>
              <a:t>N×N CSVs in the matrix’s own shape: pps, delivered, loss, rtt_p99. Dark row = sick sender · dark column = sick receiver · dark block = congested pair of leaves.</a:t>
            </a:r>
            <a:endParaRPr lang="en-US" sz="1150" dirty="0"/>
          </a:p>
        </p:txBody>
      </p:sp>
      <p:sp>
        <p:nvSpPr>
          <p:cNvPr id="13" name="Shape 11"/>
          <p:cNvSpPr/>
          <p:nvPr/>
        </p:nvSpPr>
        <p:spPr>
          <a:xfrm>
            <a:off x="566928" y="4270248"/>
            <a:ext cx="11055096" cy="804672"/>
          </a:xfrm>
          <a:prstGeom prst="roundRect">
            <a:avLst>
              <a:gd name="adj" fmla="val 10227"/>
            </a:avLst>
          </a:prstGeom>
          <a:solidFill>
            <a:srgbClr val="F1F4F8"/>
          </a:solidFill>
          <a:ln/>
        </p:spPr>
      </p:sp>
      <p:sp>
        <p:nvSpPr>
          <p:cNvPr id="14" name="Text 12"/>
          <p:cNvSpPr/>
          <p:nvPr/>
        </p:nvSpPr>
        <p:spPr>
          <a:xfrm>
            <a:off x="795528" y="4361688"/>
            <a:ext cx="3063240" cy="621792"/>
          </a:xfrm>
          <a:prstGeom prst="rect">
            <a:avLst/>
          </a:prstGeom>
          <a:noFill/>
          <a:ln/>
        </p:spPr>
        <p:txBody>
          <a:bodyPr wrap="square" lIns="0" tIns="0" rIns="0" bIns="0" rtlCol="0" anchor="ctr"/>
          <a:lstStyle/>
          <a:p>
            <a:pPr indent="0" marL="0">
              <a:buNone/>
            </a:pPr>
            <a:r>
              <a:rPr lang="en-US" sz="1250" b="1" dirty="0">
                <a:solidFill>
                  <a:srgbClr val="9C2F40"/>
                </a:solidFill>
                <a:latin typeface="Courier New" pitchFamily="34" charset="0"/>
                <a:ea typeface="Courier New" pitchFamily="34" charset="-122"/>
                <a:cs typeface="Courier New" pitchFamily="34" charset="-120"/>
              </a:rPr>
              <a:t>reports/&lt;host&gt;.csv</a:t>
            </a:r>
            <a:endParaRPr lang="en-US" sz="1250" dirty="0"/>
          </a:p>
        </p:txBody>
      </p:sp>
      <p:sp>
        <p:nvSpPr>
          <p:cNvPr id="15" name="Text 13"/>
          <p:cNvSpPr/>
          <p:nvPr/>
        </p:nvSpPr>
        <p:spPr>
          <a:xfrm>
            <a:off x="3995928" y="4361688"/>
            <a:ext cx="7397496" cy="621792"/>
          </a:xfrm>
          <a:prstGeom prst="rect">
            <a:avLst/>
          </a:prstGeom>
          <a:noFill/>
          <a:ln/>
        </p:spPr>
        <p:txBody>
          <a:bodyPr wrap="square" lIns="0" tIns="0" rIns="0" bIns="0" rtlCol="0" anchor="ctr"/>
          <a:lstStyle/>
          <a:p>
            <a:pPr indent="0" marL="0">
              <a:buNone/>
            </a:pPr>
            <a:r>
              <a:rPr lang="en-US" sz="1150" dirty="0">
                <a:solidFill>
                  <a:srgbClr val="1C2B3A"/>
                </a:solidFill>
                <a:latin typeface="Calibri" pitchFamily="34" charset="0"/>
                <a:ea typeface="Calibri" pitchFamily="34" charset="-122"/>
                <a:cs typeface="Calibri" pitchFamily="34" charset="-120"/>
              </a:rPr>
              <a:t>The raw record: one row per flow per interval (pps, loss, RTT percentiles, CPU, workers). Plain CSV — take it to whatever you plot with.</a:t>
            </a:r>
            <a:endParaRPr lang="en-US" sz="1150" dirty="0"/>
          </a:p>
        </p:txBody>
      </p:sp>
      <p:sp>
        <p:nvSpPr>
          <p:cNvPr id="16" name="Shape 14"/>
          <p:cNvSpPr/>
          <p:nvPr/>
        </p:nvSpPr>
        <p:spPr>
          <a:xfrm>
            <a:off x="566928" y="5175504"/>
            <a:ext cx="11055096" cy="804672"/>
          </a:xfrm>
          <a:prstGeom prst="roundRect">
            <a:avLst>
              <a:gd name="adj" fmla="val 10227"/>
            </a:avLst>
          </a:prstGeom>
          <a:solidFill>
            <a:srgbClr val="F1F4F8"/>
          </a:solidFill>
          <a:ln/>
        </p:spPr>
      </p:sp>
      <p:sp>
        <p:nvSpPr>
          <p:cNvPr id="17" name="Text 15"/>
          <p:cNvSpPr/>
          <p:nvPr/>
        </p:nvSpPr>
        <p:spPr>
          <a:xfrm>
            <a:off x="795528" y="5266944"/>
            <a:ext cx="3063240" cy="621792"/>
          </a:xfrm>
          <a:prstGeom prst="rect">
            <a:avLst/>
          </a:prstGeom>
          <a:noFill/>
          <a:ln/>
        </p:spPr>
        <p:txBody>
          <a:bodyPr wrap="square" lIns="0" tIns="0" rIns="0" bIns="0" rtlCol="0" anchor="ctr"/>
          <a:lstStyle/>
          <a:p>
            <a:pPr indent="0" marL="0">
              <a:buNone/>
            </a:pPr>
            <a:r>
              <a:rPr lang="en-US" sz="1250" b="1" dirty="0">
                <a:solidFill>
                  <a:srgbClr val="9C2F40"/>
                </a:solidFill>
                <a:latin typeface="Courier New" pitchFamily="34" charset="0"/>
                <a:ea typeface="Courier New" pitchFamily="34" charset="-122"/>
                <a:cs typeface="Courier New" pitchFamily="34" charset="-120"/>
              </a:rPr>
              <a:t>mx logs</a:t>
            </a:r>
            <a:endParaRPr lang="en-US" sz="1250" dirty="0"/>
          </a:p>
        </p:txBody>
      </p:sp>
      <p:sp>
        <p:nvSpPr>
          <p:cNvPr id="18" name="Text 16"/>
          <p:cNvSpPr/>
          <p:nvPr/>
        </p:nvSpPr>
        <p:spPr>
          <a:xfrm>
            <a:off x="3995928" y="5266944"/>
            <a:ext cx="7397496" cy="621792"/>
          </a:xfrm>
          <a:prstGeom prst="rect">
            <a:avLst/>
          </a:prstGeom>
          <a:noFill/>
          <a:ln/>
        </p:spPr>
        <p:txBody>
          <a:bodyPr wrap="square" lIns="0" tIns="0" rIns="0" bIns="0" rtlCol="0" anchor="ctr"/>
          <a:lstStyle/>
          <a:p>
            <a:pPr indent="0" marL="0">
              <a:buNone/>
            </a:pPr>
            <a:r>
              <a:rPr lang="en-US" sz="1150" dirty="0">
                <a:solidFill>
                  <a:srgbClr val="1C2B3A"/>
                </a:solidFill>
                <a:latin typeface="Calibri" pitchFamily="34" charset="0"/>
                <a:ea typeface="Calibri" pitchFamily="34" charset="-122"/>
                <a:cs typeface="Calibri" pitchFamily="34" charset="-120"/>
              </a:rPr>
              <a:t>Each agent’s own log, for when a host did something strange.</a:t>
            </a:r>
            <a:endParaRPr lang="en-US" sz="1150" dirty="0"/>
          </a:p>
        </p:txBody>
      </p:sp>
      <p:sp>
        <p:nvSpPr>
          <p:cNvPr id="19" name="Text 17"/>
          <p:cNvSpPr/>
          <p:nvPr/>
        </p:nvSpPr>
        <p:spPr>
          <a:xfrm>
            <a:off x="566928" y="6108192"/>
            <a:ext cx="11055096" cy="320040"/>
          </a:xfrm>
          <a:prstGeom prst="rect">
            <a:avLst/>
          </a:prstGeom>
          <a:noFill/>
          <a:ln/>
        </p:spPr>
        <p:txBody>
          <a:bodyPr wrap="square" lIns="0" tIns="0" rIns="0" bIns="0" rtlCol="0" anchor="ctr"/>
          <a:lstStyle/>
          <a:p>
            <a:pPr algn="ctr" indent="0" marL="0">
              <a:buNone/>
            </a:pPr>
            <a:r>
              <a:rPr lang="en-US" sz="1200" i="1" dirty="0">
                <a:solidFill>
                  <a:srgbClr val="5C6B7A"/>
                </a:solidFill>
                <a:latin typeface="Calibri" pitchFamily="34" charset="0"/>
                <a:ea typeface="Calibri" pitchFamily="34" charset="-122"/>
                <a:cs typeface="Calibri" pitchFamily="34" charset="-120"/>
              </a:rPr>
              <a:t>Reports survive mx stop — collect and summarize as long as you like; only mx clean removes them.</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Interpreting the summary</a:t>
            </a:r>
            <a:endParaRPr lang="en-US" sz="2900" dirty="0"/>
          </a:p>
        </p:txBody>
      </p:sp>
      <p:sp>
        <p:nvSpPr>
          <p:cNvPr id="4" name="Shape 2"/>
          <p:cNvSpPr/>
          <p:nvPr/>
        </p:nvSpPr>
        <p:spPr>
          <a:xfrm>
            <a:off x="566928" y="1554480"/>
            <a:ext cx="6675120" cy="3063240"/>
          </a:xfrm>
          <a:prstGeom prst="roundRect">
            <a:avLst>
              <a:gd name="adj" fmla="val 2687"/>
            </a:avLst>
          </a:prstGeom>
          <a:solidFill>
            <a:srgbClr val="13233A"/>
          </a:solidFill>
          <a:ln/>
        </p:spPr>
      </p:sp>
      <p:sp>
        <p:nvSpPr>
          <p:cNvPr id="5" name="Text 3"/>
          <p:cNvSpPr/>
          <p:nvPr/>
        </p:nvSpPr>
        <p:spPr>
          <a:xfrm>
            <a:off x="768096" y="1682496"/>
            <a:ext cx="6272784" cy="2807208"/>
          </a:xfrm>
          <a:prstGeom prst="rect">
            <a:avLst/>
          </a:prstGeom>
          <a:noFill/>
          <a:ln/>
        </p:spPr>
        <p:txBody>
          <a:bodyPr wrap="square" lIns="0" tIns="0" rIns="0" bIns="0" rtlCol="0" anchor="t"/>
          <a:lstStyle/>
          <a:p>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mx summarize -- last 60s, 12 hosts, 132 flows</a:t>
            </a:r>
            <a:endParaRPr lang="en-US" sz="1150" dirty="0"/>
          </a:p>
          <a:p>
            <a:pPr indent="0" marL="0">
              <a:lnSpc>
                <a:spcPct val="112000"/>
              </a:lnSpc>
              <a:buNone/>
            </a:pPr>
            <a:r>
              <a:rPr lang="en-US" sz="1150" dirty="0">
                <a:solidFill>
                  <a:srgbClr val="E8EEF6"/>
                </a:solidFill>
                <a:latin typeface="Courier New" pitchFamily="34" charset="0"/>
                <a:ea typeface="Courier New" pitchFamily="34" charset="-122"/>
                <a:cs typeface="Courier New" pitchFamily="34" charset="-120"/>
              </a:rPr>
              <a:t>  REQUESTS    2.640 Mpps   2.75 Gbps wire</a:t>
            </a:r>
            <a:endParaRPr lang="en-US" sz="1150" dirty="0"/>
          </a:p>
          <a:p>
            <a:pPr indent="0" marL="0">
              <a:lnSpc>
                <a:spcPct val="112000"/>
              </a:lnSpc>
              <a:buNone/>
            </a:pPr>
            <a:r>
              <a:rPr lang="en-US" sz="1150" b="1" dirty="0">
                <a:solidFill>
                  <a:srgbClr val="FFFFFF"/>
                </a:solidFill>
                <a:latin typeface="Courier New" pitchFamily="34" charset="0"/>
                <a:ea typeface="Courier New" pitchFamily="34" charset="-122"/>
                <a:cs typeface="Courier New" pitchFamily="34" charset="-120"/>
              </a:rPr>
              <a:t>  DELIVERED   2.601 Mpps   98.52% of what was sent</a:t>
            </a:r>
            <a:endParaRPr lang="en-US" sz="1150" dirty="0"/>
          </a:p>
          <a:p>
            <a:pPr indent="0" marL="0">
              <a:lnSpc>
                <a:spcPct val="112000"/>
              </a:lnSpc>
              <a:buNone/>
            </a:pPr>
            <a:r>
              <a:rPr lang="en-US" sz="1150" dirty="0">
                <a:solidFill>
                  <a:srgbClr val="E8EEF6"/>
                </a:solidFill>
                <a:latin typeface="Courier New" pitchFamily="34" charset="0"/>
                <a:ea typeface="Courier New" pitchFamily="34" charset="-122"/>
                <a:cs typeface="Courier New" pitchFamily="34" charset="-120"/>
              </a:rPr>
              <a:t>  REPLIES     2.598 Mpps   2.71 Gbps wire</a:t>
            </a:r>
            <a:endParaRPr lang="en-US" sz="1150" dirty="0"/>
          </a:p>
          <a:p>
            <a:pPr indent="0" marL="0">
              <a:lnSpc>
                <a:spcPct val="112000"/>
              </a:lnSpc>
              <a:buNone/>
            </a:pPr>
            <a:r>
              <a:rPr lang="en-US" sz="1150" dirty="0">
                <a:solidFill>
                  <a:srgbClr val="E8EEF6"/>
                </a:solidFill>
                <a:latin typeface="Courier New" pitchFamily="34" charset="0"/>
                <a:ea typeface="Courier New" pitchFamily="34" charset="-122"/>
                <a:cs typeface="Courier New" pitchFamily="34" charset="-120"/>
              </a:rPr>
              <a:t>  TARGET      2.640 Mpps   100.0% achieved</a:t>
            </a:r>
            <a:endParaRPr lang="en-US" sz="1150" dirty="0"/>
          </a:p>
          <a:p>
            <a:pPr indent="0" marL="0">
              <a:lnSpc>
                <a:spcPct val="112000"/>
              </a:lnSpc>
              <a:buNone/>
            </a:pPr>
            <a:r>
              <a:rPr lang="en-US" sz="1150" b="1" dirty="0">
                <a:solidFill>
                  <a:srgbClr val="F2C94C"/>
                </a:solidFill>
                <a:latin typeface="Courier New" pitchFamily="34" charset="0"/>
                <a:ea typeface="Courier New" pitchFamily="34" charset="-122"/>
                <a:cs typeface="Courier New" pitchFamily="34" charset="-120"/>
              </a:rPr>
              <a:t>  LOSS        1.59% round trip</a:t>
            </a:r>
            <a:endParaRPr lang="en-US" sz="1150" dirty="0"/>
          </a:p>
          <a:p>
            <a:pPr indent="0" marL="0">
              <a:lnSpc>
                <a:spcPct val="112000"/>
              </a:lnSpc>
              <a:buNone/>
            </a:pPr>
            <a:r>
              <a:rPr lang="en-US" sz="1150" dirty="0">
                <a:solidFill>
                  <a:srgbClr val="F2C94C"/>
                </a:solidFill>
                <a:latin typeface="Courier New" pitchFamily="34" charset="0"/>
                <a:ea typeface="Courier New" pitchFamily="34" charset="-122"/>
                <a:cs typeface="Courier New" pitchFamily="34" charset="-120"/>
              </a:rPr>
              <a:t>              (1.48% forward, 0.11% on the way back)</a:t>
            </a:r>
            <a:endParaRPr lang="en-US" sz="1150" dirty="0"/>
          </a:p>
          <a:p>
            <a:pPr indent="0" marL="0">
              <a:lnSpc>
                <a:spcPct val="112000"/>
              </a:lnSpc>
              <a:buNone/>
            </a:pPr>
            <a:r>
              <a:rPr lang="en-US" sz="1150" dirty="0">
                <a:solidFill>
                  <a:srgbClr val="E8EEF6"/>
                </a:solidFill>
                <a:latin typeface="Courier New" pitchFamily="34" charset="0"/>
                <a:ea typeface="Courier New" pitchFamily="34" charset="-122"/>
                <a:cs typeface="Courier New" pitchFamily="34" charset="-120"/>
              </a:rPr>
              <a:t>  RTT         avg 240us; worst flow p50 190us</a:t>
            </a:r>
            <a:endParaRPr lang="en-US" sz="1150" dirty="0"/>
          </a:p>
          <a:p>
            <a:pPr indent="0" marL="0">
              <a:lnSpc>
                <a:spcPct val="112000"/>
              </a:lnSpc>
              <a:buNone/>
            </a:pPr>
            <a:r>
              <a:rPr lang="en-US" sz="1150" dirty="0">
                <a:solidFill>
                  <a:srgbClr val="E8EEF6"/>
                </a:solidFill>
                <a:latin typeface="Courier New" pitchFamily="34" charset="0"/>
                <a:ea typeface="Courier New" pitchFamily="34" charset="-122"/>
                <a:cs typeface="Courier New" pitchFamily="34" charset="-120"/>
              </a:rPr>
              <a:t>              p99 4.1ms  max 31ms</a:t>
            </a:r>
            <a:endParaRPr lang="en-US" sz="1150" dirty="0"/>
          </a:p>
          <a:p>
            <a:pPr indent="0" marL="0">
              <a:lnSpc>
                <a:spcPct val="112000"/>
              </a:lnSpc>
              <a:buNone/>
            </a:pPr>
            <a:r>
              <a:rPr lang="en-US" sz="1150" b="1" dirty="0">
                <a:solidFill>
                  <a:srgbClr val="6FCF97"/>
                </a:solidFill>
                <a:latin typeface="Courier New" pitchFamily="34" charset="0"/>
                <a:ea typeface="Courier New" pitchFamily="34" charset="-122"/>
                <a:cs typeface="Courier New" pitchFamily="34" charset="-120"/>
              </a:rPr>
              <a:t>  WHAT TO DO NEXT ...</a:t>
            </a:r>
            <a:endParaRPr lang="en-US" sz="1150" dirty="0"/>
          </a:p>
        </p:txBody>
      </p:sp>
      <p:sp>
        <p:nvSpPr>
          <p:cNvPr id="6" name="Shape 4"/>
          <p:cNvSpPr/>
          <p:nvPr/>
        </p:nvSpPr>
        <p:spPr>
          <a:xfrm>
            <a:off x="7543800" y="1664208"/>
            <a:ext cx="402336" cy="402336"/>
          </a:xfrm>
          <a:prstGeom prst="ellipse">
            <a:avLst/>
          </a:prstGeom>
          <a:solidFill>
            <a:srgbClr val="BE3B4E"/>
          </a:solidFill>
          <a:ln/>
        </p:spPr>
      </p:sp>
      <p:pic>
        <p:nvPicPr>
          <p:cNvPr id="7" name="Image 0" descr="/home/user/presentations/network-testing/.icons/check.png">    </p:cNvPr>
          <p:cNvPicPr>
            <a:picLocks noChangeAspect="1"/>
          </p:cNvPicPr>
          <p:nvPr/>
        </p:nvPicPr>
        <p:blipFill>
          <a:blip r:embed="rId1"/>
          <a:stretch>
            <a:fillRect/>
          </a:stretch>
        </p:blipFill>
        <p:spPr>
          <a:xfrm>
            <a:off x="7648407" y="1768815"/>
            <a:ext cx="193121" cy="193121"/>
          </a:xfrm>
          <a:prstGeom prst="rect">
            <a:avLst/>
          </a:prstGeom>
        </p:spPr>
      </p:pic>
      <p:sp>
        <p:nvSpPr>
          <p:cNvPr id="8" name="Text 5"/>
          <p:cNvSpPr/>
          <p:nvPr/>
        </p:nvSpPr>
        <p:spPr>
          <a:xfrm>
            <a:off x="8110728" y="1591056"/>
            <a:ext cx="3511296"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DELIVERED is the honest number</a:t>
            </a:r>
            <a:endParaRPr lang="en-US" sz="1450" dirty="0"/>
          </a:p>
        </p:txBody>
      </p:sp>
      <p:sp>
        <p:nvSpPr>
          <p:cNvPr id="9" name="Text 6"/>
          <p:cNvSpPr/>
          <p:nvPr/>
        </p:nvSpPr>
        <p:spPr>
          <a:xfrm>
            <a:off x="8110728" y="1865376"/>
            <a:ext cx="3511296" cy="91440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Senders can’t see their own drops — the receivers’ count is the headline.</a:t>
            </a:r>
            <a:endParaRPr lang="en-US" sz="1200" dirty="0"/>
          </a:p>
        </p:txBody>
      </p:sp>
      <p:sp>
        <p:nvSpPr>
          <p:cNvPr id="10" name="Shape 7"/>
          <p:cNvSpPr/>
          <p:nvPr/>
        </p:nvSpPr>
        <p:spPr>
          <a:xfrm>
            <a:off x="7543800" y="2834640"/>
            <a:ext cx="402336" cy="402336"/>
          </a:xfrm>
          <a:prstGeom prst="ellipse">
            <a:avLst/>
          </a:prstGeom>
          <a:solidFill>
            <a:srgbClr val="BE3B4E"/>
          </a:solidFill>
          <a:ln/>
        </p:spPr>
      </p:sp>
      <p:pic>
        <p:nvPicPr>
          <p:cNvPr id="11" name="Image 1" descr="/home/user/presentations/network-testing/.icons/shuffle.png">    </p:cNvPr>
          <p:cNvPicPr>
            <a:picLocks noChangeAspect="1"/>
          </p:cNvPicPr>
          <p:nvPr/>
        </p:nvPicPr>
        <p:blipFill>
          <a:blip r:embed="rId2"/>
          <a:stretch>
            <a:fillRect/>
          </a:stretch>
        </p:blipFill>
        <p:spPr>
          <a:xfrm>
            <a:off x="7648407" y="2939247"/>
            <a:ext cx="193121" cy="193121"/>
          </a:xfrm>
          <a:prstGeom prst="rect">
            <a:avLst/>
          </a:prstGeom>
        </p:spPr>
      </p:pic>
      <p:sp>
        <p:nvSpPr>
          <p:cNvPr id="12" name="Text 8"/>
          <p:cNvSpPr/>
          <p:nvPr/>
        </p:nvSpPr>
        <p:spPr>
          <a:xfrm>
            <a:off x="8110728" y="2761488"/>
            <a:ext cx="3511296"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Loss is split by leg</a:t>
            </a:r>
            <a:endParaRPr lang="en-US" sz="1450" dirty="0"/>
          </a:p>
        </p:txBody>
      </p:sp>
      <p:sp>
        <p:nvSpPr>
          <p:cNvPr id="13" name="Text 9"/>
          <p:cNvSpPr/>
          <p:nvPr/>
        </p:nvSpPr>
        <p:spPr>
          <a:xfrm>
            <a:off x="8110728" y="3035808"/>
            <a:ext cx="3511296" cy="91440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Dropping 64 B requests and dropping 8 KB replies need different fixes.</a:t>
            </a:r>
            <a:endParaRPr lang="en-US" sz="1200" dirty="0"/>
          </a:p>
        </p:txBody>
      </p:sp>
      <p:sp>
        <p:nvSpPr>
          <p:cNvPr id="14" name="Shape 10"/>
          <p:cNvSpPr/>
          <p:nvPr/>
        </p:nvSpPr>
        <p:spPr>
          <a:xfrm>
            <a:off x="7543800" y="4005072"/>
            <a:ext cx="402336" cy="402336"/>
          </a:xfrm>
          <a:prstGeom prst="ellipse">
            <a:avLst/>
          </a:prstGeom>
          <a:solidFill>
            <a:srgbClr val="BE3B4E"/>
          </a:solidFill>
          <a:ln/>
        </p:spPr>
      </p:sp>
      <p:pic>
        <p:nvPicPr>
          <p:cNvPr id="15" name="Image 2" descr="/home/user/presentations/network-testing/.icons/clock.png">    </p:cNvPr>
          <p:cNvPicPr>
            <a:picLocks noChangeAspect="1"/>
          </p:cNvPicPr>
          <p:nvPr/>
        </p:nvPicPr>
        <p:blipFill>
          <a:blip r:embed="rId3"/>
          <a:stretch>
            <a:fillRect/>
          </a:stretch>
        </p:blipFill>
        <p:spPr>
          <a:xfrm>
            <a:off x="7648407" y="4109679"/>
            <a:ext cx="193121" cy="193121"/>
          </a:xfrm>
          <a:prstGeom prst="rect">
            <a:avLst/>
          </a:prstGeom>
        </p:spPr>
      </p:pic>
      <p:sp>
        <p:nvSpPr>
          <p:cNvPr id="16" name="Text 11"/>
          <p:cNvSpPr/>
          <p:nvPr/>
        </p:nvSpPr>
        <p:spPr>
          <a:xfrm>
            <a:off x="8110728" y="3931920"/>
            <a:ext cx="3511296"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RTT is a true round trip</a:t>
            </a:r>
            <a:endParaRPr lang="en-US" sz="1450" dirty="0"/>
          </a:p>
        </p:txBody>
      </p:sp>
      <p:sp>
        <p:nvSpPr>
          <p:cNvPr id="17" name="Text 12"/>
          <p:cNvSpPr/>
          <p:nvPr/>
        </p:nvSpPr>
        <p:spPr>
          <a:xfrm>
            <a:off x="8110728" y="4206240"/>
            <a:ext cx="3511296" cy="91440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The request’s stamp comes back in the reply — no clock sync involved.</a:t>
            </a:r>
            <a:endParaRPr lang="en-US" sz="1200" dirty="0"/>
          </a:p>
        </p:txBody>
      </p:sp>
      <p:sp>
        <p:nvSpPr>
          <p:cNvPr id="18" name="Shape 13"/>
          <p:cNvSpPr/>
          <p:nvPr/>
        </p:nvSpPr>
        <p:spPr>
          <a:xfrm>
            <a:off x="7543800" y="5175504"/>
            <a:ext cx="402336" cy="402336"/>
          </a:xfrm>
          <a:prstGeom prst="ellipse">
            <a:avLst/>
          </a:prstGeom>
          <a:solidFill>
            <a:srgbClr val="BE3B4E"/>
          </a:solidFill>
          <a:ln/>
        </p:spPr>
      </p:sp>
      <p:pic>
        <p:nvPicPr>
          <p:cNvPr id="19" name="Image 3" descr="/home/user/presentations/network-testing/.icons/compass.png">    </p:cNvPr>
          <p:cNvPicPr>
            <a:picLocks noChangeAspect="1"/>
          </p:cNvPicPr>
          <p:nvPr/>
        </p:nvPicPr>
        <p:blipFill>
          <a:blip r:embed="rId4"/>
          <a:stretch>
            <a:fillRect/>
          </a:stretch>
        </p:blipFill>
        <p:spPr>
          <a:xfrm>
            <a:off x="7648407" y="5280111"/>
            <a:ext cx="193121" cy="193121"/>
          </a:xfrm>
          <a:prstGeom prst="rect">
            <a:avLst/>
          </a:prstGeom>
        </p:spPr>
      </p:pic>
      <p:sp>
        <p:nvSpPr>
          <p:cNvPr id="20" name="Text 14"/>
          <p:cNvSpPr/>
          <p:nvPr/>
        </p:nvSpPr>
        <p:spPr>
          <a:xfrm>
            <a:off x="8110728" y="5102352"/>
            <a:ext cx="3511296"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It tells you what’s next</a:t>
            </a:r>
            <a:endParaRPr lang="en-US" sz="1450" dirty="0"/>
          </a:p>
        </p:txBody>
      </p:sp>
      <p:sp>
        <p:nvSpPr>
          <p:cNvPr id="21" name="Text 15"/>
          <p:cNvSpPr/>
          <p:nvPr/>
        </p:nvSpPr>
        <p:spPr>
          <a:xfrm>
            <a:off x="8110728" y="5376672"/>
            <a:ext cx="3511296" cy="914400"/>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WHAT TO DO NEXT reads the numbers and names the knob they point at.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The agent column — or, when you’re measuring the tool</a:t>
            </a:r>
            <a:endParaRPr lang="en-US" sz="2900" dirty="0"/>
          </a:p>
        </p:txBody>
      </p:sp>
      <p:sp>
        <p:nvSpPr>
          <p:cNvPr id="4" name="Shape 2"/>
          <p:cNvSpPr/>
          <p:nvPr/>
        </p:nvSpPr>
        <p:spPr>
          <a:xfrm>
            <a:off x="566928" y="1554480"/>
            <a:ext cx="3532632" cy="1600200"/>
          </a:xfrm>
          <a:prstGeom prst="roundRect">
            <a:avLst>
              <a:gd name="adj" fmla="val 5143"/>
            </a:avLst>
          </a:prstGeom>
          <a:solidFill>
            <a:srgbClr val="F1F4F8"/>
          </a:solidFill>
          <a:ln/>
        </p:spPr>
      </p:sp>
      <p:sp>
        <p:nvSpPr>
          <p:cNvPr id="5" name="Text 3"/>
          <p:cNvSpPr/>
          <p:nvPr/>
        </p:nvSpPr>
        <p:spPr>
          <a:xfrm>
            <a:off x="795528" y="1719072"/>
            <a:ext cx="3075432" cy="640080"/>
          </a:xfrm>
          <a:prstGeom prst="rect">
            <a:avLst/>
          </a:prstGeom>
          <a:noFill/>
          <a:ln/>
        </p:spPr>
        <p:txBody>
          <a:bodyPr wrap="square" lIns="0" tIns="0" rIns="0" bIns="0" rtlCol="0" anchor="ctr"/>
          <a:lstStyle/>
          <a:p>
            <a:pPr indent="0" marL="0">
              <a:buNone/>
            </a:pPr>
            <a:r>
              <a:rPr lang="en-US" sz="3000" b="1" dirty="0">
                <a:solidFill>
                  <a:srgbClr val="BE3B4E"/>
                </a:solidFill>
                <a:latin typeface="Calibri" pitchFamily="34" charset="0"/>
                <a:ea typeface="Calibri" pitchFamily="34" charset="-122"/>
                <a:cs typeface="Calibri" pitchFamily="34" charset="-120"/>
              </a:rPr>
              <a:t>~200k</a:t>
            </a:r>
            <a:endParaRPr lang="en-US" sz="3000" dirty="0"/>
          </a:p>
        </p:txBody>
      </p:sp>
      <p:sp>
        <p:nvSpPr>
          <p:cNvPr id="6" name="Text 4"/>
          <p:cNvSpPr/>
          <p:nvPr/>
        </p:nvSpPr>
        <p:spPr>
          <a:xfrm>
            <a:off x="795528" y="2395728"/>
            <a:ext cx="3075432" cy="64008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pps per worker, request + reply, one ordinary core</a:t>
            </a:r>
            <a:endParaRPr lang="en-US" sz="1150" dirty="0"/>
          </a:p>
        </p:txBody>
      </p:sp>
      <p:sp>
        <p:nvSpPr>
          <p:cNvPr id="7" name="Shape 5"/>
          <p:cNvSpPr/>
          <p:nvPr/>
        </p:nvSpPr>
        <p:spPr>
          <a:xfrm>
            <a:off x="4328160" y="1554480"/>
            <a:ext cx="3532632" cy="1600200"/>
          </a:xfrm>
          <a:prstGeom prst="roundRect">
            <a:avLst>
              <a:gd name="adj" fmla="val 5143"/>
            </a:avLst>
          </a:prstGeom>
          <a:solidFill>
            <a:srgbClr val="F1F4F8"/>
          </a:solidFill>
          <a:ln/>
        </p:spPr>
      </p:sp>
      <p:sp>
        <p:nvSpPr>
          <p:cNvPr id="8" name="Text 6"/>
          <p:cNvSpPr/>
          <p:nvPr/>
        </p:nvSpPr>
        <p:spPr>
          <a:xfrm>
            <a:off x="4556760" y="1719072"/>
            <a:ext cx="3075432" cy="640080"/>
          </a:xfrm>
          <a:prstGeom prst="rect">
            <a:avLst/>
          </a:prstGeom>
          <a:noFill/>
          <a:ln/>
        </p:spPr>
        <p:txBody>
          <a:bodyPr wrap="square" lIns="0" tIns="0" rIns="0" bIns="0" rtlCol="0" anchor="ctr"/>
          <a:lstStyle/>
          <a:p>
            <a:pPr indent="0" marL="0">
              <a:buNone/>
            </a:pPr>
            <a:r>
              <a:rPr lang="en-US" sz="3000" b="1" dirty="0">
                <a:solidFill>
                  <a:srgbClr val="3E5C76"/>
                </a:solidFill>
                <a:latin typeface="Calibri" pitchFamily="34" charset="0"/>
                <a:ea typeface="Calibri" pitchFamily="34" charset="-122"/>
                <a:cs typeface="Calibri" pitchFamily="34" charset="-120"/>
              </a:rPr>
              <a:t>× workers</a:t>
            </a:r>
            <a:endParaRPr lang="en-US" sz="3000" dirty="0"/>
          </a:p>
        </p:txBody>
      </p:sp>
      <p:sp>
        <p:nvSpPr>
          <p:cNvPr id="9" name="Text 7"/>
          <p:cNvSpPr/>
          <p:nvPr/>
        </p:nvSpPr>
        <p:spPr>
          <a:xfrm>
            <a:off x="4556760" y="2395728"/>
            <a:ext cx="3075432" cy="64008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per host — --workers auto starts one per core</a:t>
            </a:r>
            <a:endParaRPr lang="en-US" sz="1150" dirty="0"/>
          </a:p>
        </p:txBody>
      </p:sp>
      <p:sp>
        <p:nvSpPr>
          <p:cNvPr id="10" name="Shape 8"/>
          <p:cNvSpPr/>
          <p:nvPr/>
        </p:nvSpPr>
        <p:spPr>
          <a:xfrm>
            <a:off x="8089392" y="1554480"/>
            <a:ext cx="3532632" cy="1600200"/>
          </a:xfrm>
          <a:prstGeom prst="roundRect">
            <a:avLst>
              <a:gd name="adj" fmla="val 5143"/>
            </a:avLst>
          </a:prstGeom>
          <a:solidFill>
            <a:srgbClr val="F1F4F8"/>
          </a:solidFill>
          <a:ln/>
        </p:spPr>
      </p:sp>
      <p:sp>
        <p:nvSpPr>
          <p:cNvPr id="11" name="Text 9"/>
          <p:cNvSpPr/>
          <p:nvPr/>
        </p:nvSpPr>
        <p:spPr>
          <a:xfrm>
            <a:off x="8317992" y="1719072"/>
            <a:ext cx="3075432" cy="640080"/>
          </a:xfrm>
          <a:prstGeom prst="rect">
            <a:avLst/>
          </a:prstGeom>
          <a:noFill/>
          <a:ln/>
        </p:spPr>
        <p:txBody>
          <a:bodyPr wrap="square" lIns="0" tIns="0" rIns="0" bIns="0" rtlCol="0" anchor="ctr"/>
          <a:lstStyle/>
          <a:p>
            <a:pPr indent="0" marL="0">
              <a:buNone/>
            </a:pPr>
            <a:r>
              <a:rPr lang="en-US" sz="3000" b="1" dirty="0">
                <a:solidFill>
                  <a:srgbClr val="3E5C76"/>
                </a:solidFill>
                <a:latin typeface="Calibri" pitchFamily="34" charset="0"/>
                <a:ea typeface="Calibri" pitchFamily="34" charset="-122"/>
                <a:cs typeface="Calibri" pitchFamily="34" charset="-120"/>
              </a:rPr>
              <a:t>× hosts</a:t>
            </a:r>
            <a:endParaRPr lang="en-US" sz="3000" dirty="0"/>
          </a:p>
        </p:txBody>
      </p:sp>
      <p:sp>
        <p:nvSpPr>
          <p:cNvPr id="12" name="Text 10"/>
          <p:cNvSpPr/>
          <p:nvPr/>
        </p:nvSpPr>
        <p:spPr>
          <a:xfrm>
            <a:off x="8317992" y="2395728"/>
            <a:ext cx="3075432" cy="64008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per fleet — mx hints does this arithmetic for you</a:t>
            </a:r>
            <a:endParaRPr lang="en-US" sz="1150" dirty="0"/>
          </a:p>
        </p:txBody>
      </p:sp>
      <p:sp>
        <p:nvSpPr>
          <p:cNvPr id="13" name="Text 11"/>
          <p:cNvSpPr/>
          <p:nvPr/>
        </p:nvSpPr>
        <p:spPr>
          <a:xfrm>
            <a:off x="566928" y="3383280"/>
            <a:ext cx="11055096" cy="283464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1C2B3A"/>
                </a:solidFill>
                <a:latin typeface="Calibri" pitchFamily="34" charset="0"/>
                <a:ea typeface="Calibri" pitchFamily="34" charset="-122"/>
                <a:cs typeface="Calibri" pitchFamily="34" charset="-120"/>
              </a:rPr>
              <a:t>The per-host table carries cpu (whole box), 1 core (busiest core), and agent — the busiest agent worker as a share of one core. The third one matters most.</a:t>
            </a:r>
            <a:endParaRPr lang="en-US" sz="1200" dirty="0"/>
          </a:p>
          <a:p>
            <a:pPr marL="152400" indent="-152400">
              <a:spcAft>
                <a:spcPts val="800"/>
              </a:spcAft>
              <a:buSzPct val="100000"/>
              <a:buChar char="•"/>
            </a:pPr>
            <a:r>
              <a:rPr lang="en-US" sz="1200" dirty="0">
                <a:solidFill>
                  <a:srgbClr val="1C2B3A"/>
                </a:solidFill>
                <a:latin typeface="Calibri" pitchFamily="34" charset="0"/>
                <a:ea typeface="Calibri" pitchFamily="34" charset="-122"/>
                <a:cs typeface="Calibri" pitchFamily="34" charset="-120"/>
              </a:rPr>
              <a:t>Each worker is one Python process; the GIL holds it near 100% of a core. When agent ≈ 100%, that worker is the ceiling: you are measuring the tool, not the network — and mx summarize says so in as many words.</a:t>
            </a:r>
            <a:endParaRPr lang="en-US" sz="1200" dirty="0"/>
          </a:p>
          <a:p>
            <a:pPr marL="152400" indent="-152400">
              <a:spcAft>
                <a:spcPts val="800"/>
              </a:spcAft>
              <a:buSzPct val="100000"/>
              <a:buChar char="•"/>
            </a:pPr>
            <a:r>
              <a:rPr lang="en-US" sz="1200" dirty="0">
                <a:solidFill>
                  <a:srgbClr val="1C2B3A"/>
                </a:solidFill>
                <a:latin typeface="Calibri" pitchFamily="34" charset="0"/>
                <a:ea typeface="Calibri" pitchFamily="34" charset="-122"/>
                <a:cs typeface="Calibri" pitchFamily="34" charset="-120"/>
              </a:rPr>
              <a:t>Processes, not threads — measured: one thread 300k pps, four threads 57k (they convoy on the GIL); four processes 1.09M pps.</a:t>
            </a:r>
            <a:endParaRPr lang="en-US" sz="1200" dirty="0"/>
          </a:p>
          <a:p>
            <a:pPr marL="152400" indent="-152400">
              <a:spcAft>
                <a:spcPts val="800"/>
              </a:spcAft>
              <a:buSzPct val="100000"/>
              <a:buChar char="•"/>
            </a:pPr>
            <a:r>
              <a:rPr lang="en-US" sz="1200" dirty="0">
                <a:solidFill>
                  <a:srgbClr val="1C2B3A"/>
                </a:solidFill>
                <a:latin typeface="Calibri" pitchFamily="34" charset="0"/>
                <a:ea typeface="Calibri" pitchFamily="34" charset="-122"/>
                <a:cs typeface="Calibri" pitchFamily="34" charset="-120"/>
              </a:rPr>
              <a:t>One core pegged while the box idles? Workers can’t outnumber flows — --streams N gives each pair N sockets (rate split, not multiplied), creating tuples for workers, NIC RSS queues and ECMP to spread. The recipe for a big box on a small mesh: mx start --streams 8 --workers 32.</a:t>
            </a:r>
            <a:endParaRPr lang="en-US" sz="1200" dirty="0"/>
          </a:p>
          <a:p>
            <a:pPr marL="152400" indent="-152400">
              <a:spcAft>
                <a:spcPts val="800"/>
              </a:spcAft>
              <a:buSzPct val="100000"/>
              <a:buChar char="•"/>
            </a:pPr>
            <a:r>
              <a:rPr lang="en-US" sz="1200" dirty="0">
                <a:solidFill>
                  <a:srgbClr val="1C2B3A"/>
                </a:solidFill>
                <a:latin typeface="Calibri" pitchFamily="34" charset="0"/>
                <a:ea typeface="Calibri" pitchFamily="34" charset="-122"/>
                <a:cs typeface="Calibri" pitchFamily="34" charset="-120"/>
              </a:rPr>
              <a:t>File descriptors: the agent raises its own soft limit to what the run needs; only a too-low hard limit needs an admin — and mx doctor flags those hosts before you deploy.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Finding the fleet’s limit</a:t>
            </a:r>
            <a:endParaRPr lang="en-US" sz="2900" dirty="0"/>
          </a:p>
        </p:txBody>
      </p:sp>
      <p:sp>
        <p:nvSpPr>
          <p:cNvPr id="4" name="Shape 2"/>
          <p:cNvSpPr/>
          <p:nvPr/>
        </p:nvSpPr>
        <p:spPr>
          <a:xfrm>
            <a:off x="566928" y="1554480"/>
            <a:ext cx="6309360" cy="2286000"/>
          </a:xfrm>
          <a:prstGeom prst="roundRect">
            <a:avLst>
              <a:gd name="adj" fmla="val 3600"/>
            </a:avLst>
          </a:prstGeom>
          <a:solidFill>
            <a:srgbClr val="13233A"/>
          </a:solidFill>
          <a:ln/>
        </p:spPr>
      </p:sp>
      <p:sp>
        <p:nvSpPr>
          <p:cNvPr id="5" name="Text 3"/>
          <p:cNvSpPr/>
          <p:nvPr/>
        </p:nvSpPr>
        <p:spPr>
          <a:xfrm>
            <a:off x="768096" y="1682496"/>
            <a:ext cx="5907024" cy="2029968"/>
          </a:xfrm>
          <a:prstGeom prst="rect">
            <a:avLst/>
          </a:prstGeom>
          <a:noFill/>
          <a:ln/>
        </p:spPr>
        <p:txBody>
          <a:bodyPr wrap="square" lIns="0" tIns="0" rIns="0" bIns="0" rtlCol="0" anchor="t"/>
          <a:lstStyle/>
          <a:p>
            <a:pPr indent="0" marL="0">
              <a:lnSpc>
                <a:spcPct val="112000"/>
              </a:lnSpc>
              <a:buNone/>
            </a:pPr>
            <a:r>
              <a:rPr lang="en-US" sz="1150" b="1" dirty="0">
                <a:solidFill>
                  <a:srgbClr val="E98C99"/>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mx check --nic-gbps 25 --nic-mpps 15</a:t>
            </a:r>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 possible at all?</a:t>
            </a:r>
            <a:endParaRPr lang="en-US" sz="1150" dirty="0"/>
          </a:p>
          <a:p>
            <a:pPr indent="0" marL="0">
              <a:lnSpc>
                <a:spcPct val="112000"/>
              </a:lnSpc>
              <a:buNone/>
            </a:pPr>
            <a:r>
              <a:rPr lang="en-US" sz="1150" b="1" dirty="0">
                <a:solidFill>
                  <a:srgbClr val="E98C99"/>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mx gen --servers s.txt --pps 50000  &amp;&amp; mx run --for 120</a:t>
            </a:r>
            <a:endParaRPr lang="en-US" sz="1150" dirty="0"/>
          </a:p>
          <a:p>
            <a:pPr indent="0" marL="0">
              <a:lnSpc>
                <a:spcPct val="112000"/>
              </a:lnSpc>
              <a:buNone/>
            </a:pPr>
            <a:r>
              <a:rPr lang="en-US" sz="1150" b="1" dirty="0">
                <a:solidFill>
                  <a:srgbClr val="E98C99"/>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mx gen --servers s.txt --pps 100000 &amp;&amp; mx run --for 120</a:t>
            </a:r>
            <a:endParaRPr lang="en-US" sz="1150" dirty="0"/>
          </a:p>
          <a:p>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...raise until delivery stops keeping up</a:t>
            </a:r>
            <a:endParaRPr lang="en-US" sz="1150" dirty="0"/>
          </a:p>
          <a:p>
            <a:pPr indent="0" marL="0">
              <a:lnSpc>
                <a:spcPct val="112000"/>
              </a:lnSpc>
              <a:buNone/>
            </a:pPr>
            <a:r>
              <a:rPr lang="en-US" sz="1150" b="1" dirty="0">
                <a:solidFill>
                  <a:srgbClr val="E98C99"/>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mx gen --servers s.txt --pps max</a:t>
            </a:r>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 unpaced: fastest, tells less</a:t>
            </a:r>
            <a:endParaRPr lang="en-US" sz="1150" dirty="0"/>
          </a:p>
        </p:txBody>
      </p:sp>
      <p:sp>
        <p:nvSpPr>
          <p:cNvPr id="6" name="Shape 4"/>
          <p:cNvSpPr/>
          <p:nvPr/>
        </p:nvSpPr>
        <p:spPr>
          <a:xfrm>
            <a:off x="566928" y="4114800"/>
            <a:ext cx="6309360" cy="1965960"/>
          </a:xfrm>
          <a:prstGeom prst="roundRect">
            <a:avLst>
              <a:gd name="adj" fmla="val 4186"/>
            </a:avLst>
          </a:prstGeom>
          <a:solidFill>
            <a:srgbClr val="F1F4F8"/>
          </a:solidFill>
          <a:ln/>
        </p:spPr>
      </p:sp>
      <p:sp>
        <p:nvSpPr>
          <p:cNvPr id="7" name="Text 5"/>
          <p:cNvSpPr/>
          <p:nvPr/>
        </p:nvSpPr>
        <p:spPr>
          <a:xfrm>
            <a:off x="822960" y="4279392"/>
            <a:ext cx="5760720" cy="292608"/>
          </a:xfrm>
          <a:prstGeom prst="rect">
            <a:avLst/>
          </a:prstGeom>
          <a:noFill/>
          <a:ln/>
        </p:spPr>
        <p:txBody>
          <a:bodyPr wrap="square" lIns="0" tIns="0" rIns="0" bIns="0" rtlCol="0" anchor="ctr"/>
          <a:lstStyle/>
          <a:p>
            <a:pPr indent="0" marL="0">
              <a:buNone/>
            </a:pPr>
            <a:r>
              <a:rPr lang="en-US" sz="1350" b="1" dirty="0">
                <a:solidFill>
                  <a:srgbClr val="1C2B3A"/>
                </a:solidFill>
                <a:latin typeface="Calibri" pitchFamily="34" charset="0"/>
                <a:ea typeface="Calibri" pitchFamily="34" charset="-122"/>
                <a:cs typeface="Calibri" pitchFamily="34" charset="-120"/>
              </a:rPr>
              <a:t>Watch for, in this order:</a:t>
            </a:r>
            <a:endParaRPr lang="en-US" sz="1350" dirty="0"/>
          </a:p>
        </p:txBody>
      </p:sp>
      <p:sp>
        <p:nvSpPr>
          <p:cNvPr id="8" name="Text 6"/>
          <p:cNvSpPr/>
          <p:nvPr/>
        </p:nvSpPr>
        <p:spPr>
          <a:xfrm>
            <a:off x="822960" y="4663440"/>
            <a:ext cx="5806440" cy="132588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p99 lifting off the p50 — queues are filling; this usually happens before loss does</a:t>
            </a:r>
            <a:endParaRPr lang="en-US" sz="1250" dirty="0"/>
          </a:p>
          <a:p>
            <a:pPr marL="152400" indent="-152400">
              <a:spcAft>
                <a:spcPts val="800"/>
              </a:spcAft>
              <a:buSzPct val="100000"/>
              <a:buChar char="•"/>
            </a:pPr>
            <a:r>
              <a:rPr lang="en-US" sz="1250" dirty="0">
                <a:solidFill>
                  <a:srgbClr val="1C2B3A"/>
                </a:solidFill>
                <a:latin typeface="Calibri" pitchFamily="34" charset="0"/>
                <a:ea typeface="Calibri" pitchFamily="34" charset="-122"/>
                <a:cs typeface="Calibri" pitchFamily="34" charset="-120"/>
              </a:rPr>
              <a:t>DELIVERED falling behind REQUESTS — something is now dropping</a:t>
            </a:r>
            <a:endParaRPr lang="en-US" sz="1250" dirty="0"/>
          </a:p>
        </p:txBody>
      </p:sp>
      <p:sp>
        <p:nvSpPr>
          <p:cNvPr id="9" name="Shape 7"/>
          <p:cNvSpPr/>
          <p:nvPr/>
        </p:nvSpPr>
        <p:spPr>
          <a:xfrm>
            <a:off x="7178040" y="1554480"/>
            <a:ext cx="4443984" cy="4526280"/>
          </a:xfrm>
          <a:prstGeom prst="roundRect">
            <a:avLst>
              <a:gd name="adj" fmla="val 1852"/>
            </a:avLst>
          </a:prstGeom>
          <a:solidFill>
            <a:srgbClr val="F1F4F8"/>
          </a:solidFill>
          <a:ln/>
        </p:spPr>
      </p:sp>
      <p:sp>
        <p:nvSpPr>
          <p:cNvPr id="10" name="Text 8"/>
          <p:cNvSpPr/>
          <p:nvPr/>
        </p:nvSpPr>
        <p:spPr>
          <a:xfrm>
            <a:off x="7434072" y="1737360"/>
            <a:ext cx="3931920" cy="301752"/>
          </a:xfrm>
          <a:prstGeom prst="rect">
            <a:avLst/>
          </a:prstGeom>
          <a:noFill/>
          <a:ln/>
        </p:spPr>
        <p:txBody>
          <a:bodyPr wrap="square" lIns="0" tIns="0" rIns="0" bIns="0" rtlCol="0" anchor="ctr"/>
          <a:lstStyle/>
          <a:p>
            <a:pPr indent="0" marL="0">
              <a:buNone/>
            </a:pPr>
            <a:r>
              <a:rPr lang="en-US" sz="1400" b="1" dirty="0">
                <a:solidFill>
                  <a:srgbClr val="9C2F40"/>
                </a:solidFill>
                <a:latin typeface="Calibri" pitchFamily="34" charset="0"/>
                <a:ea typeface="Calibri" pitchFamily="34" charset="-122"/>
                <a:cs typeface="Calibri" pitchFamily="34" charset="-120"/>
              </a:rPr>
              <a:t>Common shapes</a:t>
            </a:r>
            <a:endParaRPr lang="en-US" sz="1400" dirty="0"/>
          </a:p>
        </p:txBody>
      </p:sp>
      <p:sp>
        <p:nvSpPr>
          <p:cNvPr id="11" name="Text 9"/>
          <p:cNvSpPr/>
          <p:nvPr/>
        </p:nvSpPr>
        <p:spPr>
          <a:xfrm>
            <a:off x="7434072" y="2148840"/>
            <a:ext cx="3931920" cy="274320"/>
          </a:xfrm>
          <a:prstGeom prst="rect">
            <a:avLst/>
          </a:prstGeom>
          <a:noFill/>
          <a:ln/>
        </p:spPr>
        <p:txBody>
          <a:bodyPr wrap="square" lIns="0" tIns="0" rIns="0" bIns="0" rtlCol="0" anchor="ctr"/>
          <a:lstStyle/>
          <a:p>
            <a:pPr indent="0" marL="0">
              <a:buNone/>
            </a:pPr>
            <a:r>
              <a:rPr lang="en-US" sz="1100" b="1" dirty="0">
                <a:solidFill>
                  <a:srgbClr val="1C2B3A"/>
                </a:solidFill>
                <a:latin typeface="Courier New" pitchFamily="34" charset="0"/>
                <a:ea typeface="Courier New" pitchFamily="34" charset="-122"/>
                <a:cs typeface="Courier New" pitchFamily="34" charset="-120"/>
              </a:rPr>
              <a:t>--tx-size 64 --rx-size 64 --pps max</a:t>
            </a:r>
            <a:endParaRPr lang="en-US" sz="1100" dirty="0"/>
          </a:p>
        </p:txBody>
      </p:sp>
      <p:sp>
        <p:nvSpPr>
          <p:cNvPr id="12" name="Text 10"/>
          <p:cNvSpPr/>
          <p:nvPr/>
        </p:nvSpPr>
        <p:spPr>
          <a:xfrm>
            <a:off x="7434072" y="2423160"/>
            <a:ext cx="3931920" cy="5486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small-packet torture test</a:t>
            </a:r>
            <a:endParaRPr lang="en-US" sz="1100" dirty="0"/>
          </a:p>
        </p:txBody>
      </p:sp>
      <p:sp>
        <p:nvSpPr>
          <p:cNvPr id="13" name="Text 11"/>
          <p:cNvSpPr/>
          <p:nvPr/>
        </p:nvSpPr>
        <p:spPr>
          <a:xfrm>
            <a:off x="7434072" y="3118104"/>
            <a:ext cx="3931920" cy="274320"/>
          </a:xfrm>
          <a:prstGeom prst="rect">
            <a:avLst/>
          </a:prstGeom>
          <a:noFill/>
          <a:ln/>
        </p:spPr>
        <p:txBody>
          <a:bodyPr wrap="square" lIns="0" tIns="0" rIns="0" bIns="0" rtlCol="0" anchor="ctr"/>
          <a:lstStyle/>
          <a:p>
            <a:pPr indent="0" marL="0">
              <a:buNone/>
            </a:pPr>
            <a:r>
              <a:rPr lang="en-US" sz="1100" b="1" dirty="0">
                <a:solidFill>
                  <a:srgbClr val="1C2B3A"/>
                </a:solidFill>
                <a:latin typeface="Courier New" pitchFamily="34" charset="0"/>
                <a:ea typeface="Courier New" pitchFamily="34" charset="-122"/>
                <a:cs typeface="Courier New" pitchFamily="34" charset="-120"/>
              </a:rPr>
              <a:t>--tx-size 128 --rx-size 8192</a:t>
            </a:r>
            <a:endParaRPr lang="en-US" sz="1100" dirty="0"/>
          </a:p>
        </p:txBody>
      </p:sp>
      <p:sp>
        <p:nvSpPr>
          <p:cNvPr id="14" name="Text 12"/>
          <p:cNvSpPr/>
          <p:nvPr/>
        </p:nvSpPr>
        <p:spPr>
          <a:xfrm>
            <a:off x="7434072" y="3392424"/>
            <a:ext cx="3931920" cy="5486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RPC-shaped: small ask, big answer</a:t>
            </a:r>
            <a:endParaRPr lang="en-US" sz="1100" dirty="0"/>
          </a:p>
        </p:txBody>
      </p:sp>
      <p:sp>
        <p:nvSpPr>
          <p:cNvPr id="15" name="Text 13"/>
          <p:cNvSpPr/>
          <p:nvPr/>
        </p:nvSpPr>
        <p:spPr>
          <a:xfrm>
            <a:off x="7434072" y="4087368"/>
            <a:ext cx="3931920" cy="274320"/>
          </a:xfrm>
          <a:prstGeom prst="rect">
            <a:avLst/>
          </a:prstGeom>
          <a:noFill/>
          <a:ln/>
        </p:spPr>
        <p:txBody>
          <a:bodyPr wrap="square" lIns="0" tIns="0" rIns="0" bIns="0" rtlCol="0" anchor="ctr"/>
          <a:lstStyle/>
          <a:p>
            <a:pPr indent="0" marL="0">
              <a:buNone/>
            </a:pPr>
            <a:r>
              <a:rPr lang="en-US" sz="1100" b="1" dirty="0">
                <a:solidFill>
                  <a:srgbClr val="1C2B3A"/>
                </a:solidFill>
                <a:latin typeface="Courier New" pitchFamily="34" charset="0"/>
                <a:ea typeface="Courier New" pitchFamily="34" charset="-122"/>
                <a:cs typeface="Courier New" pitchFamily="34" charset="-120"/>
              </a:rPr>
              <a:t>--gbps 10 --tx-size 1400</a:t>
            </a:r>
            <a:endParaRPr lang="en-US" sz="1100" dirty="0"/>
          </a:p>
        </p:txBody>
      </p:sp>
      <p:sp>
        <p:nvSpPr>
          <p:cNvPr id="16" name="Text 14"/>
          <p:cNvSpPr/>
          <p:nvPr/>
        </p:nvSpPr>
        <p:spPr>
          <a:xfrm>
            <a:off x="7434072" y="4361688"/>
            <a:ext cx="3931920" cy="5486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size the rate from a bandwidth budget</a:t>
            </a:r>
            <a:endParaRPr lang="en-US" sz="1100" dirty="0"/>
          </a:p>
        </p:txBody>
      </p:sp>
      <p:sp>
        <p:nvSpPr>
          <p:cNvPr id="17" name="Text 15"/>
          <p:cNvSpPr/>
          <p:nvPr/>
        </p:nvSpPr>
        <p:spPr>
          <a:xfrm>
            <a:off x="7434072" y="5056632"/>
            <a:ext cx="3931920" cy="274320"/>
          </a:xfrm>
          <a:prstGeom prst="rect">
            <a:avLst/>
          </a:prstGeom>
          <a:noFill/>
          <a:ln/>
        </p:spPr>
        <p:txBody>
          <a:bodyPr wrap="square" lIns="0" tIns="0" rIns="0" bIns="0" rtlCol="0" anchor="ctr"/>
          <a:lstStyle/>
          <a:p>
            <a:pPr indent="0" marL="0">
              <a:buNone/>
            </a:pPr>
            <a:r>
              <a:rPr lang="en-US" sz="1100" b="1" dirty="0">
                <a:solidFill>
                  <a:srgbClr val="1C2B3A"/>
                </a:solidFill>
                <a:latin typeface="Courier New" pitchFamily="34" charset="0"/>
                <a:ea typeface="Courier New" pitchFamily="34" charset="-122"/>
                <a:cs typeface="Courier New" pitchFamily="34" charset="-120"/>
              </a:rPr>
              <a:t>mx start --bind eth1</a:t>
            </a:r>
            <a:endParaRPr lang="en-US" sz="1100" dirty="0"/>
          </a:p>
        </p:txBody>
      </p:sp>
      <p:sp>
        <p:nvSpPr>
          <p:cNvPr id="18" name="Text 16"/>
          <p:cNvSpPr/>
          <p:nvPr/>
        </p:nvSpPr>
        <p:spPr>
          <a:xfrm>
            <a:off x="7434072" y="5330952"/>
            <a:ext cx="3931920" cy="548640"/>
          </a:xfrm>
          <a:prstGeom prst="rect">
            <a:avLst/>
          </a:prstGeom>
          <a:noFill/>
          <a:ln/>
        </p:spPr>
        <p:txBody>
          <a:bodyPr wrap="square" lIns="0" tIns="0" rIns="0" bIns="0" rtlCol="0" anchor="ctr"/>
          <a:lstStyle/>
          <a:p>
            <a:pPr indent="0" marL="0">
              <a:buNone/>
            </a:pPr>
            <a:r>
              <a:rPr lang="en-US" sz="1100" dirty="0">
                <a:solidFill>
                  <a:srgbClr val="5C6B7A"/>
                </a:solidFill>
                <a:latin typeface="Calibri" pitchFamily="34" charset="0"/>
                <a:ea typeface="Calibri" pitchFamily="34" charset="-122"/>
                <a:cs typeface="Calibri" pitchFamily="34" charset="-120"/>
              </a:rPr>
              <a:t>pin to the data NIC — retargets peers’ addresses too, both halves of the job</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Best run at every fleet size</a:t>
            </a:r>
            <a:endParaRPr lang="en-US" sz="2900" dirty="0"/>
          </a:p>
        </p:txBody>
      </p:sp>
      <p:sp>
        <p:nvSpPr>
          <p:cNvPr id="4" name="Shape 2"/>
          <p:cNvSpPr/>
          <p:nvPr/>
        </p:nvSpPr>
        <p:spPr>
          <a:xfrm>
            <a:off x="566928" y="1554480"/>
            <a:ext cx="3532632" cy="4206240"/>
          </a:xfrm>
          <a:prstGeom prst="roundRect">
            <a:avLst>
              <a:gd name="adj" fmla="val 2330"/>
            </a:avLst>
          </a:prstGeom>
          <a:solidFill>
            <a:srgbClr val="F1F4F8"/>
          </a:solidFill>
          <a:ln/>
        </p:spPr>
      </p:sp>
      <p:sp>
        <p:nvSpPr>
          <p:cNvPr id="5" name="Text 3"/>
          <p:cNvSpPr/>
          <p:nvPr/>
        </p:nvSpPr>
        <p:spPr>
          <a:xfrm>
            <a:off x="804672" y="1737360"/>
            <a:ext cx="3057144" cy="292608"/>
          </a:xfrm>
          <a:prstGeom prst="rect">
            <a:avLst/>
          </a:prstGeom>
          <a:noFill/>
          <a:ln/>
        </p:spPr>
        <p:txBody>
          <a:bodyPr wrap="square" lIns="0" tIns="0" rIns="0" bIns="0" rtlCol="0" anchor="ctr"/>
          <a:lstStyle/>
          <a:p>
            <a:pPr indent="0" marL="0">
              <a:buNone/>
            </a:pPr>
            <a:r>
              <a:rPr lang="en-US" sz="1350" b="1" dirty="0">
                <a:solidFill>
                  <a:srgbClr val="1C2B3A"/>
                </a:solidFill>
                <a:latin typeface="Calibri" pitchFamily="34" charset="0"/>
                <a:ea typeface="Calibri" pitchFamily="34" charset="-122"/>
                <a:cs typeface="Calibri" pitchFamily="34" charset="-120"/>
              </a:rPr>
              <a:t>Small fleet (≤ ~30)</a:t>
            </a:r>
            <a:endParaRPr lang="en-US" sz="1350" dirty="0"/>
          </a:p>
        </p:txBody>
      </p:sp>
      <p:sp>
        <p:nvSpPr>
          <p:cNvPr id="6" name="Text 4"/>
          <p:cNvSpPr/>
          <p:nvPr/>
        </p:nvSpPr>
        <p:spPr>
          <a:xfrm>
            <a:off x="804672" y="2048256"/>
            <a:ext cx="3057144" cy="292608"/>
          </a:xfrm>
          <a:prstGeom prst="rect">
            <a:avLst/>
          </a:prstGeom>
          <a:noFill/>
          <a:ln/>
        </p:spPr>
        <p:txBody>
          <a:bodyPr wrap="square" lIns="0" tIns="0" rIns="0" bIns="0" rtlCol="0" anchor="ctr"/>
          <a:lstStyle/>
          <a:p>
            <a:pPr indent="0" marL="0">
              <a:buNone/>
            </a:pPr>
            <a:r>
              <a:rPr lang="en-US" sz="1150" b="1" dirty="0">
                <a:solidFill>
                  <a:srgbClr val="BE3B4E"/>
                </a:solidFill>
                <a:latin typeface="Courier New" pitchFamily="34" charset="0"/>
                <a:ea typeface="Courier New" pitchFamily="34" charset="-122"/>
                <a:cs typeface="Courier New" pitchFamily="34" charset="-120"/>
              </a:rPr>
              <a:t>Full mesh</a:t>
            </a:r>
            <a:endParaRPr lang="en-US" sz="1150" dirty="0"/>
          </a:p>
        </p:txBody>
      </p:sp>
      <p:sp>
        <p:nvSpPr>
          <p:cNvPr id="7" name="Text 5"/>
          <p:cNvSpPr/>
          <p:nvPr/>
        </p:nvSpPr>
        <p:spPr>
          <a:xfrm>
            <a:off x="804672" y="2468880"/>
            <a:ext cx="3057144" cy="3200400"/>
          </a:xfrm>
          <a:prstGeom prst="rect">
            <a:avLst/>
          </a:prstGeom>
          <a:noFill/>
          <a:ln/>
        </p:spPr>
        <p:txBody>
          <a:bodyPr wrap="square" lIns="0" tIns="0" rIns="0" bIns="0" rtlCol="0" anchor="t"/>
          <a:lstStyle/>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Every pair measured, all the time — the default mx gen</a:t>
            </a:r>
            <a:endParaRPr lang="en-US" sz="1100" dirty="0"/>
          </a:p>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Big box, few peers? Add --streams so every core and NIC queue gets work</a:t>
            </a:r>
            <a:endParaRPr lang="en-US" sz="1100" dirty="0"/>
          </a:p>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This is the forensic shape: per-pair truth, continuously</a:t>
            </a:r>
            <a:endParaRPr lang="en-US" sz="1100" dirty="0"/>
          </a:p>
        </p:txBody>
      </p:sp>
      <p:sp>
        <p:nvSpPr>
          <p:cNvPr id="8" name="Shape 6"/>
          <p:cNvSpPr/>
          <p:nvPr/>
        </p:nvSpPr>
        <p:spPr>
          <a:xfrm>
            <a:off x="4328160" y="1554480"/>
            <a:ext cx="3532632" cy="4206240"/>
          </a:xfrm>
          <a:prstGeom prst="roundRect">
            <a:avLst>
              <a:gd name="adj" fmla="val 2330"/>
            </a:avLst>
          </a:prstGeom>
          <a:solidFill>
            <a:srgbClr val="F1F4F8"/>
          </a:solidFill>
          <a:ln/>
        </p:spPr>
      </p:sp>
      <p:sp>
        <p:nvSpPr>
          <p:cNvPr id="9" name="Text 7"/>
          <p:cNvSpPr/>
          <p:nvPr/>
        </p:nvSpPr>
        <p:spPr>
          <a:xfrm>
            <a:off x="4565904" y="1737360"/>
            <a:ext cx="3057144" cy="292608"/>
          </a:xfrm>
          <a:prstGeom prst="rect">
            <a:avLst/>
          </a:prstGeom>
          <a:noFill/>
          <a:ln/>
        </p:spPr>
        <p:txBody>
          <a:bodyPr wrap="square" lIns="0" tIns="0" rIns="0" bIns="0" rtlCol="0" anchor="ctr"/>
          <a:lstStyle/>
          <a:p>
            <a:pPr indent="0" marL="0">
              <a:buNone/>
            </a:pPr>
            <a:r>
              <a:rPr lang="en-US" sz="1350" b="1" dirty="0">
                <a:solidFill>
                  <a:srgbClr val="1C2B3A"/>
                </a:solidFill>
                <a:latin typeface="Calibri" pitchFamily="34" charset="0"/>
                <a:ea typeface="Calibri" pitchFamily="34" charset="-122"/>
                <a:cs typeface="Calibri" pitchFamily="34" charset="-120"/>
              </a:rPr>
              <a:t>Large fleet</a:t>
            </a:r>
            <a:endParaRPr lang="en-US" sz="1350" dirty="0"/>
          </a:p>
        </p:txBody>
      </p:sp>
      <p:sp>
        <p:nvSpPr>
          <p:cNvPr id="10" name="Text 8"/>
          <p:cNvSpPr/>
          <p:nvPr/>
        </p:nvSpPr>
        <p:spPr>
          <a:xfrm>
            <a:off x="4565904" y="2048256"/>
            <a:ext cx="3057144" cy="292608"/>
          </a:xfrm>
          <a:prstGeom prst="rect">
            <a:avLst/>
          </a:prstGeom>
          <a:noFill/>
          <a:ln/>
        </p:spPr>
        <p:txBody>
          <a:bodyPr wrap="square" lIns="0" tIns="0" rIns="0" bIns="0" rtlCol="0" anchor="ctr"/>
          <a:lstStyle/>
          <a:p>
            <a:pPr indent="0" marL="0">
              <a:buNone/>
            </a:pPr>
            <a:r>
              <a:rPr lang="en-US" sz="1150" b="1" dirty="0">
                <a:solidFill>
                  <a:srgbClr val="BE3B4E"/>
                </a:solidFill>
                <a:latin typeface="Courier New" pitchFamily="34" charset="0"/>
                <a:ea typeface="Courier New" pitchFamily="34" charset="-122"/>
                <a:cs typeface="Courier New" pitchFamily="34" charset="-120"/>
              </a:rPr>
              <a:t>--peers K  (k-regular shuffle)</a:t>
            </a:r>
            <a:endParaRPr lang="en-US" sz="1150" dirty="0"/>
          </a:p>
        </p:txBody>
      </p:sp>
      <p:sp>
        <p:nvSpPr>
          <p:cNvPr id="11" name="Text 9"/>
          <p:cNvSpPr/>
          <p:nvPr/>
        </p:nvSpPr>
        <p:spPr>
          <a:xfrm>
            <a:off x="4565904" y="2468880"/>
            <a:ext cx="3057144" cy="3200400"/>
          </a:xfrm>
          <a:prstGeom prst="rect">
            <a:avLst/>
          </a:prstGeom>
          <a:noFill/>
          <a:ln/>
        </p:spPr>
        <p:txBody>
          <a:bodyPr wrap="square" lIns="0" tIns="0" rIns="0" bIns="0" rtlCol="0" anchor="t"/>
          <a:lstStyle/>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Each host talks to exactly K shuffled peers — equal load by construction, K sockets instead of N−1</a:t>
            </a:r>
            <a:endParaRPr lang="en-US" sz="1100" dirty="0"/>
          </a:p>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Same per-host and fabric load as full mesh; seeded + replayable (--seed)</a:t>
            </a:r>
            <a:endParaRPr lang="en-US" sz="1100" dirty="0"/>
          </a:p>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--streams S multiplies 4-tuples for ECMP path coverage — K×S sockets per host</a:t>
            </a:r>
            <a:endParaRPr lang="en-US" sz="1100" dirty="0"/>
          </a:p>
        </p:txBody>
      </p:sp>
      <p:sp>
        <p:nvSpPr>
          <p:cNvPr id="12" name="Shape 10"/>
          <p:cNvSpPr/>
          <p:nvPr/>
        </p:nvSpPr>
        <p:spPr>
          <a:xfrm>
            <a:off x="8089392" y="1554480"/>
            <a:ext cx="3532632" cy="4206240"/>
          </a:xfrm>
          <a:prstGeom prst="roundRect">
            <a:avLst>
              <a:gd name="adj" fmla="val 2330"/>
            </a:avLst>
          </a:prstGeom>
          <a:solidFill>
            <a:srgbClr val="F1F4F8"/>
          </a:solidFill>
          <a:ln/>
        </p:spPr>
      </p:sp>
      <p:sp>
        <p:nvSpPr>
          <p:cNvPr id="13" name="Text 11"/>
          <p:cNvSpPr/>
          <p:nvPr/>
        </p:nvSpPr>
        <p:spPr>
          <a:xfrm>
            <a:off x="8327136" y="1737360"/>
            <a:ext cx="3057144" cy="292608"/>
          </a:xfrm>
          <a:prstGeom prst="rect">
            <a:avLst/>
          </a:prstGeom>
          <a:noFill/>
          <a:ln/>
        </p:spPr>
        <p:txBody>
          <a:bodyPr wrap="square" lIns="0" tIns="0" rIns="0" bIns="0" rtlCol="0" anchor="ctr"/>
          <a:lstStyle/>
          <a:p>
            <a:pPr indent="0" marL="0">
              <a:buNone/>
            </a:pPr>
            <a:r>
              <a:rPr lang="en-US" sz="1350" b="1" dirty="0">
                <a:solidFill>
                  <a:srgbClr val="1C2B3A"/>
                </a:solidFill>
                <a:latin typeface="Calibri" pitchFamily="34" charset="0"/>
                <a:ea typeface="Calibri" pitchFamily="34" charset="-122"/>
                <a:cs typeface="Calibri" pitchFamily="34" charset="-120"/>
              </a:rPr>
              <a:t>Huge fleet / full coverage</a:t>
            </a:r>
            <a:endParaRPr lang="en-US" sz="1350" dirty="0"/>
          </a:p>
        </p:txBody>
      </p:sp>
      <p:sp>
        <p:nvSpPr>
          <p:cNvPr id="14" name="Text 12"/>
          <p:cNvSpPr/>
          <p:nvPr/>
        </p:nvSpPr>
        <p:spPr>
          <a:xfrm>
            <a:off x="8327136" y="2048256"/>
            <a:ext cx="3057144" cy="292608"/>
          </a:xfrm>
          <a:prstGeom prst="rect">
            <a:avLst/>
          </a:prstGeom>
          <a:noFill/>
          <a:ln/>
        </p:spPr>
        <p:txBody>
          <a:bodyPr wrap="square" lIns="0" tIns="0" rIns="0" bIns="0" rtlCol="0" anchor="ctr"/>
          <a:lstStyle/>
          <a:p>
            <a:pPr indent="0" marL="0">
              <a:buNone/>
            </a:pPr>
            <a:r>
              <a:rPr lang="en-US" sz="1150" b="1" dirty="0">
                <a:solidFill>
                  <a:srgbClr val="BE3B4E"/>
                </a:solidFill>
                <a:latin typeface="Courier New" pitchFamily="34" charset="0"/>
                <a:ea typeface="Courier New" pitchFamily="34" charset="-122"/>
                <a:cs typeface="Courier New" pitchFamily="34" charset="-120"/>
              </a:rPr>
              <a:t>--peers K --dwell T  (layered rotation)</a:t>
            </a:r>
            <a:endParaRPr lang="en-US" sz="1150" dirty="0"/>
          </a:p>
        </p:txBody>
      </p:sp>
      <p:sp>
        <p:nvSpPr>
          <p:cNvPr id="15" name="Text 13"/>
          <p:cNvSpPr/>
          <p:nvPr/>
        </p:nvSpPr>
        <p:spPr>
          <a:xfrm>
            <a:off x="8327136" y="2468880"/>
            <a:ext cx="3057144" cy="3200400"/>
          </a:xfrm>
          <a:prstGeom prst="rect">
            <a:avLst/>
          </a:prstGeom>
          <a:noFill/>
          <a:ln/>
        </p:spPr>
        <p:txBody>
          <a:bodyPr wrap="square" lIns="0" tIns="0" rIns="0" bIns="0" rtlCol="0" anchor="t"/>
          <a:lstStyle/>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The K-peer graph rotates through ⌈(N−1)/K⌉ disjoint layers: every ordered pair measured exactly once per cycle</a:t>
            </a:r>
            <a:endParaRPr lang="en-US" sz="1100" dirty="0"/>
          </a:p>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Per-host load never changes; no control channel — agents derive the schedule from the seed</a:t>
            </a:r>
            <a:endParaRPr lang="en-US" sz="1100" dirty="0"/>
          </a:p>
          <a:p>
            <a:pPr marL="152400" indent="-152400">
              <a:spcAft>
                <a:spcPts val="900"/>
              </a:spcAft>
              <a:buSzPct val="100000"/>
              <a:buChar char="•"/>
            </a:pPr>
            <a:r>
              <a:rPr lang="en-US" sz="1100" dirty="0">
                <a:solidFill>
                  <a:srgbClr val="1C2B3A"/>
                </a:solidFill>
                <a:latin typeface="Calibri" pitchFamily="34" charset="0"/>
                <a:ea typeface="Calibri" pitchFamily="34" charset="-122"/>
                <a:cs typeface="Calibri" pitchFamily="34" charset="-120"/>
              </a:rPr>
              <a:t>1000 hosts: full every-pair coverage every ~6 min, 8 sockets per host — COVERAGE reported, --equal-layers for dip-free soaks</a:t>
            </a:r>
            <a:endParaRPr lang="en-US" sz="1100" dirty="0"/>
          </a:p>
        </p:txBody>
      </p:sp>
      <p:sp>
        <p:nvSpPr>
          <p:cNvPr id="16" name="Text 14"/>
          <p:cNvSpPr/>
          <p:nvPr/>
        </p:nvSpPr>
        <p:spPr>
          <a:xfrm>
            <a:off x="566928" y="5943600"/>
            <a:ext cx="11055096" cy="320040"/>
          </a:xfrm>
          <a:prstGeom prst="rect">
            <a:avLst/>
          </a:prstGeom>
          <a:noFill/>
          <a:ln/>
        </p:spPr>
        <p:txBody>
          <a:bodyPr wrap="square" lIns="0" tIns="0" rIns="0" bIns="0" rtlCol="0" anchor="ctr"/>
          <a:lstStyle/>
          <a:p>
            <a:pPr algn="ctr" indent="0" marL="0">
              <a:buNone/>
            </a:pPr>
            <a:r>
              <a:rPr lang="en-US" sz="1200" b="1" dirty="0">
                <a:solidFill>
                  <a:srgbClr val="9C2F40"/>
                </a:solidFill>
                <a:latin typeface="Courier New" pitchFamily="34" charset="0"/>
                <a:ea typeface="Courier New" pitchFamily="34" charset="-122"/>
                <a:cs typeface="Courier New" pitchFamily="34" charset="-120"/>
              </a:rPr>
              <a:t>Not sure? mx hints --servers s.txt --pps-per-host N does the arithmetic and prints the command.</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BE3B4E"/>
                </a:solidFill>
                <a:latin typeface="Calibri" pitchFamily="34" charset="0"/>
                <a:ea typeface="Calibri" pitchFamily="34" charset="-122"/>
                <a:cs typeface="Calibri" pitchFamily="34" charset="-120"/>
              </a:rPr>
              <a:t>MATRIX_ORCHESTRATOR</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Stopping, cleaning up, and the honest limits</a:t>
            </a:r>
            <a:endParaRPr lang="en-US" sz="2900" dirty="0"/>
          </a:p>
        </p:txBody>
      </p:sp>
      <p:sp>
        <p:nvSpPr>
          <p:cNvPr id="4" name="Shape 2"/>
          <p:cNvSpPr/>
          <p:nvPr/>
        </p:nvSpPr>
        <p:spPr>
          <a:xfrm>
            <a:off x="566928" y="1554480"/>
            <a:ext cx="5344668" cy="4206240"/>
          </a:xfrm>
          <a:prstGeom prst="roundRect">
            <a:avLst>
              <a:gd name="adj" fmla="val 1957"/>
            </a:avLst>
          </a:prstGeom>
          <a:solidFill>
            <a:srgbClr val="F1F4F8"/>
          </a:solidFill>
          <a:ln/>
        </p:spPr>
      </p:sp>
      <p:sp>
        <p:nvSpPr>
          <p:cNvPr id="5" name="Text 3"/>
          <p:cNvSpPr/>
          <p:nvPr/>
        </p:nvSpPr>
        <p:spPr>
          <a:xfrm>
            <a:off x="841248" y="1755648"/>
            <a:ext cx="4796028" cy="320040"/>
          </a:xfrm>
          <a:prstGeom prst="rect">
            <a:avLst/>
          </a:prstGeom>
          <a:noFill/>
          <a:ln/>
        </p:spPr>
        <p:txBody>
          <a:bodyPr wrap="square" lIns="0" tIns="0" rIns="0" bIns="0" rtlCol="0" anchor="ctr"/>
          <a:lstStyle/>
          <a:p>
            <a:pPr indent="0" marL="0">
              <a:buNone/>
            </a:pPr>
            <a:r>
              <a:rPr lang="en-US" sz="1500" b="1" dirty="0">
                <a:solidFill>
                  <a:srgbClr val="1C2B3A"/>
                </a:solidFill>
                <a:latin typeface="Calibri" pitchFamily="34" charset="0"/>
                <a:ea typeface="Calibri" pitchFamily="34" charset="-122"/>
                <a:cs typeface="Calibri" pitchFamily="34" charset="-120"/>
              </a:rPr>
              <a:t>Leaving no trace</a:t>
            </a:r>
            <a:endParaRPr lang="en-US" sz="1500" dirty="0"/>
          </a:p>
        </p:txBody>
      </p:sp>
      <p:sp>
        <p:nvSpPr>
          <p:cNvPr id="6" name="Text 4"/>
          <p:cNvSpPr/>
          <p:nvPr/>
        </p:nvSpPr>
        <p:spPr>
          <a:xfrm>
            <a:off x="841248" y="2176272"/>
            <a:ext cx="4796028" cy="3474720"/>
          </a:xfrm>
          <a:prstGeom prst="rect">
            <a:avLst/>
          </a:prstGeom>
          <a:noFill/>
          <a:ln/>
        </p:spPr>
        <p:txBody>
          <a:bodyPr wrap="square" lIns="0" tIns="0" rIns="0" bIns="0" rtlCol="0" anchor="t"/>
          <a:lstStyle/>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Everything on a server lives in one directory (/var/tmp/mx) — agent, matrix, log, report. No package, no sysctl, no unit file.</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mx stop halts the agents; reports and logs stay for later collection.</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mx logs and mx summarize first — then mx clean.</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mx clean refuses to report success until the directory is verifiably gone and no agent still runs.</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Agents flush their current interval on SIGTERM — stopping doesn’t discard the last seconds of data.</a:t>
            </a:r>
            <a:endParaRPr lang="en-US" sz="1200" dirty="0"/>
          </a:p>
        </p:txBody>
      </p:sp>
      <p:sp>
        <p:nvSpPr>
          <p:cNvPr id="7" name="Shape 5"/>
          <p:cNvSpPr/>
          <p:nvPr/>
        </p:nvSpPr>
        <p:spPr>
          <a:xfrm>
            <a:off x="6277356" y="1554480"/>
            <a:ext cx="5344668" cy="4206240"/>
          </a:xfrm>
          <a:prstGeom prst="roundRect">
            <a:avLst>
              <a:gd name="adj" fmla="val 1957"/>
            </a:avLst>
          </a:prstGeom>
          <a:solidFill>
            <a:srgbClr val="FDF0F0"/>
          </a:solidFill>
          <a:ln/>
        </p:spPr>
      </p:sp>
      <p:sp>
        <p:nvSpPr>
          <p:cNvPr id="8" name="Text 6"/>
          <p:cNvSpPr/>
          <p:nvPr/>
        </p:nvSpPr>
        <p:spPr>
          <a:xfrm>
            <a:off x="6551676" y="1755648"/>
            <a:ext cx="4796028" cy="320040"/>
          </a:xfrm>
          <a:prstGeom prst="rect">
            <a:avLst/>
          </a:prstGeom>
          <a:noFill/>
          <a:ln/>
        </p:spPr>
        <p:txBody>
          <a:bodyPr wrap="square" lIns="0" tIns="0" rIns="0" bIns="0" rtlCol="0" anchor="ctr"/>
          <a:lstStyle/>
          <a:p>
            <a:pPr indent="0" marL="0">
              <a:buNone/>
            </a:pPr>
            <a:r>
              <a:rPr lang="en-US" sz="1500" b="1" dirty="0">
                <a:solidFill>
                  <a:srgbClr val="9C2F40"/>
                </a:solidFill>
                <a:latin typeface="Calibri" pitchFamily="34" charset="0"/>
                <a:ea typeface="Calibri" pitchFamily="34" charset="-122"/>
                <a:cs typeface="Calibri" pitchFamily="34" charset="-120"/>
              </a:rPr>
              <a:t>Limitations to respect</a:t>
            </a:r>
            <a:endParaRPr lang="en-US" sz="1500" dirty="0"/>
          </a:p>
        </p:txBody>
      </p:sp>
      <p:sp>
        <p:nvSpPr>
          <p:cNvPr id="9" name="Text 7"/>
          <p:cNvSpPr/>
          <p:nvPr/>
        </p:nvSpPr>
        <p:spPr>
          <a:xfrm>
            <a:off x="6551676" y="2176272"/>
            <a:ext cx="4796028" cy="3474720"/>
          </a:xfrm>
          <a:prstGeom prst="rect">
            <a:avLst/>
          </a:prstGeom>
          <a:noFill/>
          <a:ln/>
        </p:spPr>
        <p:txBody>
          <a:bodyPr wrap="square" lIns="0" tIns="0" rIns="0" bIns="0" rtlCol="0" anchor="t"/>
          <a:lstStyle/>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UDP request/response only — the design, not an oversight.</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1–4 Mpps per typical host; beyond a few Mpps the kernel UDP path is the wall as much as Python — wider fleet, or AF_XDP/DPDK.</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Key-based ssh assumed everywhere (mx doctor checks the fleet).</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Watch the agent column — the tool tells you when it has become the bottleneck; believe it.</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A hard fd limit too low still needs an admin: agent refuses to start, doctor names the hosts (FDS-TOO-LOW).</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8814816" y="1371600"/>
            <a:ext cx="475488" cy="475488"/>
          </a:xfrm>
          <a:prstGeom prst="roundRect">
            <a:avLst>
              <a:gd name="adj" fmla="val 18000"/>
            </a:avLst>
          </a:prstGeom>
          <a:solidFill>
            <a:srgbClr val="12897B"/>
          </a:solidFill>
          <a:ln/>
        </p:spPr>
      </p:sp>
      <p:sp>
        <p:nvSpPr>
          <p:cNvPr id="3" name="Shape 1"/>
          <p:cNvSpPr/>
          <p:nvPr/>
        </p:nvSpPr>
        <p:spPr>
          <a:xfrm>
            <a:off x="9400032" y="1371600"/>
            <a:ext cx="475488" cy="475488"/>
          </a:xfrm>
          <a:prstGeom prst="roundRect">
            <a:avLst>
              <a:gd name="adj" fmla="val 18000"/>
            </a:avLst>
          </a:prstGeom>
          <a:solidFill>
            <a:srgbClr val="16283E"/>
          </a:solidFill>
          <a:ln/>
        </p:spPr>
      </p:sp>
      <p:sp>
        <p:nvSpPr>
          <p:cNvPr id="4" name="Shape 2"/>
          <p:cNvSpPr/>
          <p:nvPr/>
        </p:nvSpPr>
        <p:spPr>
          <a:xfrm>
            <a:off x="9985248" y="1371600"/>
            <a:ext cx="475488" cy="475488"/>
          </a:xfrm>
          <a:prstGeom prst="roundRect">
            <a:avLst>
              <a:gd name="adj" fmla="val 18000"/>
            </a:avLst>
          </a:prstGeom>
          <a:solidFill>
            <a:srgbClr val="12897B"/>
          </a:solidFill>
          <a:ln/>
        </p:spPr>
      </p:sp>
      <p:sp>
        <p:nvSpPr>
          <p:cNvPr id="5" name="Shape 3"/>
          <p:cNvSpPr/>
          <p:nvPr/>
        </p:nvSpPr>
        <p:spPr>
          <a:xfrm>
            <a:off x="10570464" y="1371600"/>
            <a:ext cx="475488" cy="475488"/>
          </a:xfrm>
          <a:prstGeom prst="roundRect">
            <a:avLst>
              <a:gd name="adj" fmla="val 18000"/>
            </a:avLst>
          </a:prstGeom>
          <a:solidFill>
            <a:srgbClr val="16283E"/>
          </a:solidFill>
          <a:ln/>
        </p:spPr>
      </p:sp>
      <p:sp>
        <p:nvSpPr>
          <p:cNvPr id="6" name="Shape 4"/>
          <p:cNvSpPr/>
          <p:nvPr/>
        </p:nvSpPr>
        <p:spPr>
          <a:xfrm>
            <a:off x="11155680" y="1371600"/>
            <a:ext cx="475488" cy="475488"/>
          </a:xfrm>
          <a:prstGeom prst="roundRect">
            <a:avLst>
              <a:gd name="adj" fmla="val 18000"/>
            </a:avLst>
          </a:prstGeom>
          <a:solidFill>
            <a:srgbClr val="16283E"/>
          </a:solidFill>
          <a:ln/>
        </p:spPr>
      </p:sp>
      <p:sp>
        <p:nvSpPr>
          <p:cNvPr id="7" name="Shape 5"/>
          <p:cNvSpPr/>
          <p:nvPr/>
        </p:nvSpPr>
        <p:spPr>
          <a:xfrm>
            <a:off x="11740896" y="1371600"/>
            <a:ext cx="475488" cy="475488"/>
          </a:xfrm>
          <a:prstGeom prst="roundRect">
            <a:avLst>
              <a:gd name="adj" fmla="val 18000"/>
            </a:avLst>
          </a:prstGeom>
          <a:solidFill>
            <a:srgbClr val="16283E"/>
          </a:solidFill>
          <a:ln/>
        </p:spPr>
      </p:sp>
      <p:sp>
        <p:nvSpPr>
          <p:cNvPr id="8" name="Shape 6"/>
          <p:cNvSpPr/>
          <p:nvPr/>
        </p:nvSpPr>
        <p:spPr>
          <a:xfrm>
            <a:off x="8229600" y="1956816"/>
            <a:ext cx="475488" cy="475488"/>
          </a:xfrm>
          <a:prstGeom prst="roundRect">
            <a:avLst>
              <a:gd name="adj" fmla="val 18000"/>
            </a:avLst>
          </a:prstGeom>
          <a:solidFill>
            <a:srgbClr val="16283E"/>
          </a:solidFill>
          <a:ln/>
        </p:spPr>
      </p:sp>
      <p:sp>
        <p:nvSpPr>
          <p:cNvPr id="9" name="Shape 7"/>
          <p:cNvSpPr/>
          <p:nvPr/>
        </p:nvSpPr>
        <p:spPr>
          <a:xfrm>
            <a:off x="9400032" y="1956816"/>
            <a:ext cx="475488" cy="475488"/>
          </a:xfrm>
          <a:prstGeom prst="roundRect">
            <a:avLst>
              <a:gd name="adj" fmla="val 18000"/>
            </a:avLst>
          </a:prstGeom>
          <a:solidFill>
            <a:srgbClr val="223650"/>
          </a:solidFill>
          <a:ln/>
        </p:spPr>
      </p:sp>
      <p:sp>
        <p:nvSpPr>
          <p:cNvPr id="10" name="Shape 8"/>
          <p:cNvSpPr/>
          <p:nvPr/>
        </p:nvSpPr>
        <p:spPr>
          <a:xfrm>
            <a:off x="9985248" y="1956816"/>
            <a:ext cx="475488" cy="475488"/>
          </a:xfrm>
          <a:prstGeom prst="roundRect">
            <a:avLst>
              <a:gd name="adj" fmla="val 18000"/>
            </a:avLst>
          </a:prstGeom>
          <a:solidFill>
            <a:srgbClr val="16283E"/>
          </a:solidFill>
          <a:ln/>
        </p:spPr>
      </p:sp>
      <p:sp>
        <p:nvSpPr>
          <p:cNvPr id="11" name="Shape 9"/>
          <p:cNvSpPr/>
          <p:nvPr/>
        </p:nvSpPr>
        <p:spPr>
          <a:xfrm>
            <a:off x="10570464" y="1956816"/>
            <a:ext cx="475488" cy="475488"/>
          </a:xfrm>
          <a:prstGeom prst="roundRect">
            <a:avLst>
              <a:gd name="adj" fmla="val 18000"/>
            </a:avLst>
          </a:prstGeom>
          <a:solidFill>
            <a:srgbClr val="223650"/>
          </a:solidFill>
          <a:ln/>
        </p:spPr>
      </p:sp>
      <p:sp>
        <p:nvSpPr>
          <p:cNvPr id="12" name="Shape 10"/>
          <p:cNvSpPr/>
          <p:nvPr/>
        </p:nvSpPr>
        <p:spPr>
          <a:xfrm>
            <a:off x="11155680" y="1956816"/>
            <a:ext cx="475488" cy="475488"/>
          </a:xfrm>
          <a:prstGeom prst="roundRect">
            <a:avLst>
              <a:gd name="adj" fmla="val 18000"/>
            </a:avLst>
          </a:prstGeom>
          <a:solidFill>
            <a:srgbClr val="16283E"/>
          </a:solidFill>
          <a:ln/>
        </p:spPr>
      </p:sp>
      <p:sp>
        <p:nvSpPr>
          <p:cNvPr id="13" name="Shape 11"/>
          <p:cNvSpPr/>
          <p:nvPr/>
        </p:nvSpPr>
        <p:spPr>
          <a:xfrm>
            <a:off x="11740896" y="1956816"/>
            <a:ext cx="475488" cy="475488"/>
          </a:xfrm>
          <a:prstGeom prst="roundRect">
            <a:avLst>
              <a:gd name="adj" fmla="val 18000"/>
            </a:avLst>
          </a:prstGeom>
          <a:solidFill>
            <a:srgbClr val="16283E"/>
          </a:solidFill>
          <a:ln/>
        </p:spPr>
      </p:sp>
      <p:sp>
        <p:nvSpPr>
          <p:cNvPr id="14" name="Shape 12"/>
          <p:cNvSpPr/>
          <p:nvPr/>
        </p:nvSpPr>
        <p:spPr>
          <a:xfrm>
            <a:off x="8229600" y="2542032"/>
            <a:ext cx="475488" cy="475488"/>
          </a:xfrm>
          <a:prstGeom prst="roundRect">
            <a:avLst>
              <a:gd name="adj" fmla="val 18000"/>
            </a:avLst>
          </a:prstGeom>
          <a:solidFill>
            <a:srgbClr val="16283E"/>
          </a:solidFill>
          <a:ln/>
        </p:spPr>
      </p:sp>
      <p:sp>
        <p:nvSpPr>
          <p:cNvPr id="15" name="Shape 13"/>
          <p:cNvSpPr/>
          <p:nvPr/>
        </p:nvSpPr>
        <p:spPr>
          <a:xfrm>
            <a:off x="8814816" y="2542032"/>
            <a:ext cx="475488" cy="475488"/>
          </a:xfrm>
          <a:prstGeom prst="roundRect">
            <a:avLst>
              <a:gd name="adj" fmla="val 18000"/>
            </a:avLst>
          </a:prstGeom>
          <a:solidFill>
            <a:srgbClr val="16283E"/>
          </a:solidFill>
          <a:ln/>
        </p:spPr>
      </p:sp>
      <p:sp>
        <p:nvSpPr>
          <p:cNvPr id="16" name="Shape 14"/>
          <p:cNvSpPr/>
          <p:nvPr/>
        </p:nvSpPr>
        <p:spPr>
          <a:xfrm>
            <a:off x="9985248" y="2542032"/>
            <a:ext cx="475488" cy="475488"/>
          </a:xfrm>
          <a:prstGeom prst="roundRect">
            <a:avLst>
              <a:gd name="adj" fmla="val 18000"/>
            </a:avLst>
          </a:prstGeom>
          <a:solidFill>
            <a:srgbClr val="16283E"/>
          </a:solidFill>
          <a:ln/>
        </p:spPr>
      </p:sp>
      <p:sp>
        <p:nvSpPr>
          <p:cNvPr id="17" name="Shape 15"/>
          <p:cNvSpPr/>
          <p:nvPr/>
        </p:nvSpPr>
        <p:spPr>
          <a:xfrm>
            <a:off x="10570464" y="2542032"/>
            <a:ext cx="475488" cy="475488"/>
          </a:xfrm>
          <a:prstGeom prst="roundRect">
            <a:avLst>
              <a:gd name="adj" fmla="val 18000"/>
            </a:avLst>
          </a:prstGeom>
          <a:solidFill>
            <a:srgbClr val="16283E"/>
          </a:solidFill>
          <a:ln/>
        </p:spPr>
      </p:sp>
      <p:sp>
        <p:nvSpPr>
          <p:cNvPr id="18" name="Shape 16"/>
          <p:cNvSpPr/>
          <p:nvPr/>
        </p:nvSpPr>
        <p:spPr>
          <a:xfrm>
            <a:off x="11155680" y="2542032"/>
            <a:ext cx="475488" cy="475488"/>
          </a:xfrm>
          <a:prstGeom prst="roundRect">
            <a:avLst>
              <a:gd name="adj" fmla="val 18000"/>
            </a:avLst>
          </a:prstGeom>
          <a:solidFill>
            <a:srgbClr val="16283E"/>
          </a:solidFill>
          <a:ln/>
        </p:spPr>
      </p:sp>
      <p:sp>
        <p:nvSpPr>
          <p:cNvPr id="19" name="Shape 17"/>
          <p:cNvSpPr/>
          <p:nvPr/>
        </p:nvSpPr>
        <p:spPr>
          <a:xfrm>
            <a:off x="11740896" y="2542032"/>
            <a:ext cx="475488" cy="475488"/>
          </a:xfrm>
          <a:prstGeom prst="roundRect">
            <a:avLst>
              <a:gd name="adj" fmla="val 18000"/>
            </a:avLst>
          </a:prstGeom>
          <a:solidFill>
            <a:srgbClr val="16283E"/>
          </a:solidFill>
          <a:ln/>
        </p:spPr>
      </p:sp>
      <p:sp>
        <p:nvSpPr>
          <p:cNvPr id="20" name="Shape 18"/>
          <p:cNvSpPr/>
          <p:nvPr/>
        </p:nvSpPr>
        <p:spPr>
          <a:xfrm>
            <a:off x="8229600" y="3127248"/>
            <a:ext cx="475488" cy="475488"/>
          </a:xfrm>
          <a:prstGeom prst="roundRect">
            <a:avLst>
              <a:gd name="adj" fmla="val 18000"/>
            </a:avLst>
          </a:prstGeom>
          <a:solidFill>
            <a:srgbClr val="16283E"/>
          </a:solidFill>
          <a:ln/>
        </p:spPr>
      </p:sp>
      <p:sp>
        <p:nvSpPr>
          <p:cNvPr id="21" name="Shape 19"/>
          <p:cNvSpPr/>
          <p:nvPr/>
        </p:nvSpPr>
        <p:spPr>
          <a:xfrm>
            <a:off x="8814816" y="3127248"/>
            <a:ext cx="475488" cy="475488"/>
          </a:xfrm>
          <a:prstGeom prst="roundRect">
            <a:avLst>
              <a:gd name="adj" fmla="val 18000"/>
            </a:avLst>
          </a:prstGeom>
          <a:solidFill>
            <a:srgbClr val="16283E"/>
          </a:solidFill>
          <a:ln/>
        </p:spPr>
      </p:sp>
      <p:sp>
        <p:nvSpPr>
          <p:cNvPr id="22" name="Shape 20"/>
          <p:cNvSpPr/>
          <p:nvPr/>
        </p:nvSpPr>
        <p:spPr>
          <a:xfrm>
            <a:off x="9400032" y="3127248"/>
            <a:ext cx="475488" cy="475488"/>
          </a:xfrm>
          <a:prstGeom prst="roundRect">
            <a:avLst>
              <a:gd name="adj" fmla="val 18000"/>
            </a:avLst>
          </a:prstGeom>
          <a:solidFill>
            <a:srgbClr val="12897B"/>
          </a:solidFill>
          <a:ln/>
        </p:spPr>
      </p:sp>
      <p:sp>
        <p:nvSpPr>
          <p:cNvPr id="23" name="Shape 21"/>
          <p:cNvSpPr/>
          <p:nvPr/>
        </p:nvSpPr>
        <p:spPr>
          <a:xfrm>
            <a:off x="10570464" y="3127248"/>
            <a:ext cx="475488" cy="475488"/>
          </a:xfrm>
          <a:prstGeom prst="roundRect">
            <a:avLst>
              <a:gd name="adj" fmla="val 18000"/>
            </a:avLst>
          </a:prstGeom>
          <a:solidFill>
            <a:srgbClr val="12897B"/>
          </a:solidFill>
          <a:ln/>
        </p:spPr>
      </p:sp>
      <p:sp>
        <p:nvSpPr>
          <p:cNvPr id="24" name="Shape 22"/>
          <p:cNvSpPr/>
          <p:nvPr/>
        </p:nvSpPr>
        <p:spPr>
          <a:xfrm>
            <a:off x="11155680" y="3127248"/>
            <a:ext cx="475488" cy="475488"/>
          </a:xfrm>
          <a:prstGeom prst="roundRect">
            <a:avLst>
              <a:gd name="adj" fmla="val 18000"/>
            </a:avLst>
          </a:prstGeom>
          <a:solidFill>
            <a:srgbClr val="16283E"/>
          </a:solidFill>
          <a:ln/>
        </p:spPr>
      </p:sp>
      <p:sp>
        <p:nvSpPr>
          <p:cNvPr id="25" name="Shape 23"/>
          <p:cNvSpPr/>
          <p:nvPr/>
        </p:nvSpPr>
        <p:spPr>
          <a:xfrm>
            <a:off x="11740896" y="3127248"/>
            <a:ext cx="475488" cy="475488"/>
          </a:xfrm>
          <a:prstGeom prst="roundRect">
            <a:avLst>
              <a:gd name="adj" fmla="val 18000"/>
            </a:avLst>
          </a:prstGeom>
          <a:solidFill>
            <a:srgbClr val="16283E"/>
          </a:solidFill>
          <a:ln/>
        </p:spPr>
      </p:sp>
      <p:sp>
        <p:nvSpPr>
          <p:cNvPr id="26" name="Shape 24"/>
          <p:cNvSpPr/>
          <p:nvPr/>
        </p:nvSpPr>
        <p:spPr>
          <a:xfrm>
            <a:off x="8229600" y="3712464"/>
            <a:ext cx="475488" cy="475488"/>
          </a:xfrm>
          <a:prstGeom prst="roundRect">
            <a:avLst>
              <a:gd name="adj" fmla="val 18000"/>
            </a:avLst>
          </a:prstGeom>
          <a:solidFill>
            <a:srgbClr val="16283E"/>
          </a:solidFill>
          <a:ln/>
        </p:spPr>
      </p:sp>
      <p:sp>
        <p:nvSpPr>
          <p:cNvPr id="27" name="Shape 25"/>
          <p:cNvSpPr/>
          <p:nvPr/>
        </p:nvSpPr>
        <p:spPr>
          <a:xfrm>
            <a:off x="8814816" y="3712464"/>
            <a:ext cx="475488" cy="475488"/>
          </a:xfrm>
          <a:prstGeom prst="roundRect">
            <a:avLst>
              <a:gd name="adj" fmla="val 18000"/>
            </a:avLst>
          </a:prstGeom>
          <a:solidFill>
            <a:srgbClr val="16283E"/>
          </a:solidFill>
          <a:ln/>
        </p:spPr>
      </p:sp>
      <p:sp>
        <p:nvSpPr>
          <p:cNvPr id="28" name="Shape 26"/>
          <p:cNvSpPr/>
          <p:nvPr/>
        </p:nvSpPr>
        <p:spPr>
          <a:xfrm>
            <a:off x="9400032" y="3712464"/>
            <a:ext cx="475488" cy="475488"/>
          </a:xfrm>
          <a:prstGeom prst="roundRect">
            <a:avLst>
              <a:gd name="adj" fmla="val 18000"/>
            </a:avLst>
          </a:prstGeom>
          <a:solidFill>
            <a:srgbClr val="16283E"/>
          </a:solidFill>
          <a:ln/>
        </p:spPr>
      </p:sp>
      <p:sp>
        <p:nvSpPr>
          <p:cNvPr id="29" name="Shape 27"/>
          <p:cNvSpPr/>
          <p:nvPr/>
        </p:nvSpPr>
        <p:spPr>
          <a:xfrm>
            <a:off x="9985248" y="3712464"/>
            <a:ext cx="475488" cy="475488"/>
          </a:xfrm>
          <a:prstGeom prst="roundRect">
            <a:avLst>
              <a:gd name="adj" fmla="val 18000"/>
            </a:avLst>
          </a:prstGeom>
          <a:solidFill>
            <a:srgbClr val="223650"/>
          </a:solidFill>
          <a:ln/>
        </p:spPr>
      </p:sp>
      <p:sp>
        <p:nvSpPr>
          <p:cNvPr id="30" name="Shape 28"/>
          <p:cNvSpPr/>
          <p:nvPr/>
        </p:nvSpPr>
        <p:spPr>
          <a:xfrm>
            <a:off x="11155680" y="3712464"/>
            <a:ext cx="475488" cy="475488"/>
          </a:xfrm>
          <a:prstGeom prst="roundRect">
            <a:avLst>
              <a:gd name="adj" fmla="val 18000"/>
            </a:avLst>
          </a:prstGeom>
          <a:solidFill>
            <a:srgbClr val="223650"/>
          </a:solidFill>
          <a:ln/>
        </p:spPr>
      </p:sp>
      <p:sp>
        <p:nvSpPr>
          <p:cNvPr id="31" name="Shape 29"/>
          <p:cNvSpPr/>
          <p:nvPr/>
        </p:nvSpPr>
        <p:spPr>
          <a:xfrm>
            <a:off x="11740896" y="3712464"/>
            <a:ext cx="475488" cy="475488"/>
          </a:xfrm>
          <a:prstGeom prst="roundRect">
            <a:avLst>
              <a:gd name="adj" fmla="val 18000"/>
            </a:avLst>
          </a:prstGeom>
          <a:solidFill>
            <a:srgbClr val="16283E"/>
          </a:solidFill>
          <a:ln/>
        </p:spPr>
      </p:sp>
      <p:sp>
        <p:nvSpPr>
          <p:cNvPr id="32" name="Shape 30"/>
          <p:cNvSpPr/>
          <p:nvPr/>
        </p:nvSpPr>
        <p:spPr>
          <a:xfrm>
            <a:off x="8229600" y="4297680"/>
            <a:ext cx="475488" cy="475488"/>
          </a:xfrm>
          <a:prstGeom prst="roundRect">
            <a:avLst>
              <a:gd name="adj" fmla="val 18000"/>
            </a:avLst>
          </a:prstGeom>
          <a:solidFill>
            <a:srgbClr val="16283E"/>
          </a:solidFill>
          <a:ln/>
        </p:spPr>
      </p:sp>
      <p:sp>
        <p:nvSpPr>
          <p:cNvPr id="33" name="Shape 31"/>
          <p:cNvSpPr/>
          <p:nvPr/>
        </p:nvSpPr>
        <p:spPr>
          <a:xfrm>
            <a:off x="8814816" y="4297680"/>
            <a:ext cx="475488" cy="475488"/>
          </a:xfrm>
          <a:prstGeom prst="roundRect">
            <a:avLst>
              <a:gd name="adj" fmla="val 18000"/>
            </a:avLst>
          </a:prstGeom>
          <a:solidFill>
            <a:srgbClr val="16283E"/>
          </a:solidFill>
          <a:ln/>
        </p:spPr>
      </p:sp>
      <p:sp>
        <p:nvSpPr>
          <p:cNvPr id="34" name="Shape 32"/>
          <p:cNvSpPr/>
          <p:nvPr/>
        </p:nvSpPr>
        <p:spPr>
          <a:xfrm>
            <a:off x="9400032" y="4297680"/>
            <a:ext cx="475488" cy="475488"/>
          </a:xfrm>
          <a:prstGeom prst="roundRect">
            <a:avLst>
              <a:gd name="adj" fmla="val 18000"/>
            </a:avLst>
          </a:prstGeom>
          <a:solidFill>
            <a:srgbClr val="16283E"/>
          </a:solidFill>
          <a:ln/>
        </p:spPr>
      </p:sp>
      <p:sp>
        <p:nvSpPr>
          <p:cNvPr id="35" name="Shape 33"/>
          <p:cNvSpPr/>
          <p:nvPr/>
        </p:nvSpPr>
        <p:spPr>
          <a:xfrm>
            <a:off x="9985248" y="4297680"/>
            <a:ext cx="475488" cy="475488"/>
          </a:xfrm>
          <a:prstGeom prst="roundRect">
            <a:avLst>
              <a:gd name="adj" fmla="val 18000"/>
            </a:avLst>
          </a:prstGeom>
          <a:solidFill>
            <a:srgbClr val="16283E"/>
          </a:solidFill>
          <a:ln/>
        </p:spPr>
      </p:sp>
      <p:sp>
        <p:nvSpPr>
          <p:cNvPr id="36" name="Shape 34"/>
          <p:cNvSpPr/>
          <p:nvPr/>
        </p:nvSpPr>
        <p:spPr>
          <a:xfrm>
            <a:off x="10570464" y="4297680"/>
            <a:ext cx="475488" cy="475488"/>
          </a:xfrm>
          <a:prstGeom prst="roundRect">
            <a:avLst>
              <a:gd name="adj" fmla="val 18000"/>
            </a:avLst>
          </a:prstGeom>
          <a:solidFill>
            <a:srgbClr val="16283E"/>
          </a:solidFill>
          <a:ln/>
        </p:spPr>
      </p:sp>
      <p:sp>
        <p:nvSpPr>
          <p:cNvPr id="37" name="Shape 35"/>
          <p:cNvSpPr/>
          <p:nvPr/>
        </p:nvSpPr>
        <p:spPr>
          <a:xfrm>
            <a:off x="11740896" y="4297680"/>
            <a:ext cx="475488" cy="475488"/>
          </a:xfrm>
          <a:prstGeom prst="roundRect">
            <a:avLst>
              <a:gd name="adj" fmla="val 18000"/>
            </a:avLst>
          </a:prstGeom>
          <a:solidFill>
            <a:srgbClr val="16283E"/>
          </a:solidFill>
          <a:ln/>
        </p:spPr>
      </p:sp>
      <p:sp>
        <p:nvSpPr>
          <p:cNvPr id="38" name="Shape 36"/>
          <p:cNvSpPr/>
          <p:nvPr/>
        </p:nvSpPr>
        <p:spPr>
          <a:xfrm>
            <a:off x="8229600" y="4882896"/>
            <a:ext cx="475488" cy="475488"/>
          </a:xfrm>
          <a:prstGeom prst="roundRect">
            <a:avLst>
              <a:gd name="adj" fmla="val 18000"/>
            </a:avLst>
          </a:prstGeom>
          <a:solidFill>
            <a:srgbClr val="223650"/>
          </a:solidFill>
          <a:ln/>
        </p:spPr>
      </p:sp>
      <p:sp>
        <p:nvSpPr>
          <p:cNvPr id="39" name="Shape 37"/>
          <p:cNvSpPr/>
          <p:nvPr/>
        </p:nvSpPr>
        <p:spPr>
          <a:xfrm>
            <a:off x="8814816" y="4882896"/>
            <a:ext cx="475488" cy="475488"/>
          </a:xfrm>
          <a:prstGeom prst="roundRect">
            <a:avLst>
              <a:gd name="adj" fmla="val 18000"/>
            </a:avLst>
          </a:prstGeom>
          <a:solidFill>
            <a:srgbClr val="16283E"/>
          </a:solidFill>
          <a:ln/>
        </p:spPr>
      </p:sp>
      <p:sp>
        <p:nvSpPr>
          <p:cNvPr id="40" name="Shape 38"/>
          <p:cNvSpPr/>
          <p:nvPr/>
        </p:nvSpPr>
        <p:spPr>
          <a:xfrm>
            <a:off x="9400032" y="4882896"/>
            <a:ext cx="475488" cy="475488"/>
          </a:xfrm>
          <a:prstGeom prst="roundRect">
            <a:avLst>
              <a:gd name="adj" fmla="val 18000"/>
            </a:avLst>
          </a:prstGeom>
          <a:solidFill>
            <a:srgbClr val="16283E"/>
          </a:solidFill>
          <a:ln/>
        </p:spPr>
      </p:sp>
      <p:sp>
        <p:nvSpPr>
          <p:cNvPr id="41" name="Shape 39"/>
          <p:cNvSpPr/>
          <p:nvPr/>
        </p:nvSpPr>
        <p:spPr>
          <a:xfrm>
            <a:off x="9985248" y="4882896"/>
            <a:ext cx="475488" cy="475488"/>
          </a:xfrm>
          <a:prstGeom prst="roundRect">
            <a:avLst>
              <a:gd name="adj" fmla="val 18000"/>
            </a:avLst>
          </a:prstGeom>
          <a:solidFill>
            <a:srgbClr val="12897B"/>
          </a:solidFill>
          <a:ln/>
        </p:spPr>
      </p:sp>
      <p:sp>
        <p:nvSpPr>
          <p:cNvPr id="42" name="Shape 40"/>
          <p:cNvSpPr/>
          <p:nvPr/>
        </p:nvSpPr>
        <p:spPr>
          <a:xfrm>
            <a:off x="10570464" y="4882896"/>
            <a:ext cx="475488" cy="475488"/>
          </a:xfrm>
          <a:prstGeom prst="roundRect">
            <a:avLst>
              <a:gd name="adj" fmla="val 18000"/>
            </a:avLst>
          </a:prstGeom>
          <a:solidFill>
            <a:srgbClr val="16283E"/>
          </a:solidFill>
          <a:ln/>
        </p:spPr>
      </p:sp>
      <p:sp>
        <p:nvSpPr>
          <p:cNvPr id="43" name="Shape 41"/>
          <p:cNvSpPr/>
          <p:nvPr/>
        </p:nvSpPr>
        <p:spPr>
          <a:xfrm>
            <a:off x="11155680" y="4882896"/>
            <a:ext cx="475488" cy="475488"/>
          </a:xfrm>
          <a:prstGeom prst="roundRect">
            <a:avLst>
              <a:gd name="adj" fmla="val 18000"/>
            </a:avLst>
          </a:prstGeom>
          <a:solidFill>
            <a:srgbClr val="12897B"/>
          </a:solidFill>
          <a:ln/>
        </p:spPr>
      </p:sp>
      <p:sp>
        <p:nvSpPr>
          <p:cNvPr id="44" name="Text 42"/>
          <p:cNvSpPr/>
          <p:nvPr/>
        </p:nvSpPr>
        <p:spPr>
          <a:xfrm>
            <a:off x="566928" y="1554480"/>
            <a:ext cx="2743200" cy="1280160"/>
          </a:xfrm>
          <a:prstGeom prst="rect">
            <a:avLst/>
          </a:prstGeom>
          <a:noFill/>
          <a:ln/>
        </p:spPr>
        <p:txBody>
          <a:bodyPr wrap="square" lIns="0" tIns="0" rIns="0" bIns="0" rtlCol="0" anchor="ctr"/>
          <a:lstStyle/>
          <a:p>
            <a:pPr indent="0" marL="0">
              <a:buNone/>
            </a:pPr>
            <a:r>
              <a:rPr lang="en-US" sz="8400" b="1" dirty="0">
                <a:solidFill>
                  <a:srgbClr val="12897B"/>
                </a:solidFill>
                <a:latin typeface="Calibri" pitchFamily="34" charset="0"/>
                <a:ea typeface="Calibri" pitchFamily="34" charset="-122"/>
                <a:cs typeface="Calibri" pitchFamily="34" charset="-120"/>
              </a:rPr>
              <a:t>03</a:t>
            </a:r>
            <a:endParaRPr lang="en-US" sz="8400" dirty="0"/>
          </a:p>
        </p:txBody>
      </p:sp>
      <p:sp>
        <p:nvSpPr>
          <p:cNvPr id="45" name="Text 43"/>
          <p:cNvSpPr/>
          <p:nvPr/>
        </p:nvSpPr>
        <p:spPr>
          <a:xfrm>
            <a:off x="566928" y="2880360"/>
            <a:ext cx="7498080" cy="77724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netmesh</a:t>
            </a:r>
            <a:endParaRPr lang="en-US" sz="4000" dirty="0"/>
          </a:p>
        </p:txBody>
      </p:sp>
      <p:sp>
        <p:nvSpPr>
          <p:cNvPr id="46" name="Text 44"/>
          <p:cNvSpPr/>
          <p:nvPr/>
        </p:nvSpPr>
        <p:spPr>
          <a:xfrm>
            <a:off x="566928" y="3703320"/>
            <a:ext cx="7223760" cy="822960"/>
          </a:xfrm>
          <a:prstGeom prst="rect">
            <a:avLst/>
          </a:prstGeom>
          <a:noFill/>
          <a:ln/>
        </p:spPr>
        <p:txBody>
          <a:bodyPr wrap="square" lIns="0" tIns="0" rIns="0" bIns="0" rtlCol="0" anchor="ctr"/>
          <a:lstStyle/>
          <a:p>
            <a:pPr indent="0" marL="0">
              <a:buNone/>
            </a:pPr>
            <a:r>
              <a:rPr lang="en-US" sz="1600" dirty="0">
                <a:solidFill>
                  <a:srgbClr val="9FB0C1"/>
                </a:solidFill>
                <a:latin typeface="Calibri" pitchFamily="34" charset="0"/>
                <a:ea typeface="Calibri" pitchFamily="34" charset="-122"/>
                <a:cs typeface="Calibri" pitchFamily="34" charset="-120"/>
              </a:rPr>
              <a:t>The idle-network baseline from binnacle — RTT, jitter, loss and path MTU between machines when nothing else is running.</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12897B"/>
                </a:solidFill>
                <a:latin typeface="Calibri" pitchFamily="34" charset="0"/>
                <a:ea typeface="Calibri" pitchFamily="34" charset="-122"/>
                <a:cs typeface="Calibri" pitchFamily="34" charset="-120"/>
              </a:rPr>
              <a:t>NETMESH</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The baseline the other two need</a:t>
            </a:r>
            <a:endParaRPr lang="en-US" sz="2900" dirty="0"/>
          </a:p>
        </p:txBody>
      </p:sp>
      <p:sp>
        <p:nvSpPr>
          <p:cNvPr id="4" name="Text 2"/>
          <p:cNvSpPr/>
          <p:nvPr/>
        </p:nvSpPr>
        <p:spPr>
          <a:xfrm>
            <a:off x="9336024" y="420624"/>
            <a:ext cx="2286000" cy="274320"/>
          </a:xfrm>
          <a:prstGeom prst="rect">
            <a:avLst/>
          </a:prstGeom>
          <a:noFill/>
          <a:ln/>
        </p:spPr>
        <p:txBody>
          <a:bodyPr wrap="square" lIns="0" tIns="0" rIns="0" bIns="0" rtlCol="0" anchor="ctr"/>
          <a:lstStyle/>
          <a:p>
            <a:pPr algn="r" indent="0" marL="0">
              <a:buNone/>
            </a:pPr>
            <a:r>
              <a:rPr lang="en-US" sz="1100" b="1" dirty="0">
                <a:solidFill>
                  <a:srgbClr val="12897B"/>
                </a:solidFill>
                <a:latin typeface="Courier New" pitchFamily="34" charset="0"/>
                <a:ea typeface="Courier New" pitchFamily="34" charset="-122"/>
                <a:cs typeface="Courier New" pitchFamily="34" charset="-120"/>
              </a:rPr>
              <a:t>pip install binnacle</a:t>
            </a:r>
            <a:endParaRPr lang="en-US" sz="1100" dirty="0"/>
          </a:p>
        </p:txBody>
      </p:sp>
      <p:sp>
        <p:nvSpPr>
          <p:cNvPr id="5" name="Text 3"/>
          <p:cNvSpPr/>
          <p:nvPr/>
        </p:nvSpPr>
        <p:spPr>
          <a:xfrm>
            <a:off x="566928" y="1572768"/>
            <a:ext cx="6537960" cy="4206240"/>
          </a:xfrm>
          <a:prstGeom prst="rect">
            <a:avLst/>
          </a:prstGeom>
          <a:noFill/>
          <a:ln/>
        </p:spPr>
        <p:txBody>
          <a:bodyPr wrap="square" lIns="0" tIns="0" rIns="0" bIns="0" rtlCol="0" anchor="t"/>
          <a:lstStyle/>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One of binnacle’s eight diagnostic tools; its question: “is it the network, and which link is sick?”</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Measures RTT, jitter, loss and path MTU between machines when nothing else is running — the idle baseline.</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iperf_orchestrator answers bandwidth under load; mx answers pps under load. Neither says what the network does idle — and that is the number both of theirs must be read against.</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Deliberately the cheapest of the three: ~10 small packets per second per pair. Safe to run on production during an incident.</a:t>
            </a:r>
            <a:endParaRPr lang="en-US" sz="1300" dirty="0"/>
          </a:p>
          <a:p>
            <a:pPr marL="152400" indent="-152400">
              <a:spcAft>
                <a:spcPts val="1100"/>
              </a:spcAft>
              <a:buSzPct val="100000"/>
              <a:buChar char="•"/>
            </a:pPr>
            <a:r>
              <a:rPr lang="en-US" sz="1300" dirty="0">
                <a:solidFill>
                  <a:srgbClr val="1C2B3A"/>
                </a:solidFill>
                <a:latin typeface="Calibri" pitchFamily="34" charset="0"/>
                <a:ea typeface="Calibri" pitchFamily="34" charset="-122"/>
                <a:cs typeface="Calibri" pitchFamily="34" charset="-120"/>
              </a:rPr>
              <a:t>Two hosts and one line is the design centre — the mesh file, grids and layered scale-up exist, but someone with two boxes never sees them.</a:t>
            </a:r>
            <a:endParaRPr lang="en-US" sz="1300" dirty="0"/>
          </a:p>
        </p:txBody>
      </p:sp>
      <p:sp>
        <p:nvSpPr>
          <p:cNvPr id="6" name="Shape 4"/>
          <p:cNvSpPr/>
          <p:nvPr/>
        </p:nvSpPr>
        <p:spPr>
          <a:xfrm>
            <a:off x="7452360" y="1572768"/>
            <a:ext cx="4169664" cy="4206240"/>
          </a:xfrm>
          <a:prstGeom prst="roundRect">
            <a:avLst>
              <a:gd name="adj" fmla="val 1974"/>
            </a:avLst>
          </a:prstGeom>
          <a:solidFill>
            <a:srgbClr val="EAF5F3"/>
          </a:solidFill>
          <a:ln/>
        </p:spPr>
      </p:sp>
      <p:sp>
        <p:nvSpPr>
          <p:cNvPr id="7" name="Text 5"/>
          <p:cNvSpPr/>
          <p:nvPr/>
        </p:nvSpPr>
        <p:spPr>
          <a:xfrm>
            <a:off x="7708392" y="1773936"/>
            <a:ext cx="3657600" cy="301752"/>
          </a:xfrm>
          <a:prstGeom prst="rect">
            <a:avLst/>
          </a:prstGeom>
          <a:noFill/>
          <a:ln/>
        </p:spPr>
        <p:txBody>
          <a:bodyPr wrap="square" lIns="0" tIns="0" rIns="0" bIns="0" rtlCol="0" anchor="ctr"/>
          <a:lstStyle/>
          <a:p>
            <a:pPr indent="0" marL="0">
              <a:buNone/>
            </a:pPr>
            <a:r>
              <a:rPr lang="en-US" sz="1400" b="1" dirty="0">
                <a:solidFill>
                  <a:srgbClr val="0E6E63"/>
                </a:solidFill>
                <a:latin typeface="Calibri" pitchFamily="34" charset="0"/>
                <a:ea typeface="Calibri" pitchFamily="34" charset="-122"/>
                <a:cs typeface="Calibri" pitchFamily="34" charset="-120"/>
              </a:rPr>
              <a:t>Where it sits</a:t>
            </a:r>
            <a:endParaRPr lang="en-US" sz="1400" dirty="0"/>
          </a:p>
        </p:txBody>
      </p:sp>
      <p:sp>
        <p:nvSpPr>
          <p:cNvPr id="8" name="Shape 6"/>
          <p:cNvSpPr/>
          <p:nvPr/>
        </p:nvSpPr>
        <p:spPr>
          <a:xfrm>
            <a:off x="7708392" y="2212848"/>
            <a:ext cx="3657600" cy="731520"/>
          </a:xfrm>
          <a:prstGeom prst="roundRect">
            <a:avLst>
              <a:gd name="adj" fmla="val 8750"/>
            </a:avLst>
          </a:prstGeom>
          <a:solidFill>
            <a:srgbClr val="FFFFFF"/>
          </a:solidFill>
          <a:ln w="12700">
            <a:solidFill>
              <a:srgbClr val="DCE4EC"/>
            </a:solidFill>
            <a:prstDash val="solid"/>
          </a:ln>
        </p:spPr>
      </p:sp>
      <p:sp>
        <p:nvSpPr>
          <p:cNvPr id="9" name="Text 7"/>
          <p:cNvSpPr/>
          <p:nvPr/>
        </p:nvSpPr>
        <p:spPr>
          <a:xfrm>
            <a:off x="7909560" y="2304288"/>
            <a:ext cx="3255264" cy="274320"/>
          </a:xfrm>
          <a:prstGeom prst="rect">
            <a:avLst/>
          </a:prstGeom>
          <a:noFill/>
          <a:ln/>
        </p:spPr>
        <p:txBody>
          <a:bodyPr wrap="square" lIns="0" tIns="0" rIns="0" bIns="0" rtlCol="0" anchor="ctr"/>
          <a:lstStyle/>
          <a:p>
            <a:pPr indent="0" marL="0">
              <a:buNone/>
            </a:pPr>
            <a:r>
              <a:rPr lang="en-US" sz="1150" b="1" dirty="0">
                <a:solidFill>
                  <a:srgbClr val="12897B"/>
                </a:solidFill>
                <a:latin typeface="Courier New" pitchFamily="34" charset="0"/>
                <a:ea typeface="Courier New" pitchFamily="34" charset="-122"/>
                <a:cs typeface="Courier New" pitchFamily="34" charset="-120"/>
              </a:rPr>
              <a:t>netmesh</a:t>
            </a:r>
            <a:endParaRPr lang="en-US" sz="1150" dirty="0"/>
          </a:p>
        </p:txBody>
      </p:sp>
      <p:sp>
        <p:nvSpPr>
          <p:cNvPr id="10" name="Text 8"/>
          <p:cNvSpPr/>
          <p:nvPr/>
        </p:nvSpPr>
        <p:spPr>
          <a:xfrm>
            <a:off x="7909560" y="2578608"/>
            <a:ext cx="3255264"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idle · latency &amp; loss</a:t>
            </a:r>
            <a:endParaRPr lang="en-US" sz="1050" dirty="0"/>
          </a:p>
        </p:txBody>
      </p:sp>
      <p:sp>
        <p:nvSpPr>
          <p:cNvPr id="11" name="Shape 9"/>
          <p:cNvSpPr/>
          <p:nvPr/>
        </p:nvSpPr>
        <p:spPr>
          <a:xfrm>
            <a:off x="7708392" y="3081528"/>
            <a:ext cx="3657600" cy="731520"/>
          </a:xfrm>
          <a:prstGeom prst="roundRect">
            <a:avLst>
              <a:gd name="adj" fmla="val 8750"/>
            </a:avLst>
          </a:prstGeom>
          <a:solidFill>
            <a:srgbClr val="FFFFFF"/>
          </a:solidFill>
          <a:ln w="12700">
            <a:solidFill>
              <a:srgbClr val="DCE4EC"/>
            </a:solidFill>
            <a:prstDash val="solid"/>
          </a:ln>
        </p:spPr>
      </p:sp>
      <p:sp>
        <p:nvSpPr>
          <p:cNvPr id="12" name="Text 10"/>
          <p:cNvSpPr/>
          <p:nvPr/>
        </p:nvSpPr>
        <p:spPr>
          <a:xfrm>
            <a:off x="7909560" y="3172968"/>
            <a:ext cx="3255264" cy="274320"/>
          </a:xfrm>
          <a:prstGeom prst="rect">
            <a:avLst/>
          </a:prstGeom>
          <a:noFill/>
          <a:ln/>
        </p:spPr>
        <p:txBody>
          <a:bodyPr wrap="square" lIns="0" tIns="0" rIns="0" bIns="0" rtlCol="0" anchor="ctr"/>
          <a:lstStyle/>
          <a:p>
            <a:pPr indent="0" marL="0">
              <a:buNone/>
            </a:pPr>
            <a:r>
              <a:rPr lang="en-US" sz="1150" b="1" dirty="0">
                <a:solidFill>
                  <a:srgbClr val="D97C1F"/>
                </a:solidFill>
                <a:latin typeface="Courier New" pitchFamily="34" charset="0"/>
                <a:ea typeface="Courier New" pitchFamily="34" charset="-122"/>
                <a:cs typeface="Courier New" pitchFamily="34" charset="-120"/>
              </a:rPr>
              <a:t>iperf_orchestrator</a:t>
            </a:r>
            <a:endParaRPr lang="en-US" sz="1150" dirty="0"/>
          </a:p>
        </p:txBody>
      </p:sp>
      <p:sp>
        <p:nvSpPr>
          <p:cNvPr id="13" name="Text 11"/>
          <p:cNvSpPr/>
          <p:nvPr/>
        </p:nvSpPr>
        <p:spPr>
          <a:xfrm>
            <a:off x="7909560" y="3447288"/>
            <a:ext cx="3255264"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loaded · TCP bandwidth</a:t>
            </a:r>
            <a:endParaRPr lang="en-US" sz="1050" dirty="0"/>
          </a:p>
        </p:txBody>
      </p:sp>
      <p:sp>
        <p:nvSpPr>
          <p:cNvPr id="14" name="Shape 12"/>
          <p:cNvSpPr/>
          <p:nvPr/>
        </p:nvSpPr>
        <p:spPr>
          <a:xfrm>
            <a:off x="7708392" y="3950208"/>
            <a:ext cx="3657600" cy="731520"/>
          </a:xfrm>
          <a:prstGeom prst="roundRect">
            <a:avLst>
              <a:gd name="adj" fmla="val 8750"/>
            </a:avLst>
          </a:prstGeom>
          <a:solidFill>
            <a:srgbClr val="FFFFFF"/>
          </a:solidFill>
          <a:ln w="12700">
            <a:solidFill>
              <a:srgbClr val="DCE4EC"/>
            </a:solidFill>
            <a:prstDash val="solid"/>
          </a:ln>
        </p:spPr>
      </p:sp>
      <p:sp>
        <p:nvSpPr>
          <p:cNvPr id="15" name="Text 13"/>
          <p:cNvSpPr/>
          <p:nvPr/>
        </p:nvSpPr>
        <p:spPr>
          <a:xfrm>
            <a:off x="7909560" y="4041648"/>
            <a:ext cx="3255264" cy="274320"/>
          </a:xfrm>
          <a:prstGeom prst="rect">
            <a:avLst/>
          </a:prstGeom>
          <a:noFill/>
          <a:ln/>
        </p:spPr>
        <p:txBody>
          <a:bodyPr wrap="square" lIns="0" tIns="0" rIns="0" bIns="0" rtlCol="0" anchor="ctr"/>
          <a:lstStyle/>
          <a:p>
            <a:pPr indent="0" marL="0">
              <a:buNone/>
            </a:pPr>
            <a:r>
              <a:rPr lang="en-US" sz="1150" b="1" dirty="0">
                <a:solidFill>
                  <a:srgbClr val="BE3B4E"/>
                </a:solidFill>
                <a:latin typeface="Courier New" pitchFamily="34" charset="0"/>
                <a:ea typeface="Courier New" pitchFamily="34" charset="-122"/>
                <a:cs typeface="Courier New" pitchFamily="34" charset="-120"/>
              </a:rPr>
              <a:t>matrix_orchestrator</a:t>
            </a:r>
            <a:endParaRPr lang="en-US" sz="1150" dirty="0"/>
          </a:p>
        </p:txBody>
      </p:sp>
      <p:sp>
        <p:nvSpPr>
          <p:cNvPr id="16" name="Text 14"/>
          <p:cNvSpPr/>
          <p:nvPr/>
        </p:nvSpPr>
        <p:spPr>
          <a:xfrm>
            <a:off x="7909560" y="4315968"/>
            <a:ext cx="3255264" cy="274320"/>
          </a:xfrm>
          <a:prstGeom prst="rect">
            <a:avLst/>
          </a:prstGeom>
          <a:noFill/>
          <a:ln/>
        </p:spPr>
        <p:txBody>
          <a:bodyPr wrap="square" lIns="0" tIns="0" rIns="0" bIns="0" rtlCol="0" anchor="ctr"/>
          <a:lstStyle/>
          <a:p>
            <a:pPr indent="0" marL="0">
              <a:buNone/>
            </a:pPr>
            <a:r>
              <a:rPr lang="en-US" sz="1050" dirty="0">
                <a:solidFill>
                  <a:srgbClr val="5C6B7A"/>
                </a:solidFill>
                <a:latin typeface="Calibri" pitchFamily="34" charset="0"/>
                <a:ea typeface="Calibri" pitchFamily="34" charset="-122"/>
                <a:cs typeface="Calibri" pitchFamily="34" charset="-120"/>
              </a:rPr>
              <a:t>loaded · packets/sec</a:t>
            </a:r>
            <a:endParaRPr lang="en-US" sz="1050" dirty="0"/>
          </a:p>
        </p:txBody>
      </p:sp>
      <p:sp>
        <p:nvSpPr>
          <p:cNvPr id="17" name="Text 15"/>
          <p:cNvSpPr/>
          <p:nvPr/>
        </p:nvSpPr>
        <p:spPr>
          <a:xfrm>
            <a:off x="7708392" y="4892040"/>
            <a:ext cx="3657600" cy="777240"/>
          </a:xfrm>
          <a:prstGeom prst="rect">
            <a:avLst/>
          </a:prstGeom>
          <a:noFill/>
          <a:ln/>
        </p:spPr>
        <p:txBody>
          <a:bodyPr wrap="square" lIns="0" tIns="0" rIns="0" bIns="0" rtlCol="0" anchor="ctr"/>
          <a:lstStyle/>
          <a:p>
            <a:pPr indent="0" marL="0">
              <a:buNone/>
            </a:pPr>
            <a:r>
              <a:rPr lang="en-US" sz="1100" i="1" dirty="0">
                <a:solidFill>
                  <a:srgbClr val="0E6E63"/>
                </a:solidFill>
                <a:latin typeface="Calibri" pitchFamily="34" charset="0"/>
                <a:ea typeface="Calibri" pitchFamily="34" charset="-122"/>
                <a:cs typeface="Calibri" pitchFamily="34" charset="-120"/>
              </a:rPr>
              <a:t>…and with --baseline it keeps probing while they load, measuring what the load does to latency.</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12897B"/>
                </a:solidFill>
                <a:latin typeface="Calibri" pitchFamily="34" charset="0"/>
                <a:ea typeface="Calibri" pitchFamily="34" charset="-122"/>
                <a:cs typeface="Calibri" pitchFamily="34" charset="-120"/>
              </a:rPr>
              <a:t>NETMESH</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UDP echoes between temporary agents — not ping</a:t>
            </a:r>
            <a:endParaRPr lang="en-US" sz="2900" dirty="0"/>
          </a:p>
        </p:txBody>
      </p:sp>
      <p:sp>
        <p:nvSpPr>
          <p:cNvPr id="4" name="Shape 2"/>
          <p:cNvSpPr/>
          <p:nvPr/>
        </p:nvSpPr>
        <p:spPr>
          <a:xfrm>
            <a:off x="566928" y="1664208"/>
            <a:ext cx="402336" cy="402336"/>
          </a:xfrm>
          <a:prstGeom prst="ellipse">
            <a:avLst/>
          </a:prstGeom>
          <a:solidFill>
            <a:srgbClr val="12897B"/>
          </a:solidFill>
          <a:ln/>
        </p:spPr>
      </p:sp>
      <p:pic>
        <p:nvPicPr>
          <p:cNvPr id="5" name="Image 0" descr="/home/user/presentations/network-testing/.icons/shield.png">    </p:cNvPr>
          <p:cNvPicPr>
            <a:picLocks noChangeAspect="1"/>
          </p:cNvPicPr>
          <p:nvPr/>
        </p:nvPicPr>
        <p:blipFill>
          <a:blip r:embed="rId1"/>
          <a:stretch>
            <a:fillRect/>
          </a:stretch>
        </p:blipFill>
        <p:spPr>
          <a:xfrm>
            <a:off x="671535" y="1768815"/>
            <a:ext cx="193121" cy="193121"/>
          </a:xfrm>
          <a:prstGeom prst="rect">
            <a:avLst/>
          </a:prstGeom>
        </p:spPr>
      </p:pic>
      <p:sp>
        <p:nvSpPr>
          <p:cNvPr id="6" name="Text 3"/>
          <p:cNvSpPr/>
          <p:nvPr/>
        </p:nvSpPr>
        <p:spPr>
          <a:xfrm>
            <a:off x="1133856" y="1591056"/>
            <a:ext cx="6016752"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No root, anywhere</a:t>
            </a:r>
            <a:endParaRPr lang="en-US" sz="1450" dirty="0"/>
          </a:p>
        </p:txBody>
      </p:sp>
      <p:sp>
        <p:nvSpPr>
          <p:cNvPr id="7" name="Text 4"/>
          <p:cNvSpPr/>
          <p:nvPr/>
        </p:nvSpPr>
        <p:spPr>
          <a:xfrm>
            <a:off x="1133856" y="1865376"/>
            <a:ext cx="6016752" cy="859536"/>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Ordinary unprivileged UDP sockets both ends. Raw ICMP needs root or capabilities — which would break “drops onto any host”.</a:t>
            </a:r>
            <a:endParaRPr lang="en-US" sz="1200" dirty="0"/>
          </a:p>
        </p:txBody>
      </p:sp>
      <p:sp>
        <p:nvSpPr>
          <p:cNvPr id="8" name="Shape 5"/>
          <p:cNvSpPr/>
          <p:nvPr/>
        </p:nvSpPr>
        <p:spPr>
          <a:xfrm>
            <a:off x="566928" y="2779776"/>
            <a:ext cx="402336" cy="402336"/>
          </a:xfrm>
          <a:prstGeom prst="ellipse">
            <a:avLst/>
          </a:prstGeom>
          <a:solidFill>
            <a:srgbClr val="12897B"/>
          </a:solidFill>
          <a:ln/>
        </p:spPr>
      </p:sp>
      <p:pic>
        <p:nvPicPr>
          <p:cNvPr id="9" name="Image 1" descr="/home/user/presentations/network-testing/.icons/clock.png">    </p:cNvPr>
          <p:cNvPicPr>
            <a:picLocks noChangeAspect="1"/>
          </p:cNvPicPr>
          <p:nvPr/>
        </p:nvPicPr>
        <p:blipFill>
          <a:blip r:embed="rId2"/>
          <a:stretch>
            <a:fillRect/>
          </a:stretch>
        </p:blipFill>
        <p:spPr>
          <a:xfrm>
            <a:off x="671535" y="2884383"/>
            <a:ext cx="193121" cy="193121"/>
          </a:xfrm>
          <a:prstGeom prst="rect">
            <a:avLst/>
          </a:prstGeom>
        </p:spPr>
      </p:pic>
      <p:sp>
        <p:nvSpPr>
          <p:cNvPr id="10" name="Text 6"/>
          <p:cNvSpPr/>
          <p:nvPr/>
        </p:nvSpPr>
        <p:spPr>
          <a:xfrm>
            <a:off x="1133856" y="2706624"/>
            <a:ext cx="6016752"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Exact RTT, one clock</a:t>
            </a:r>
            <a:endParaRPr lang="en-US" sz="1450" dirty="0"/>
          </a:p>
        </p:txBody>
      </p:sp>
      <p:sp>
        <p:nvSpPr>
          <p:cNvPr id="11" name="Text 7"/>
          <p:cNvSpPr/>
          <p:nvPr/>
        </p:nvSpPr>
        <p:spPr>
          <a:xfrm>
            <a:off x="1133856" y="2980944"/>
            <a:ext cx="6016752" cy="859536"/>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The sender writes its own monotonic timestamp into the packet; the responder echoes it untouched. No NTP assumptions, ever.</a:t>
            </a:r>
            <a:endParaRPr lang="en-US" sz="1200" dirty="0"/>
          </a:p>
        </p:txBody>
      </p:sp>
      <p:sp>
        <p:nvSpPr>
          <p:cNvPr id="12" name="Shape 8"/>
          <p:cNvSpPr/>
          <p:nvPr/>
        </p:nvSpPr>
        <p:spPr>
          <a:xfrm>
            <a:off x="566928" y="3895344"/>
            <a:ext cx="402336" cy="402336"/>
          </a:xfrm>
          <a:prstGeom prst="ellipse">
            <a:avLst/>
          </a:prstGeom>
          <a:solidFill>
            <a:srgbClr val="12897B"/>
          </a:solidFill>
          <a:ln/>
        </p:spPr>
      </p:sp>
      <p:pic>
        <p:nvPicPr>
          <p:cNvPr id="13" name="Image 2" descr="/home/user/presentations/network-testing/.icons/shuffle.png">    </p:cNvPr>
          <p:cNvPicPr>
            <a:picLocks noChangeAspect="1"/>
          </p:cNvPicPr>
          <p:nvPr/>
        </p:nvPicPr>
        <p:blipFill>
          <a:blip r:embed="rId3"/>
          <a:stretch>
            <a:fillRect/>
          </a:stretch>
        </p:blipFill>
        <p:spPr>
          <a:xfrm>
            <a:off x="671535" y="3999951"/>
            <a:ext cx="193121" cy="193121"/>
          </a:xfrm>
          <a:prstGeom prst="rect">
            <a:avLst/>
          </a:prstGeom>
        </p:spPr>
      </p:pic>
      <p:sp>
        <p:nvSpPr>
          <p:cNvPr id="14" name="Text 9"/>
          <p:cNvSpPr/>
          <p:nvPr/>
        </p:nvSpPr>
        <p:spPr>
          <a:xfrm>
            <a:off x="1133856" y="3822192"/>
            <a:ext cx="6016752"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Loss split into legs</a:t>
            </a:r>
            <a:endParaRPr lang="en-US" sz="1450" dirty="0"/>
          </a:p>
        </p:txBody>
      </p:sp>
      <p:sp>
        <p:nvSpPr>
          <p:cNvPr id="15" name="Text 10"/>
          <p:cNvSpPr/>
          <p:nvPr/>
        </p:nvSpPr>
        <p:spPr>
          <a:xfrm>
            <a:off x="1133856" y="4096512"/>
            <a:ext cx="6016752" cy="859536"/>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The responder independently counts what arrived — a sick sender and a sick receiver are different findings. ping cannot do this.</a:t>
            </a:r>
            <a:endParaRPr lang="en-US" sz="1200" dirty="0"/>
          </a:p>
        </p:txBody>
      </p:sp>
      <p:sp>
        <p:nvSpPr>
          <p:cNvPr id="16" name="Shape 11"/>
          <p:cNvSpPr/>
          <p:nvPr/>
        </p:nvSpPr>
        <p:spPr>
          <a:xfrm>
            <a:off x="566928" y="5010912"/>
            <a:ext cx="402336" cy="402336"/>
          </a:xfrm>
          <a:prstGeom prst="ellipse">
            <a:avLst/>
          </a:prstGeom>
          <a:solidFill>
            <a:srgbClr val="12897B"/>
          </a:solidFill>
          <a:ln/>
        </p:spPr>
      </p:sp>
      <p:pic>
        <p:nvPicPr>
          <p:cNvPr id="17" name="Image 3" descr="/home/user/presentations/network-testing/.icons/activity.png">    </p:cNvPr>
          <p:cNvPicPr>
            <a:picLocks noChangeAspect="1"/>
          </p:cNvPicPr>
          <p:nvPr/>
        </p:nvPicPr>
        <p:blipFill>
          <a:blip r:embed="rId4"/>
          <a:stretch>
            <a:fillRect/>
          </a:stretch>
        </p:blipFill>
        <p:spPr>
          <a:xfrm>
            <a:off x="671535" y="5115519"/>
            <a:ext cx="193121" cy="193121"/>
          </a:xfrm>
          <a:prstGeom prst="rect">
            <a:avLst/>
          </a:prstGeom>
        </p:spPr>
      </p:pic>
      <p:sp>
        <p:nvSpPr>
          <p:cNvPr id="18" name="Text 12"/>
          <p:cNvSpPr/>
          <p:nvPr/>
        </p:nvSpPr>
        <p:spPr>
          <a:xfrm>
            <a:off x="1133856" y="4937760"/>
            <a:ext cx="6016752" cy="292608"/>
          </a:xfrm>
          <a:prstGeom prst="rect">
            <a:avLst/>
          </a:prstGeom>
          <a:noFill/>
          <a:ln/>
        </p:spPr>
        <p:txBody>
          <a:bodyPr wrap="square" lIns="0" tIns="0" rIns="0" bIns="0" rtlCol="0" anchor="ctr"/>
          <a:lstStyle/>
          <a:p>
            <a:pPr indent="0" marL="0">
              <a:buNone/>
            </a:pPr>
            <a:r>
              <a:rPr lang="en-US" sz="1450" b="1" dirty="0">
                <a:solidFill>
                  <a:srgbClr val="1C2B3A"/>
                </a:solidFill>
                <a:latin typeface="Calibri" pitchFamily="34" charset="0"/>
                <a:ea typeface="Calibri" pitchFamily="34" charset="-122"/>
                <a:cs typeface="Calibri" pitchFamily="34" charset="-120"/>
              </a:rPr>
              <a:t>It measures the data plane</a:t>
            </a:r>
            <a:endParaRPr lang="en-US" sz="1450" dirty="0"/>
          </a:p>
        </p:txBody>
      </p:sp>
      <p:sp>
        <p:nvSpPr>
          <p:cNvPr id="19" name="Text 13"/>
          <p:cNvSpPr/>
          <p:nvPr/>
        </p:nvSpPr>
        <p:spPr>
          <a:xfrm>
            <a:off x="1133856" y="5212080"/>
            <a:ext cx="6016752" cy="859536"/>
          </a:xfrm>
          <a:prstGeom prst="rect">
            <a:avLst/>
          </a:prstGeom>
          <a:noFill/>
          <a:ln/>
        </p:spPr>
        <p:txBody>
          <a:bodyPr wrap="square" lIns="0" tIns="0" rIns="0" bIns="0" rtlCol="0" anchor="ctr"/>
          <a:lstStyle/>
          <a:p>
            <a:pPr indent="0" marL="0">
              <a:buNone/>
            </a:pPr>
            <a:r>
              <a:rPr lang="en-US" sz="1200" dirty="0">
                <a:solidFill>
                  <a:srgbClr val="5C6B7A"/>
                </a:solidFill>
                <a:latin typeface="Calibri" pitchFamily="34" charset="0"/>
                <a:ea typeface="Calibri" pitchFamily="34" charset="-122"/>
                <a:cs typeface="Calibri" pitchFamily="34" charset="-120"/>
              </a:rPr>
              <a:t>ICMP is answered by router control planes — rate-limited, deprioritised — so it systematically lies about what application traffic sees.</a:t>
            </a:r>
            <a:endParaRPr lang="en-US" sz="1200" dirty="0"/>
          </a:p>
        </p:txBody>
      </p:sp>
      <p:sp>
        <p:nvSpPr>
          <p:cNvPr id="20" name="Shape 14"/>
          <p:cNvSpPr/>
          <p:nvPr/>
        </p:nvSpPr>
        <p:spPr>
          <a:xfrm>
            <a:off x="7498080" y="1645920"/>
            <a:ext cx="4123944" cy="2286000"/>
          </a:xfrm>
          <a:prstGeom prst="roundRect">
            <a:avLst>
              <a:gd name="adj" fmla="val 3600"/>
            </a:avLst>
          </a:prstGeom>
          <a:solidFill>
            <a:srgbClr val="F1F4F8"/>
          </a:solidFill>
          <a:ln/>
        </p:spPr>
      </p:sp>
      <p:sp>
        <p:nvSpPr>
          <p:cNvPr id="21" name="Text 15"/>
          <p:cNvSpPr/>
          <p:nvPr/>
        </p:nvSpPr>
        <p:spPr>
          <a:xfrm>
            <a:off x="7735824" y="1828800"/>
            <a:ext cx="3648456" cy="502920"/>
          </a:xfrm>
          <a:prstGeom prst="rect">
            <a:avLst/>
          </a:prstGeom>
          <a:noFill/>
          <a:ln/>
        </p:spPr>
        <p:txBody>
          <a:bodyPr wrap="square" lIns="0" tIns="0" rIns="0" bIns="0" rtlCol="0" anchor="ctr"/>
          <a:lstStyle/>
          <a:p>
            <a:pPr indent="0" marL="0">
              <a:buNone/>
            </a:pPr>
            <a:r>
              <a:rPr lang="en-US" sz="1350" b="1" dirty="0">
                <a:solidFill>
                  <a:srgbClr val="1C2B3A"/>
                </a:solidFill>
                <a:latin typeface="Calibri" pitchFamily="34" charset="0"/>
                <a:ea typeface="Calibri" pitchFamily="34" charset="-122"/>
                <a:cs typeface="Calibri" pitchFamily="34" charset="-120"/>
              </a:rPr>
              <a:t>One-way delay: deliberately absent</a:t>
            </a:r>
            <a:endParaRPr lang="en-US" sz="1350" dirty="0"/>
          </a:p>
        </p:txBody>
      </p:sp>
      <p:sp>
        <p:nvSpPr>
          <p:cNvPr id="22" name="Text 16"/>
          <p:cNvSpPr/>
          <p:nvPr/>
        </p:nvSpPr>
        <p:spPr>
          <a:xfrm>
            <a:off x="7735824" y="2286000"/>
            <a:ext cx="3648456" cy="155448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Without PTP, clock offset would swamp the microseconds that matter. Instead: two separate round trips (A→B timed by A, B→A timed by B), compared. Every number quoted is one that is actually true.</a:t>
            </a:r>
            <a:endParaRPr lang="en-US" sz="1150" dirty="0"/>
          </a:p>
        </p:txBody>
      </p:sp>
      <p:sp>
        <p:nvSpPr>
          <p:cNvPr id="23" name="Shape 17"/>
          <p:cNvSpPr/>
          <p:nvPr/>
        </p:nvSpPr>
        <p:spPr>
          <a:xfrm>
            <a:off x="7498080" y="4114800"/>
            <a:ext cx="4123944" cy="1965960"/>
          </a:xfrm>
          <a:prstGeom prst="roundRect">
            <a:avLst>
              <a:gd name="adj" fmla="val 4186"/>
            </a:avLst>
          </a:prstGeom>
          <a:solidFill>
            <a:srgbClr val="EAF5F3"/>
          </a:solidFill>
          <a:ln/>
        </p:spPr>
      </p:sp>
      <p:sp>
        <p:nvSpPr>
          <p:cNvPr id="24" name="Text 18"/>
          <p:cNvSpPr/>
          <p:nvPr/>
        </p:nvSpPr>
        <p:spPr>
          <a:xfrm>
            <a:off x="7735824" y="4279392"/>
            <a:ext cx="3648456" cy="292608"/>
          </a:xfrm>
          <a:prstGeom prst="rect">
            <a:avLst/>
          </a:prstGeom>
          <a:noFill/>
          <a:ln/>
        </p:spPr>
        <p:txBody>
          <a:bodyPr wrap="square" lIns="0" tIns="0" rIns="0" bIns="0" rtlCol="0" anchor="ctr"/>
          <a:lstStyle/>
          <a:p>
            <a:pPr indent="0" marL="0">
              <a:buNone/>
            </a:pPr>
            <a:r>
              <a:rPr lang="en-US" sz="1350" b="1" dirty="0">
                <a:solidFill>
                  <a:srgbClr val="0E6E63"/>
                </a:solidFill>
                <a:latin typeface="Calibri" pitchFamily="34" charset="0"/>
                <a:ea typeface="Calibri" pitchFamily="34" charset="-122"/>
                <a:cs typeface="Calibri" pitchFamily="34" charset="-120"/>
              </a:rPr>
              <a:t>Can’t deploy an agent?</a:t>
            </a:r>
            <a:endParaRPr lang="en-US" sz="1350" dirty="0"/>
          </a:p>
        </p:txBody>
      </p:sp>
      <p:sp>
        <p:nvSpPr>
          <p:cNvPr id="25" name="Text 19"/>
          <p:cNvSpPr/>
          <p:nvPr/>
        </p:nvSpPr>
        <p:spPr>
          <a:xfrm>
            <a:off x="7735824" y="4617720"/>
            <a:ext cx="3648456" cy="1371600"/>
          </a:xfrm>
          <a:prstGeom prst="rect">
            <a:avLst/>
          </a:prstGeom>
          <a:noFill/>
          <a:ln/>
        </p:spPr>
        <p:txBody>
          <a:bodyPr wrap="square" lIns="0" tIns="0" rIns="0" bIns="0" rtlCol="0" anchor="ctr"/>
          <a:lstStyle/>
          <a:p>
            <a:pPr indent="0" marL="0">
              <a:buNone/>
            </a:pPr>
            <a:r>
              <a:rPr lang="en-US" sz="1150" dirty="0">
                <a:solidFill>
                  <a:srgbClr val="5C6B7A"/>
                </a:solidFill>
                <a:latin typeface="Calibri" pitchFamily="34" charset="0"/>
                <a:ea typeface="Calibri" pitchFamily="34" charset="-122"/>
                <a:cs typeface="Calibri" pitchFamily="34" charset="-120"/>
              </a:rPr>
              <a:t>Prefix a token with ~ (a VIP, a router, an appliance) and it’s probed with ping instead — but segregated in the report as ONE-SIDED, because those rows carry materially less truth.</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12897B"/>
                </a:solidFill>
                <a:latin typeface="Calibri" pitchFamily="34" charset="0"/>
                <a:ea typeface="Calibri" pitchFamily="34" charset="-122"/>
                <a:cs typeface="Calibri" pitchFamily="34" charset="-120"/>
              </a:rPr>
              <a:t>NETMESH</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Running it</a:t>
            </a:r>
            <a:endParaRPr lang="en-US" sz="2900" dirty="0"/>
          </a:p>
        </p:txBody>
      </p:sp>
      <p:sp>
        <p:nvSpPr>
          <p:cNvPr id="4" name="Shape 2"/>
          <p:cNvSpPr/>
          <p:nvPr/>
        </p:nvSpPr>
        <p:spPr>
          <a:xfrm>
            <a:off x="566928" y="1554480"/>
            <a:ext cx="6720840" cy="2880360"/>
          </a:xfrm>
          <a:prstGeom prst="roundRect">
            <a:avLst>
              <a:gd name="adj" fmla="val 2857"/>
            </a:avLst>
          </a:prstGeom>
          <a:solidFill>
            <a:srgbClr val="13233A"/>
          </a:solidFill>
          <a:ln/>
        </p:spPr>
      </p:sp>
      <p:sp>
        <p:nvSpPr>
          <p:cNvPr id="5" name="Text 3"/>
          <p:cNvSpPr/>
          <p:nvPr/>
        </p:nvSpPr>
        <p:spPr>
          <a:xfrm>
            <a:off x="768096" y="1682496"/>
            <a:ext cx="6318504" cy="2624328"/>
          </a:xfrm>
          <a:prstGeom prst="rect">
            <a:avLst/>
          </a:prstGeom>
          <a:noFill/>
          <a:ln/>
        </p:spPr>
        <p:txBody>
          <a:bodyPr wrap="square" lIns="0" tIns="0" rIns="0" bIns="0" rtlCol="0" anchor="t"/>
          <a:lstStyle/>
          <a:p>
            <a:pPr indent="0" marL="0">
              <a:lnSpc>
                <a:spcPct val="112000"/>
              </a:lnSpc>
              <a:buNone/>
            </a:pPr>
            <a:r>
              <a:rPr lang="en-US" sz="1150" b="1" dirty="0">
                <a:solidFill>
                  <a:srgbClr val="6FCF9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netmesh selftest</a:t>
            </a:r>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 prove it works here first</a:t>
            </a:r>
            <a:endParaRPr lang="en-US" sz="1150" dirty="0"/>
          </a:p>
          <a:p>
            <a:pPr indent="0" marL="0">
              <a:lnSpc>
                <a:spcPct val="112000"/>
              </a:lnSpc>
              <a:buNone/>
            </a:pPr>
            <a:r>
              <a:rPr lang="en-US" sz="1150" b="1" dirty="0">
                <a:solidFill>
                  <a:srgbClr val="6FCF97"/>
                </a:solidFill>
                <a:latin typeface="Courier New" pitchFamily="34" charset="0"/>
                <a:ea typeface="Courier New" pitchFamily="34" charset="-122"/>
                <a:cs typeface="Courier New" pitchFamily="34" charset="-120"/>
              </a:rPr>
              <a:t>$ </a:t>
            </a:r>
            <a:pPr indent="0" marL="0">
              <a:lnSpc>
                <a:spcPct val="112000"/>
              </a:lnSpc>
              <a:buNone/>
            </a:pPr>
            <a:r>
              <a:rPr lang="en-US" sz="1150" b="1" dirty="0">
                <a:solidFill>
                  <a:srgbClr val="FFFFFF"/>
                </a:solidFill>
                <a:latin typeface="Courier New" pitchFamily="34" charset="0"/>
                <a:ea typeface="Courier New" pitchFamily="34" charset="-122"/>
                <a:cs typeface="Courier New" pitchFamily="34" charset="-120"/>
              </a:rPr>
              <a:t>netmesh check web01 db01</a:t>
            </a:r>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 one-shot: gen, deploy, probe,</a:t>
            </a:r>
            <a:endParaRPr lang="en-US" sz="1150" dirty="0"/>
          </a:p>
          <a:p>
            <a:pPr indent="0" marL="0">
              <a:lnSpc>
                <a:spcPct val="112000"/>
              </a:lnSpc>
              <a:buNone/>
            </a:pPr>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 summarize, clean</a:t>
            </a:r>
            <a:endParaRPr lang="en-US" sz="1150" dirty="0"/>
          </a:p>
          <a:p>
            <a:pPr indent="0" marL="0">
              <a:lnSpc>
                <a:spcPct val="112000"/>
              </a:lnSpc>
              <a:buNone/>
            </a:pPr>
            <a:r>
              <a:rPr lang="en-US" sz="1150" b="1" dirty="0">
                <a:solidFill>
                  <a:srgbClr val="6FCF9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netmesh gen --servers prod.txt</a:t>
            </a:r>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 a mesh file for repeat runs</a:t>
            </a:r>
            <a:endParaRPr lang="en-US" sz="1150" dirty="0"/>
          </a:p>
          <a:p>
            <a:pPr indent="0" marL="0">
              <a:lnSpc>
                <a:spcPct val="112000"/>
              </a:lnSpc>
              <a:buNone/>
            </a:pPr>
            <a:r>
              <a:rPr lang="en-US" sz="1150" b="1" dirty="0">
                <a:solidFill>
                  <a:srgbClr val="6FCF9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netmesh run --for 300 --grid grids/</a:t>
            </a:r>
            <a:endParaRPr lang="en-US" sz="1150" dirty="0"/>
          </a:p>
          <a:p>
            <a:pPr indent="0" marL="0">
              <a:lnSpc>
                <a:spcPct val="112000"/>
              </a:lnSpc>
              <a:buNone/>
            </a:pPr>
            <a:r>
              <a:rPr lang="en-US" sz="1150" b="1" dirty="0">
                <a:solidFill>
                  <a:srgbClr val="6FCF9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netmesh check web03 db01 --flows 8</a:t>
            </a:r>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 sweep ECMP/LAG paths</a:t>
            </a:r>
            <a:endParaRPr lang="en-US" sz="1150" dirty="0"/>
          </a:p>
          <a:p>
            <a:pPr indent="0" marL="0">
              <a:lnSpc>
                <a:spcPct val="112000"/>
              </a:lnSpc>
              <a:buNone/>
            </a:pPr>
            <a:r>
              <a:rPr lang="en-US" sz="1150" b="1" dirty="0">
                <a:solidFill>
                  <a:srgbClr val="6FCF9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FFFF"/>
                </a:solidFill>
                <a:latin typeface="Courier New" pitchFamily="34" charset="0"/>
                <a:ea typeface="Courier New" pitchFamily="34" charset="-122"/>
                <a:cs typeface="Courier New" pitchFamily="34" charset="-120"/>
              </a:rPr>
              <a:t>netmesh run --baseline 20 -- ./iperf_orchestrator.sh all</a:t>
            </a:r>
            <a:endParaRPr lang="en-US" sz="1150" dirty="0"/>
          </a:p>
          <a:p>
            <a:pPr indent="0" marL="0">
              <a:lnSpc>
                <a:spcPct val="112000"/>
              </a:lnSpc>
              <a:buNone/>
            </a:pPr>
            <a:pPr indent="0" marL="0">
              <a:lnSpc>
                <a:spcPct val="112000"/>
              </a:lnSpc>
              <a:buNone/>
            </a:pPr>
            <a:r>
              <a:rPr lang="en-US" sz="1150" dirty="0">
                <a:solidFill>
                  <a:srgbClr val="7C8CA0"/>
                </a:solidFill>
                <a:latin typeface="Courier New" pitchFamily="34" charset="0"/>
                <a:ea typeface="Courier New" pitchFamily="34" charset="-122"/>
                <a:cs typeface="Courier New" pitchFamily="34" charset="-120"/>
              </a:rPr>
              <a:t>                             # idle first, then probe under load</a:t>
            </a:r>
            <a:endParaRPr lang="en-US" sz="1150" dirty="0"/>
          </a:p>
        </p:txBody>
      </p:sp>
      <p:sp>
        <p:nvSpPr>
          <p:cNvPr id="6" name="Text 4"/>
          <p:cNvSpPr/>
          <p:nvPr/>
        </p:nvSpPr>
        <p:spPr>
          <a:xfrm>
            <a:off x="566928" y="4663440"/>
            <a:ext cx="6720840" cy="1463040"/>
          </a:xfrm>
          <a:prstGeom prst="rect">
            <a:avLst/>
          </a:prstGeom>
          <a:noFill/>
          <a:ln/>
        </p:spPr>
        <p:txBody>
          <a:bodyPr wrap="square" lIns="0" tIns="0" rIns="0" bIns="0" rtlCol="0" anchor="t"/>
          <a:lstStyle/>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Same verb set as mx — gen / start / status / summarize / stop / clean, plus run, doctor, collect, logs — and the mesh file shares mx’s matrix grammar.</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check is the headline verb: everything from deploy to cleanup in one shot, mesh file written to a temp dir and deleted. --keep-mesh graduates it into a repeatable run.</a:t>
            </a:r>
            <a:endParaRPr lang="en-US" sz="1200" dirty="0"/>
          </a:p>
        </p:txBody>
      </p:sp>
      <p:sp>
        <p:nvSpPr>
          <p:cNvPr id="7" name="Shape 5"/>
          <p:cNvSpPr/>
          <p:nvPr/>
        </p:nvSpPr>
        <p:spPr>
          <a:xfrm>
            <a:off x="7589520" y="1554480"/>
            <a:ext cx="4032504" cy="4526280"/>
          </a:xfrm>
          <a:prstGeom prst="roundRect">
            <a:avLst>
              <a:gd name="adj" fmla="val 2041"/>
            </a:avLst>
          </a:prstGeom>
          <a:solidFill>
            <a:srgbClr val="EAF5F3"/>
          </a:solidFill>
          <a:ln/>
        </p:spPr>
      </p:sp>
      <p:sp>
        <p:nvSpPr>
          <p:cNvPr id="8" name="Text 6"/>
          <p:cNvSpPr/>
          <p:nvPr/>
        </p:nvSpPr>
        <p:spPr>
          <a:xfrm>
            <a:off x="7827264" y="1737360"/>
            <a:ext cx="3557016" cy="301752"/>
          </a:xfrm>
          <a:prstGeom prst="rect">
            <a:avLst/>
          </a:prstGeom>
          <a:noFill/>
          <a:ln/>
        </p:spPr>
        <p:txBody>
          <a:bodyPr wrap="square" lIns="0" tIns="0" rIns="0" bIns="0" rtlCol="0" anchor="ctr"/>
          <a:lstStyle/>
          <a:p>
            <a:pPr indent="0" marL="0">
              <a:buNone/>
            </a:pPr>
            <a:r>
              <a:rPr lang="en-US" sz="1350" b="1" dirty="0">
                <a:solidFill>
                  <a:srgbClr val="0E6E63"/>
                </a:solidFill>
                <a:latin typeface="Calibri" pitchFamily="34" charset="0"/>
                <a:ea typeface="Calibri" pitchFamily="34" charset="-122"/>
                <a:cs typeface="Calibri" pitchFamily="34" charset="-120"/>
              </a:rPr>
              <a:t>Why --flows matters</a:t>
            </a:r>
            <a:endParaRPr lang="en-US" sz="1350" dirty="0"/>
          </a:p>
        </p:txBody>
      </p:sp>
      <p:sp>
        <p:nvSpPr>
          <p:cNvPr id="9" name="Text 7"/>
          <p:cNvSpPr/>
          <p:nvPr/>
        </p:nvSpPr>
        <p:spPr>
          <a:xfrm>
            <a:off x="7827264" y="2139696"/>
            <a:ext cx="3557016" cy="3840480"/>
          </a:xfrm>
          <a:prstGeom prst="rect">
            <a:avLst/>
          </a:prstGeom>
          <a:noFill/>
          <a:ln/>
        </p:spPr>
        <p:txBody>
          <a:bodyPr wrap="square" lIns="0" tIns="0" rIns="0" bIns="0" rtlCol="0" anchor="ctr"/>
          <a:lstStyle/>
          <a:p>
            <a:pPr indent="0" marL="0">
              <a:buNone/>
            </a:pPr>
            <a:r>
              <a:rPr lang="en-US" sz="1150" dirty="0">
                <a:solidFill>
                  <a:srgbClr val="1C2B3A"/>
                </a:solidFill>
                <a:latin typeface="Calibri" pitchFamily="34" charset="0"/>
                <a:ea typeface="Calibri" pitchFamily="34" charset="-122"/>
                <a:cs typeface="Calibri" pitchFamily="34" charset="-120"/>
              </a:rPr>
              <a:t>One source port = one 5-tuple = one path through a LAG or ECMP bundle. A sick member gets hit — or missed — by luck: the fault that never reproduces. --flows N sweeps the source port across N buckets (splitting the rate, not multiplying it) and compares them: “port 40008 sees p50 4.1 ms where the median flow sees 142 µs — same pair, same instant, so what differs is the bundle member.”</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12897B"/>
                </a:solidFill>
                <a:latin typeface="Calibri" pitchFamily="34" charset="0"/>
                <a:ea typeface="Calibri" pitchFamily="34" charset="-122"/>
                <a:cs typeface="Calibri" pitchFamily="34" charset="-120"/>
              </a:rPr>
              <a:t>NETMESH</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Reading the report</a:t>
            </a:r>
            <a:endParaRPr lang="en-US" sz="2900" dirty="0"/>
          </a:p>
        </p:txBody>
      </p:sp>
      <p:sp>
        <p:nvSpPr>
          <p:cNvPr id="4" name="Shape 2"/>
          <p:cNvSpPr/>
          <p:nvPr/>
        </p:nvSpPr>
        <p:spPr>
          <a:xfrm>
            <a:off x="566928" y="1536192"/>
            <a:ext cx="11055096" cy="822960"/>
          </a:xfrm>
          <a:prstGeom prst="roundRect">
            <a:avLst>
              <a:gd name="adj" fmla="val 10000"/>
            </a:avLst>
          </a:prstGeom>
          <a:solidFill>
            <a:srgbClr val="F1F4F8"/>
          </a:solidFill>
          <a:ln/>
        </p:spPr>
      </p:sp>
      <p:sp>
        <p:nvSpPr>
          <p:cNvPr id="5" name="Text 3"/>
          <p:cNvSpPr/>
          <p:nvPr/>
        </p:nvSpPr>
        <p:spPr>
          <a:xfrm>
            <a:off x="795528" y="1627632"/>
            <a:ext cx="2606040" cy="640080"/>
          </a:xfrm>
          <a:prstGeom prst="rect">
            <a:avLst/>
          </a:prstGeom>
          <a:noFill/>
          <a:ln/>
        </p:spPr>
        <p:txBody>
          <a:bodyPr wrap="square" lIns="0" tIns="0" rIns="0" bIns="0" rtlCol="0" anchor="ctr"/>
          <a:lstStyle/>
          <a:p>
            <a:pPr indent="0" marL="0">
              <a:buNone/>
            </a:pPr>
            <a:r>
              <a:rPr lang="en-US" sz="1150" b="1" dirty="0">
                <a:solidFill>
                  <a:srgbClr val="0E6E63"/>
                </a:solidFill>
                <a:latin typeface="Courier New" pitchFamily="34" charset="0"/>
                <a:ea typeface="Courier New" pitchFamily="34" charset="-122"/>
                <a:cs typeface="Courier New" pitchFamily="34" charset="-120"/>
              </a:rPr>
              <a:t>BASELINE</a:t>
            </a:r>
            <a:endParaRPr lang="en-US" sz="1150" dirty="0"/>
          </a:p>
        </p:txBody>
      </p:sp>
      <p:sp>
        <p:nvSpPr>
          <p:cNvPr id="6" name="Text 4"/>
          <p:cNvSpPr/>
          <p:nvPr/>
        </p:nvSpPr>
        <p:spPr>
          <a:xfrm>
            <a:off x="3493008" y="1609344"/>
            <a:ext cx="7900416" cy="694944"/>
          </a:xfrm>
          <a:prstGeom prst="rect">
            <a:avLst/>
          </a:prstGeom>
          <a:noFill/>
          <a:ln/>
        </p:spPr>
        <p:txBody>
          <a:bodyPr wrap="square" lIns="0" tIns="0" rIns="0" bIns="0" rtlCol="0" anchor="ctr"/>
          <a:lstStyle/>
          <a:p>
            <a:pPr indent="0" marL="0">
              <a:buNone/>
            </a:pPr>
            <a:r>
              <a:rPr lang="en-US" sz="1100" dirty="0">
                <a:solidFill>
                  <a:srgbClr val="1C2B3A"/>
                </a:solidFill>
                <a:latin typeface="Calibri" pitchFamily="34" charset="0"/>
                <a:ea typeface="Calibri" pitchFamily="34" charset="-122"/>
                <a:cs typeface="Calibri" pitchFamily="34" charset="-120"/>
              </a:rPr>
              <a:t>Headline = median of pair p50s — one sick pair can’t move it or hide inside it. Worst pairs ranked by p99.</a:t>
            </a:r>
            <a:endParaRPr lang="en-US" sz="1100" dirty="0"/>
          </a:p>
        </p:txBody>
      </p:sp>
      <p:sp>
        <p:nvSpPr>
          <p:cNvPr id="7" name="Shape 5"/>
          <p:cNvSpPr/>
          <p:nvPr/>
        </p:nvSpPr>
        <p:spPr>
          <a:xfrm>
            <a:off x="566928" y="2450592"/>
            <a:ext cx="11055096" cy="822960"/>
          </a:xfrm>
          <a:prstGeom prst="roundRect">
            <a:avLst>
              <a:gd name="adj" fmla="val 10000"/>
            </a:avLst>
          </a:prstGeom>
          <a:solidFill>
            <a:srgbClr val="F1F4F8"/>
          </a:solidFill>
          <a:ln/>
        </p:spPr>
      </p:sp>
      <p:sp>
        <p:nvSpPr>
          <p:cNvPr id="8" name="Text 6"/>
          <p:cNvSpPr/>
          <p:nvPr/>
        </p:nvSpPr>
        <p:spPr>
          <a:xfrm>
            <a:off x="795528" y="2542032"/>
            <a:ext cx="2606040" cy="640080"/>
          </a:xfrm>
          <a:prstGeom prst="rect">
            <a:avLst/>
          </a:prstGeom>
          <a:noFill/>
          <a:ln/>
        </p:spPr>
        <p:txBody>
          <a:bodyPr wrap="square" lIns="0" tIns="0" rIns="0" bIns="0" rtlCol="0" anchor="ctr"/>
          <a:lstStyle/>
          <a:p>
            <a:pPr indent="0" marL="0">
              <a:buNone/>
            </a:pPr>
            <a:r>
              <a:rPr lang="en-US" sz="1150" b="1" dirty="0">
                <a:solidFill>
                  <a:srgbClr val="0E6E63"/>
                </a:solidFill>
                <a:latin typeface="Courier New" pitchFamily="34" charset="0"/>
                <a:ea typeface="Courier New" pitchFamily="34" charset="-122"/>
                <a:cs typeface="Courier New" pitchFamily="34" charset="-120"/>
              </a:rPr>
              <a:t>ASYMMETRY</a:t>
            </a:r>
            <a:endParaRPr lang="en-US" sz="1150" dirty="0"/>
          </a:p>
        </p:txBody>
      </p:sp>
      <p:sp>
        <p:nvSpPr>
          <p:cNvPr id="9" name="Text 7"/>
          <p:cNvSpPr/>
          <p:nvPr/>
        </p:nvSpPr>
        <p:spPr>
          <a:xfrm>
            <a:off x="3493008" y="2523744"/>
            <a:ext cx="7900416" cy="694944"/>
          </a:xfrm>
          <a:prstGeom prst="rect">
            <a:avLst/>
          </a:prstGeom>
          <a:noFill/>
          <a:ln/>
        </p:spPr>
        <p:txBody>
          <a:bodyPr wrap="square" lIns="0" tIns="0" rIns="0" bIns="0" rtlCol="0" anchor="ctr"/>
          <a:lstStyle/>
          <a:p>
            <a:pPr indent="0" marL="0">
              <a:buNone/>
            </a:pPr>
            <a:r>
              <a:rPr lang="en-US" sz="1100" dirty="0">
                <a:solidFill>
                  <a:srgbClr val="1C2B3A"/>
                </a:solidFill>
                <a:latin typeface="Calibri" pitchFamily="34" charset="0"/>
                <a:ea typeface="Calibri" pitchFamily="34" charset="-122"/>
                <a:cs typeface="Calibri" pitchFamily="34" charset="-120"/>
              </a:rPr>
              <a:t>A→B slower than B→A ⇒ look at A’s egress — the return path just proved itself fine. Diagnosis is computed: shared source → egress; shared destination → ingress; group boundary → the path between.</a:t>
            </a:r>
            <a:endParaRPr lang="en-US" sz="1100" dirty="0"/>
          </a:p>
        </p:txBody>
      </p:sp>
      <p:sp>
        <p:nvSpPr>
          <p:cNvPr id="10" name="Shape 8"/>
          <p:cNvSpPr/>
          <p:nvPr/>
        </p:nvSpPr>
        <p:spPr>
          <a:xfrm>
            <a:off x="566928" y="3364992"/>
            <a:ext cx="11055096" cy="822960"/>
          </a:xfrm>
          <a:prstGeom prst="roundRect">
            <a:avLst>
              <a:gd name="adj" fmla="val 10000"/>
            </a:avLst>
          </a:prstGeom>
          <a:solidFill>
            <a:srgbClr val="F1F4F8"/>
          </a:solidFill>
          <a:ln/>
        </p:spPr>
      </p:sp>
      <p:sp>
        <p:nvSpPr>
          <p:cNvPr id="11" name="Text 9"/>
          <p:cNvSpPr/>
          <p:nvPr/>
        </p:nvSpPr>
        <p:spPr>
          <a:xfrm>
            <a:off x="795528" y="3456432"/>
            <a:ext cx="2606040" cy="640080"/>
          </a:xfrm>
          <a:prstGeom prst="rect">
            <a:avLst/>
          </a:prstGeom>
          <a:noFill/>
          <a:ln/>
        </p:spPr>
        <p:txBody>
          <a:bodyPr wrap="square" lIns="0" tIns="0" rIns="0" bIns="0" rtlCol="0" anchor="ctr"/>
          <a:lstStyle/>
          <a:p>
            <a:pPr indent="0" marL="0">
              <a:buNone/>
            </a:pPr>
            <a:r>
              <a:rPr lang="en-US" sz="1150" b="1" dirty="0">
                <a:solidFill>
                  <a:srgbClr val="0E6E63"/>
                </a:solidFill>
                <a:latin typeface="Courier New" pitchFamily="34" charset="0"/>
                <a:ea typeface="Courier New" pitchFamily="34" charset="-122"/>
                <a:cs typeface="Courier New" pitchFamily="34" charset="-120"/>
              </a:rPr>
              <a:t>PATH MTU · BLACKHOLE</a:t>
            </a:r>
            <a:endParaRPr lang="en-US" sz="1150" dirty="0"/>
          </a:p>
        </p:txBody>
      </p:sp>
      <p:sp>
        <p:nvSpPr>
          <p:cNvPr id="12" name="Text 10"/>
          <p:cNvSpPr/>
          <p:nvPr/>
        </p:nvSpPr>
        <p:spPr>
          <a:xfrm>
            <a:off x="3493008" y="3438144"/>
            <a:ext cx="7900416" cy="694944"/>
          </a:xfrm>
          <a:prstGeom prst="rect">
            <a:avLst/>
          </a:prstGeom>
          <a:noFill/>
          <a:ln/>
        </p:spPr>
        <p:txBody>
          <a:bodyPr wrap="square" lIns="0" tIns="0" rIns="0" bIns="0" rtlCol="0" anchor="ctr"/>
          <a:lstStyle/>
          <a:p>
            <a:pPr indent="0" marL="0">
              <a:buNone/>
            </a:pPr>
            <a:r>
              <a:rPr lang="en-US" sz="1100" dirty="0">
                <a:solidFill>
                  <a:srgbClr val="1C2B3A"/>
                </a:solidFill>
                <a:latin typeface="Calibri" pitchFamily="34" charset="0"/>
                <a:ea typeface="Calibri" pitchFamily="34" charset="-122"/>
                <a:cs typeface="Calibri" pitchFamily="34" charset="-120"/>
              </a:rPr>
              <a:t>Small packets echo, large ones vanish, no error comes back: apps hang on big transfers, work on small ones. Found without root, via a binary search where only an end-to-end echo counts.</a:t>
            </a:r>
            <a:endParaRPr lang="en-US" sz="1100" dirty="0"/>
          </a:p>
        </p:txBody>
      </p:sp>
      <p:sp>
        <p:nvSpPr>
          <p:cNvPr id="13" name="Shape 11"/>
          <p:cNvSpPr/>
          <p:nvPr/>
        </p:nvSpPr>
        <p:spPr>
          <a:xfrm>
            <a:off x="566928" y="4279392"/>
            <a:ext cx="11055096" cy="822960"/>
          </a:xfrm>
          <a:prstGeom prst="roundRect">
            <a:avLst>
              <a:gd name="adj" fmla="val 10000"/>
            </a:avLst>
          </a:prstGeom>
          <a:solidFill>
            <a:srgbClr val="F1F4F8"/>
          </a:solidFill>
          <a:ln/>
        </p:spPr>
      </p:sp>
      <p:sp>
        <p:nvSpPr>
          <p:cNvPr id="14" name="Text 12"/>
          <p:cNvSpPr/>
          <p:nvPr/>
        </p:nvSpPr>
        <p:spPr>
          <a:xfrm>
            <a:off x="795528" y="4370832"/>
            <a:ext cx="2606040" cy="640080"/>
          </a:xfrm>
          <a:prstGeom prst="rect">
            <a:avLst/>
          </a:prstGeom>
          <a:noFill/>
          <a:ln/>
        </p:spPr>
        <p:txBody>
          <a:bodyPr wrap="square" lIns="0" tIns="0" rIns="0" bIns="0" rtlCol="0" anchor="ctr"/>
          <a:lstStyle/>
          <a:p>
            <a:pPr indent="0" marL="0">
              <a:buNone/>
            </a:pPr>
            <a:r>
              <a:rPr lang="en-US" sz="1150" b="1" dirty="0">
                <a:solidFill>
                  <a:srgbClr val="0E6E63"/>
                </a:solidFill>
                <a:latin typeface="Courier New" pitchFamily="34" charset="0"/>
                <a:ea typeface="Courier New" pitchFamily="34" charset="-122"/>
                <a:cs typeface="Courier New" pitchFamily="34" charset="-120"/>
              </a:rPr>
              <a:t>PATH SPREAD</a:t>
            </a:r>
            <a:endParaRPr lang="en-US" sz="1150" dirty="0"/>
          </a:p>
        </p:txBody>
      </p:sp>
      <p:sp>
        <p:nvSpPr>
          <p:cNvPr id="15" name="Text 13"/>
          <p:cNvSpPr/>
          <p:nvPr/>
        </p:nvSpPr>
        <p:spPr>
          <a:xfrm>
            <a:off x="3493008" y="4352544"/>
            <a:ext cx="7900416" cy="694944"/>
          </a:xfrm>
          <a:prstGeom prst="rect">
            <a:avLst/>
          </a:prstGeom>
          <a:noFill/>
          <a:ln/>
        </p:spPr>
        <p:txBody>
          <a:bodyPr wrap="square" lIns="0" tIns="0" rIns="0" bIns="0" rtlCol="0" anchor="ctr"/>
          <a:lstStyle/>
          <a:p>
            <a:pPr indent="0" marL="0">
              <a:buNone/>
            </a:pPr>
            <a:r>
              <a:rPr lang="en-US" sz="1100" dirty="0">
                <a:solidFill>
                  <a:srgbClr val="1C2B3A"/>
                </a:solidFill>
                <a:latin typeface="Calibri" pitchFamily="34" charset="0"/>
                <a:ea typeface="Calibri" pitchFamily="34" charset="-122"/>
                <a:cs typeface="Calibri" pitchFamily="34" charset="-120"/>
              </a:rPr>
              <a:t>One source-port bucket 28.9× slower than the median ⇒ a sick LAG/ECMP member, named while the run is fresh.</a:t>
            </a:r>
            <a:endParaRPr lang="en-US" sz="1100" dirty="0"/>
          </a:p>
        </p:txBody>
      </p:sp>
      <p:sp>
        <p:nvSpPr>
          <p:cNvPr id="16" name="Shape 14"/>
          <p:cNvSpPr/>
          <p:nvPr/>
        </p:nvSpPr>
        <p:spPr>
          <a:xfrm>
            <a:off x="566928" y="5193792"/>
            <a:ext cx="11055096" cy="822960"/>
          </a:xfrm>
          <a:prstGeom prst="roundRect">
            <a:avLst>
              <a:gd name="adj" fmla="val 10000"/>
            </a:avLst>
          </a:prstGeom>
          <a:solidFill>
            <a:srgbClr val="F1F4F8"/>
          </a:solidFill>
          <a:ln/>
        </p:spPr>
      </p:sp>
      <p:sp>
        <p:nvSpPr>
          <p:cNvPr id="17" name="Text 15"/>
          <p:cNvSpPr/>
          <p:nvPr/>
        </p:nvSpPr>
        <p:spPr>
          <a:xfrm>
            <a:off x="795528" y="5285232"/>
            <a:ext cx="2606040" cy="640080"/>
          </a:xfrm>
          <a:prstGeom prst="rect">
            <a:avLst/>
          </a:prstGeom>
          <a:noFill/>
          <a:ln/>
        </p:spPr>
        <p:txBody>
          <a:bodyPr wrap="square" lIns="0" tIns="0" rIns="0" bIns="0" rtlCol="0" anchor="ctr"/>
          <a:lstStyle/>
          <a:p>
            <a:pPr indent="0" marL="0">
              <a:buNone/>
            </a:pPr>
            <a:r>
              <a:rPr lang="en-US" sz="1150" b="1" dirty="0">
                <a:solidFill>
                  <a:srgbClr val="0E6E63"/>
                </a:solidFill>
                <a:latin typeface="Courier New" pitchFamily="34" charset="0"/>
                <a:ea typeface="Courier New" pitchFamily="34" charset="-122"/>
                <a:cs typeface="Courier New" pitchFamily="34" charset="-120"/>
              </a:rPr>
              <a:t>UNDER LOAD</a:t>
            </a:r>
            <a:endParaRPr lang="en-US" sz="1150" dirty="0"/>
          </a:p>
        </p:txBody>
      </p:sp>
      <p:sp>
        <p:nvSpPr>
          <p:cNvPr id="18" name="Text 16"/>
          <p:cNvSpPr/>
          <p:nvPr/>
        </p:nvSpPr>
        <p:spPr>
          <a:xfrm>
            <a:off x="3493008" y="5266944"/>
            <a:ext cx="7900416" cy="694944"/>
          </a:xfrm>
          <a:prstGeom prst="rect">
            <a:avLst/>
          </a:prstGeom>
          <a:noFill/>
          <a:ln/>
        </p:spPr>
        <p:txBody>
          <a:bodyPr wrap="square" lIns="0" tIns="0" rIns="0" bIns="0" rtlCol="0" anchor="ctr"/>
          <a:lstStyle/>
          <a:p>
            <a:pPr indent="0" marL="0">
              <a:buNone/>
            </a:pPr>
            <a:r>
              <a:rPr lang="en-US" sz="1100" dirty="0">
                <a:solidFill>
                  <a:srgbClr val="1C2B3A"/>
                </a:solidFill>
                <a:latin typeface="Calibri" pitchFamily="34" charset="0"/>
                <a:ea typeface="Calibri" pitchFamily="34" charset="-122"/>
                <a:cs typeface="Calibri" pitchFamily="34" charset="-120"/>
              </a:rPr>
              <a:t>p99 210 µs idle → 42 ms loaded: the queue in front of the bottleneck — what everything sharing the path paid for the throughput number. Loss that only appears under load gets its own finding.</a:t>
            </a:r>
            <a:endParaRPr lang="en-US" sz="1100" dirty="0"/>
          </a:p>
        </p:txBody>
      </p:sp>
      <p:sp>
        <p:nvSpPr>
          <p:cNvPr id="19" name="Text 17"/>
          <p:cNvSpPr/>
          <p:nvPr/>
        </p:nvSpPr>
        <p:spPr>
          <a:xfrm>
            <a:off x="566928" y="6126480"/>
            <a:ext cx="11055096" cy="320040"/>
          </a:xfrm>
          <a:prstGeom prst="rect">
            <a:avLst/>
          </a:prstGeom>
          <a:noFill/>
          <a:ln/>
        </p:spPr>
        <p:txBody>
          <a:bodyPr wrap="square" lIns="0" tIns="0" rIns="0" bIns="0" rtlCol="0" anchor="ctr"/>
          <a:lstStyle/>
          <a:p>
            <a:pPr algn="ctr" indent="0" marL="0">
              <a:buNone/>
            </a:pPr>
            <a:r>
              <a:rPr lang="en-US" sz="1200" i="1" dirty="0">
                <a:solidFill>
                  <a:srgbClr val="0E6E63"/>
                </a:solidFill>
                <a:latin typeface="Calibri" pitchFamily="34" charset="0"/>
                <a:ea typeface="Calibri" pitchFamily="34" charset="-122"/>
                <a:cs typeface="Calibri" pitchFamily="34" charset="-120"/>
              </a:rPr>
              <a:t>And a clean run says so plainly — “the network is not your problem” — then points you at mx and iperf_orchestrator for the load question.</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5096" cy="274320"/>
          </a:xfrm>
          <a:prstGeom prst="rect">
            <a:avLst/>
          </a:prstGeom>
          <a:noFill/>
          <a:ln/>
        </p:spPr>
        <p:txBody>
          <a:bodyPr wrap="square" lIns="0" tIns="0" rIns="0" bIns="0" rtlCol="0" anchor="ctr"/>
          <a:lstStyle/>
          <a:p>
            <a:pPr indent="0" marL="0">
              <a:buNone/>
            </a:pPr>
            <a:r>
              <a:rPr lang="en-US" sz="1100" b="1" spc="300" kern="0" dirty="0">
                <a:solidFill>
                  <a:srgbClr val="12897B"/>
                </a:solidFill>
                <a:latin typeface="Calibri" pitchFamily="34" charset="0"/>
                <a:ea typeface="Calibri" pitchFamily="34" charset="-122"/>
                <a:cs typeface="Calibri" pitchFamily="34" charset="-120"/>
              </a:rPr>
              <a:t>NETMESH</a:t>
            </a:r>
            <a:endParaRPr lang="en-US" sz="1100" dirty="0"/>
          </a:p>
        </p:txBody>
      </p:sp>
      <p:sp>
        <p:nvSpPr>
          <p:cNvPr id="3" name="Text 1"/>
          <p:cNvSpPr/>
          <p:nvPr/>
        </p:nvSpPr>
        <p:spPr>
          <a:xfrm>
            <a:off x="566928" y="621792"/>
            <a:ext cx="11055096" cy="566928"/>
          </a:xfrm>
          <a:prstGeom prst="rect">
            <a:avLst/>
          </a:prstGeom>
          <a:noFill/>
          <a:ln/>
        </p:spPr>
        <p:txBody>
          <a:bodyPr wrap="square" lIns="0" tIns="0" rIns="0" bIns="0" rtlCol="0" anchor="ctr"/>
          <a:lstStyle/>
          <a:p>
            <a:pPr indent="0" marL="0">
              <a:buNone/>
            </a:pPr>
            <a:r>
              <a:rPr lang="en-US" sz="2900" b="1" dirty="0">
                <a:solidFill>
                  <a:srgbClr val="1C2B3A"/>
                </a:solidFill>
                <a:latin typeface="Calibri" pitchFamily="34" charset="0"/>
                <a:ea typeface="Calibri" pitchFamily="34" charset="-122"/>
                <a:cs typeface="Calibri" pitchFamily="34" charset="-120"/>
              </a:rPr>
              <a:t>Cleaning up, and following up</a:t>
            </a:r>
            <a:endParaRPr lang="en-US" sz="2900" dirty="0"/>
          </a:p>
        </p:txBody>
      </p:sp>
      <p:sp>
        <p:nvSpPr>
          <p:cNvPr id="4" name="Shape 2"/>
          <p:cNvSpPr/>
          <p:nvPr/>
        </p:nvSpPr>
        <p:spPr>
          <a:xfrm>
            <a:off x="566928" y="1554480"/>
            <a:ext cx="5344668" cy="4297680"/>
          </a:xfrm>
          <a:prstGeom prst="roundRect">
            <a:avLst>
              <a:gd name="adj" fmla="val 1915"/>
            </a:avLst>
          </a:prstGeom>
          <a:solidFill>
            <a:srgbClr val="F1F4F8"/>
          </a:solidFill>
          <a:ln/>
        </p:spPr>
      </p:sp>
      <p:sp>
        <p:nvSpPr>
          <p:cNvPr id="5" name="Text 3"/>
          <p:cNvSpPr/>
          <p:nvPr/>
        </p:nvSpPr>
        <p:spPr>
          <a:xfrm>
            <a:off x="841248" y="1755648"/>
            <a:ext cx="4796028" cy="320040"/>
          </a:xfrm>
          <a:prstGeom prst="rect">
            <a:avLst/>
          </a:prstGeom>
          <a:noFill/>
          <a:ln/>
        </p:spPr>
        <p:txBody>
          <a:bodyPr wrap="square" lIns="0" tIns="0" rIns="0" bIns="0" rtlCol="0" anchor="ctr"/>
          <a:lstStyle/>
          <a:p>
            <a:pPr indent="0" marL="0">
              <a:buNone/>
            </a:pPr>
            <a:r>
              <a:rPr lang="en-US" sz="1500" b="1" dirty="0">
                <a:solidFill>
                  <a:srgbClr val="1C2B3A"/>
                </a:solidFill>
                <a:latin typeface="Calibri" pitchFamily="34" charset="0"/>
                <a:ea typeface="Calibri" pitchFamily="34" charset="-122"/>
                <a:cs typeface="Calibri" pitchFamily="34" charset="-120"/>
              </a:rPr>
              <a:t>Stopping &amp; cleaning</a:t>
            </a:r>
            <a:endParaRPr lang="en-US" sz="1500" dirty="0"/>
          </a:p>
        </p:txBody>
      </p:sp>
      <p:sp>
        <p:nvSpPr>
          <p:cNvPr id="6" name="Text 4"/>
          <p:cNvSpPr/>
          <p:nvPr/>
        </p:nvSpPr>
        <p:spPr>
          <a:xfrm>
            <a:off x="841248" y="2176272"/>
            <a:ext cx="4796028" cy="3566160"/>
          </a:xfrm>
          <a:prstGeom prst="rect">
            <a:avLst/>
          </a:prstGeom>
          <a:noFill/>
          <a:ln/>
        </p:spPr>
        <p:txBody>
          <a:bodyPr wrap="square" lIns="0" tIns="0" rIns="0" bIns="0" rtlCol="0" anchor="t"/>
          <a:lstStyle/>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check cleans up after itself — the two-host case never leaves anything behind.</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For managed runs: stop keeps reports; clean stops and removes every trace. No package, no daemon, no dotdir, no sysctl — ever.</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Agents flush the current interval on SIGTERM — no data loss at shutdown.</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Old reports replay: summarize --reports ./reports — even re-split around a load window after the fact (--load-split).</a:t>
            </a:r>
            <a:endParaRPr lang="en-US" sz="1200" dirty="0"/>
          </a:p>
        </p:txBody>
      </p:sp>
      <p:sp>
        <p:nvSpPr>
          <p:cNvPr id="7" name="Shape 5"/>
          <p:cNvSpPr/>
          <p:nvPr/>
        </p:nvSpPr>
        <p:spPr>
          <a:xfrm>
            <a:off x="6277356" y="1554480"/>
            <a:ext cx="5344668" cy="4297680"/>
          </a:xfrm>
          <a:prstGeom prst="roundRect">
            <a:avLst>
              <a:gd name="adj" fmla="val 1915"/>
            </a:avLst>
          </a:prstGeom>
          <a:solidFill>
            <a:srgbClr val="EAF5F3"/>
          </a:solidFill>
          <a:ln/>
        </p:spPr>
      </p:sp>
      <p:sp>
        <p:nvSpPr>
          <p:cNvPr id="8" name="Text 6"/>
          <p:cNvSpPr/>
          <p:nvPr/>
        </p:nvSpPr>
        <p:spPr>
          <a:xfrm>
            <a:off x="6551676" y="1755648"/>
            <a:ext cx="4796028" cy="320040"/>
          </a:xfrm>
          <a:prstGeom prst="rect">
            <a:avLst/>
          </a:prstGeom>
          <a:noFill/>
          <a:ln/>
        </p:spPr>
        <p:txBody>
          <a:bodyPr wrap="square" lIns="0" tIns="0" rIns="0" bIns="0" rtlCol="0" anchor="ctr"/>
          <a:lstStyle/>
          <a:p>
            <a:pPr indent="0" marL="0">
              <a:buNone/>
            </a:pPr>
            <a:r>
              <a:rPr lang="en-US" sz="1500" b="1" dirty="0">
                <a:solidFill>
                  <a:srgbClr val="0E6E63"/>
                </a:solidFill>
                <a:latin typeface="Calibri" pitchFamily="34" charset="0"/>
                <a:ea typeface="Calibri" pitchFamily="34" charset="-122"/>
                <a:cs typeface="Calibri" pitchFamily="34" charset="-120"/>
              </a:rPr>
              <a:t>Following up on findings</a:t>
            </a:r>
            <a:endParaRPr lang="en-US" sz="1500" dirty="0"/>
          </a:p>
        </p:txBody>
      </p:sp>
      <p:sp>
        <p:nvSpPr>
          <p:cNvPr id="9" name="Text 7"/>
          <p:cNvSpPr/>
          <p:nvPr/>
        </p:nvSpPr>
        <p:spPr>
          <a:xfrm>
            <a:off x="6551676" y="2176272"/>
            <a:ext cx="4796028" cy="3566160"/>
          </a:xfrm>
          <a:prstGeom prst="rect">
            <a:avLst/>
          </a:prstGeom>
          <a:noFill/>
          <a:ln/>
        </p:spPr>
        <p:txBody>
          <a:bodyPr wrap="square" lIns="0" tIns="0" rIns="0" bIns="0" rtlCol="0" anchor="t"/>
          <a:lstStyle/>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Sick pair? netmesh paths --compare sick:pair healthy:pair — hop lists side by side, first divergent hop marked. That hop is where to look.</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Grids (--grid) drop into the same spreadsheet as mx’s — line up idle RTT against loaded loss, pair by pair.</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Clean baseline? Then the network isn’t the problem — go load it: mx run --for 60, iperf-orchestrator all.</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Suspicious latency floor? The report flags when a NIC’s rx-usecs coalescing timer is what you measured — with the ethtool line to fix it.</a:t>
            </a:r>
            <a:endParaRPr lang="en-US" sz="1200" dirty="0"/>
          </a:p>
          <a:p>
            <a:pPr marL="152400" indent="-152400">
              <a:spcAft>
                <a:spcPts val="900"/>
              </a:spcAft>
              <a:buSzPct val="100000"/>
              <a:buChar char="•"/>
            </a:pPr>
            <a:r>
              <a:rPr lang="en-US" sz="1200" dirty="0">
                <a:solidFill>
                  <a:srgbClr val="1C2B3A"/>
                </a:solidFill>
                <a:latin typeface="Calibri" pitchFamily="34" charset="0"/>
                <a:ea typeface="Calibri" pitchFamily="34" charset="-122"/>
                <a:cs typeface="Calibri" pitchFamily="34" charset="-120"/>
              </a:rPr>
              <a:t>Box slow anyway? binnacle’s why-slow checks the host before you blame the network again.</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C2E"/>
        </a:solidFill>
      </p:bgPr>
    </p:bg>
    <p:spTree>
      <p:nvGrpSpPr>
        <p:cNvPr id="1" name=""/>
        <p:cNvGrpSpPr/>
        <p:nvPr/>
      </p:nvGrpSpPr>
      <p:grpSpPr>
        <a:xfrm>
          <a:off x="0" y="0"/>
          <a:ext cx="0" cy="0"/>
          <a:chOff x="0" y="0"/>
          <a:chExt cx="0" cy="0"/>
        </a:xfrm>
      </p:grpSpPr>
      <p:sp>
        <p:nvSpPr>
          <p:cNvPr id="2" name="Shape 0"/>
          <p:cNvSpPr/>
          <p:nvPr/>
        </p:nvSpPr>
        <p:spPr>
          <a:xfrm>
            <a:off x="9985248" y="3977640"/>
            <a:ext cx="420624" cy="420624"/>
          </a:xfrm>
          <a:prstGeom prst="roundRect">
            <a:avLst>
              <a:gd name="adj" fmla="val 18000"/>
            </a:avLst>
          </a:prstGeom>
          <a:solidFill>
            <a:srgbClr val="16283E"/>
          </a:solidFill>
          <a:ln/>
        </p:spPr>
      </p:sp>
      <p:sp>
        <p:nvSpPr>
          <p:cNvPr id="3" name="Shape 1"/>
          <p:cNvSpPr/>
          <p:nvPr/>
        </p:nvSpPr>
        <p:spPr>
          <a:xfrm>
            <a:off x="10506456" y="3977640"/>
            <a:ext cx="420624" cy="420624"/>
          </a:xfrm>
          <a:prstGeom prst="roundRect">
            <a:avLst>
              <a:gd name="adj" fmla="val 18000"/>
            </a:avLst>
          </a:prstGeom>
          <a:solidFill>
            <a:srgbClr val="16283E"/>
          </a:solidFill>
          <a:ln/>
        </p:spPr>
      </p:sp>
      <p:sp>
        <p:nvSpPr>
          <p:cNvPr id="4" name="Shape 2"/>
          <p:cNvSpPr/>
          <p:nvPr/>
        </p:nvSpPr>
        <p:spPr>
          <a:xfrm>
            <a:off x="11027664" y="3977640"/>
            <a:ext cx="420624" cy="420624"/>
          </a:xfrm>
          <a:prstGeom prst="roundRect">
            <a:avLst>
              <a:gd name="adj" fmla="val 18000"/>
            </a:avLst>
          </a:prstGeom>
          <a:solidFill>
            <a:srgbClr val="16283E"/>
          </a:solidFill>
          <a:ln/>
        </p:spPr>
      </p:sp>
      <p:sp>
        <p:nvSpPr>
          <p:cNvPr id="5" name="Shape 3"/>
          <p:cNvSpPr/>
          <p:nvPr/>
        </p:nvSpPr>
        <p:spPr>
          <a:xfrm>
            <a:off x="11548872" y="3977640"/>
            <a:ext cx="420624" cy="420624"/>
          </a:xfrm>
          <a:prstGeom prst="roundRect">
            <a:avLst>
              <a:gd name="adj" fmla="val 18000"/>
            </a:avLst>
          </a:prstGeom>
          <a:solidFill>
            <a:srgbClr val="16283E"/>
          </a:solidFill>
          <a:ln/>
        </p:spPr>
      </p:sp>
      <p:sp>
        <p:nvSpPr>
          <p:cNvPr id="6" name="Shape 4"/>
          <p:cNvSpPr/>
          <p:nvPr/>
        </p:nvSpPr>
        <p:spPr>
          <a:xfrm>
            <a:off x="9464040" y="4498848"/>
            <a:ext cx="420624" cy="420624"/>
          </a:xfrm>
          <a:prstGeom prst="roundRect">
            <a:avLst>
              <a:gd name="adj" fmla="val 18000"/>
            </a:avLst>
          </a:prstGeom>
          <a:solidFill>
            <a:srgbClr val="16283E"/>
          </a:solidFill>
          <a:ln/>
        </p:spPr>
      </p:sp>
      <p:sp>
        <p:nvSpPr>
          <p:cNvPr id="7" name="Shape 5"/>
          <p:cNvSpPr/>
          <p:nvPr/>
        </p:nvSpPr>
        <p:spPr>
          <a:xfrm>
            <a:off x="10506456" y="4498848"/>
            <a:ext cx="420624" cy="420624"/>
          </a:xfrm>
          <a:prstGeom prst="roundRect">
            <a:avLst>
              <a:gd name="adj" fmla="val 18000"/>
            </a:avLst>
          </a:prstGeom>
          <a:solidFill>
            <a:srgbClr val="16283E"/>
          </a:solidFill>
          <a:ln/>
        </p:spPr>
      </p:sp>
      <p:sp>
        <p:nvSpPr>
          <p:cNvPr id="8" name="Shape 6"/>
          <p:cNvSpPr/>
          <p:nvPr/>
        </p:nvSpPr>
        <p:spPr>
          <a:xfrm>
            <a:off x="11027664" y="4498848"/>
            <a:ext cx="420624" cy="420624"/>
          </a:xfrm>
          <a:prstGeom prst="roundRect">
            <a:avLst>
              <a:gd name="adj" fmla="val 18000"/>
            </a:avLst>
          </a:prstGeom>
          <a:solidFill>
            <a:srgbClr val="16283E"/>
          </a:solidFill>
          <a:ln/>
        </p:spPr>
      </p:sp>
      <p:sp>
        <p:nvSpPr>
          <p:cNvPr id="9" name="Shape 7"/>
          <p:cNvSpPr/>
          <p:nvPr/>
        </p:nvSpPr>
        <p:spPr>
          <a:xfrm>
            <a:off x="11548872" y="4498848"/>
            <a:ext cx="420624" cy="420624"/>
          </a:xfrm>
          <a:prstGeom prst="roundRect">
            <a:avLst>
              <a:gd name="adj" fmla="val 18000"/>
            </a:avLst>
          </a:prstGeom>
          <a:solidFill>
            <a:srgbClr val="12897B"/>
          </a:solidFill>
          <a:ln/>
        </p:spPr>
      </p:sp>
      <p:sp>
        <p:nvSpPr>
          <p:cNvPr id="10" name="Shape 8"/>
          <p:cNvSpPr/>
          <p:nvPr/>
        </p:nvSpPr>
        <p:spPr>
          <a:xfrm>
            <a:off x="9464040" y="5020056"/>
            <a:ext cx="420624" cy="420624"/>
          </a:xfrm>
          <a:prstGeom prst="roundRect">
            <a:avLst>
              <a:gd name="adj" fmla="val 18000"/>
            </a:avLst>
          </a:prstGeom>
          <a:solidFill>
            <a:srgbClr val="16283E"/>
          </a:solidFill>
          <a:ln/>
        </p:spPr>
      </p:sp>
      <p:sp>
        <p:nvSpPr>
          <p:cNvPr id="11" name="Shape 9"/>
          <p:cNvSpPr/>
          <p:nvPr/>
        </p:nvSpPr>
        <p:spPr>
          <a:xfrm>
            <a:off x="9985248" y="5020056"/>
            <a:ext cx="420624" cy="420624"/>
          </a:xfrm>
          <a:prstGeom prst="roundRect">
            <a:avLst>
              <a:gd name="adj" fmla="val 18000"/>
            </a:avLst>
          </a:prstGeom>
          <a:solidFill>
            <a:srgbClr val="16283E"/>
          </a:solidFill>
          <a:ln/>
        </p:spPr>
      </p:sp>
      <p:sp>
        <p:nvSpPr>
          <p:cNvPr id="12" name="Shape 10"/>
          <p:cNvSpPr/>
          <p:nvPr/>
        </p:nvSpPr>
        <p:spPr>
          <a:xfrm>
            <a:off x="11027664" y="5020056"/>
            <a:ext cx="420624" cy="420624"/>
          </a:xfrm>
          <a:prstGeom prst="roundRect">
            <a:avLst>
              <a:gd name="adj" fmla="val 18000"/>
            </a:avLst>
          </a:prstGeom>
          <a:solidFill>
            <a:srgbClr val="16283E"/>
          </a:solidFill>
          <a:ln/>
        </p:spPr>
      </p:sp>
      <p:sp>
        <p:nvSpPr>
          <p:cNvPr id="13" name="Shape 11"/>
          <p:cNvSpPr/>
          <p:nvPr/>
        </p:nvSpPr>
        <p:spPr>
          <a:xfrm>
            <a:off x="11548872" y="5020056"/>
            <a:ext cx="420624" cy="420624"/>
          </a:xfrm>
          <a:prstGeom prst="roundRect">
            <a:avLst>
              <a:gd name="adj" fmla="val 18000"/>
            </a:avLst>
          </a:prstGeom>
          <a:solidFill>
            <a:srgbClr val="16283E"/>
          </a:solidFill>
          <a:ln/>
        </p:spPr>
      </p:sp>
      <p:sp>
        <p:nvSpPr>
          <p:cNvPr id="14" name="Shape 12"/>
          <p:cNvSpPr/>
          <p:nvPr/>
        </p:nvSpPr>
        <p:spPr>
          <a:xfrm>
            <a:off x="9464040" y="5541264"/>
            <a:ext cx="420624" cy="420624"/>
          </a:xfrm>
          <a:prstGeom prst="roundRect">
            <a:avLst>
              <a:gd name="adj" fmla="val 18000"/>
            </a:avLst>
          </a:prstGeom>
          <a:solidFill>
            <a:srgbClr val="16283E"/>
          </a:solidFill>
          <a:ln/>
        </p:spPr>
      </p:sp>
      <p:sp>
        <p:nvSpPr>
          <p:cNvPr id="15" name="Shape 13"/>
          <p:cNvSpPr/>
          <p:nvPr/>
        </p:nvSpPr>
        <p:spPr>
          <a:xfrm>
            <a:off x="9985248" y="5541264"/>
            <a:ext cx="420624" cy="420624"/>
          </a:xfrm>
          <a:prstGeom prst="roundRect">
            <a:avLst>
              <a:gd name="adj" fmla="val 18000"/>
            </a:avLst>
          </a:prstGeom>
          <a:solidFill>
            <a:srgbClr val="12897B"/>
          </a:solidFill>
          <a:ln/>
        </p:spPr>
      </p:sp>
      <p:sp>
        <p:nvSpPr>
          <p:cNvPr id="16" name="Shape 14"/>
          <p:cNvSpPr/>
          <p:nvPr/>
        </p:nvSpPr>
        <p:spPr>
          <a:xfrm>
            <a:off x="10506456" y="5541264"/>
            <a:ext cx="420624" cy="420624"/>
          </a:xfrm>
          <a:prstGeom prst="roundRect">
            <a:avLst>
              <a:gd name="adj" fmla="val 18000"/>
            </a:avLst>
          </a:prstGeom>
          <a:solidFill>
            <a:srgbClr val="16283E"/>
          </a:solidFill>
          <a:ln/>
        </p:spPr>
      </p:sp>
      <p:sp>
        <p:nvSpPr>
          <p:cNvPr id="17" name="Shape 15"/>
          <p:cNvSpPr/>
          <p:nvPr/>
        </p:nvSpPr>
        <p:spPr>
          <a:xfrm>
            <a:off x="11548872" y="5541264"/>
            <a:ext cx="420624" cy="420624"/>
          </a:xfrm>
          <a:prstGeom prst="roundRect">
            <a:avLst>
              <a:gd name="adj" fmla="val 18000"/>
            </a:avLst>
          </a:prstGeom>
          <a:solidFill>
            <a:srgbClr val="16283E"/>
          </a:solidFill>
          <a:ln/>
        </p:spPr>
      </p:sp>
      <p:sp>
        <p:nvSpPr>
          <p:cNvPr id="18" name="Shape 16"/>
          <p:cNvSpPr/>
          <p:nvPr/>
        </p:nvSpPr>
        <p:spPr>
          <a:xfrm>
            <a:off x="9464040" y="6062472"/>
            <a:ext cx="420624" cy="420624"/>
          </a:xfrm>
          <a:prstGeom prst="roundRect">
            <a:avLst>
              <a:gd name="adj" fmla="val 18000"/>
            </a:avLst>
          </a:prstGeom>
          <a:solidFill>
            <a:srgbClr val="223650"/>
          </a:solidFill>
          <a:ln/>
        </p:spPr>
      </p:sp>
      <p:sp>
        <p:nvSpPr>
          <p:cNvPr id="19" name="Shape 17"/>
          <p:cNvSpPr/>
          <p:nvPr/>
        </p:nvSpPr>
        <p:spPr>
          <a:xfrm>
            <a:off x="9985248" y="6062472"/>
            <a:ext cx="420624" cy="420624"/>
          </a:xfrm>
          <a:prstGeom prst="roundRect">
            <a:avLst>
              <a:gd name="adj" fmla="val 18000"/>
            </a:avLst>
          </a:prstGeom>
          <a:solidFill>
            <a:srgbClr val="16283E"/>
          </a:solidFill>
          <a:ln/>
        </p:spPr>
      </p:sp>
      <p:sp>
        <p:nvSpPr>
          <p:cNvPr id="20" name="Shape 18"/>
          <p:cNvSpPr/>
          <p:nvPr/>
        </p:nvSpPr>
        <p:spPr>
          <a:xfrm>
            <a:off x="10506456" y="6062472"/>
            <a:ext cx="420624" cy="420624"/>
          </a:xfrm>
          <a:prstGeom prst="roundRect">
            <a:avLst>
              <a:gd name="adj" fmla="val 18000"/>
            </a:avLst>
          </a:prstGeom>
          <a:solidFill>
            <a:srgbClr val="223650"/>
          </a:solidFill>
          <a:ln/>
        </p:spPr>
      </p:sp>
      <p:sp>
        <p:nvSpPr>
          <p:cNvPr id="21" name="Shape 19"/>
          <p:cNvSpPr/>
          <p:nvPr/>
        </p:nvSpPr>
        <p:spPr>
          <a:xfrm>
            <a:off x="11027664" y="6062472"/>
            <a:ext cx="420624" cy="420624"/>
          </a:xfrm>
          <a:prstGeom prst="roundRect">
            <a:avLst>
              <a:gd name="adj" fmla="val 18000"/>
            </a:avLst>
          </a:prstGeom>
          <a:solidFill>
            <a:srgbClr val="16283E"/>
          </a:solidFill>
          <a:ln/>
        </p:spPr>
      </p:sp>
      <p:sp>
        <p:nvSpPr>
          <p:cNvPr id="22" name="Text 20"/>
          <p:cNvSpPr/>
          <p:nvPr/>
        </p:nvSpPr>
        <p:spPr>
          <a:xfrm>
            <a:off x="566928" y="502920"/>
            <a:ext cx="8229600" cy="320040"/>
          </a:xfrm>
          <a:prstGeom prst="rect">
            <a:avLst/>
          </a:prstGeom>
          <a:noFill/>
          <a:ln/>
        </p:spPr>
        <p:txBody>
          <a:bodyPr wrap="square" lIns="0" tIns="0" rIns="0" bIns="0" rtlCol="0" anchor="ctr"/>
          <a:lstStyle/>
          <a:p>
            <a:pPr indent="0" marL="0">
              <a:buNone/>
            </a:pPr>
            <a:r>
              <a:rPr lang="en-US" sz="1200" b="1" spc="400" kern="0" dirty="0">
                <a:solidFill>
                  <a:srgbClr val="12897B"/>
                </a:solidFill>
                <a:latin typeface="Calibri" pitchFamily="34" charset="0"/>
                <a:ea typeface="Calibri" pitchFamily="34" charset="-122"/>
                <a:cs typeface="Calibri" pitchFamily="34" charset="-120"/>
              </a:rPr>
              <a:t>PUTTING IT TOGETHER</a:t>
            </a:r>
            <a:endParaRPr lang="en-US" sz="1200" dirty="0"/>
          </a:p>
        </p:txBody>
      </p:sp>
      <p:sp>
        <p:nvSpPr>
          <p:cNvPr id="23" name="Text 21"/>
          <p:cNvSpPr/>
          <p:nvPr/>
        </p:nvSpPr>
        <p:spPr>
          <a:xfrm>
            <a:off x="566928" y="841248"/>
            <a:ext cx="11055096" cy="5486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One list, four tools, a fabric you can vouch for</a:t>
            </a:r>
            <a:endParaRPr lang="en-US" sz="2700" dirty="0"/>
          </a:p>
        </p:txBody>
      </p:sp>
      <p:sp>
        <p:nvSpPr>
          <p:cNvPr id="24" name="Shape 22"/>
          <p:cNvSpPr/>
          <p:nvPr/>
        </p:nvSpPr>
        <p:spPr>
          <a:xfrm>
            <a:off x="566928" y="1645920"/>
            <a:ext cx="4206240" cy="566928"/>
          </a:xfrm>
          <a:prstGeom prst="roundRect">
            <a:avLst>
              <a:gd name="adj" fmla="val 12903"/>
            </a:avLst>
          </a:prstGeom>
          <a:solidFill>
            <a:srgbClr val="16283E"/>
          </a:solidFill>
          <a:ln w="15875">
            <a:solidFill>
              <a:srgbClr val="3D8B4F"/>
            </a:solidFill>
            <a:prstDash val="solid"/>
          </a:ln>
        </p:spPr>
      </p:sp>
      <p:sp>
        <p:nvSpPr>
          <p:cNvPr id="25" name="Text 23"/>
          <p:cNvSpPr/>
          <p:nvPr/>
        </p:nvSpPr>
        <p:spPr>
          <a:xfrm>
            <a:off x="749808" y="1645920"/>
            <a:ext cx="3931920" cy="566928"/>
          </a:xfrm>
          <a:prstGeom prst="rect">
            <a:avLst/>
          </a:prstGeom>
          <a:noFill/>
          <a:ln/>
        </p:spPr>
        <p:txBody>
          <a:bodyPr wrap="square" lIns="0" tIns="0" rIns="0" bIns="0" rtlCol="0" anchor="ctr"/>
          <a:lstStyle/>
          <a:p>
            <a:pPr indent="0" marL="0">
              <a:buNone/>
            </a:pPr>
            <a:r>
              <a:rPr lang="en-US" sz="1150" b="1" dirty="0">
                <a:solidFill>
                  <a:srgbClr val="3D8B4F"/>
                </a:solidFill>
                <a:latin typeface="Courier New" pitchFamily="34" charset="0"/>
                <a:ea typeface="Courier New" pitchFamily="34" charset="-122"/>
                <a:cs typeface="Courier New" pitchFamily="34" charset="-120"/>
              </a:rPr>
              <a:t>reachable prod.txt -i</a:t>
            </a:r>
            <a:endParaRPr lang="en-US" sz="1150" dirty="0"/>
          </a:p>
        </p:txBody>
      </p:sp>
      <p:sp>
        <p:nvSpPr>
          <p:cNvPr id="26" name="Text 24"/>
          <p:cNvSpPr/>
          <p:nvPr/>
        </p:nvSpPr>
        <p:spPr>
          <a:xfrm>
            <a:off x="5001768" y="1645920"/>
            <a:ext cx="5212080" cy="566928"/>
          </a:xfrm>
          <a:prstGeom prst="rect">
            <a:avLst/>
          </a:prstGeom>
          <a:noFill/>
          <a:ln/>
        </p:spPr>
        <p:txBody>
          <a:bodyPr wrap="square" lIns="0" tIns="0" rIns="0" bIns="0" rtlCol="0" anchor="ctr"/>
          <a:lstStyle/>
          <a:p>
            <a:pPr indent="0" marL="0">
              <a:buNone/>
            </a:pPr>
            <a:r>
              <a:rPr lang="en-US" sz="1150" dirty="0">
                <a:solidFill>
                  <a:srgbClr val="9FB0C1"/>
                </a:solidFill>
                <a:latin typeface="Calibri" pitchFamily="34" charset="0"/>
                <a:ea typeface="Calibri" pitchFamily="34" charset="-122"/>
                <a:cs typeface="Calibri" pitchFamily="34" charset="-120"/>
              </a:rPr>
              <a:t>prune the list — the run survives the dead</a:t>
            </a:r>
            <a:endParaRPr lang="en-US" sz="1150" dirty="0"/>
          </a:p>
        </p:txBody>
      </p:sp>
      <p:sp>
        <p:nvSpPr>
          <p:cNvPr id="27" name="Shape 25"/>
          <p:cNvSpPr/>
          <p:nvPr/>
        </p:nvSpPr>
        <p:spPr>
          <a:xfrm>
            <a:off x="566928" y="2340864"/>
            <a:ext cx="4206240" cy="566928"/>
          </a:xfrm>
          <a:prstGeom prst="roundRect">
            <a:avLst>
              <a:gd name="adj" fmla="val 12903"/>
            </a:avLst>
          </a:prstGeom>
          <a:solidFill>
            <a:srgbClr val="16283E"/>
          </a:solidFill>
          <a:ln w="15875">
            <a:solidFill>
              <a:srgbClr val="12897B"/>
            </a:solidFill>
            <a:prstDash val="solid"/>
          </a:ln>
        </p:spPr>
      </p:sp>
      <p:sp>
        <p:nvSpPr>
          <p:cNvPr id="28" name="Text 26"/>
          <p:cNvSpPr/>
          <p:nvPr/>
        </p:nvSpPr>
        <p:spPr>
          <a:xfrm>
            <a:off x="749808" y="2340864"/>
            <a:ext cx="3931920" cy="566928"/>
          </a:xfrm>
          <a:prstGeom prst="rect">
            <a:avLst/>
          </a:prstGeom>
          <a:noFill/>
          <a:ln/>
        </p:spPr>
        <p:txBody>
          <a:bodyPr wrap="square" lIns="0" tIns="0" rIns="0" bIns="0" rtlCol="0" anchor="ctr"/>
          <a:lstStyle/>
          <a:p>
            <a:pPr indent="0" marL="0">
              <a:buNone/>
            </a:pPr>
            <a:r>
              <a:rPr lang="en-US" sz="1150" b="1" dirty="0">
                <a:solidFill>
                  <a:srgbClr val="12897B"/>
                </a:solidFill>
                <a:latin typeface="Courier New" pitchFamily="34" charset="0"/>
                <a:ea typeface="Courier New" pitchFamily="34" charset="-122"/>
                <a:cs typeface="Courier New" pitchFamily="34" charset="-120"/>
              </a:rPr>
              <a:t>netmesh check …</a:t>
            </a:r>
            <a:endParaRPr lang="en-US" sz="1150" dirty="0"/>
          </a:p>
        </p:txBody>
      </p:sp>
      <p:sp>
        <p:nvSpPr>
          <p:cNvPr id="29" name="Text 27"/>
          <p:cNvSpPr/>
          <p:nvPr/>
        </p:nvSpPr>
        <p:spPr>
          <a:xfrm>
            <a:off x="5001768" y="2340864"/>
            <a:ext cx="5212080" cy="566928"/>
          </a:xfrm>
          <a:prstGeom prst="rect">
            <a:avLst/>
          </a:prstGeom>
          <a:noFill/>
          <a:ln/>
        </p:spPr>
        <p:txBody>
          <a:bodyPr wrap="square" lIns="0" tIns="0" rIns="0" bIns="0" rtlCol="0" anchor="ctr"/>
          <a:lstStyle/>
          <a:p>
            <a:pPr indent="0" marL="0">
              <a:buNone/>
            </a:pPr>
            <a:r>
              <a:rPr lang="en-US" sz="1150" dirty="0">
                <a:solidFill>
                  <a:srgbClr val="9FB0C1"/>
                </a:solidFill>
                <a:latin typeface="Calibri" pitchFamily="34" charset="0"/>
                <a:ea typeface="Calibri" pitchFamily="34" charset="-122"/>
                <a:cs typeface="Calibri" pitchFamily="34" charset="-120"/>
              </a:rPr>
              <a:t>idle baseline: RTT, loss, MTU — is the fabric even healthy?</a:t>
            </a:r>
            <a:endParaRPr lang="en-US" sz="1150" dirty="0"/>
          </a:p>
        </p:txBody>
      </p:sp>
      <p:sp>
        <p:nvSpPr>
          <p:cNvPr id="30" name="Shape 28"/>
          <p:cNvSpPr/>
          <p:nvPr/>
        </p:nvSpPr>
        <p:spPr>
          <a:xfrm>
            <a:off x="566928" y="3035808"/>
            <a:ext cx="4206240" cy="566928"/>
          </a:xfrm>
          <a:prstGeom prst="roundRect">
            <a:avLst>
              <a:gd name="adj" fmla="val 12903"/>
            </a:avLst>
          </a:prstGeom>
          <a:solidFill>
            <a:srgbClr val="16283E"/>
          </a:solidFill>
          <a:ln w="15875">
            <a:solidFill>
              <a:srgbClr val="D97C1F"/>
            </a:solidFill>
            <a:prstDash val="solid"/>
          </a:ln>
        </p:spPr>
      </p:sp>
      <p:sp>
        <p:nvSpPr>
          <p:cNvPr id="31" name="Text 29"/>
          <p:cNvSpPr/>
          <p:nvPr/>
        </p:nvSpPr>
        <p:spPr>
          <a:xfrm>
            <a:off x="749808" y="3035808"/>
            <a:ext cx="3931920" cy="566928"/>
          </a:xfrm>
          <a:prstGeom prst="rect">
            <a:avLst/>
          </a:prstGeom>
          <a:noFill/>
          <a:ln/>
        </p:spPr>
        <p:txBody>
          <a:bodyPr wrap="square" lIns="0" tIns="0" rIns="0" bIns="0" rtlCol="0" anchor="ctr"/>
          <a:lstStyle/>
          <a:p>
            <a:pPr indent="0" marL="0">
              <a:buNone/>
            </a:pPr>
            <a:r>
              <a:rPr lang="en-US" sz="1150" b="1" dirty="0">
                <a:solidFill>
                  <a:srgbClr val="D97C1F"/>
                </a:solidFill>
                <a:latin typeface="Courier New" pitchFamily="34" charset="0"/>
                <a:ea typeface="Courier New" pitchFamily="34" charset="-122"/>
                <a:cs typeface="Courier New" pitchFamily="34" charset="-120"/>
              </a:rPr>
              <a:t>iperf-orchestrator all</a:t>
            </a:r>
            <a:endParaRPr lang="en-US" sz="1150" dirty="0"/>
          </a:p>
        </p:txBody>
      </p:sp>
      <p:sp>
        <p:nvSpPr>
          <p:cNvPr id="32" name="Text 30"/>
          <p:cNvSpPr/>
          <p:nvPr/>
        </p:nvSpPr>
        <p:spPr>
          <a:xfrm>
            <a:off x="5001768" y="3035808"/>
            <a:ext cx="5212080" cy="566928"/>
          </a:xfrm>
          <a:prstGeom prst="rect">
            <a:avLst/>
          </a:prstGeom>
          <a:noFill/>
          <a:ln/>
        </p:spPr>
        <p:txBody>
          <a:bodyPr wrap="square" lIns="0" tIns="0" rIns="0" bIns="0" rtlCol="0" anchor="ctr"/>
          <a:lstStyle/>
          <a:p>
            <a:pPr indent="0" marL="0">
              <a:buNone/>
            </a:pPr>
            <a:r>
              <a:rPr lang="en-US" sz="1150" dirty="0">
                <a:solidFill>
                  <a:srgbClr val="9FB0C1"/>
                </a:solidFill>
                <a:latin typeface="Calibri" pitchFamily="34" charset="0"/>
                <a:ea typeface="Calibri" pitchFamily="34" charset="-122"/>
                <a:cs typeface="Calibri" pitchFamily="34" charset="-120"/>
              </a:rPr>
              <a:t>TCP bandwidth, every link both ways — what breaks under load?</a:t>
            </a:r>
            <a:endParaRPr lang="en-US" sz="1150" dirty="0"/>
          </a:p>
        </p:txBody>
      </p:sp>
      <p:sp>
        <p:nvSpPr>
          <p:cNvPr id="33" name="Shape 31"/>
          <p:cNvSpPr/>
          <p:nvPr/>
        </p:nvSpPr>
        <p:spPr>
          <a:xfrm>
            <a:off x="566928" y="3730752"/>
            <a:ext cx="4206240" cy="566928"/>
          </a:xfrm>
          <a:prstGeom prst="roundRect">
            <a:avLst>
              <a:gd name="adj" fmla="val 12903"/>
            </a:avLst>
          </a:prstGeom>
          <a:solidFill>
            <a:srgbClr val="16283E"/>
          </a:solidFill>
          <a:ln w="15875">
            <a:solidFill>
              <a:srgbClr val="BE3B4E"/>
            </a:solidFill>
            <a:prstDash val="solid"/>
          </a:ln>
        </p:spPr>
      </p:sp>
      <p:sp>
        <p:nvSpPr>
          <p:cNvPr id="34" name="Text 32"/>
          <p:cNvSpPr/>
          <p:nvPr/>
        </p:nvSpPr>
        <p:spPr>
          <a:xfrm>
            <a:off x="749808" y="3730752"/>
            <a:ext cx="3931920" cy="566928"/>
          </a:xfrm>
          <a:prstGeom prst="rect">
            <a:avLst/>
          </a:prstGeom>
          <a:noFill/>
          <a:ln/>
        </p:spPr>
        <p:txBody>
          <a:bodyPr wrap="square" lIns="0" tIns="0" rIns="0" bIns="0" rtlCol="0" anchor="ctr"/>
          <a:lstStyle/>
          <a:p>
            <a:pPr indent="0" marL="0">
              <a:buNone/>
            </a:pPr>
            <a:r>
              <a:rPr lang="en-US" sz="1150" b="1" dirty="0">
                <a:solidFill>
                  <a:srgbClr val="BE3B4E"/>
                </a:solidFill>
                <a:latin typeface="Courier New" pitchFamily="34" charset="0"/>
                <a:ea typeface="Courier New" pitchFamily="34" charset="-122"/>
                <a:cs typeface="Courier New" pitchFamily="34" charset="-120"/>
              </a:rPr>
              <a:t>mx run --for 300</a:t>
            </a:r>
            <a:endParaRPr lang="en-US" sz="1150" dirty="0"/>
          </a:p>
        </p:txBody>
      </p:sp>
      <p:sp>
        <p:nvSpPr>
          <p:cNvPr id="35" name="Text 33"/>
          <p:cNvSpPr/>
          <p:nvPr/>
        </p:nvSpPr>
        <p:spPr>
          <a:xfrm>
            <a:off x="5001768" y="3730752"/>
            <a:ext cx="5212080" cy="566928"/>
          </a:xfrm>
          <a:prstGeom prst="rect">
            <a:avLst/>
          </a:prstGeom>
          <a:noFill/>
          <a:ln/>
        </p:spPr>
        <p:txBody>
          <a:bodyPr wrap="square" lIns="0" tIns="0" rIns="0" bIns="0" rtlCol="0" anchor="ctr"/>
          <a:lstStyle/>
          <a:p>
            <a:pPr indent="0" marL="0">
              <a:buNone/>
            </a:pPr>
            <a:r>
              <a:rPr lang="en-US" sz="1150" dirty="0">
                <a:solidFill>
                  <a:srgbClr val="9FB0C1"/>
                </a:solidFill>
                <a:latin typeface="Calibri" pitchFamily="34" charset="0"/>
                <a:ea typeface="Calibri" pitchFamily="34" charset="-122"/>
                <a:cs typeface="Calibri" pitchFamily="34" charset="-120"/>
              </a:rPr>
              <a:t>answered packets/sec — the RPC-shaped ceiling</a:t>
            </a:r>
            <a:endParaRPr lang="en-US" sz="1150" dirty="0"/>
          </a:p>
        </p:txBody>
      </p:sp>
      <p:sp>
        <p:nvSpPr>
          <p:cNvPr id="36" name="Shape 34"/>
          <p:cNvSpPr/>
          <p:nvPr/>
        </p:nvSpPr>
        <p:spPr>
          <a:xfrm>
            <a:off x="566928" y="4425696"/>
            <a:ext cx="4206240" cy="566928"/>
          </a:xfrm>
          <a:prstGeom prst="roundRect">
            <a:avLst>
              <a:gd name="adj" fmla="val 12903"/>
            </a:avLst>
          </a:prstGeom>
          <a:solidFill>
            <a:srgbClr val="16283E"/>
          </a:solidFill>
          <a:ln w="15875">
            <a:solidFill>
              <a:srgbClr val="12897B"/>
            </a:solidFill>
            <a:prstDash val="solid"/>
          </a:ln>
        </p:spPr>
      </p:sp>
      <p:sp>
        <p:nvSpPr>
          <p:cNvPr id="37" name="Text 35"/>
          <p:cNvSpPr/>
          <p:nvPr/>
        </p:nvSpPr>
        <p:spPr>
          <a:xfrm>
            <a:off x="749808" y="4425696"/>
            <a:ext cx="3931920" cy="566928"/>
          </a:xfrm>
          <a:prstGeom prst="rect">
            <a:avLst/>
          </a:prstGeom>
          <a:noFill/>
          <a:ln/>
        </p:spPr>
        <p:txBody>
          <a:bodyPr wrap="square" lIns="0" tIns="0" rIns="0" bIns="0" rtlCol="0" anchor="ctr"/>
          <a:lstStyle/>
          <a:p>
            <a:pPr indent="0" marL="0">
              <a:buNone/>
            </a:pPr>
            <a:r>
              <a:rPr lang="en-US" sz="1150" b="1" dirty="0">
                <a:solidFill>
                  <a:srgbClr val="12897B"/>
                </a:solidFill>
                <a:latin typeface="Courier New" pitchFamily="34" charset="0"/>
                <a:ea typeface="Courier New" pitchFamily="34" charset="-122"/>
                <a:cs typeface="Courier New" pitchFamily="34" charset="-120"/>
              </a:rPr>
              <a:t>netmesh run --baseline 20 -- &lt;load&gt;</a:t>
            </a:r>
            <a:endParaRPr lang="en-US" sz="1150" dirty="0"/>
          </a:p>
        </p:txBody>
      </p:sp>
      <p:sp>
        <p:nvSpPr>
          <p:cNvPr id="38" name="Text 36"/>
          <p:cNvSpPr/>
          <p:nvPr/>
        </p:nvSpPr>
        <p:spPr>
          <a:xfrm>
            <a:off x="5001768" y="4425696"/>
            <a:ext cx="5212080" cy="566928"/>
          </a:xfrm>
          <a:prstGeom prst="rect">
            <a:avLst/>
          </a:prstGeom>
          <a:noFill/>
          <a:ln/>
        </p:spPr>
        <p:txBody>
          <a:bodyPr wrap="square" lIns="0" tIns="0" rIns="0" bIns="0" rtlCol="0" anchor="ctr"/>
          <a:lstStyle/>
          <a:p>
            <a:pPr indent="0" marL="0">
              <a:buNone/>
            </a:pPr>
            <a:r>
              <a:rPr lang="en-US" sz="1150" dirty="0">
                <a:solidFill>
                  <a:srgbClr val="9FB0C1"/>
                </a:solidFill>
                <a:latin typeface="Calibri" pitchFamily="34" charset="0"/>
                <a:ea typeface="Calibri" pitchFamily="34" charset="-122"/>
                <a:cs typeface="Calibri" pitchFamily="34" charset="-120"/>
              </a:rPr>
              <a:t>what the load did to latency — the number everyone else pays</a:t>
            </a:r>
            <a:endParaRPr lang="en-US" sz="1150" dirty="0"/>
          </a:p>
        </p:txBody>
      </p:sp>
      <p:sp>
        <p:nvSpPr>
          <p:cNvPr id="39" name="Text 37"/>
          <p:cNvSpPr/>
          <p:nvPr/>
        </p:nvSpPr>
        <p:spPr>
          <a:xfrm>
            <a:off x="566928" y="5349240"/>
            <a:ext cx="365760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Take these home</a:t>
            </a:r>
            <a:endParaRPr lang="en-US" sz="1300" dirty="0"/>
          </a:p>
        </p:txBody>
      </p:sp>
      <p:sp>
        <p:nvSpPr>
          <p:cNvPr id="40" name="Text 38"/>
          <p:cNvSpPr/>
          <p:nvPr/>
        </p:nvSpPr>
        <p:spPr>
          <a:xfrm>
            <a:off x="566928" y="5715000"/>
            <a:ext cx="8778240" cy="914400"/>
          </a:xfrm>
          <a:prstGeom prst="rect">
            <a:avLst/>
          </a:prstGeom>
          <a:noFill/>
          <a:ln/>
        </p:spPr>
        <p:txBody>
          <a:bodyPr wrap="square" lIns="0" tIns="0" rIns="0" bIns="0" rtlCol="0" anchor="ctr"/>
          <a:lstStyle/>
          <a:p>
            <a:pPr indent="0" marL="0">
              <a:buNone/>
            </a:pPr>
            <a:r>
              <a:rPr lang="en-US" sz="1200" dirty="0">
                <a:solidFill>
                  <a:srgbClr val="9FB0C1"/>
                </a:solidFill>
                <a:latin typeface="Calibri" pitchFamily="34" charset="0"/>
                <a:ea typeface="Calibri" pitchFamily="34" charset="-122"/>
                <a:cs typeface="Calibri" pitchFamily="34" charset="-120"/>
              </a:rPr>
              <a:t>Baseline before load — a throughput number without its idle RTT is half a result.   </a:t>
            </a:r>
            <a:endParaRPr lang="en-US" sz="1200" dirty="0"/>
          </a:p>
          <a:p>
            <a:pPr indent="0" marL="0">
              <a:buNone/>
            </a:pPr>
            <a:r>
              <a:rPr lang="en-US" sz="1200" dirty="0">
                <a:solidFill>
                  <a:srgbClr val="9FB0C1"/>
                </a:solidFill>
                <a:latin typeface="Calibri" pitchFamily="34" charset="0"/>
                <a:ea typeface="Calibri" pitchFamily="34" charset="-122"/>
                <a:cs typeface="Calibri" pitchFamily="34" charset="-120"/>
              </a:rPr>
              <a:t>Trust what arrived, not what was sent — and watch the CPU, or you’re measuring the tool.   </a:t>
            </a:r>
            <a:endParaRPr lang="en-US" sz="1200" dirty="0"/>
          </a:p>
          <a:p>
            <a:pPr indent="0" marL="0">
              <a:buNone/>
            </a:pPr>
            <a:r>
              <a:rPr lang="en-US" sz="1200" dirty="0">
                <a:solidFill>
                  <a:srgbClr val="9FB0C1"/>
                </a:solidFill>
                <a:latin typeface="Calibri" pitchFamily="34" charset="0"/>
                <a:ea typeface="Calibri" pitchFamily="34" charset="-122"/>
                <a:cs typeface="Calibri" pitchFamily="34" charset="-120"/>
              </a:rPr>
              <a:t>Keep the list real — reachable is why the whole pipeline still runs when servers are down.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 Testing at Fleet Scale</dc:title>
  <dc:subject>PptxGenJS Presentation</dc:subject>
  <dc:creator>Martin Gallagher</dc:creator>
  <cp:lastModifiedBy>Martin Gallagher</cp:lastModifiedBy>
  <cp:revision>1</cp:revision>
  <dcterms:created xsi:type="dcterms:W3CDTF">2026-08-18T17:12:32Z</dcterms:created>
  <dcterms:modified xsi:type="dcterms:W3CDTF">2026-08-18T17:12:32Z</dcterms:modified>
</cp:coreProperties>
</file>