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frame for the whole talk. Bandwidth, packet rate and latency fail independently, so no single tool can tell you the network is fine. netmesh is cheap enough to run during an incident; iperf_orchestrator is the scheduled stress test; mx is the request/response rate test that looks like real RPC and storage traffic. Because they share one host-list grammar and one deployment model, learning one means you know how to drive all three.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alternative is a week of hand-run iperf, ad-hoc pssh loops, and numbers nobody trusts. Each tool is complete on its own — grab the one that matches the question in front of you. The shared conventions are a convenience, not a dependency: one servers.txt works everywhere, and the gen / start / status / summarize / stop / clean verbs mean the muscle memory transfers.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"can the test still run when several servers are down?" — twice over. First, prune: reachable keeps the list true, distinguishes a key problem from a dead box (auth / refused / dns / no-route / timeout / down), and converges instead of decaying. Second, the tools themselves tolerate failures mid-run: per-host failures are reported and skipped, not fatal. reachable prod.txt -i before every big run is the habit to sell.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goal, not the implementation: a mesh of N hosts has N·(N−1)/2 pairs, and the only way to truly max out a fabric in a short window is to orchestrate all of them at once — that's the tool's whole reason to exist. Mention only in passing that it happens to be a single script; what matters is that servers need zero setup beyond iperf and an ssh key.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beat here for anyone who hasn't used iperf. The mental model: it answers "how fast is the pipe between A and B, really?" by filling it. Emphasize that the number includes the whole path — a slow result can be the NIC, the host's CPU, or the network, which is exactly why the orchestrator also samples CPU. The pair-at-a-time limitation is the segue to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was a real problem hit and fixed — the tool is the accumulated answers. Worth a warning: some distros ship "iperf" as a symlink to iperf3; the check-iperf preflight catches that (WRONG_VERSION). The parity rule detail if asked: for pair {i, j}, the client is the smaller index when i+j is even, the larger when odd — both ends compute it independently, so no coordination is needed.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non-specialist: one command does the whole pipeline, and each box in the flow is also a standalone subcommand for day-2 work — re-render a heatmap, re-collect from one host, re-run just the analysis. The reading order matters more than any switch: heatmap for *where*, CPU for *whether to believe it*, summary for *how bad*. Narration extras if asked: collection is batched one archive per host, and the remote directory is safe on shared filesystems because every file embeds host + run-id.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it as one dial, four positions. parallel is realism: everything contends, like a bad day in production. The sequential modes buy isolation with time. rolling gives up the synchronized snapshot entirely in exchange for a constant, gentle load that works at any fleet size. The next four slides take them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mode the tool was built for and the one to demo. Set expectations about the numbers: under full contention a 10G host talking to 49 peers won't show 10G to each — you're reading the *distribution* and its outliers, not absolute line rate. If something looks bad here, the next two modes are how you isolate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parallel/sequential-host comparison is the diagnostic one-two punch: the first finds the suspect, the second tells you whether it's the host or the fabric. This is also the mode for baselining what "good" looks like per host class before a stress run.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trap to warn about: running sequential-pair across a big fleet because it's "the accurate one". It is — and it's quadratic. The right use is surgical: three or four hosts you already suspect, cleanest numbers in minutes, then escalate to path-level tools if it's still slow.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contrast to land: parallel is one synchronized photograph of the fleet under maximum load; rolling is a long exposure at gentle, constant load. At 1,000 hosts a full mesh is half a million pairs — rolling is the only shape that stays sane there, and its per-host load being independent of fleet size is the property that makes it safe.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and the next slide are the take-home reference. If demoing live, four small VMs are plenty. The two preflights catch ninety percent of first-run failures: missing local python packages, iperf secretly being iperf3, mpstat absent, or a host that still wants a password.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habits to leave the audience with: heatmap → CPU → summary, in that order; bump --duration and -P when a single 10-second stream can't fill the pipe (common on 25G+); and treat run folders as records — the before/after diff across a change window is often the most valuable artifact the tool produces.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contrast with a picture in words: a fabric can move 100 gigabits of bulk TCP happily and still collapse at two million answered packets per second — and your database traffic looks like the second thing, not the first. If asked why UDP: TCP would quietly merge small packets together, so a "packets per second" number over TCP would be fiction. The two tools are two halves of the load story: iperf_orchestrator for bytes, mx for packets.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theme is honesty: receiver-counted delivery, split loss, refusal to report numbers that can't be true, and self-awareness about its own ceiling. That last one matters most in practice — a load generator that silently saturates makes the network look guilty; this one names itself and names the fix (more workers, more streams, or more hosts).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simpler than iperf_orchestrator: six verbs and one file. Also worth naming the helpers — mx doctor checks the fleet is ready, mx check asks "can the NICs even carry what you're about to request?", and mx hints turns a goal ("2 million packets per second per host") into the exact command.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tool's real interface, and the mid-stream story: investigations are edits. Agents redeploy in seconds and reports keep accumulating, so iterating on the traffic shape mid-session is normal, not exceptional.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 of thumb for the room: believe what arrived, not what was sent — then check whether the tool itself was working too hard before blaming the fabric. The performance model in one breath: roughly 200k packets/sec per worker process per core, times workers, times hosts; mx hints does that arithmetic for you.</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Queues fill before packets drop, so latency is the early warning — that ordering is the one thing to remember from this slide. Run mx check first so you never spend an afternoon discovering you asked a 10G NIC for 25G of replies.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intuition without the math: a random 8-peer assignment already spreads load evenly and crosses every layer of the fabric — the full mesh isn't needed for equal load, only for complete pair coverage, and the rotation buys that back at the same cost. A thousand-host fleet gets every-pair coverage every few minutes on eight sockets per host. The construction is seeded and replayable if anyone asks.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shape as the iperf_orchestrator tutorial on purpose: list, preflight, one command. For a live demo three small VMs are enough — and mx selftest-style confidence comes from mx doctor plus a tiny --pps first run.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to model: run, summarize, edit the matrix, run again — an investigation loop measured in seconds. Collect logs and summaries before clean; after clean there is genuinely nothing left, which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one-sentence pitch: a 9.4 gigabit result over a 300-microsecond path and the same result over a 42-millisecond path are different results — netmesh is how you know which one you have. It's also the tool to reach for first in an incident, because it's the only one of the three that's safe to point at production while users are on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endpoints you can't put an agent on — a VIP, a router, an appliance — prefix the host with ~ and it falls back to ping, but those rows are clearly quarantined in the report as one-sided, because they carry less truth. The theme continues: every number quoted is one that is actually true.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diagnosis is computed from the data, not canned: slow pairs sharing a source point at that host's egress; sharing a destination, its ingress; crossing a rack boundary, the path between. The under-load section is the bridge back to the other two tools — wrap netmesh around an iperf or mx run and the latency cost of the throughput number appears in the same report.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comparison trick in paths --compare is the practical gem: a sick route diffed against a healthy one turns "somewhere in the fabric" into "this hop". And the report itself tells you when to stop debugging the network — a clean baseline pointing you at the load tools closes the loop of the talk.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selftest first is the confidence builder — two agents over loopback, no second machine, no privileges. Then the two-host check is genuinely the whole experience for most users; --flows is the flag to remember when a fault reproduces only sometimes, because which bundle member you hash onto is luck until you sweep.</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 wrapper is the closing move of the whole talk: baseline, then load, one report showing both. Grids land next to mx's grids in the same spreadsheet. And the honesty rule one last time — a pair that stopped answering writes blanks, because averaging zeros in would flatter the baseline, and a baseline tool must never flatter.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flow left to right, one sentence per box — it's the whole talk replayed in thirty seconds. Each stage's answer is the context for the next: a pruned list makes the baseline trustworthy, the baseline makes the load numbers readable, and the two load ceilings — bytes and packets — bracket what the fabric can really do. The last box closes the loop: throughput always has a latency price, and measuring it is one wrapper command. Everything installs with pip; netmesh and reachable ship together in one package alongside the two orchestrators.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878824" y="822960"/>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436608" y="82296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994392" y="82296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552176" y="822960"/>
            <a:ext cx="457200" cy="457200"/>
          </a:xfrm>
          <a:prstGeom prst="roundRect">
            <a:avLst>
              <a:gd name="adj" fmla="val 10000"/>
            </a:avLst>
          </a:prstGeom>
          <a:solidFill>
            <a:srgbClr val="C87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109959" y="82296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1667744" y="822960"/>
            <a:ext cx="457200" cy="457200"/>
          </a:xfrm>
          <a:prstGeom prst="roundRect">
            <a:avLst>
              <a:gd name="adj" fmla="val 10000"/>
            </a:avLst>
          </a:prstGeom>
          <a:solidFill>
            <a:srgbClr val="C87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321040" y="138074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436608" y="138074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994392" y="138074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52176" y="138074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109959" y="1380744"/>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667744" y="138074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321040" y="193852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878824" y="1938528"/>
            <a:ext cx="457200" cy="457200"/>
          </a:xfrm>
          <a:prstGeom prst="roundRect">
            <a:avLst>
              <a:gd name="adj" fmla="val 10000"/>
            </a:avLst>
          </a:prstGeom>
          <a:solidFill>
            <a:srgbClr val="C87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994392" y="193852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552176" y="193852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1109959" y="193852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1667744" y="193852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321040" y="2496312"/>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78824" y="2496312"/>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436608" y="2496312"/>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552176" y="2496312"/>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1109959" y="2496312"/>
            <a:ext cx="457200" cy="457200"/>
          </a:xfrm>
          <a:prstGeom prst="roundRect">
            <a:avLst>
              <a:gd name="adj" fmla="val 10000"/>
            </a:avLst>
          </a:prstGeom>
          <a:solidFill>
            <a:srgbClr val="C87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1667744" y="2496312"/>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321040" y="3054096"/>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878824" y="3054096"/>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436608" y="3054096"/>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994392" y="3054096"/>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1109959" y="3054096"/>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1667744" y="3054096"/>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321040" y="3611879"/>
            <a:ext cx="457200" cy="457200"/>
          </a:xfrm>
          <a:prstGeom prst="roundRect">
            <a:avLst>
              <a:gd name="adj" fmla="val 10000"/>
            </a:avLst>
          </a:prstGeom>
          <a:solidFill>
            <a:srgbClr val="C87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78824" y="3611879"/>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436608" y="3611879"/>
            <a:ext cx="457200" cy="457200"/>
          </a:xfrm>
          <a:prstGeom prst="roundRect">
            <a:avLst>
              <a:gd name="adj" fmla="val 10000"/>
            </a:avLst>
          </a:prstGeom>
          <a:solidFill>
            <a:srgbClr val="C87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994392" y="3611879"/>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0552176" y="3611879"/>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1667744" y="3611879"/>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321040" y="416966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878824" y="4169664"/>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436608" y="416966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994392" y="4169664"/>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0552176" y="416966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1109959" y="416966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10712013" y="4480560"/>
            <a:ext cx="310896" cy="310896"/>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11091306" y="4480560"/>
            <a:ext cx="310896" cy="310896"/>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11470599" y="4480560"/>
            <a:ext cx="310896" cy="310896"/>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0332720" y="4859853"/>
            <a:ext cx="310896" cy="310896"/>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11091306" y="4859853"/>
            <a:ext cx="310896" cy="310896"/>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1470599" y="4859853"/>
            <a:ext cx="310896" cy="310896"/>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10332720" y="5239146"/>
            <a:ext cx="310896" cy="310896"/>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10712013" y="5239146"/>
            <a:ext cx="310896" cy="310896"/>
          </a:xfrm>
          <a:prstGeom prst="roundRect">
            <a:avLst>
              <a:gd name="adj" fmla="val 10000"/>
            </a:avLst>
          </a:prstGeom>
          <a:solidFill>
            <a:srgbClr val="0F7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1470599" y="5239146"/>
            <a:ext cx="310896" cy="310896"/>
          </a:xfrm>
          <a:prstGeom prst="roundRect">
            <a:avLst>
              <a:gd name="adj" fmla="val 10000"/>
            </a:avLst>
          </a:prstGeom>
          <a:solidFill>
            <a:srgbClr val="0F7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10332720" y="5618439"/>
            <a:ext cx="310896" cy="310896"/>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10712013" y="5618439"/>
            <a:ext cx="310896" cy="310896"/>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11091306" y="5618439"/>
            <a:ext cx="310896" cy="310896"/>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66928" y="1371600"/>
            <a:ext cx="8229600" cy="365760"/>
          </a:xfrm>
          <a:prstGeom prst="rect">
            <a:avLst/>
          </a:prstGeom>
          <a:noFill/>
        </p:spPr>
        <p:txBody>
          <a:bodyPr wrap="square" lIns="0" rIns="0" tIns="0" bIns="0">
            <a:spAutoFit/>
          </a:bodyPr>
          <a:lstStyle/>
          <a:p>
            <a:pPr algn="l"/>
            <a:r>
              <a:rPr sz="1200" b="1">
                <a:solidFill>
                  <a:srgbClr val="C8721C"/>
                </a:solidFill>
                <a:latin typeface="Calibri"/>
              </a:rPr>
              <a:t>FLEET NETWORK TESTING</a:t>
            </a:r>
          </a:p>
        </p:txBody>
      </p:sp>
      <p:sp>
        <p:nvSpPr>
          <p:cNvPr id="58" name="TextBox 57"/>
          <p:cNvSpPr txBox="1"/>
          <p:nvPr/>
        </p:nvSpPr>
        <p:spPr>
          <a:xfrm>
            <a:off x="566928" y="1783080"/>
            <a:ext cx="7498079" cy="1645920"/>
          </a:xfrm>
          <a:prstGeom prst="rect">
            <a:avLst/>
          </a:prstGeom>
          <a:noFill/>
        </p:spPr>
        <p:txBody>
          <a:bodyPr wrap="square" lIns="0" rIns="0" tIns="0" bIns="0">
            <a:spAutoFit/>
          </a:bodyPr>
          <a:lstStyle/>
          <a:p>
            <a:r>
              <a:rPr sz="4400" b="1">
                <a:solidFill>
                  <a:srgbClr val="FFFFFF"/>
                </a:solidFill>
                <a:latin typeface="Calibri"/>
              </a:rPr>
              <a:t>Network Testing at Fleet Scale</a:t>
            </a:r>
          </a:p>
        </p:txBody>
      </p:sp>
      <p:sp>
        <p:nvSpPr>
          <p:cNvPr id="59" name="TextBox 58"/>
          <p:cNvSpPr txBox="1"/>
          <p:nvPr/>
        </p:nvSpPr>
        <p:spPr>
          <a:xfrm>
            <a:off x="566928" y="3291840"/>
            <a:ext cx="7680960" cy="457200"/>
          </a:xfrm>
          <a:prstGeom prst="rect">
            <a:avLst/>
          </a:prstGeom>
          <a:noFill/>
        </p:spPr>
        <p:txBody>
          <a:bodyPr wrap="square" lIns="0" rIns="0" tIns="0" bIns="0">
            <a:spAutoFit/>
          </a:bodyPr>
          <a:lstStyle/>
          <a:p>
            <a:r>
              <a:rPr sz="1700" b="1">
                <a:solidFill>
                  <a:srgbClr val="C8721C"/>
                </a:solidFill>
                <a:latin typeface="Consolas"/>
              </a:rPr>
              <a:t>iperf_orchestrator</a:t>
            </a:r>
            <a:r>
              <a:rPr sz="1700">
                <a:solidFill>
                  <a:srgbClr val="9FB0C1"/>
                </a:solidFill>
                <a:latin typeface="Consolas"/>
              </a:rPr>
              <a:t>   ·   </a:t>
            </a:r>
            <a:r>
              <a:rPr sz="1700" b="1">
                <a:solidFill>
                  <a:srgbClr val="B0384A"/>
                </a:solidFill>
                <a:latin typeface="Consolas"/>
              </a:rPr>
              <a:t>matrix_orchestrator</a:t>
            </a:r>
            <a:r>
              <a:rPr sz="1700">
                <a:solidFill>
                  <a:srgbClr val="9FB0C1"/>
                </a:solidFill>
                <a:latin typeface="Consolas"/>
              </a:rPr>
              <a:t>   ·   </a:t>
            </a:r>
            <a:r>
              <a:rPr sz="1700" b="1">
                <a:solidFill>
                  <a:srgbClr val="0F7D71"/>
                </a:solidFill>
                <a:latin typeface="Consolas"/>
              </a:rPr>
              <a:t>netmesh</a:t>
            </a:r>
          </a:p>
        </p:txBody>
      </p:sp>
      <p:sp>
        <p:nvSpPr>
          <p:cNvPr id="60" name="TextBox 59"/>
          <p:cNvSpPr txBox="1"/>
          <p:nvPr/>
        </p:nvSpPr>
        <p:spPr>
          <a:xfrm>
            <a:off x="566928" y="3886200"/>
            <a:ext cx="7498079" cy="365760"/>
          </a:xfrm>
          <a:prstGeom prst="rect">
            <a:avLst/>
          </a:prstGeom>
          <a:noFill/>
        </p:spPr>
        <p:txBody>
          <a:bodyPr wrap="square" lIns="0" rIns="0" tIns="0" bIns="0">
            <a:spAutoFit/>
          </a:bodyPr>
          <a:lstStyle/>
          <a:p>
            <a:pPr algn="l"/>
            <a:r>
              <a:rPr sz="1400" b="0">
                <a:solidFill>
                  <a:srgbClr val="9FB0C1"/>
                </a:solidFill>
                <a:latin typeface="Calibri"/>
              </a:rPr>
              <a:t>and reachable, keeping the server list honest</a:t>
            </a:r>
          </a:p>
        </p:txBody>
      </p:sp>
      <p:sp>
        <p:nvSpPr>
          <p:cNvPr id="61" name="TextBox 60"/>
          <p:cNvSpPr txBox="1"/>
          <p:nvPr/>
        </p:nvSpPr>
        <p:spPr>
          <a:xfrm>
            <a:off x="566928" y="5760720"/>
            <a:ext cx="5486400" cy="365760"/>
          </a:xfrm>
          <a:prstGeom prst="rect">
            <a:avLst/>
          </a:prstGeom>
          <a:noFill/>
        </p:spPr>
        <p:txBody>
          <a:bodyPr wrap="square" lIns="0" rIns="0" tIns="0" bIns="0">
            <a:spAutoFit/>
          </a:bodyPr>
          <a:lstStyle/>
          <a:p>
            <a:pPr algn="l"/>
            <a:r>
              <a:rPr sz="1400" b="1">
                <a:solidFill>
                  <a:srgbClr val="FFFFFF"/>
                </a:solidFill>
                <a:latin typeface="Calibri"/>
              </a:rPr>
              <a:t>Martin Gallagher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3E5C76"/>
                </a:solidFill>
                <a:latin typeface="Calibri"/>
              </a:rPr>
              <a:t>OVERVIEW</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Three questions, three tools</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2</a:t>
            </a:r>
          </a:p>
        </p:txBody>
      </p:sp>
      <p:sp>
        <p:nvSpPr>
          <p:cNvPr id="7" name="TextBox 6"/>
          <p:cNvSpPr txBox="1"/>
          <p:nvPr/>
        </p:nvSpPr>
        <p:spPr>
          <a:xfrm>
            <a:off x="566928" y="1389888"/>
            <a:ext cx="11057839" cy="527304"/>
          </a:xfrm>
          <a:prstGeom prst="rect">
            <a:avLst/>
          </a:prstGeom>
          <a:noFill/>
        </p:spPr>
        <p:txBody>
          <a:bodyPr wrap="square" lIns="0" rIns="0" tIns="0" bIns="0">
            <a:normAutofit/>
          </a:bodyPr>
          <a:lstStyle/>
          <a:p>
            <a:pPr>
              <a:spcAft>
                <a:spcPts val="700"/>
              </a:spcAft>
            </a:pPr>
            <a:r>
              <a:rPr b="0" sz="1300">
                <a:solidFill>
                  <a:srgbClr val="1C2B3A"/>
                </a:solidFill>
                <a:latin typeface="Calibri"/>
              </a:rPr>
              <a:t>Testing a fleet's network really means answering three different questions — each tool here answers one of them.</a:t>
            </a:r>
          </a:p>
        </p:txBody>
      </p:sp>
      <p:graphicFrame>
        <p:nvGraphicFramePr>
          <p:cNvPr id="8" name="Table 7"/>
          <p:cNvGraphicFramePr>
            <a:graphicFrameLocks noGrp="1"/>
          </p:cNvGraphicFramePr>
          <p:nvPr/>
        </p:nvGraphicFramePr>
        <p:xfrm>
          <a:off x="566928" y="1990344"/>
          <a:ext cx="11057837" cy="2376551"/>
        </p:xfrm>
        <a:graphic>
          <a:graphicData uri="http://schemas.openxmlformats.org/drawingml/2006/table">
            <a:tbl>
              <a:tblPr>
                <a:tableStyleId>{5C22544A-7EE6-4342-B048-85BDC9FD1C3A}</a:tableStyleId>
              </a:tblPr>
              <a:tblGrid>
                <a:gridCol w="1977780"/>
                <a:gridCol w="3980574"/>
                <a:gridCol w="2215593"/>
                <a:gridCol w="2883890"/>
              </a:tblGrid>
              <a:tr h="352679">
                <a:tc>
                  <a:txBody>
                    <a:bodyPr/>
                    <a:lstStyle/>
                    <a:p>
                      <a:r>
                        <a:rPr b="1" sz="1200">
                          <a:solidFill>
                            <a:srgbClr val="FFFFFF"/>
                          </a:solidFill>
                          <a:latin typeface="Calibri"/>
                        </a:rPr>
                        <a:t>Tool</a:t>
                      </a:r>
                    </a:p>
                  </a:txBody>
                  <a:tcPr marL="91440" marR="91440" marT="45720" marB="45720" anchor="ctr">
                    <a:solidFill>
                      <a:srgbClr val="101E30"/>
                    </a:solidFill>
                  </a:tcPr>
                </a:tc>
                <a:tc>
                  <a:txBody>
                    <a:bodyPr/>
                    <a:lstStyle/>
                    <a:p>
                      <a:r>
                        <a:rPr b="1" sz="1200">
                          <a:solidFill>
                            <a:srgbClr val="FFFFFF"/>
                          </a:solidFill>
                          <a:latin typeface="Calibri"/>
                        </a:rPr>
                        <a:t>The question it answers</a:t>
                      </a:r>
                    </a:p>
                  </a:txBody>
                  <a:tcPr marL="91440" marR="91440" marT="45720" marB="45720" anchor="ctr">
                    <a:solidFill>
                      <a:srgbClr val="101E30"/>
                    </a:solidFill>
                  </a:tcPr>
                </a:tc>
                <a:tc>
                  <a:txBody>
                    <a:bodyPr/>
                    <a:lstStyle/>
                    <a:p>
                      <a:r>
                        <a:rPr b="1" sz="1200">
                          <a:solidFill>
                            <a:srgbClr val="FFFFFF"/>
                          </a:solidFill>
                          <a:latin typeface="Calibri"/>
                        </a:rPr>
                        <a:t>Network state</a:t>
                      </a:r>
                    </a:p>
                  </a:txBody>
                  <a:tcPr marL="91440" marR="91440" marT="45720" marB="45720" anchor="ctr">
                    <a:solidFill>
                      <a:srgbClr val="101E30"/>
                    </a:solidFill>
                  </a:tcPr>
                </a:tc>
                <a:tc>
                  <a:txBody>
                    <a:bodyPr/>
                    <a:lstStyle/>
                    <a:p>
                      <a:r>
                        <a:rPr b="1" sz="1200">
                          <a:solidFill>
                            <a:srgbClr val="FFFFFF"/>
                          </a:solidFill>
                          <a:latin typeface="Calibri"/>
                        </a:rPr>
                        <a:t>Cost to run</a:t>
                      </a:r>
                    </a:p>
                  </a:txBody>
                  <a:tcPr marL="91440" marR="91440" marT="45720" marB="45720" anchor="ctr">
                    <a:solidFill>
                      <a:srgbClr val="101E30"/>
                    </a:solidFill>
                  </a:tcPr>
                </a:tc>
              </a:tr>
              <a:tr h="740664">
                <a:tc>
                  <a:txBody>
                    <a:bodyPr/>
                    <a:lstStyle/>
                    <a:p>
                      <a:r>
                        <a:rPr b="0" sz="1200">
                          <a:solidFill>
                            <a:srgbClr val="1C2B3A"/>
                          </a:solidFill>
                          <a:latin typeface="Calibri"/>
                        </a:rPr>
                        <a:t>netmesh</a:t>
                      </a:r>
                    </a:p>
                  </a:txBody>
                  <a:tcPr marL="91440" marR="91440" marT="45720" marB="45720" anchor="ctr">
                    <a:solidFill>
                      <a:srgbClr val="FFFFFF"/>
                    </a:solidFill>
                  </a:tcPr>
                </a:tc>
                <a:tc>
                  <a:txBody>
                    <a:bodyPr/>
                    <a:lstStyle/>
                    <a:p>
                      <a:r>
                        <a:rPr b="0" sz="1200">
                          <a:solidFill>
                            <a:srgbClr val="1C2B3A"/>
                          </a:solidFill>
                          <a:latin typeface="Calibri"/>
                        </a:rPr>
                        <a:t>Is the network healthy, and which link is sick? — RTT, jitter, loss, path MTU</a:t>
                      </a:r>
                    </a:p>
                  </a:txBody>
                  <a:tcPr marL="91440" marR="91440" marT="45720" marB="45720" anchor="ctr">
                    <a:solidFill>
                      <a:srgbClr val="FFFFFF"/>
                    </a:solidFill>
                  </a:tcPr>
                </a:tc>
                <a:tc>
                  <a:txBody>
                    <a:bodyPr/>
                    <a:lstStyle/>
                    <a:p>
                      <a:r>
                        <a:rPr b="1" sz="1200">
                          <a:solidFill>
                            <a:srgbClr val="1C2B3A"/>
                          </a:solidFill>
                          <a:latin typeface="Calibri"/>
                        </a:rPr>
                        <a:t>Idle</a:t>
                      </a:r>
                      <a:r>
                        <a:rPr b="0" sz="1200">
                          <a:solidFill>
                            <a:srgbClr val="1C2B3A"/>
                          </a:solidFill>
                          <a:latin typeface="Calibri"/>
                        </a:rPr>
                        <a:t> — the baseline</a:t>
                      </a:r>
                    </a:p>
                  </a:txBody>
                  <a:tcPr marL="91440" marR="91440" marT="45720" marB="45720" anchor="ctr">
                    <a:solidFill>
                      <a:srgbClr val="FFFFFF"/>
                    </a:solidFill>
                  </a:tcPr>
                </a:tc>
                <a:tc>
                  <a:txBody>
                    <a:bodyPr/>
                    <a:lstStyle/>
                    <a:p>
                      <a:r>
                        <a:rPr b="0" sz="1200">
                          <a:solidFill>
                            <a:srgbClr val="1C2B3A"/>
                          </a:solidFill>
                          <a:latin typeface="Calibri"/>
                        </a:rPr>
                        <a:t>~10 small pkts/s per pair; safe on production</a:t>
                      </a:r>
                    </a:p>
                  </a:txBody>
                  <a:tcPr marL="91440" marR="91440" marT="45720" marB="45720" anchor="ctr">
                    <a:solidFill>
                      <a:srgbClr val="FFFFFF"/>
                    </a:solidFill>
                  </a:tcPr>
                </a:tc>
              </a:tr>
              <a:tr h="542544">
                <a:tc>
                  <a:txBody>
                    <a:bodyPr/>
                    <a:lstStyle/>
                    <a:p>
                      <a:r>
                        <a:rPr b="0" sz="1200">
                          <a:solidFill>
                            <a:srgbClr val="1C2B3A"/>
                          </a:solidFill>
                          <a:latin typeface="Calibri"/>
                        </a:rPr>
                        <a:t>iperf_orchestrator</a:t>
                      </a:r>
                    </a:p>
                  </a:txBody>
                  <a:tcPr marL="91440" marR="91440" marT="45720" marB="45720" anchor="ctr">
                    <a:solidFill>
                      <a:srgbClr val="F1F4F8"/>
                    </a:solidFill>
                  </a:tcPr>
                </a:tc>
                <a:tc>
                  <a:txBody>
                    <a:bodyPr/>
                    <a:lstStyle/>
                    <a:p>
                      <a:r>
                        <a:rPr b="0" sz="1200">
                          <a:solidFill>
                            <a:srgbClr val="1C2B3A"/>
                          </a:solidFill>
                          <a:latin typeface="Calibri"/>
                        </a:rPr>
                        <a:t>How much TCP bandwidth can every link carry, all at once?</a:t>
                      </a:r>
                    </a:p>
                  </a:txBody>
                  <a:tcPr marL="91440" marR="91440" marT="45720" marB="45720" anchor="ctr">
                    <a:solidFill>
                      <a:srgbClr val="F1F4F8"/>
                    </a:solidFill>
                  </a:tcPr>
                </a:tc>
                <a:tc>
                  <a:txBody>
                    <a:bodyPr/>
                    <a:lstStyle/>
                    <a:p>
                      <a:r>
                        <a:rPr b="1" sz="1200">
                          <a:solidFill>
                            <a:srgbClr val="1C2B3A"/>
                          </a:solidFill>
                          <a:latin typeface="Calibri"/>
                        </a:rPr>
                        <a:t>Fully loaded</a:t>
                      </a:r>
                    </a:p>
                  </a:txBody>
                  <a:tcPr marL="91440" marR="91440" marT="45720" marB="45720" anchor="ctr">
                    <a:solidFill>
                      <a:srgbClr val="F1F4F8"/>
                    </a:solidFill>
                  </a:tcPr>
                </a:tc>
                <a:tc>
                  <a:txBody>
                    <a:bodyPr/>
                    <a:lstStyle/>
                    <a:p>
                      <a:r>
                        <a:rPr b="0" sz="1200">
                          <a:solidFill>
                            <a:srgbClr val="1C2B3A"/>
                          </a:solidFill>
                          <a:latin typeface="Calibri"/>
                        </a:rPr>
                        <a:t>Line-rate flood — schedule a window</a:t>
                      </a:r>
                    </a:p>
                  </a:txBody>
                  <a:tcPr marL="91440" marR="91440" marT="45720" marB="45720" anchor="ctr">
                    <a:solidFill>
                      <a:srgbClr val="F1F4F8"/>
                    </a:solidFill>
                  </a:tcPr>
                </a:tc>
              </a:tr>
              <a:tr h="740664">
                <a:tc>
                  <a:txBody>
                    <a:bodyPr/>
                    <a:lstStyle/>
                    <a:p>
                      <a:r>
                        <a:rPr b="0" sz="1200">
                          <a:solidFill>
                            <a:srgbClr val="1C2B3A"/>
                          </a:solidFill>
                          <a:latin typeface="Calibri"/>
                        </a:rPr>
                        <a:t>matrix_orchestrator (mx)</a:t>
                      </a:r>
                    </a:p>
                  </a:txBody>
                  <a:tcPr marL="91440" marR="91440" marT="45720" marB="45720" anchor="ctr">
                    <a:solidFill>
                      <a:srgbClr val="FFFFFF"/>
                    </a:solidFill>
                  </a:tcPr>
                </a:tc>
                <a:tc>
                  <a:txBody>
                    <a:bodyPr/>
                    <a:lstStyle/>
                    <a:p>
                      <a:r>
                        <a:rPr b="0" sz="1200">
                          <a:solidFill>
                            <a:srgbClr val="1C2B3A"/>
                          </a:solidFill>
                          <a:latin typeface="Calibri"/>
                        </a:rPr>
                        <a:t>How many packets/sec can the fleet exchange, when every packet is answered?</a:t>
                      </a:r>
                    </a:p>
                  </a:txBody>
                  <a:tcPr marL="91440" marR="91440" marT="45720" marB="45720" anchor="ctr">
                    <a:solidFill>
                      <a:srgbClr val="FFFFFF"/>
                    </a:solidFill>
                  </a:tcPr>
                </a:tc>
                <a:tc>
                  <a:txBody>
                    <a:bodyPr/>
                    <a:lstStyle/>
                    <a:p>
                      <a:r>
                        <a:rPr b="1" sz="1200">
                          <a:solidFill>
                            <a:srgbClr val="1C2B3A"/>
                          </a:solidFill>
                          <a:latin typeface="Calibri"/>
                        </a:rPr>
                        <a:t>Loaded at the rate you choose</a:t>
                      </a:r>
                    </a:p>
                  </a:txBody>
                  <a:tcPr marL="91440" marR="91440" marT="45720" marB="45720" anchor="ctr">
                    <a:solidFill>
                      <a:srgbClr val="FFFFFF"/>
                    </a:solidFill>
                  </a:tcPr>
                </a:tc>
                <a:tc>
                  <a:txBody>
                    <a:bodyPr/>
                    <a:lstStyle/>
                    <a:p>
                      <a:r>
                        <a:rPr b="0" sz="1200">
                          <a:solidFill>
                            <a:srgbClr val="1C2B3A"/>
                          </a:solidFill>
                          <a:latin typeface="Calibri"/>
                        </a:rPr>
                        <a:t>Tunable, gentle → torture</a:t>
                      </a:r>
                    </a:p>
                  </a:txBody>
                  <a:tcPr marL="91440" marR="91440" marT="45720" marB="45720" anchor="ctr">
                    <a:solidFill>
                      <a:srgbClr val="FFFFFF"/>
                    </a:solidFill>
                  </a:tcPr>
                </a:tc>
              </a:tr>
            </a:tbl>
          </a:graphicData>
        </a:graphic>
      </p:graphicFrame>
      <p:sp>
        <p:nvSpPr>
          <p:cNvPr id="9" name="TextBox 8"/>
          <p:cNvSpPr txBox="1"/>
          <p:nvPr/>
        </p:nvSpPr>
        <p:spPr>
          <a:xfrm>
            <a:off x="566928" y="4531487"/>
            <a:ext cx="11057839" cy="745236"/>
          </a:xfrm>
          <a:prstGeom prst="rect">
            <a:avLst/>
          </a:prstGeom>
          <a:noFill/>
        </p:spPr>
        <p:txBody>
          <a:bodyPr wrap="square" lIns="0" rIns="0" tIns="0" bIns="0">
            <a:normAutofit/>
          </a:bodyPr>
          <a:lstStyle/>
          <a:p>
            <a:pPr>
              <a:spcAft>
                <a:spcPts val="700"/>
              </a:spcAft>
            </a:pPr>
            <a:r>
              <a:rPr b="0" sz="1300">
                <a:solidFill>
                  <a:srgbClr val="1C2B3A"/>
                </a:solidFill>
                <a:latin typeface="Calibri"/>
              </a:rPr>
              <a:t>They're one family: the same servers.txt, the same ssh-only model, and grids that read the same way. And they measure different layers of the same fabric — a 9.4 Gbit/s result over a 300 µs path and one over a 42 ms path are *different results*.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3E5C76"/>
                </a:solidFill>
                <a:latin typeface="Calibri"/>
              </a:rPr>
              <a:t>OVERVIEW</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Why these tools</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3</a:t>
            </a:r>
          </a:p>
        </p:txBody>
      </p:sp>
      <p:sp>
        <p:nvSpPr>
          <p:cNvPr id="7" name="TextBox 6"/>
          <p:cNvSpPr txBox="1"/>
          <p:nvPr/>
        </p:nvSpPr>
        <p:spPr>
          <a:xfrm>
            <a:off x="566928" y="1389888"/>
            <a:ext cx="11057839" cy="2109216"/>
          </a:xfrm>
          <a:prstGeom prst="rect">
            <a:avLst/>
          </a:prstGeom>
          <a:noFill/>
        </p:spPr>
        <p:txBody>
          <a:bodyPr wrap="square" lIns="0" rIns="0" tIns="0" bIns="0">
            <a:normAutofit/>
          </a:bodyPr>
          <a:lstStyle/>
          <a:p>
            <a:pPr>
              <a:spcAft>
                <a:spcPts val="700"/>
              </a:spcAft>
            </a:pPr>
            <a:r>
              <a:rPr sz="1200" b="1">
                <a:solidFill>
                  <a:srgbClr val="3E5C76"/>
                </a:solidFill>
                <a:latin typeface="Calibri"/>
              </a:rPr>
              <a:t>▪  </a:t>
            </a:r>
            <a:r>
              <a:rPr b="1" sz="1300">
                <a:solidFill>
                  <a:srgbClr val="1C2B3A"/>
                </a:solidFill>
                <a:latin typeface="Calibri"/>
              </a:rPr>
              <a:t>They go anywhere you can ssh.</a:t>
            </a:r>
            <a:r>
              <a:rPr b="0" sz="1300">
                <a:solidFill>
                  <a:srgbClr val="1C2B3A"/>
                </a:solidFill>
                <a:latin typeface="Calibri"/>
              </a:rPr>
              <a:t> No agents, no daemons, no root — nothing installed on the servers, and </a:t>
            </a:r>
            <a:r>
              <a:rPr sz="1200">
                <a:solidFill>
                  <a:srgbClr val="3E5C76"/>
                </a:solidFill>
                <a:latin typeface="Consolas"/>
              </a:rPr>
              <a:t>clean</a:t>
            </a:r>
            <a:r>
              <a:rPr b="0" sz="1300">
                <a:solidFill>
                  <a:srgbClr val="1C2B3A"/>
                </a:solidFill>
                <a:latin typeface="Calibri"/>
              </a:rPr>
              <a:t> removes every trace afterwards.</a:t>
            </a:r>
          </a:p>
          <a:p>
            <a:pPr>
              <a:spcAft>
                <a:spcPts val="700"/>
              </a:spcAft>
            </a:pPr>
            <a:r>
              <a:rPr sz="1200" b="1">
                <a:solidFill>
                  <a:srgbClr val="3E5C76"/>
                </a:solidFill>
                <a:latin typeface="Calibri"/>
              </a:rPr>
              <a:t>▪  </a:t>
            </a:r>
            <a:r>
              <a:rPr b="1" sz="1300">
                <a:solidFill>
                  <a:srgbClr val="1C2B3A"/>
                </a:solidFill>
                <a:latin typeface="Calibri"/>
              </a:rPr>
              <a:t>The numbers are honest.</a:t>
            </a:r>
            <a:r>
              <a:rPr b="0" sz="1300">
                <a:solidFill>
                  <a:srgbClr val="1C2B3A"/>
                </a:solidFill>
                <a:latin typeface="Calibri"/>
              </a:rPr>
              <a:t> Blank never means zero, and the headline is what the *receiver* counted — not what the sender hoped. When a tool becomes its own bottleneck, it says so.</a:t>
            </a:r>
          </a:p>
          <a:p>
            <a:pPr>
              <a:spcAft>
                <a:spcPts val="700"/>
              </a:spcAft>
            </a:pPr>
            <a:r>
              <a:rPr sz="1200" b="1">
                <a:solidFill>
                  <a:srgbClr val="3E5C76"/>
                </a:solidFill>
                <a:latin typeface="Calibri"/>
              </a:rPr>
              <a:t>▪  </a:t>
            </a:r>
            <a:r>
              <a:rPr b="1" sz="1300">
                <a:solidFill>
                  <a:srgbClr val="1C2B3A"/>
                </a:solidFill>
                <a:latin typeface="Calibri"/>
              </a:rPr>
              <a:t>They're one file each.</a:t>
            </a:r>
            <a:r>
              <a:rPr b="0" sz="1300">
                <a:solidFill>
                  <a:srgbClr val="1C2B3A"/>
                </a:solidFill>
                <a:latin typeface="Calibri"/>
              </a:rPr>
              <a:t> Stdlib-only Python — </a:t>
            </a:r>
            <a:r>
              <a:rPr sz="1200">
                <a:solidFill>
                  <a:srgbClr val="3E5C76"/>
                </a:solidFill>
                <a:latin typeface="Consolas"/>
              </a:rPr>
              <a:t>pip install</a:t>
            </a:r>
            <a:r>
              <a:rPr b="0" sz="1300">
                <a:solidFill>
                  <a:srgbClr val="1C2B3A"/>
                </a:solidFill>
                <a:latin typeface="Calibri"/>
              </a:rPr>
              <a:t> it, or just scp the file and run it.</a:t>
            </a:r>
          </a:p>
          <a:p>
            <a:pPr>
              <a:spcAft>
                <a:spcPts val="700"/>
              </a:spcAft>
            </a:pPr>
            <a:r>
              <a:rPr sz="1200" b="1">
                <a:solidFill>
                  <a:srgbClr val="3E5C76"/>
                </a:solidFill>
                <a:latin typeface="Calibri"/>
              </a:rPr>
              <a:t>▪  </a:t>
            </a:r>
            <a:r>
              <a:rPr b="1" sz="1300">
                <a:solidFill>
                  <a:srgbClr val="1C2B3A"/>
                </a:solidFill>
                <a:latin typeface="Calibri"/>
              </a:rPr>
              <a:t>Each stands alone.</a:t>
            </a:r>
            <a:r>
              <a:rPr b="0" sz="1300">
                <a:solidFill>
                  <a:srgbClr val="1C2B3A"/>
                </a:solidFill>
                <a:latin typeface="Calibri"/>
              </a:rPr>
              <a:t> Pick whichever answers today's question — no setup or ordering ties them together. They do share the same server-list format and the same verbs, so learning one means you can drive them 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3E5C76"/>
                </a:solidFill>
                <a:latin typeface="Calibri"/>
              </a:rPr>
              <a:t>OVERVIEW</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reachable — the run survives dead servers</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4</a:t>
            </a:r>
          </a:p>
        </p:txBody>
      </p:sp>
      <p:sp>
        <p:nvSpPr>
          <p:cNvPr id="7" name="TextBox 6"/>
          <p:cNvSpPr txBox="1"/>
          <p:nvPr/>
        </p:nvSpPr>
        <p:spPr>
          <a:xfrm>
            <a:off x="566928" y="1389888"/>
            <a:ext cx="11057839" cy="1799844"/>
          </a:xfrm>
          <a:prstGeom prst="rect">
            <a:avLst/>
          </a:prstGeom>
          <a:noFill/>
        </p:spPr>
        <p:txBody>
          <a:bodyPr wrap="square" lIns="0" rIns="0" tIns="0" bIns="0">
            <a:normAutofit/>
          </a:bodyPr>
          <a:lstStyle/>
          <a:p>
            <a:pPr>
              <a:spcAft>
                <a:spcPts val="700"/>
              </a:spcAft>
            </a:pPr>
            <a:r>
              <a:rPr sz="1200" b="1">
                <a:solidFill>
                  <a:srgbClr val="3E5C76"/>
                </a:solidFill>
                <a:latin typeface="Calibri"/>
              </a:rPr>
              <a:t>▪  </a:t>
            </a:r>
            <a:r>
              <a:rPr b="0" sz="1300">
                <a:solidFill>
                  <a:srgbClr val="1C2B3A"/>
                </a:solidFill>
                <a:latin typeface="Calibri"/>
              </a:rPr>
              <a:t>Server lists rot — and a fan-out that silently skips eleven dead hosts looks exactly like one that ran everywhere.</a:t>
            </a:r>
          </a:p>
          <a:p>
            <a:pPr>
              <a:spcAft>
                <a:spcPts val="700"/>
              </a:spcAft>
            </a:pPr>
            <a:r>
              <a:rPr sz="1200" b="1">
                <a:solidFill>
                  <a:srgbClr val="3E5C76"/>
                </a:solidFill>
                <a:latin typeface="Calibri"/>
              </a:rPr>
              <a:t>▪  </a:t>
            </a:r>
            <a:r>
              <a:rPr sz="1200">
                <a:solidFill>
                  <a:srgbClr val="3E5C76"/>
                </a:solidFill>
                <a:latin typeface="Consolas"/>
              </a:rPr>
              <a:t>reachable prod.txt -i</a:t>
            </a:r>
            <a:r>
              <a:rPr b="0" sz="1300">
                <a:solidFill>
                  <a:srgbClr val="1C2B3A"/>
                </a:solidFill>
                <a:latin typeface="Calibri"/>
              </a:rPr>
              <a:t> pings and ssh's every entry and comments out the failures, with the reason and date. When a host comes back, the next run uncomments it — and your own comments are never touched, so it's safe on cron.</a:t>
            </a:r>
          </a:p>
          <a:p>
            <a:pPr>
              <a:spcAft>
                <a:spcPts val="700"/>
              </a:spcAft>
            </a:pPr>
            <a:r>
              <a:rPr sz="1200" b="1">
                <a:solidFill>
                  <a:srgbClr val="3E5C76"/>
                </a:solidFill>
                <a:latin typeface="Calibri"/>
              </a:rPr>
              <a:t>▪  </a:t>
            </a:r>
            <a:r>
              <a:rPr b="1" sz="1300">
                <a:solidFill>
                  <a:srgbClr val="1C2B3A"/>
                </a:solidFill>
                <a:latin typeface="Calibri"/>
              </a:rPr>
              <a:t>ssh is the gate, ping is the explanation</a:t>
            </a:r>
            <a:r>
              <a:rPr b="0" sz="1300">
                <a:solidFill>
                  <a:srgbClr val="1C2B3A"/>
                </a:solidFill>
                <a:latin typeface="Calibri"/>
              </a:rPr>
              <a:t>: a host that answers ssh is kept even when ICMP is blocked.</a:t>
            </a:r>
          </a:p>
        </p:txBody>
      </p:sp>
      <p:sp>
        <p:nvSpPr>
          <p:cNvPr id="8" name="Rounded Rectangle 7"/>
          <p:cNvSpPr/>
          <p:nvPr/>
        </p:nvSpPr>
        <p:spPr>
          <a:xfrm>
            <a:off x="566928" y="3262884"/>
            <a:ext cx="11057839" cy="1097280"/>
          </a:xfrm>
          <a:prstGeom prst="roundRect">
            <a:avLst>
              <a:gd name="adj" fmla="val 10000"/>
            </a:avLst>
          </a:prstGeom>
          <a:solidFill>
            <a:srgbClr val="14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400044"/>
            <a:ext cx="10600639" cy="822959"/>
          </a:xfrm>
          <a:prstGeom prst="rect">
            <a:avLst/>
          </a:prstGeom>
          <a:noFill/>
        </p:spPr>
        <p:txBody>
          <a:bodyPr wrap="square" lIns="0" rIns="0" tIns="0" bIns="0">
            <a:spAutoFit/>
          </a:bodyPr>
          <a:lstStyle/>
          <a:p>
            <a:r>
              <a:rPr sz="1200" b="1">
                <a:solidFill>
                  <a:srgbClr val="E8EEF6"/>
                </a:solidFill>
                <a:latin typeface="Consolas"/>
              </a:rPr>
              <a:t>web01</a:t>
            </a:r>
          </a:p>
          <a:p>
            <a:r>
              <a:rPr sz="1200">
                <a:solidFill>
                  <a:srgbClr val="8A9BB0"/>
                </a:solidFill>
                <a:latin typeface="Consolas"/>
              </a:rPr>
              <a:t># db07   #[unreachable] pings but ssh does not answer - 2026-08-15</a:t>
            </a:r>
          </a:p>
          <a:p>
            <a:r>
              <a:rPr sz="1200">
                <a:solidFill>
                  <a:srgbClr val="8A9BB0"/>
                </a:solidFill>
                <a:latin typeface="Consolas"/>
              </a:rPr>
              <a:t># ghost  #[unreachable] name does not resolve - 2026-08-15</a:t>
            </a:r>
          </a:p>
          <a:p>
            <a:r>
              <a:rPr sz="1200" b="1">
                <a:solidFill>
                  <a:srgbClr val="E8EEF6"/>
                </a:solidFill>
                <a:latin typeface="Consolas"/>
              </a:rPr>
              <a:t>noicmp   # ICMP blocked here by policy   &lt;- kept: ssh works</a:t>
            </a:r>
          </a:p>
        </p:txBody>
      </p:sp>
      <p:sp>
        <p:nvSpPr>
          <p:cNvPr id="10" name="TextBox 9"/>
          <p:cNvSpPr txBox="1"/>
          <p:nvPr/>
        </p:nvSpPr>
        <p:spPr>
          <a:xfrm>
            <a:off x="566928" y="4506467"/>
            <a:ext cx="11057839" cy="527304"/>
          </a:xfrm>
          <a:prstGeom prst="rect">
            <a:avLst/>
          </a:prstGeom>
          <a:noFill/>
        </p:spPr>
        <p:txBody>
          <a:bodyPr wrap="square" lIns="0" rIns="0" tIns="0" bIns="0">
            <a:normAutofit/>
          </a:bodyPr>
          <a:lstStyle/>
          <a:p>
            <a:pPr>
              <a:spcAft>
                <a:spcPts val="700"/>
              </a:spcAft>
            </a:pPr>
            <a:r>
              <a:rPr sz="1200" b="1">
                <a:solidFill>
                  <a:srgbClr val="3E5C76"/>
                </a:solidFill>
                <a:latin typeface="Calibri"/>
              </a:rPr>
              <a:t>▪  </a:t>
            </a:r>
            <a:r>
              <a:rPr b="0" sz="1300">
                <a:solidFill>
                  <a:srgbClr val="1C2B3A"/>
                </a:solidFill>
                <a:latin typeface="Calibri"/>
              </a:rPr>
              <a:t>Belt and braces: the orchestrators also fail open (</a:t>
            </a:r>
            <a:r>
              <a:rPr sz="1200">
                <a:solidFill>
                  <a:srgbClr val="3E5C76"/>
                </a:solidFill>
                <a:latin typeface="Consolas"/>
              </a:rPr>
              <a:t>--keep-going</a:t>
            </a:r>
            <a:r>
              <a:rPr b="0" sz="1300">
                <a:solidFill>
                  <a:srgbClr val="1C2B3A"/>
                </a:solidFill>
                <a:latin typeface="Calibri"/>
              </a:rPr>
              <a:t>), so one dead box never aborts a 100-host run.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61704" y="146304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619488" y="1463040"/>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177272" y="146304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735056" y="1463040"/>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292840" y="146304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1850624" y="146304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03920" y="202082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619488" y="202082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177272" y="202082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735056" y="202082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292840" y="202082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850624" y="202082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503920" y="257860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61704" y="257860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177272" y="257860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735056" y="2578608"/>
            <a:ext cx="457200" cy="457200"/>
          </a:xfrm>
          <a:prstGeom prst="roundRect">
            <a:avLst>
              <a:gd name="adj" fmla="val 10000"/>
            </a:avLst>
          </a:prstGeom>
          <a:solidFill>
            <a:srgbClr val="C87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1292840" y="257860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1850624" y="257860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503920" y="3136392"/>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061704" y="3136392"/>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9488" y="3136392"/>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735056" y="3136392"/>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1292840" y="3136392"/>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1850624" y="3136392"/>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503920" y="3694176"/>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061704" y="3694176"/>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19488" y="3694176"/>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177272" y="3694176"/>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1292840" y="3694176"/>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1850624" y="3694176"/>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503920" y="4251960"/>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061704" y="425196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619488" y="425196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0177272" y="4251960"/>
            <a:ext cx="457200" cy="457200"/>
          </a:xfrm>
          <a:prstGeom prst="roundRect">
            <a:avLst>
              <a:gd name="adj" fmla="val 10000"/>
            </a:avLst>
          </a:prstGeom>
          <a:solidFill>
            <a:srgbClr val="C87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0735056" y="425196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1850624" y="425196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503920" y="480974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061704" y="480974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619488" y="480974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10177272" y="480974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0735056" y="4809744"/>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1292840" y="480974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66928" y="2011680"/>
            <a:ext cx="5486400" cy="365760"/>
          </a:xfrm>
          <a:prstGeom prst="rect">
            <a:avLst/>
          </a:prstGeom>
          <a:noFill/>
        </p:spPr>
        <p:txBody>
          <a:bodyPr wrap="square" lIns="0" rIns="0" tIns="0" bIns="0">
            <a:spAutoFit/>
          </a:bodyPr>
          <a:lstStyle/>
          <a:p>
            <a:pPr algn="l"/>
            <a:r>
              <a:rPr sz="1400" b="1">
                <a:solidFill>
                  <a:srgbClr val="C8721C"/>
                </a:solidFill>
                <a:latin typeface="Calibri"/>
              </a:rPr>
              <a:t>PART 1</a:t>
            </a:r>
          </a:p>
        </p:txBody>
      </p:sp>
      <p:sp>
        <p:nvSpPr>
          <p:cNvPr id="46" name="TextBox 45"/>
          <p:cNvSpPr txBox="1"/>
          <p:nvPr/>
        </p:nvSpPr>
        <p:spPr>
          <a:xfrm>
            <a:off x="566928" y="2468880"/>
            <a:ext cx="7863840" cy="1097280"/>
          </a:xfrm>
          <a:prstGeom prst="rect">
            <a:avLst/>
          </a:prstGeom>
          <a:noFill/>
        </p:spPr>
        <p:txBody>
          <a:bodyPr wrap="square" lIns="0" rIns="0" tIns="0" bIns="0">
            <a:spAutoFit/>
          </a:bodyPr>
          <a:lstStyle/>
          <a:p>
            <a:r>
              <a:rPr sz="4000" b="1">
                <a:solidFill>
                  <a:srgbClr val="FFFFFF"/>
                </a:solidFill>
                <a:latin typeface="Consolas"/>
              </a:rPr>
              <a:t>iperf_orchestrator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C8721C"/>
                </a:solidFill>
                <a:latin typeface="Calibri"/>
              </a:rPr>
              <a:t>IPERF_ORCHESTRATOR</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What it is — and why you'd run it</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6</a:t>
            </a:r>
          </a:p>
        </p:txBody>
      </p:sp>
      <p:sp>
        <p:nvSpPr>
          <p:cNvPr id="7" name="TextBox 6"/>
          <p:cNvSpPr txBox="1"/>
          <p:nvPr/>
        </p:nvSpPr>
        <p:spPr>
          <a:xfrm>
            <a:off x="566928" y="1389888"/>
            <a:ext cx="11057839" cy="2945892"/>
          </a:xfrm>
          <a:prstGeom prst="rect">
            <a:avLst/>
          </a:prstGeom>
          <a:noFill/>
        </p:spPr>
        <p:txBody>
          <a:bodyPr wrap="square" lIns="0" rIns="0" tIns="0" bIns="0">
            <a:normAutofit/>
          </a:bodyPr>
          <a:lstStyle/>
          <a:p>
            <a:pPr>
              <a:spcAft>
                <a:spcPts val="700"/>
              </a:spcAft>
            </a:pPr>
            <a:r>
              <a:rPr sz="1200" b="1">
                <a:solidFill>
                  <a:srgbClr val="C8721C"/>
                </a:solidFill>
                <a:latin typeface="Calibri"/>
              </a:rPr>
              <a:t>▪  </a:t>
            </a:r>
            <a:r>
              <a:rPr b="0" sz="1300">
                <a:solidFill>
                  <a:srgbClr val="1C2B3A"/>
                </a:solidFill>
                <a:latin typeface="Calibri"/>
              </a:rPr>
              <a:t>Takes </a:t>
            </a:r>
            <a:r>
              <a:rPr b="1" sz="1300">
                <a:solidFill>
                  <a:srgbClr val="1C2B3A"/>
                </a:solidFill>
                <a:latin typeface="Calibri"/>
              </a:rPr>
              <a:t>iperf</a:t>
            </a:r>
            <a:r>
              <a:rPr b="0" sz="1300">
                <a:solidFill>
                  <a:srgbClr val="1C2B3A"/>
                </a:solidFill>
                <a:latin typeface="Calibri"/>
              </a:rPr>
              <a:t> — the standard tool for measuring how fast the network really is between two machines — and runs it between </a:t>
            </a:r>
            <a:r>
              <a:rPr b="1" sz="1300">
                <a:solidFill>
                  <a:srgbClr val="1C2B3A"/>
                </a:solidFill>
                <a:latin typeface="Calibri"/>
              </a:rPr>
              <a:t>every pair of servers in a fleet, at the same time</a:t>
            </a:r>
            <a:r>
              <a:rPr b="0" sz="1300">
                <a:solidFill>
                  <a:srgbClr val="1C2B3A"/>
                </a:solidFill>
                <a:latin typeface="Calibri"/>
              </a:rPr>
              <a:t>.</a:t>
            </a:r>
          </a:p>
          <a:p>
            <a:pPr>
              <a:spcAft>
                <a:spcPts val="700"/>
              </a:spcAft>
            </a:pPr>
            <a:r>
              <a:rPr sz="1200" b="1">
                <a:solidFill>
                  <a:srgbClr val="C8721C"/>
                </a:solidFill>
                <a:latin typeface="Calibri"/>
              </a:rPr>
              <a:t>▪  </a:t>
            </a:r>
            <a:r>
              <a:rPr b="0" sz="1300">
                <a:solidFill>
                  <a:srgbClr val="1C2B3A"/>
                </a:solidFill>
                <a:latin typeface="Calibri"/>
              </a:rPr>
              <a:t>The point is to load the network as *efficiently as possible*: every link, both directions, simultaneously. Ten seconds of that answers the real question — </a:t>
            </a:r>
            <a:r>
              <a:rPr b="1" sz="1300">
                <a:solidFill>
                  <a:srgbClr val="1C2B3A"/>
                </a:solidFill>
                <a:latin typeface="Calibri"/>
              </a:rPr>
              <a:t>what can this fabric actually carry, and what breaks first?</a:t>
            </a:r>
          </a:p>
          <a:p>
            <a:pPr>
              <a:spcAft>
                <a:spcPts val="700"/>
              </a:spcAft>
            </a:pPr>
            <a:r>
              <a:rPr sz="1200" b="1">
                <a:solidFill>
                  <a:srgbClr val="C8721C"/>
                </a:solidFill>
                <a:latin typeface="Calibri"/>
              </a:rPr>
              <a:t>▪  </a:t>
            </a:r>
            <a:r>
              <a:rPr b="0" sz="1300">
                <a:solidFill>
                  <a:srgbClr val="1C2B3A"/>
                </a:solidFill>
                <a:latin typeface="Calibri"/>
              </a:rPr>
              <a:t>Why run it: accept a new fabric or a change window; find the slow links and slow hosts; get a quick "is the fleet's network healthy?" picture.</a:t>
            </a:r>
          </a:p>
          <a:p>
            <a:pPr>
              <a:spcAft>
                <a:spcPts val="700"/>
              </a:spcAft>
            </a:pPr>
            <a:r>
              <a:rPr sz="1200" b="1">
                <a:solidFill>
                  <a:srgbClr val="C8721C"/>
                </a:solidFill>
                <a:latin typeface="Calibri"/>
              </a:rPr>
              <a:t>▪  </a:t>
            </a:r>
            <a:r>
              <a:rPr b="0" sz="1300">
                <a:solidFill>
                  <a:srgbClr val="1C2B3A"/>
                </a:solidFill>
                <a:latin typeface="Calibri"/>
              </a:rPr>
              <a:t>One command in → four artifacts out: results CSV · per-host CPU summary · pivot table · </a:t>
            </a:r>
            <a:r>
              <a:rPr b="1" sz="1300">
                <a:solidFill>
                  <a:srgbClr val="1C2B3A"/>
                </a:solidFill>
                <a:latin typeface="Calibri"/>
              </a:rPr>
              <a:t>heatmap</a:t>
            </a:r>
            <a:r>
              <a:rPr b="0" sz="1300">
                <a:solidFill>
                  <a:srgbClr val="1C2B3A"/>
                </a:solidFill>
                <a:latin typeface="Calibri"/>
              </a:rPr>
              <a:t>.</a:t>
            </a:r>
          </a:p>
          <a:p>
            <a:pPr>
              <a:spcAft>
                <a:spcPts val="700"/>
              </a:spcAft>
            </a:pPr>
            <a:r>
              <a:rPr sz="1200" b="1">
                <a:solidFill>
                  <a:srgbClr val="C8721C"/>
                </a:solidFill>
                <a:latin typeface="Calibri"/>
              </a:rPr>
              <a:t>▪  </a:t>
            </a:r>
            <a:r>
              <a:rPr b="0" sz="1300">
                <a:solidFill>
                  <a:srgbClr val="1C2B3A"/>
                </a:solidFill>
                <a:latin typeface="Calibri"/>
              </a:rPr>
              <a:t>One self-contained script, driving everything over ssh — the servers need nothing but iperf itself. A dead host is reported and skipped, never fatal.</a:t>
            </a:r>
          </a:p>
          <a:p>
            <a:pPr>
              <a:spcAft>
                <a:spcPts val="700"/>
              </a:spcAft>
            </a:pPr>
            <a:r>
              <a:rPr sz="1200" b="1">
                <a:solidFill>
                  <a:srgbClr val="C8721C"/>
                </a:solidFill>
                <a:latin typeface="Calibri"/>
              </a:rPr>
              <a:t>▪  </a:t>
            </a:r>
            <a:r>
              <a:rPr b="0" sz="1300">
                <a:solidFill>
                  <a:srgbClr val="1C2B3A"/>
                </a:solidFill>
                <a:latin typeface="Calibri"/>
              </a:rPr>
              <a:t>What it leaves to its siblings: latency and packet rate (that's netmesh and mx).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C8721C"/>
                </a:solidFill>
                <a:latin typeface="Calibri"/>
              </a:rPr>
              <a:t>IPERF_ORCHESTRATOR</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What is iperf?</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7</a:t>
            </a:r>
          </a:p>
        </p:txBody>
      </p:sp>
      <p:sp>
        <p:nvSpPr>
          <p:cNvPr id="7" name="TextBox 6"/>
          <p:cNvSpPr txBox="1"/>
          <p:nvPr/>
        </p:nvSpPr>
        <p:spPr>
          <a:xfrm>
            <a:off x="566928" y="1389888"/>
            <a:ext cx="11057839" cy="745236"/>
          </a:xfrm>
          <a:prstGeom prst="rect">
            <a:avLst/>
          </a:prstGeom>
          <a:noFill/>
        </p:spPr>
        <p:txBody>
          <a:bodyPr wrap="square" lIns="0" rIns="0" tIns="0" bIns="0">
            <a:normAutofit/>
          </a:bodyPr>
          <a:lstStyle/>
          <a:p>
            <a:pPr>
              <a:spcAft>
                <a:spcPts val="700"/>
              </a:spcAft>
            </a:pPr>
            <a:r>
              <a:rPr b="0" sz="1300">
                <a:solidFill>
                  <a:srgbClr val="1C2B3A"/>
                </a:solidFill>
                <a:latin typeface="Calibri"/>
              </a:rPr>
              <a:t>iperf is the de-facto standard throughput tool: it fills the pipe between two machines and reports what actually got through — the true end-to-end capacity of that path: NICs, kernel, cables, switches, everything in between.</a:t>
            </a:r>
          </a:p>
        </p:txBody>
      </p:sp>
      <p:sp>
        <p:nvSpPr>
          <p:cNvPr id="8" name="Rounded Rectangle 7"/>
          <p:cNvSpPr/>
          <p:nvPr/>
        </p:nvSpPr>
        <p:spPr>
          <a:xfrm>
            <a:off x="1389888" y="2500884"/>
            <a:ext cx="2468880" cy="868680"/>
          </a:xfrm>
          <a:prstGeom prst="roundRect">
            <a:avLst>
              <a:gd name="adj" fmla="val 10000"/>
            </a:avLst>
          </a:prstGeom>
          <a:solidFill>
            <a:srgbClr val="3E5C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CLIENT</a:t>
            </a:r>
          </a:p>
          <a:p>
            <a:pPr algn="ctr"/>
            <a:r>
              <a:rPr sz="1100">
                <a:solidFill>
                  <a:srgbClr val="EAEFF5"/>
                </a:solidFill>
                <a:latin typeface="Consolas"/>
              </a:rPr>
              <a:t>iperf -c &lt;server&gt;</a:t>
            </a:r>
          </a:p>
        </p:txBody>
      </p:sp>
      <p:sp>
        <p:nvSpPr>
          <p:cNvPr id="9" name="Rounded Rectangle 8"/>
          <p:cNvSpPr/>
          <p:nvPr/>
        </p:nvSpPr>
        <p:spPr>
          <a:xfrm>
            <a:off x="8332927" y="2500884"/>
            <a:ext cx="2468880" cy="868680"/>
          </a:xfrm>
          <a:prstGeom prst="roundRect">
            <a:avLst>
              <a:gd name="adj" fmla="val 10000"/>
            </a:avLst>
          </a:prstGeom>
          <a:solidFill>
            <a:srgbClr val="3E5C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SERVER</a:t>
            </a:r>
          </a:p>
          <a:p>
            <a:pPr algn="ctr"/>
            <a:r>
              <a:rPr sz="1100">
                <a:solidFill>
                  <a:srgbClr val="EAEFF5"/>
                </a:solidFill>
                <a:latin typeface="Consolas"/>
              </a:rPr>
              <a:t>iperf -s</a:t>
            </a:r>
          </a:p>
        </p:txBody>
      </p:sp>
      <p:sp>
        <p:nvSpPr>
          <p:cNvPr id="10" name="Right Arrow 9"/>
          <p:cNvSpPr/>
          <p:nvPr/>
        </p:nvSpPr>
        <p:spPr>
          <a:xfrm>
            <a:off x="4087368" y="2519172"/>
            <a:ext cx="4016959" cy="310896"/>
          </a:xfrm>
          <a:prstGeom prst="rightArrow">
            <a:avLst/>
          </a:prstGeom>
          <a:solidFill>
            <a:srgbClr val="C87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eft Arrow 10"/>
          <p:cNvSpPr/>
          <p:nvPr/>
        </p:nvSpPr>
        <p:spPr>
          <a:xfrm>
            <a:off x="4087368" y="2994660"/>
            <a:ext cx="4016959" cy="310896"/>
          </a:xfrm>
          <a:prstGeom prst="leftArrow">
            <a:avLst/>
          </a:prstGeom>
          <a:solidFill>
            <a:srgbClr val="D9B8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87368" y="2189988"/>
            <a:ext cx="4016959" cy="365760"/>
          </a:xfrm>
          <a:prstGeom prst="rect">
            <a:avLst/>
          </a:prstGeom>
          <a:noFill/>
        </p:spPr>
        <p:txBody>
          <a:bodyPr wrap="square" lIns="0" rIns="0" tIns="0" bIns="0">
            <a:spAutoFit/>
          </a:bodyPr>
          <a:lstStyle/>
          <a:p>
            <a:pPr algn="ctr"/>
            <a:r>
              <a:rPr sz="1100" b="0">
                <a:solidFill>
                  <a:srgbClr val="5C6B7A"/>
                </a:solidFill>
                <a:latin typeface="Calibri"/>
              </a:rPr>
              <a:t>bytes, as fast as TCP will go</a:t>
            </a:r>
          </a:p>
        </p:txBody>
      </p:sp>
      <p:sp>
        <p:nvSpPr>
          <p:cNvPr id="13" name="TextBox 12"/>
          <p:cNvSpPr txBox="1"/>
          <p:nvPr/>
        </p:nvSpPr>
        <p:spPr>
          <a:xfrm>
            <a:off x="4087368" y="3360420"/>
            <a:ext cx="4016959" cy="365760"/>
          </a:xfrm>
          <a:prstGeom prst="rect">
            <a:avLst/>
          </a:prstGeom>
          <a:noFill/>
        </p:spPr>
        <p:txBody>
          <a:bodyPr wrap="square" lIns="0" rIns="0" tIns="0" bIns="0">
            <a:spAutoFit/>
          </a:bodyPr>
          <a:lstStyle/>
          <a:p>
            <a:pPr algn="ctr"/>
            <a:r>
              <a:rPr sz="1100" b="0">
                <a:solidFill>
                  <a:srgbClr val="5C6B7A"/>
                </a:solidFill>
                <a:latin typeface="Calibri"/>
              </a:rPr>
              <a:t>full-duplex: traffic back at the same time</a:t>
            </a:r>
          </a:p>
        </p:txBody>
      </p:sp>
      <p:sp>
        <p:nvSpPr>
          <p:cNvPr id="14" name="TextBox 13"/>
          <p:cNvSpPr txBox="1"/>
          <p:nvPr/>
        </p:nvSpPr>
        <p:spPr>
          <a:xfrm>
            <a:off x="566928" y="3689604"/>
            <a:ext cx="11057839" cy="365760"/>
          </a:xfrm>
          <a:prstGeom prst="rect">
            <a:avLst/>
          </a:prstGeom>
          <a:noFill/>
        </p:spPr>
        <p:txBody>
          <a:bodyPr wrap="square" lIns="0" rIns="0" tIns="0" bIns="0">
            <a:spAutoFit/>
          </a:bodyPr>
          <a:lstStyle/>
          <a:p>
            <a:pPr algn="ctr"/>
            <a:r>
              <a:rPr sz="1250" b="1">
                <a:solidFill>
                  <a:srgbClr val="1C2B3A"/>
                </a:solidFill>
                <a:latin typeface="Calibri"/>
              </a:rPr>
              <a:t>run for 10 seconds  →  the achieved rate is the answer</a:t>
            </a:r>
          </a:p>
        </p:txBody>
      </p:sp>
      <p:graphicFrame>
        <p:nvGraphicFramePr>
          <p:cNvPr id="15" name="Table 14"/>
          <p:cNvGraphicFramePr>
            <a:graphicFrameLocks noGrp="1"/>
          </p:cNvGraphicFramePr>
          <p:nvPr/>
        </p:nvGraphicFramePr>
        <p:xfrm>
          <a:off x="566928" y="4082796"/>
          <a:ext cx="11057839" cy="2126615"/>
        </p:xfrm>
        <a:graphic>
          <a:graphicData uri="http://schemas.openxmlformats.org/drawingml/2006/table">
            <a:tbl>
              <a:tblPr>
                <a:tableStyleId>{5C22544A-7EE6-4342-B048-85BDC9FD1C3A}</a:tableStyleId>
              </a:tblPr>
              <a:tblGrid>
                <a:gridCol w="3533809"/>
                <a:gridCol w="7524030"/>
              </a:tblGrid>
              <a:tr h="352679">
                <a:tc>
                  <a:txBody>
                    <a:bodyPr/>
                    <a:lstStyle/>
                    <a:p>
                      <a:r>
                        <a:rPr b="1" sz="1200">
                          <a:solidFill>
                            <a:srgbClr val="FFFFFF"/>
                          </a:solidFill>
                          <a:latin typeface="Calibri"/>
                        </a:rPr>
                        <a:t>Knob</a:t>
                      </a:r>
                    </a:p>
                  </a:txBody>
                  <a:tcPr marL="91440" marR="91440" marT="45720" marB="45720" anchor="ctr">
                    <a:solidFill>
                      <a:srgbClr val="101E30"/>
                    </a:solidFill>
                  </a:tcPr>
                </a:tc>
                <a:tc>
                  <a:txBody>
                    <a:bodyPr/>
                    <a:lstStyle/>
                    <a:p>
                      <a:r>
                        <a:rPr b="1" sz="1200">
                          <a:solidFill>
                            <a:srgbClr val="FFFFFF"/>
                          </a:solidFill>
                          <a:latin typeface="Calibri"/>
                        </a:rPr>
                        <a:t>What it means</a:t>
                      </a:r>
                    </a:p>
                  </a:txBody>
                  <a:tcPr marL="91440" marR="91440" marT="45720" marB="45720" anchor="ctr">
                    <a:solidFill>
                      <a:srgbClr val="101E30"/>
                    </a:solidFill>
                  </a:tcPr>
                </a:tc>
              </a:tr>
              <a:tr h="344424">
                <a:tc>
                  <a:txBody>
                    <a:bodyPr/>
                    <a:lstStyle/>
                    <a:p>
                      <a:r>
                        <a:rPr b="0" sz="1200">
                          <a:solidFill>
                            <a:srgbClr val="1C2B3A"/>
                          </a:solidFill>
                          <a:latin typeface="Calibri"/>
                        </a:rPr>
                        <a:t>duration (</a:t>
                      </a:r>
                      <a:r>
                        <a:rPr sz="1100">
                          <a:solidFill>
                            <a:srgbClr val="C8721C"/>
                          </a:solidFill>
                          <a:latin typeface="Consolas"/>
                        </a:rPr>
                        <a:t>-t</a:t>
                      </a:r>
                      <a:r>
                        <a:rPr b="0" sz="1200">
                          <a:solidFill>
                            <a:srgbClr val="1C2B3A"/>
                          </a:solidFill>
                          <a:latin typeface="Calibri"/>
                        </a:rPr>
                        <a:t>)</a:t>
                      </a:r>
                    </a:p>
                  </a:txBody>
                  <a:tcPr marL="91440" marR="91440" marT="45720" marB="45720" anchor="ctr">
                    <a:solidFill>
                      <a:srgbClr val="FFFFFF"/>
                    </a:solidFill>
                  </a:tcPr>
                </a:tc>
                <a:tc>
                  <a:txBody>
                    <a:bodyPr/>
                    <a:lstStyle/>
                    <a:p>
                      <a:r>
                        <a:rPr b="0" sz="1200">
                          <a:solidFill>
                            <a:srgbClr val="1C2B3A"/>
                          </a:solidFill>
                          <a:latin typeface="Calibri"/>
                        </a:rPr>
                        <a:t>how long the push lasts — 10 s default; longer smooths out bursts</a:t>
                      </a:r>
                    </a:p>
                  </a:txBody>
                  <a:tcPr marL="91440" marR="91440" marT="45720" marB="45720" anchor="ctr">
                    <a:solidFill>
                      <a:srgbClr val="FFFFFF"/>
                    </a:solidFill>
                  </a:tcPr>
                </a:tc>
              </a:tr>
              <a:tr h="542544">
                <a:tc>
                  <a:txBody>
                    <a:bodyPr/>
                    <a:lstStyle/>
                    <a:p>
                      <a:r>
                        <a:rPr b="0" sz="1200">
                          <a:solidFill>
                            <a:srgbClr val="1C2B3A"/>
                          </a:solidFill>
                          <a:latin typeface="Calibri"/>
                        </a:rPr>
                        <a:t>parallel streams (</a:t>
                      </a:r>
                      <a:r>
                        <a:rPr sz="1100">
                          <a:solidFill>
                            <a:srgbClr val="C8721C"/>
                          </a:solidFill>
                          <a:latin typeface="Consolas"/>
                        </a:rPr>
                        <a:t>-P</a:t>
                      </a:r>
                      <a:r>
                        <a:rPr b="0" sz="1200">
                          <a:solidFill>
                            <a:srgbClr val="1C2B3A"/>
                          </a:solidFill>
                          <a:latin typeface="Calibri"/>
                        </a:rPr>
                        <a:t>)</a:t>
                      </a:r>
                    </a:p>
                  </a:txBody>
                  <a:tcPr marL="91440" marR="91440" marT="45720" marB="45720" anchor="ctr">
                    <a:solidFill>
                      <a:srgbClr val="F1F4F8"/>
                    </a:solidFill>
                  </a:tcPr>
                </a:tc>
                <a:tc>
                  <a:txBody>
                    <a:bodyPr/>
                    <a:lstStyle/>
                    <a:p>
                      <a:r>
                        <a:rPr b="0" sz="1200">
                          <a:solidFill>
                            <a:srgbClr val="1C2B3A"/>
                          </a:solidFill>
                          <a:latin typeface="Calibri"/>
                        </a:rPr>
                        <a:t>several TCP connections at once — one stream often can't fill a fat pipe</a:t>
                      </a:r>
                    </a:p>
                  </a:txBody>
                  <a:tcPr marL="91440" marR="91440" marT="45720" marB="45720" anchor="ctr">
                    <a:solidFill>
                      <a:srgbClr val="F1F4F8"/>
                    </a:solidFill>
                  </a:tcPr>
                </a:tc>
              </a:tr>
              <a:tr h="344424">
                <a:tc>
                  <a:txBody>
                    <a:bodyPr/>
                    <a:lstStyle/>
                    <a:p>
                      <a:r>
                        <a:rPr b="0" sz="1200">
                          <a:solidFill>
                            <a:srgbClr val="1C2B3A"/>
                          </a:solidFill>
                          <a:latin typeface="Calibri"/>
                        </a:rPr>
                        <a:t>full-duplex</a:t>
                      </a:r>
                    </a:p>
                  </a:txBody>
                  <a:tcPr marL="91440" marR="91440" marT="45720" marB="45720" anchor="ctr">
                    <a:solidFill>
                      <a:srgbClr val="FFFFFF"/>
                    </a:solidFill>
                  </a:tcPr>
                </a:tc>
                <a:tc>
                  <a:txBody>
                    <a:bodyPr/>
                    <a:lstStyle/>
                    <a:p>
                      <a:r>
                        <a:rPr b="0" sz="1200">
                          <a:solidFill>
                            <a:srgbClr val="1C2B3A"/>
                          </a:solidFill>
                          <a:latin typeface="Calibri"/>
                        </a:rPr>
                        <a:t>both directions at the same time, on one connection — like real traffic</a:t>
                      </a:r>
                    </a:p>
                  </a:txBody>
                  <a:tcPr marL="91440" marR="91440" marT="45720" marB="45720" anchor="ctr">
                    <a:solidFill>
                      <a:srgbClr val="FFFFFF"/>
                    </a:solidFill>
                  </a:tcPr>
                </a:tc>
              </a:tr>
              <a:tr h="542544">
                <a:tc>
                  <a:txBody>
                    <a:bodyPr/>
                    <a:lstStyle/>
                    <a:p>
                      <a:r>
                        <a:rPr b="0" sz="1200">
                          <a:solidFill>
                            <a:srgbClr val="1C2B3A"/>
                          </a:solidFill>
                          <a:latin typeface="Calibri"/>
                        </a:rPr>
                        <a:t>TCP vs UDP</a:t>
                      </a:r>
                    </a:p>
                  </a:txBody>
                  <a:tcPr marL="91440" marR="91440" marT="45720" marB="45720" anchor="ctr">
                    <a:solidFill>
                      <a:srgbClr val="F1F4F8"/>
                    </a:solidFill>
                  </a:tcPr>
                </a:tc>
                <a:tc>
                  <a:txBody>
                    <a:bodyPr/>
                    <a:lstStyle/>
                    <a:p>
                      <a:r>
                        <a:rPr b="0" sz="1200">
                          <a:solidFill>
                            <a:srgbClr val="1C2B3A"/>
                          </a:solidFill>
                          <a:latin typeface="Calibri"/>
                        </a:rPr>
                        <a:t>TCP measures achievable throughput; UDP sends a fixed rate to measure loss</a:t>
                      </a:r>
                    </a:p>
                  </a:txBody>
                  <a:tcPr marL="91440" marR="91440" marT="45720" marB="45720" anchor="ctr">
                    <a:solidFill>
                      <a:srgbClr val="F1F4F8"/>
                    </a:solidFill>
                  </a:tcPr>
                </a:tc>
              </a:tr>
            </a:tbl>
          </a:graphicData>
        </a:graphic>
      </p:graphicFrame>
      <p:sp>
        <p:nvSpPr>
          <p:cNvPr id="16" name="TextBox 15"/>
          <p:cNvSpPr txBox="1"/>
          <p:nvPr/>
        </p:nvSpPr>
        <p:spPr>
          <a:xfrm>
            <a:off x="566928" y="6374003"/>
            <a:ext cx="11057839" cy="527304"/>
          </a:xfrm>
          <a:prstGeom prst="rect">
            <a:avLst/>
          </a:prstGeom>
          <a:noFill/>
        </p:spPr>
        <p:txBody>
          <a:bodyPr wrap="square" lIns="0" rIns="0" tIns="0" bIns="0">
            <a:normAutofit/>
          </a:bodyPr>
          <a:lstStyle/>
          <a:p>
            <a:pPr>
              <a:spcAft>
                <a:spcPts val="700"/>
              </a:spcAft>
            </a:pPr>
            <a:r>
              <a:rPr b="0" sz="1300">
                <a:solidFill>
                  <a:srgbClr val="1C2B3A"/>
                </a:solidFill>
                <a:latin typeface="Calibri"/>
              </a:rPr>
              <a:t>Given enough CPU, iperf saturates a 1G / 10G / 25G link. But it thinks in </a:t>
            </a:r>
            <a:r>
              <a:rPr b="1" sz="1300">
                <a:solidFill>
                  <a:srgbClr val="1C2B3A"/>
                </a:solidFill>
                <a:latin typeface="Calibri"/>
              </a:rPr>
              <a:t>pairs</a:t>
            </a:r>
            <a:r>
              <a:rPr b="0" sz="1300">
                <a:solidFill>
                  <a:srgbClr val="1C2B3A"/>
                </a:solidFill>
                <a:latin typeface="Calibri"/>
              </a:rPr>
              <a:t> — it has no idea a fleet exists. That's the orchestrator's job.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C8721C"/>
                </a:solidFill>
                <a:latin typeface="Calibri"/>
              </a:rPr>
              <a:t>IPERF_ORCHESTRATOR</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Why iperf2 — and why an orchestrator at all</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8</a:t>
            </a:r>
          </a:p>
        </p:txBody>
      </p:sp>
      <p:sp>
        <p:nvSpPr>
          <p:cNvPr id="7" name="TextBox 6"/>
          <p:cNvSpPr txBox="1"/>
          <p:nvPr/>
        </p:nvSpPr>
        <p:spPr>
          <a:xfrm>
            <a:off x="566928" y="1389888"/>
            <a:ext cx="11057839" cy="527304"/>
          </a:xfrm>
          <a:prstGeom prst="rect">
            <a:avLst/>
          </a:prstGeom>
          <a:noFill/>
        </p:spPr>
        <p:txBody>
          <a:bodyPr wrap="square" lIns="0" rIns="0" tIns="0" bIns="0">
            <a:normAutofit/>
          </a:bodyPr>
          <a:lstStyle/>
          <a:p>
            <a:pPr>
              <a:spcAft>
                <a:spcPts val="700"/>
              </a:spcAft>
            </a:pPr>
            <a:r>
              <a:rPr sz="1200" b="1">
                <a:solidFill>
                  <a:srgbClr val="C8721C"/>
                </a:solidFill>
                <a:latin typeface="Calibri"/>
              </a:rPr>
              <a:t>▪  </a:t>
            </a:r>
            <a:r>
              <a:rPr b="0" sz="1300">
                <a:solidFill>
                  <a:srgbClr val="1C2B3A"/>
                </a:solidFill>
                <a:latin typeface="Calibri"/>
              </a:rPr>
              <a:t>Two iperfs exist: </a:t>
            </a:r>
            <a:r>
              <a:rPr b="1" sz="1300">
                <a:solidFill>
                  <a:srgbClr val="1C2B3A"/>
                </a:solidFill>
                <a:latin typeface="Calibri"/>
              </a:rPr>
              <a:t>iperf2</a:t>
            </a:r>
            <a:r>
              <a:rPr b="0" sz="1300">
                <a:solidFill>
                  <a:srgbClr val="1C2B3A"/>
                </a:solidFill>
                <a:latin typeface="Calibri"/>
              </a:rPr>
              <a:t> serves many clients on one port; </a:t>
            </a:r>
            <a:r>
              <a:rPr b="1" sz="1300">
                <a:solidFill>
                  <a:srgbClr val="1C2B3A"/>
                </a:solidFill>
                <a:latin typeface="Calibri"/>
              </a:rPr>
              <a:t>iperf3</a:t>
            </a:r>
            <a:r>
              <a:rPr b="0" sz="1300">
                <a:solidFill>
                  <a:srgbClr val="1C2B3A"/>
                </a:solidFill>
                <a:latin typeface="Calibri"/>
              </a:rPr>
              <a:t> takes one at a time — unusable in a mesh. iperf2's </a:t>
            </a:r>
            <a:r>
              <a:rPr sz="1200">
                <a:solidFill>
                  <a:srgbClr val="C8721C"/>
                </a:solidFill>
                <a:latin typeface="Consolas"/>
              </a:rPr>
              <a:t>--full-duplex</a:t>
            </a:r>
            <a:r>
              <a:rPr b="0" sz="1300">
                <a:solidFill>
                  <a:srgbClr val="1C2B3A"/>
                </a:solidFill>
                <a:latin typeface="Calibri"/>
              </a:rPr>
              <a:t> also tests both directions on one connection.</a:t>
            </a:r>
          </a:p>
        </p:txBody>
      </p:sp>
      <p:cxnSp>
        <p:nvCxnSpPr>
          <p:cNvPr id="8" name="Connector 7"/>
          <p:cNvCxnSpPr/>
          <p:nvPr/>
        </p:nvCxnSpPr>
        <p:spPr>
          <a:xfrm flipH="1">
            <a:off x="3082020" y="3041904"/>
            <a:ext cx="246396" cy="594852"/>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2487168" y="3041904"/>
            <a:ext cx="841248" cy="841248"/>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892315" y="3041904"/>
            <a:ext cx="1436101" cy="594852"/>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1645920" y="3041904"/>
            <a:ext cx="1682496" cy="0"/>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1892315" y="2447051"/>
            <a:ext cx="1436101" cy="594853"/>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2487168" y="2200656"/>
            <a:ext cx="841248" cy="841248"/>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3082020" y="2447051"/>
            <a:ext cx="246396" cy="594853"/>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487168" y="3636756"/>
            <a:ext cx="594852" cy="246396"/>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92315" y="3636756"/>
            <a:ext cx="1189705" cy="0"/>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1645920" y="3041904"/>
            <a:ext cx="1436100" cy="594852"/>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1892315" y="2447051"/>
            <a:ext cx="1189705" cy="1189705"/>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2487168" y="2200656"/>
            <a:ext cx="594852" cy="1436100"/>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082020" y="2447051"/>
            <a:ext cx="0" cy="1189705"/>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892315" y="3636756"/>
            <a:ext cx="594853" cy="246396"/>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645920" y="3041904"/>
            <a:ext cx="841248" cy="841248"/>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1892315" y="2447051"/>
            <a:ext cx="594853" cy="1436101"/>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487168" y="2200656"/>
            <a:ext cx="0" cy="1682496"/>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487168" y="2447051"/>
            <a:ext cx="594852" cy="1436101"/>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1645920" y="3041904"/>
            <a:ext cx="246395" cy="594852"/>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892315" y="2447051"/>
            <a:ext cx="0" cy="1189705"/>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1892315" y="2200656"/>
            <a:ext cx="594853" cy="1436100"/>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892315" y="2447051"/>
            <a:ext cx="1189705" cy="1189705"/>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645920" y="2447051"/>
            <a:ext cx="246395" cy="594853"/>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1645920" y="2200656"/>
            <a:ext cx="841248" cy="841248"/>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645920" y="2447051"/>
            <a:ext cx="1436100" cy="594853"/>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1892315" y="2200656"/>
            <a:ext cx="594853" cy="246395"/>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892315" y="2447051"/>
            <a:ext cx="1189705" cy="0"/>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2487168" y="2200656"/>
            <a:ext cx="594852" cy="246395"/>
          </a:xfrm>
          <a:prstGeom prst="line">
            <a:avLst/>
          </a:prstGeom>
          <a:ln w="11430">
            <a:solidFill>
              <a:srgbClr val="DCE4EC"/>
            </a:solidFill>
          </a:ln>
          <a:effectLst/>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246120" y="2959608"/>
            <a:ext cx="164592" cy="164592"/>
          </a:xfrm>
          <a:prstGeom prst="roundRect">
            <a:avLst>
              <a:gd name="adj" fmla="val 10000"/>
            </a:avLst>
          </a:prstGeom>
          <a:solidFill>
            <a:srgbClr val="C87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2999724" y="3554460"/>
            <a:ext cx="164592" cy="164592"/>
          </a:xfrm>
          <a:prstGeom prst="roundRect">
            <a:avLst>
              <a:gd name="adj" fmla="val 10000"/>
            </a:avLst>
          </a:prstGeom>
          <a:solidFill>
            <a:srgbClr val="C87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2404872" y="3800856"/>
            <a:ext cx="164592" cy="164592"/>
          </a:xfrm>
          <a:prstGeom prst="roundRect">
            <a:avLst>
              <a:gd name="adj" fmla="val 10000"/>
            </a:avLst>
          </a:prstGeom>
          <a:solidFill>
            <a:srgbClr val="C87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810019" y="3554460"/>
            <a:ext cx="164592" cy="164592"/>
          </a:xfrm>
          <a:prstGeom prst="roundRect">
            <a:avLst>
              <a:gd name="adj" fmla="val 10000"/>
            </a:avLst>
          </a:prstGeom>
          <a:solidFill>
            <a:srgbClr val="C87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563624" y="2959608"/>
            <a:ext cx="164592" cy="164592"/>
          </a:xfrm>
          <a:prstGeom prst="roundRect">
            <a:avLst>
              <a:gd name="adj" fmla="val 10000"/>
            </a:avLst>
          </a:prstGeom>
          <a:solidFill>
            <a:srgbClr val="C87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1810019" y="2364755"/>
            <a:ext cx="164592" cy="164592"/>
          </a:xfrm>
          <a:prstGeom prst="roundRect">
            <a:avLst>
              <a:gd name="adj" fmla="val 10000"/>
            </a:avLst>
          </a:prstGeom>
          <a:solidFill>
            <a:srgbClr val="C87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404872" y="2118360"/>
            <a:ext cx="164592" cy="164592"/>
          </a:xfrm>
          <a:prstGeom prst="roundRect">
            <a:avLst>
              <a:gd name="adj" fmla="val 10000"/>
            </a:avLst>
          </a:prstGeom>
          <a:solidFill>
            <a:srgbClr val="C87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2999724" y="2364755"/>
            <a:ext cx="164592" cy="164592"/>
          </a:xfrm>
          <a:prstGeom prst="roundRect">
            <a:avLst>
              <a:gd name="adj" fmla="val 10000"/>
            </a:avLst>
          </a:prstGeom>
          <a:solidFill>
            <a:srgbClr val="C87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773168" y="2246376"/>
            <a:ext cx="6760159" cy="1737360"/>
          </a:xfrm>
          <a:prstGeom prst="rect">
            <a:avLst/>
          </a:prstGeom>
          <a:noFill/>
        </p:spPr>
        <p:txBody>
          <a:bodyPr wrap="square" lIns="0" rIns="0" tIns="0" bIns="0">
            <a:spAutoFit/>
          </a:bodyPr>
          <a:lstStyle/>
          <a:p>
            <a:pPr>
              <a:spcAft>
                <a:spcPts val="500"/>
              </a:spcAft>
            </a:pPr>
            <a:r>
              <a:rPr sz="1500" b="1">
                <a:solidFill>
                  <a:srgbClr val="C8721C"/>
                </a:solidFill>
                <a:latin typeface="Calibri"/>
              </a:rPr>
              <a:t>8 hosts   </a:t>
            </a:r>
            <a:r>
              <a:rPr sz="1400">
                <a:solidFill>
                  <a:srgbClr val="1C2B3A"/>
                </a:solidFill>
                <a:latin typeface="Calibri"/>
              </a:rPr>
              <a:t>28 pairs</a:t>
            </a:r>
          </a:p>
          <a:p>
            <a:pPr>
              <a:spcAft>
                <a:spcPts val="500"/>
              </a:spcAft>
            </a:pPr>
            <a:r>
              <a:rPr sz="1500" b="1">
                <a:solidFill>
                  <a:srgbClr val="C8721C"/>
                </a:solidFill>
                <a:latin typeface="Calibri"/>
              </a:rPr>
              <a:t>100 hosts   </a:t>
            </a:r>
            <a:r>
              <a:rPr sz="1400">
                <a:solidFill>
                  <a:srgbClr val="1C2B3A"/>
                </a:solidFill>
                <a:latin typeface="Calibri"/>
              </a:rPr>
              <a:t>4,950 pairs</a:t>
            </a:r>
          </a:p>
          <a:p>
            <a:pPr>
              <a:spcAft>
                <a:spcPts val="500"/>
              </a:spcAft>
            </a:pPr>
            <a:r>
              <a:rPr sz="1500" b="1">
                <a:solidFill>
                  <a:srgbClr val="C8721C"/>
                </a:solidFill>
                <a:latin typeface="Calibri"/>
              </a:rPr>
              <a:t>every pair   </a:t>
            </a:r>
            <a:r>
              <a:rPr sz="1400">
                <a:solidFill>
                  <a:srgbClr val="1C2B3A"/>
                </a:solidFill>
                <a:latin typeface="Calibri"/>
              </a:rPr>
              <a:t>both directions, at once</a:t>
            </a:r>
          </a:p>
        </p:txBody>
      </p:sp>
      <p:graphicFrame>
        <p:nvGraphicFramePr>
          <p:cNvPr id="45" name="Table 44"/>
          <p:cNvGraphicFramePr>
            <a:graphicFrameLocks noGrp="1"/>
          </p:cNvGraphicFramePr>
          <p:nvPr/>
        </p:nvGraphicFramePr>
        <p:xfrm>
          <a:off x="566928" y="4139184"/>
          <a:ext cx="11057838" cy="1928495"/>
        </p:xfrm>
        <a:graphic>
          <a:graphicData uri="http://schemas.openxmlformats.org/drawingml/2006/table">
            <a:tbl>
              <a:tblPr>
                <a:tableStyleId>{5C22544A-7EE6-4342-B048-85BDC9FD1C3A}</a:tableStyleId>
              </a:tblPr>
              <a:tblGrid>
                <a:gridCol w="3568626"/>
                <a:gridCol w="7489212"/>
              </a:tblGrid>
              <a:tr h="352679">
                <a:tc>
                  <a:txBody>
                    <a:bodyPr/>
                    <a:lstStyle/>
                    <a:p>
                      <a:r>
                        <a:rPr b="1" sz="1200">
                          <a:solidFill>
                            <a:srgbClr val="FFFFFF"/>
                          </a:solidFill>
                          <a:latin typeface="Calibri"/>
                        </a:rPr>
                        <a:t>Making the mesh efficient</a:t>
                      </a:r>
                    </a:p>
                  </a:txBody>
                  <a:tcPr marL="91440" marR="91440" marT="45720" marB="45720" anchor="ctr">
                    <a:solidFill>
                      <a:srgbClr val="101E30"/>
                    </a:solidFill>
                  </a:tcPr>
                </a:tc>
                <a:tc>
                  <a:txBody>
                    <a:bodyPr/>
                    <a:lstStyle/>
                    <a:p>
                      <a:r>
                        <a:rPr b="1" sz="1200">
                          <a:solidFill>
                            <a:srgbClr val="FFFFFF"/>
                          </a:solidFill>
                          <a:latin typeface="Calibri"/>
                        </a:rPr>
                        <a:t>How</a:t>
                      </a:r>
                    </a:p>
                  </a:txBody>
                  <a:tcPr marL="91440" marR="91440" marT="45720" marB="45720" anchor="ctr">
                    <a:solidFill>
                      <a:srgbClr val="101E30"/>
                    </a:solidFill>
                  </a:tcPr>
                </a:tc>
              </a:tr>
              <a:tr h="542544">
                <a:tc>
                  <a:txBody>
                    <a:bodyPr/>
                    <a:lstStyle/>
                    <a:p>
                      <a:r>
                        <a:rPr b="0" sz="1200">
                          <a:solidFill>
                            <a:srgbClr val="1C2B3A"/>
                          </a:solidFill>
                          <a:latin typeface="Calibri"/>
                        </a:rPr>
                        <a:t>Everyone starts together</a:t>
                      </a:r>
                    </a:p>
                  </a:txBody>
                  <a:tcPr marL="91440" marR="91440" marT="45720" marB="45720" anchor="ctr">
                    <a:solidFill>
                      <a:srgbClr val="FFFFFF"/>
                    </a:solidFill>
                  </a:tcPr>
                </a:tc>
                <a:tc>
                  <a:txBody>
                    <a:bodyPr/>
                    <a:lstStyle/>
                    <a:p>
                      <a:r>
                        <a:rPr b="0" sz="1200">
                          <a:solidFill>
                            <a:srgbClr val="1C2B3A"/>
                          </a:solidFill>
                          <a:latin typeface="Calibri"/>
                        </a:rPr>
                        <a:t>one "start at" timestamp pushed to all hosts — they fire within a fraction of a second</a:t>
                      </a:r>
                    </a:p>
                  </a:txBody>
                  <a:tcPr marL="91440" marR="91440" marT="45720" marB="45720" anchor="ctr">
                    <a:solidFill>
                      <a:srgbClr val="FFFFFF"/>
                    </a:solidFill>
                  </a:tcPr>
                </a:tc>
              </a:tr>
              <a:tr h="344424">
                <a:tc>
                  <a:txBody>
                    <a:bodyPr/>
                    <a:lstStyle/>
                    <a:p>
                      <a:r>
                        <a:rPr b="0" sz="1200">
                          <a:solidFill>
                            <a:srgbClr val="1C2B3A"/>
                          </a:solidFill>
                          <a:latin typeface="Calibri"/>
                        </a:rPr>
                        <a:t>Work is spread fairly</a:t>
                      </a:r>
                    </a:p>
                  </a:txBody>
                  <a:tcPr marL="91440" marR="91440" marT="45720" marB="45720" anchor="ctr">
                    <a:solidFill>
                      <a:srgbClr val="F1F4F8"/>
                    </a:solidFill>
                  </a:tcPr>
                </a:tc>
                <a:tc>
                  <a:txBody>
                    <a:bodyPr/>
                    <a:lstStyle/>
                    <a:p>
                      <a:r>
                        <a:rPr b="0" sz="1200">
                          <a:solidFill>
                            <a:srgbClr val="1C2B3A"/>
                          </a:solidFill>
                          <a:latin typeface="Calibri"/>
                        </a:rPr>
                        <a:t>every host runs ~half the client jobs (49–50 each at N=100, not 0–99)</a:t>
                      </a:r>
                    </a:p>
                  </a:txBody>
                  <a:tcPr marL="91440" marR="91440" marT="45720" marB="45720" anchor="ctr">
                    <a:solidFill>
                      <a:srgbClr val="F1F4F8"/>
                    </a:solidFill>
                  </a:tcPr>
                </a:tc>
              </a:tr>
              <a:tr h="344424">
                <a:tc>
                  <a:txBody>
                    <a:bodyPr/>
                    <a:lstStyle/>
                    <a:p>
                      <a:r>
                        <a:rPr b="0" sz="1200">
                          <a:solidFill>
                            <a:srgbClr val="1C2B3A"/>
                          </a:solidFill>
                          <a:latin typeface="Calibri"/>
                        </a:rPr>
                        <a:t>Results come home fast</a:t>
                      </a:r>
                    </a:p>
                  </a:txBody>
                  <a:tcPr marL="91440" marR="91440" marT="45720" marB="45720" anchor="ctr">
                    <a:solidFill>
                      <a:srgbClr val="FFFFFF"/>
                    </a:solidFill>
                  </a:tcPr>
                </a:tc>
                <a:tc>
                  <a:txBody>
                    <a:bodyPr/>
                    <a:lstStyle/>
                    <a:p>
                      <a:r>
                        <a:rPr b="0" sz="1200">
                          <a:solidFill>
                            <a:srgbClr val="1C2B3A"/>
                          </a:solidFill>
                          <a:latin typeface="Calibri"/>
                        </a:rPr>
                        <a:t>one archive per host, not thousands of copies — minutes instead of ~80</a:t>
                      </a:r>
                    </a:p>
                  </a:txBody>
                  <a:tcPr marL="91440" marR="91440" marT="45720" marB="45720" anchor="ctr">
                    <a:solidFill>
                      <a:srgbClr val="FFFFFF"/>
                    </a:solidFill>
                  </a:tcPr>
                </a:tc>
              </a:tr>
              <a:tr h="344424">
                <a:tc>
                  <a:txBody>
                    <a:bodyPr/>
                    <a:lstStyle/>
                    <a:p>
                      <a:r>
                        <a:rPr b="0" sz="1200">
                          <a:solidFill>
                            <a:srgbClr val="1C2B3A"/>
                          </a:solidFill>
                          <a:latin typeface="Calibri"/>
                        </a:rPr>
                        <a:t>CPU sampled everywhere</a:t>
                      </a:r>
                    </a:p>
                  </a:txBody>
                  <a:tcPr marL="91440" marR="91440" marT="45720" marB="45720" anchor="ctr">
                    <a:solidFill>
                      <a:srgbClr val="F1F4F8"/>
                    </a:solidFill>
                  </a:tcPr>
                </a:tc>
                <a:tc>
                  <a:txBody>
                    <a:bodyPr/>
                    <a:lstStyle/>
                    <a:p>
                      <a:r>
                        <a:rPr b="0" sz="1200">
                          <a:solidFill>
                            <a:srgbClr val="1C2B3A"/>
                          </a:solidFill>
                          <a:latin typeface="Calibri"/>
                        </a:rPr>
                        <a:t>a throughput number without CPU next to it gets misread</a:t>
                      </a:r>
                    </a:p>
                  </a:txBody>
                  <a:tcPr marL="91440" marR="91440" marT="45720" marB="45720" anchor="ctr">
                    <a:solidFill>
                      <a:srgbClr val="F1F4F8"/>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C8721C"/>
                </a:solidFill>
                <a:latin typeface="Calibri"/>
              </a:rPr>
              <a:t>IPERF_ORCHESTRATOR</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Running it, start to finish</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9</a:t>
            </a:r>
          </a:p>
        </p:txBody>
      </p:sp>
      <p:sp>
        <p:nvSpPr>
          <p:cNvPr id="7" name="Rounded Rectangle 6"/>
          <p:cNvSpPr/>
          <p:nvPr/>
        </p:nvSpPr>
        <p:spPr>
          <a:xfrm>
            <a:off x="566928" y="1389888"/>
            <a:ext cx="11057839" cy="480060"/>
          </a:xfrm>
          <a:prstGeom prst="roundRect">
            <a:avLst>
              <a:gd name="adj" fmla="val 10000"/>
            </a:avLst>
          </a:prstGeom>
          <a:solidFill>
            <a:srgbClr val="14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527048"/>
            <a:ext cx="10600639" cy="205740"/>
          </a:xfrm>
          <a:prstGeom prst="rect">
            <a:avLst/>
          </a:prstGeom>
          <a:noFill/>
        </p:spPr>
        <p:txBody>
          <a:bodyPr wrap="square" lIns="0" rIns="0" tIns="0" bIns="0">
            <a:spAutoFit/>
          </a:bodyPr>
          <a:lstStyle/>
          <a:p>
            <a:r>
              <a:rPr sz="1200" b="1">
                <a:solidFill>
                  <a:srgbClr val="E8EEF6"/>
                </a:solidFill>
                <a:latin typeface="Consolas"/>
              </a:rPr>
              <a:t>iperf-orchestrator --servers servers.txt all</a:t>
            </a:r>
          </a:p>
        </p:txBody>
      </p:sp>
      <p:sp>
        <p:nvSpPr>
          <p:cNvPr id="9" name="Rounded Rectangle 8"/>
          <p:cNvSpPr/>
          <p:nvPr/>
        </p:nvSpPr>
        <p:spPr>
          <a:xfrm>
            <a:off x="566928" y="2016252"/>
            <a:ext cx="1962851" cy="932688"/>
          </a:xfrm>
          <a:prstGeom prst="roundRect">
            <a:avLst>
              <a:gd name="adj" fmla="val 10000"/>
            </a:avLst>
          </a:prstGeom>
          <a:solidFill>
            <a:srgbClr val="357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50" b="1">
                <a:solidFill>
                  <a:srgbClr val="FFFFFF"/>
                </a:solidFill>
                <a:latin typeface="Consolas"/>
              </a:rPr>
              <a:t>start-servers</a:t>
            </a:r>
          </a:p>
          <a:p>
            <a:pPr algn="ctr"/>
            <a:r>
              <a:rPr sz="950">
                <a:solidFill>
                  <a:srgbClr val="F0F3F6"/>
                </a:solidFill>
                <a:latin typeface="Calibri"/>
              </a:rPr>
              <a:t>iperf comes up everywhere</a:t>
            </a:r>
          </a:p>
        </p:txBody>
      </p:sp>
      <p:sp>
        <p:nvSpPr>
          <p:cNvPr id="10" name="TextBox 9"/>
          <p:cNvSpPr txBox="1"/>
          <p:nvPr/>
        </p:nvSpPr>
        <p:spPr>
          <a:xfrm>
            <a:off x="2529779" y="2308860"/>
            <a:ext cx="310896" cy="365760"/>
          </a:xfrm>
          <a:prstGeom prst="rect">
            <a:avLst/>
          </a:prstGeom>
          <a:noFill/>
        </p:spPr>
        <p:txBody>
          <a:bodyPr wrap="none" lIns="0" rIns="0" tIns="0" bIns="0">
            <a:spAutoFit/>
          </a:bodyPr>
          <a:lstStyle/>
          <a:p>
            <a:pPr algn="ctr"/>
            <a:r>
              <a:rPr sz="1500" b="1">
                <a:solidFill>
                  <a:srgbClr val="5C6B7A"/>
                </a:solidFill>
              </a:rPr>
              <a:t>→</a:t>
            </a:r>
          </a:p>
        </p:txBody>
      </p:sp>
      <p:sp>
        <p:nvSpPr>
          <p:cNvPr id="11" name="Rounded Rectangle 10"/>
          <p:cNvSpPr/>
          <p:nvPr/>
        </p:nvSpPr>
        <p:spPr>
          <a:xfrm>
            <a:off x="2840675" y="2016252"/>
            <a:ext cx="1962851" cy="932688"/>
          </a:xfrm>
          <a:prstGeom prst="roundRect">
            <a:avLst>
              <a:gd name="adj" fmla="val 10000"/>
            </a:avLst>
          </a:prstGeom>
          <a:solidFill>
            <a:srgbClr val="0F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50" b="1">
                <a:solidFill>
                  <a:srgbClr val="FFFFFF"/>
                </a:solidFill>
                <a:latin typeface="Consolas"/>
              </a:rPr>
              <a:t>run-tests</a:t>
            </a:r>
          </a:p>
          <a:p>
            <a:pPr algn="ctr"/>
            <a:r>
              <a:rPr sz="950">
                <a:solidFill>
                  <a:srgbClr val="F0F3F6"/>
                </a:solidFill>
                <a:latin typeface="Calibri"/>
              </a:rPr>
              <a:t>the synchronized mesh</a:t>
            </a:r>
          </a:p>
        </p:txBody>
      </p:sp>
      <p:sp>
        <p:nvSpPr>
          <p:cNvPr id="12" name="TextBox 11"/>
          <p:cNvSpPr txBox="1"/>
          <p:nvPr/>
        </p:nvSpPr>
        <p:spPr>
          <a:xfrm>
            <a:off x="4803526" y="2308860"/>
            <a:ext cx="310896" cy="365760"/>
          </a:xfrm>
          <a:prstGeom prst="rect">
            <a:avLst/>
          </a:prstGeom>
          <a:noFill/>
        </p:spPr>
        <p:txBody>
          <a:bodyPr wrap="none" lIns="0" rIns="0" tIns="0" bIns="0">
            <a:spAutoFit/>
          </a:bodyPr>
          <a:lstStyle/>
          <a:p>
            <a:pPr algn="ctr"/>
            <a:r>
              <a:rPr sz="1500" b="1">
                <a:solidFill>
                  <a:srgbClr val="5C6B7A"/>
                </a:solidFill>
              </a:rPr>
              <a:t>→</a:t>
            </a:r>
          </a:p>
        </p:txBody>
      </p:sp>
      <p:sp>
        <p:nvSpPr>
          <p:cNvPr id="13" name="Rounded Rectangle 12"/>
          <p:cNvSpPr/>
          <p:nvPr/>
        </p:nvSpPr>
        <p:spPr>
          <a:xfrm>
            <a:off x="5114422" y="2016252"/>
            <a:ext cx="1962851" cy="932688"/>
          </a:xfrm>
          <a:prstGeom prst="roundRect">
            <a:avLst>
              <a:gd name="adj" fmla="val 10000"/>
            </a:avLst>
          </a:prstGeom>
          <a:solidFill>
            <a:srgbClr val="C872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50" b="1">
                <a:solidFill>
                  <a:srgbClr val="FFFFFF"/>
                </a:solidFill>
                <a:latin typeface="Consolas"/>
              </a:rPr>
              <a:t>collect-results</a:t>
            </a:r>
          </a:p>
          <a:p>
            <a:pPr algn="ctr"/>
            <a:r>
              <a:rPr sz="950">
                <a:solidFill>
                  <a:srgbClr val="F0F3F6"/>
                </a:solidFill>
                <a:latin typeface="Calibri"/>
              </a:rPr>
              <a:t>logs come home</a:t>
            </a:r>
          </a:p>
        </p:txBody>
      </p:sp>
      <p:sp>
        <p:nvSpPr>
          <p:cNvPr id="14" name="TextBox 13"/>
          <p:cNvSpPr txBox="1"/>
          <p:nvPr/>
        </p:nvSpPr>
        <p:spPr>
          <a:xfrm>
            <a:off x="7077273" y="2308860"/>
            <a:ext cx="310896" cy="365760"/>
          </a:xfrm>
          <a:prstGeom prst="rect">
            <a:avLst/>
          </a:prstGeom>
          <a:noFill/>
        </p:spPr>
        <p:txBody>
          <a:bodyPr wrap="none" lIns="0" rIns="0" tIns="0" bIns="0">
            <a:spAutoFit/>
          </a:bodyPr>
          <a:lstStyle/>
          <a:p>
            <a:pPr algn="ctr"/>
            <a:r>
              <a:rPr sz="1500" b="1">
                <a:solidFill>
                  <a:srgbClr val="5C6B7A"/>
                </a:solidFill>
              </a:rPr>
              <a:t>→</a:t>
            </a:r>
          </a:p>
        </p:txBody>
      </p:sp>
      <p:sp>
        <p:nvSpPr>
          <p:cNvPr id="15" name="Rounded Rectangle 14"/>
          <p:cNvSpPr/>
          <p:nvPr/>
        </p:nvSpPr>
        <p:spPr>
          <a:xfrm>
            <a:off x="7388169" y="2016252"/>
            <a:ext cx="1962851" cy="932688"/>
          </a:xfrm>
          <a:prstGeom prst="roundRect">
            <a:avLst>
              <a:gd name="adj" fmla="val 10000"/>
            </a:avLst>
          </a:prstGeom>
          <a:solidFill>
            <a:srgbClr val="B038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50" b="1">
                <a:solidFill>
                  <a:srgbClr val="FFFFFF"/>
                </a:solidFill>
                <a:latin typeface="Consolas"/>
              </a:rPr>
              <a:t>process</a:t>
            </a:r>
          </a:p>
          <a:p>
            <a:pPr algn="ctr"/>
            <a:r>
              <a:rPr sz="950">
                <a:solidFill>
                  <a:srgbClr val="F0F3F6"/>
                </a:solidFill>
                <a:latin typeface="Calibri"/>
              </a:rPr>
              <a:t>CSV, pivot, heatmap</a:t>
            </a:r>
          </a:p>
        </p:txBody>
      </p:sp>
      <p:sp>
        <p:nvSpPr>
          <p:cNvPr id="16" name="TextBox 15"/>
          <p:cNvSpPr txBox="1"/>
          <p:nvPr/>
        </p:nvSpPr>
        <p:spPr>
          <a:xfrm>
            <a:off x="9351020" y="2308860"/>
            <a:ext cx="310896" cy="365760"/>
          </a:xfrm>
          <a:prstGeom prst="rect">
            <a:avLst/>
          </a:prstGeom>
          <a:noFill/>
        </p:spPr>
        <p:txBody>
          <a:bodyPr wrap="none" lIns="0" rIns="0" tIns="0" bIns="0">
            <a:spAutoFit/>
          </a:bodyPr>
          <a:lstStyle/>
          <a:p>
            <a:pPr algn="ctr"/>
            <a:r>
              <a:rPr sz="1500" b="1">
                <a:solidFill>
                  <a:srgbClr val="5C6B7A"/>
                </a:solidFill>
              </a:rPr>
              <a:t>→</a:t>
            </a:r>
          </a:p>
        </p:txBody>
      </p:sp>
      <p:sp>
        <p:nvSpPr>
          <p:cNvPr id="17" name="Rounded Rectangle 16"/>
          <p:cNvSpPr/>
          <p:nvPr/>
        </p:nvSpPr>
        <p:spPr>
          <a:xfrm>
            <a:off x="9661916" y="2016252"/>
            <a:ext cx="1962851" cy="932688"/>
          </a:xfrm>
          <a:prstGeom prst="roundRect">
            <a:avLst>
              <a:gd name="adj" fmla="val 10000"/>
            </a:avLst>
          </a:prstGeom>
          <a:solidFill>
            <a:srgbClr val="0F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50" b="1">
                <a:solidFill>
                  <a:srgbClr val="FFFFFF"/>
                </a:solidFill>
                <a:latin typeface="Consolas"/>
              </a:rPr>
              <a:t>stop + cleanup</a:t>
            </a:r>
          </a:p>
          <a:p>
            <a:pPr algn="ctr"/>
            <a:r>
              <a:rPr sz="950">
                <a:solidFill>
                  <a:srgbClr val="F0F3F6"/>
                </a:solidFill>
                <a:latin typeface="Calibri"/>
              </a:rPr>
              <a:t>leave no trace</a:t>
            </a:r>
          </a:p>
        </p:txBody>
      </p:sp>
      <p:sp>
        <p:nvSpPr>
          <p:cNvPr id="18" name="TextBox 17"/>
          <p:cNvSpPr txBox="1"/>
          <p:nvPr/>
        </p:nvSpPr>
        <p:spPr>
          <a:xfrm>
            <a:off x="566928" y="3150108"/>
            <a:ext cx="11057839" cy="2235708"/>
          </a:xfrm>
          <a:prstGeom prst="rect">
            <a:avLst/>
          </a:prstGeom>
          <a:noFill/>
        </p:spPr>
        <p:txBody>
          <a:bodyPr wrap="square" lIns="0" rIns="0" tIns="0" bIns="0">
            <a:normAutofit/>
          </a:bodyPr>
          <a:lstStyle/>
          <a:p>
            <a:pPr>
              <a:spcAft>
                <a:spcPts val="700"/>
              </a:spcAft>
            </a:pPr>
            <a:r>
              <a:rPr sz="1200" b="1">
                <a:solidFill>
                  <a:srgbClr val="C8721C"/>
                </a:solidFill>
                <a:latin typeface="Calibri"/>
              </a:rPr>
              <a:t>▪  </a:t>
            </a:r>
            <a:r>
              <a:rPr b="0" sz="1300">
                <a:solidFill>
                  <a:srgbClr val="1C2B3A"/>
                </a:solidFill>
                <a:latin typeface="Calibri"/>
              </a:rPr>
              <a:t>Every run lands in its own timestamped folder — </a:t>
            </a:r>
            <a:r>
              <a:rPr sz="1200">
                <a:solidFill>
                  <a:srgbClr val="C8721C"/>
                </a:solidFill>
                <a:latin typeface="Consolas"/>
              </a:rPr>
              <a:t>results/&lt;run-id&gt;/</a:t>
            </a:r>
            <a:r>
              <a:rPr b="0" sz="1300">
                <a:solidFill>
                  <a:srgbClr val="1C2B3A"/>
                </a:solidFill>
                <a:latin typeface="Calibri"/>
              </a:rPr>
              <a:t>, with </a:t>
            </a:r>
            <a:r>
              <a:rPr sz="1200">
                <a:solidFill>
                  <a:srgbClr val="C8721C"/>
                </a:solidFill>
                <a:latin typeface="Consolas"/>
              </a:rPr>
              <a:t>results/latest</a:t>
            </a:r>
            <a:r>
              <a:rPr b="0" sz="1300">
                <a:solidFill>
                  <a:srgbClr val="1C2B3A"/>
                </a:solidFill>
                <a:latin typeface="Calibri"/>
              </a:rPr>
              <a:t> pointing at the newest. Old runs can be re-analyzed any time (</a:t>
            </a:r>
            <a:r>
              <a:rPr sz="1200">
                <a:solidFill>
                  <a:srgbClr val="C8721C"/>
                </a:solidFill>
                <a:latin typeface="Consolas"/>
              </a:rPr>
              <a:t>--run-id</a:t>
            </a:r>
            <a:r>
              <a:rPr b="0" sz="1300">
                <a:solidFill>
                  <a:srgbClr val="1C2B3A"/>
                </a:solidFill>
                <a:latin typeface="Calibri"/>
              </a:rPr>
              <a:t>).</a:t>
            </a:r>
          </a:p>
          <a:p>
            <a:pPr>
              <a:spcAft>
                <a:spcPts val="700"/>
              </a:spcAft>
            </a:pPr>
            <a:r>
              <a:rPr sz="1200" b="1">
                <a:solidFill>
                  <a:srgbClr val="C8721C"/>
                </a:solidFill>
                <a:latin typeface="Calibri"/>
              </a:rPr>
              <a:t>▪  </a:t>
            </a:r>
            <a:r>
              <a:rPr b="1" sz="1300">
                <a:solidFill>
                  <a:srgbClr val="1C2B3A"/>
                </a:solidFill>
                <a:latin typeface="Calibri"/>
              </a:rPr>
              <a:t>Reading a run, in order:</a:t>
            </a:r>
            <a:r>
              <a:rPr b="0" sz="1300">
                <a:solidFill>
                  <a:srgbClr val="1C2B3A"/>
                </a:solidFill>
                <a:latin typeface="Calibri"/>
              </a:rPr>
              <a:t> ① the heatmap — a red *row* means that server sends slowly to everyone; a red *column* means everyone struggles to reach it. ② the CPU summary — if a "slow" host's CPU was pegged, you measured the host, not the network. ③ </a:t>
            </a:r>
            <a:r>
              <a:rPr sz="1200">
                <a:solidFill>
                  <a:srgbClr val="C8721C"/>
                </a:solidFill>
                <a:latin typeface="Consolas"/>
              </a:rPr>
              <a:t>results-summary</a:t>
            </a:r>
            <a:r>
              <a:rPr b="0" sz="1300">
                <a:solidFill>
                  <a:srgbClr val="1C2B3A"/>
                </a:solidFill>
                <a:latin typeface="Calibri"/>
              </a:rPr>
              <a:t> — percentiles plus the five slowest pairs.</a:t>
            </a:r>
          </a:p>
          <a:p>
            <a:pPr>
              <a:spcAft>
                <a:spcPts val="700"/>
              </a:spcAft>
            </a:pPr>
            <a:r>
              <a:rPr sz="1200" b="1">
                <a:solidFill>
                  <a:srgbClr val="C8721C"/>
                </a:solidFill>
                <a:latin typeface="Calibri"/>
              </a:rPr>
              <a:t>▪  </a:t>
            </a:r>
            <a:r>
              <a:rPr b="0" sz="1300">
                <a:solidFill>
                  <a:srgbClr val="1C2B3A"/>
                </a:solidFill>
                <a:latin typeface="Calibri"/>
              </a:rPr>
              <a:t>Useful switches: </a:t>
            </a:r>
            <a:r>
              <a:rPr sz="1200">
                <a:solidFill>
                  <a:srgbClr val="C8721C"/>
                </a:solidFill>
                <a:latin typeface="Consolas"/>
              </a:rPr>
              <a:t>--dry-run</a:t>
            </a:r>
            <a:r>
              <a:rPr b="0" sz="1300">
                <a:solidFill>
                  <a:srgbClr val="1C2B3A"/>
                </a:solidFill>
                <a:latin typeface="Calibri"/>
              </a:rPr>
              <a:t> (show what would run, run nothing) · </a:t>
            </a:r>
            <a:r>
              <a:rPr sz="1200">
                <a:solidFill>
                  <a:srgbClr val="C8721C"/>
                </a:solidFill>
                <a:latin typeface="Consolas"/>
              </a:rPr>
              <a:t>--keep-going</a:t>
            </a:r>
            <a:r>
              <a:rPr b="0" sz="1300">
                <a:solidFill>
                  <a:srgbClr val="1C2B3A"/>
                </a:solidFill>
                <a:latin typeface="Calibri"/>
              </a:rPr>
              <a:t> (finish past a dead host) · </a:t>
            </a:r>
            <a:r>
              <a:rPr sz="1200">
                <a:solidFill>
                  <a:srgbClr val="C8721C"/>
                </a:solidFill>
                <a:latin typeface="Consolas"/>
              </a:rPr>
              <a:t>--resume</a:t>
            </a:r>
            <a:r>
              <a:rPr b="0" sz="1300">
                <a:solidFill>
                  <a:srgbClr val="1C2B3A"/>
                </a:solidFill>
                <a:latin typeface="Calibri"/>
              </a:rPr>
              <a:t> (pick up an aborted run) · </a:t>
            </a:r>
            <a:r>
              <a:rPr sz="1200">
                <a:solidFill>
                  <a:srgbClr val="C8721C"/>
                </a:solidFill>
                <a:latin typeface="Consolas"/>
              </a:rPr>
              <a:t>--duration</a:t>
            </a:r>
            <a:r>
              <a:rPr b="0" sz="1300">
                <a:solidFill>
                  <a:srgbClr val="1C2B3A"/>
                </a:solidFill>
                <a:latin typeface="Calibri"/>
              </a:rPr>
              <a:t> / </a:t>
            </a:r>
            <a:r>
              <a:rPr sz="1200">
                <a:solidFill>
                  <a:srgbClr val="C8721C"/>
                </a:solidFill>
                <a:latin typeface="Consolas"/>
              </a:rPr>
              <a:t>-P</a:t>
            </a:r>
            <a:r>
              <a:rPr b="0" sz="1300">
                <a:solidFill>
                  <a:srgbClr val="1C2B3A"/>
                </a:solidFill>
                <a:latin typeface="Calibri"/>
              </a:rPr>
              <a:t> (longer or multi-stream tests). Every switch is also an environment variable.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C8721C"/>
                </a:solidFill>
                <a:latin typeface="Calibri"/>
              </a:rPr>
              <a:t>IPERF_ORCHESTRATOR</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The four run modes</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10</a:t>
            </a:r>
          </a:p>
        </p:txBody>
      </p:sp>
      <p:sp>
        <p:nvSpPr>
          <p:cNvPr id="7" name="TextBox 6"/>
          <p:cNvSpPr txBox="1"/>
          <p:nvPr/>
        </p:nvSpPr>
        <p:spPr>
          <a:xfrm>
            <a:off x="566928" y="1389888"/>
            <a:ext cx="11057839" cy="527304"/>
          </a:xfrm>
          <a:prstGeom prst="rect">
            <a:avLst/>
          </a:prstGeom>
          <a:noFill/>
        </p:spPr>
        <p:txBody>
          <a:bodyPr wrap="square" lIns="0" rIns="0" tIns="0" bIns="0">
            <a:normAutofit/>
          </a:bodyPr>
          <a:lstStyle/>
          <a:p>
            <a:pPr>
              <a:spcAft>
                <a:spcPts val="700"/>
              </a:spcAft>
            </a:pPr>
            <a:r>
              <a:rPr b="0" sz="1300">
                <a:solidFill>
                  <a:srgbClr val="1C2B3A"/>
                </a:solidFill>
                <a:latin typeface="Calibri"/>
              </a:rPr>
              <a:t>Every run answers "how fast?" — the </a:t>
            </a:r>
            <a:r>
              <a:rPr b="1" sz="1300">
                <a:solidFill>
                  <a:srgbClr val="1C2B3A"/>
                </a:solidFill>
                <a:latin typeface="Calibri"/>
              </a:rPr>
              <a:t>mode</a:t>
            </a:r>
            <a:r>
              <a:rPr b="0" sz="1300">
                <a:solidFill>
                  <a:srgbClr val="1C2B3A"/>
                </a:solidFill>
                <a:latin typeface="Calibri"/>
              </a:rPr>
              <a:t> decides *how much traffic shares the wire at once*. That one choice trades realism against isolation against wall-clock time.</a:t>
            </a:r>
          </a:p>
        </p:txBody>
      </p:sp>
      <p:graphicFrame>
        <p:nvGraphicFramePr>
          <p:cNvPr id="8" name="Table 7"/>
          <p:cNvGraphicFramePr>
            <a:graphicFrameLocks noGrp="1"/>
          </p:cNvGraphicFramePr>
          <p:nvPr/>
        </p:nvGraphicFramePr>
        <p:xfrm>
          <a:off x="566928" y="1990344"/>
          <a:ext cx="11057838" cy="2324735"/>
        </p:xfrm>
        <a:graphic>
          <a:graphicData uri="http://schemas.openxmlformats.org/drawingml/2006/table">
            <a:tbl>
              <a:tblPr>
                <a:tableStyleId>{5C22544A-7EE6-4342-B048-85BDC9FD1C3A}</a:tableStyleId>
              </a:tblPr>
              <a:tblGrid>
                <a:gridCol w="2291115"/>
                <a:gridCol w="2986608"/>
                <a:gridCol w="1704979"/>
                <a:gridCol w="4075136"/>
              </a:tblGrid>
              <a:tr h="352679">
                <a:tc>
                  <a:txBody>
                    <a:bodyPr/>
                    <a:lstStyle/>
                    <a:p>
                      <a:r>
                        <a:rPr b="1" sz="1200">
                          <a:solidFill>
                            <a:srgbClr val="FFFFFF"/>
                          </a:solidFill>
                          <a:latin typeface="Calibri"/>
                        </a:rPr>
                        <a:t>Mode</a:t>
                      </a:r>
                    </a:p>
                  </a:txBody>
                  <a:tcPr marL="91440" marR="91440" marT="45720" marB="45720" anchor="ctr">
                    <a:solidFill>
                      <a:srgbClr val="101E30"/>
                    </a:solidFill>
                  </a:tcPr>
                </a:tc>
                <a:tc>
                  <a:txBody>
                    <a:bodyPr/>
                    <a:lstStyle/>
                    <a:p>
                      <a:r>
                        <a:rPr b="1" sz="1200">
                          <a:solidFill>
                            <a:srgbClr val="FFFFFF"/>
                          </a:solidFill>
                          <a:latin typeface="Calibri"/>
                        </a:rPr>
                        <a:t>On the wire at once</a:t>
                      </a:r>
                    </a:p>
                  </a:txBody>
                  <a:tcPr marL="91440" marR="91440" marT="45720" marB="45720" anchor="ctr">
                    <a:solidFill>
                      <a:srgbClr val="101E30"/>
                    </a:solidFill>
                  </a:tcPr>
                </a:tc>
                <a:tc>
                  <a:txBody>
                    <a:bodyPr/>
                    <a:lstStyle/>
                    <a:p>
                      <a:r>
                        <a:rPr b="1" sz="1200">
                          <a:solidFill>
                            <a:srgbClr val="FFFFFF"/>
                          </a:solidFill>
                          <a:latin typeface="Calibri"/>
                        </a:rPr>
                        <a:t>@ 100 hosts</a:t>
                      </a:r>
                    </a:p>
                  </a:txBody>
                  <a:tcPr marL="91440" marR="91440" marT="45720" marB="45720" anchor="ctr">
                    <a:solidFill>
                      <a:srgbClr val="101E30"/>
                    </a:solidFill>
                  </a:tcPr>
                </a:tc>
                <a:tc>
                  <a:txBody>
                    <a:bodyPr/>
                    <a:lstStyle/>
                    <a:p>
                      <a:r>
                        <a:rPr b="1" sz="1200">
                          <a:solidFill>
                            <a:srgbClr val="FFFFFF"/>
                          </a:solidFill>
                          <a:latin typeface="Calibri"/>
                        </a:rPr>
                        <a:t>In one line</a:t>
                      </a:r>
                    </a:p>
                  </a:txBody>
                  <a:tcPr marL="91440" marR="91440" marT="45720" marB="45720" anchor="ctr">
                    <a:solidFill>
                      <a:srgbClr val="101E30"/>
                    </a:solidFill>
                  </a:tcPr>
                </a:tc>
              </a:tr>
              <a:tr h="542544">
                <a:tc>
                  <a:txBody>
                    <a:bodyPr/>
                    <a:lstStyle/>
                    <a:p>
                      <a:r>
                        <a:rPr sz="1100">
                          <a:solidFill>
                            <a:srgbClr val="C8721C"/>
                          </a:solidFill>
                          <a:latin typeface="Consolas"/>
                        </a:rPr>
                        <a:t>parallel</a:t>
                      </a:r>
                      <a:r>
                        <a:rPr b="0" sz="1200">
                          <a:solidFill>
                            <a:srgbClr val="1C2B3A"/>
                          </a:solidFill>
                          <a:latin typeface="Calibri"/>
                        </a:rPr>
                        <a:t> (default)</a:t>
                      </a:r>
                    </a:p>
                  </a:txBody>
                  <a:tcPr marL="91440" marR="91440" marT="45720" marB="45720" anchor="ctr">
                    <a:solidFill>
                      <a:srgbClr val="FFFFFF"/>
                    </a:solidFill>
                  </a:tcPr>
                </a:tc>
                <a:tc>
                  <a:txBody>
                    <a:bodyPr/>
                    <a:lstStyle/>
                    <a:p>
                      <a:r>
                        <a:rPr b="0" sz="1200">
                          <a:solidFill>
                            <a:srgbClr val="1C2B3A"/>
                          </a:solidFill>
                          <a:latin typeface="Calibri"/>
                        </a:rPr>
                        <a:t>everything</a:t>
                      </a:r>
                    </a:p>
                  </a:txBody>
                  <a:tcPr marL="91440" marR="91440" marT="45720" marB="45720" anchor="ctr">
                    <a:solidFill>
                      <a:srgbClr val="FFFFFF"/>
                    </a:solidFill>
                  </a:tcPr>
                </a:tc>
                <a:tc>
                  <a:txBody>
                    <a:bodyPr/>
                    <a:lstStyle/>
                    <a:p>
                      <a:r>
                        <a:rPr b="0" sz="1200">
                          <a:solidFill>
                            <a:srgbClr val="1C2B3A"/>
                          </a:solidFill>
                          <a:latin typeface="Calibri"/>
                        </a:rPr>
                        <a:t>~1 min</a:t>
                      </a:r>
                    </a:p>
                  </a:txBody>
                  <a:tcPr marL="91440" marR="91440" marT="45720" marB="45720" anchor="ctr">
                    <a:solidFill>
                      <a:srgbClr val="FFFFFF"/>
                    </a:solidFill>
                  </a:tcPr>
                </a:tc>
                <a:tc>
                  <a:txBody>
                    <a:bodyPr/>
                    <a:lstStyle/>
                    <a:p>
                      <a:r>
                        <a:rPr b="0" sz="1200">
                          <a:solidFill>
                            <a:srgbClr val="1C2B3A"/>
                          </a:solidFill>
                          <a:latin typeface="Calibri"/>
                        </a:rPr>
                        <a:t>the stress test — load it all, see what breaks</a:t>
                      </a:r>
                    </a:p>
                  </a:txBody>
                  <a:tcPr marL="91440" marR="91440" marT="45720" marB="45720" anchor="ctr">
                    <a:solidFill>
                      <a:srgbClr val="FFFFFF"/>
                    </a:solidFill>
                  </a:tcPr>
                </a:tc>
              </a:tr>
              <a:tr h="344424">
                <a:tc>
                  <a:txBody>
                    <a:bodyPr/>
                    <a:lstStyle/>
                    <a:p>
                      <a:r>
                        <a:rPr sz="1150" b="1">
                          <a:solidFill>
                            <a:srgbClr val="C8721C"/>
                          </a:solidFill>
                          <a:latin typeface="Consolas"/>
                        </a:rPr>
                        <a:t>sequential-host</a:t>
                      </a:r>
                    </a:p>
                  </a:txBody>
                  <a:tcPr marL="91440" marR="91440" marT="45720" marB="45720" anchor="ctr">
                    <a:solidFill>
                      <a:srgbClr val="F1F4F8"/>
                    </a:solidFill>
                  </a:tcPr>
                </a:tc>
                <a:tc>
                  <a:txBody>
                    <a:bodyPr/>
                    <a:lstStyle/>
                    <a:p>
                      <a:r>
                        <a:rPr b="0" sz="1200">
                          <a:solidFill>
                            <a:srgbClr val="1C2B3A"/>
                          </a:solidFill>
                          <a:latin typeface="Calibri"/>
                        </a:rPr>
                        <a:t>one host's tests</a:t>
                      </a:r>
                    </a:p>
                  </a:txBody>
                  <a:tcPr marL="91440" marR="91440" marT="45720" marB="45720" anchor="ctr">
                    <a:solidFill>
                      <a:srgbClr val="F1F4F8"/>
                    </a:solidFill>
                  </a:tcPr>
                </a:tc>
                <a:tc>
                  <a:txBody>
                    <a:bodyPr/>
                    <a:lstStyle/>
                    <a:p>
                      <a:r>
                        <a:rPr b="0" sz="1200">
                          <a:solidFill>
                            <a:srgbClr val="1C2B3A"/>
                          </a:solidFill>
                          <a:latin typeface="Calibri"/>
                        </a:rPr>
                        <a:t>~17 min</a:t>
                      </a:r>
                    </a:p>
                  </a:txBody>
                  <a:tcPr marL="91440" marR="91440" marT="45720" marB="45720" anchor="ctr">
                    <a:solidFill>
                      <a:srgbClr val="F1F4F8"/>
                    </a:solidFill>
                  </a:tcPr>
                </a:tc>
                <a:tc>
                  <a:txBody>
                    <a:bodyPr/>
                    <a:lstStyle/>
                    <a:p>
                      <a:r>
                        <a:rPr b="0" sz="1200">
                          <a:solidFill>
                            <a:srgbClr val="1C2B3A"/>
                          </a:solidFill>
                          <a:latin typeface="Calibri"/>
                        </a:rPr>
                        <a:t>what is each *server* capable of?</a:t>
                      </a:r>
                    </a:p>
                  </a:txBody>
                  <a:tcPr marL="91440" marR="91440" marT="45720" marB="45720" anchor="ctr">
                    <a:solidFill>
                      <a:srgbClr val="F1F4F8"/>
                    </a:solidFill>
                  </a:tcPr>
                </a:tc>
              </a:tr>
              <a:tr h="542544">
                <a:tc>
                  <a:txBody>
                    <a:bodyPr/>
                    <a:lstStyle/>
                    <a:p>
                      <a:r>
                        <a:rPr sz="1150" b="1">
                          <a:solidFill>
                            <a:srgbClr val="C8721C"/>
                          </a:solidFill>
                          <a:latin typeface="Consolas"/>
                        </a:rPr>
                        <a:t>sequential-pair</a:t>
                      </a:r>
                    </a:p>
                  </a:txBody>
                  <a:tcPr marL="91440" marR="91440" marT="45720" marB="45720" anchor="ctr">
                    <a:solidFill>
                      <a:srgbClr val="FFFFFF"/>
                    </a:solidFill>
                  </a:tcPr>
                </a:tc>
                <a:tc>
                  <a:txBody>
                    <a:bodyPr/>
                    <a:lstStyle/>
                    <a:p>
                      <a:r>
                        <a:rPr b="0" sz="1200">
                          <a:solidFill>
                            <a:srgbClr val="1C2B3A"/>
                          </a:solidFill>
                          <a:latin typeface="Calibri"/>
                        </a:rPr>
                        <a:t>one connection</a:t>
                      </a:r>
                    </a:p>
                  </a:txBody>
                  <a:tcPr marL="91440" marR="91440" marT="45720" marB="45720" anchor="ctr">
                    <a:solidFill>
                      <a:srgbClr val="FFFFFF"/>
                    </a:solidFill>
                  </a:tcPr>
                </a:tc>
                <a:tc>
                  <a:txBody>
                    <a:bodyPr/>
                    <a:lstStyle/>
                    <a:p>
                      <a:r>
                        <a:rPr b="0" sz="1200">
                          <a:solidFill>
                            <a:srgbClr val="1C2B3A"/>
                          </a:solidFill>
                          <a:latin typeface="Calibri"/>
                        </a:rPr>
                        <a:t>~14 h</a:t>
                      </a:r>
                    </a:p>
                  </a:txBody>
                  <a:tcPr marL="91440" marR="91440" marT="45720" marB="45720" anchor="ctr">
                    <a:solidFill>
                      <a:srgbClr val="FFFFFF"/>
                    </a:solidFill>
                  </a:tcPr>
                </a:tc>
                <a:tc>
                  <a:txBody>
                    <a:bodyPr/>
                    <a:lstStyle/>
                    <a:p>
                      <a:r>
                        <a:rPr b="0" sz="1200">
                          <a:solidFill>
                            <a:srgbClr val="1C2B3A"/>
                          </a:solidFill>
                          <a:latin typeface="Calibri"/>
                        </a:rPr>
                        <a:t>the microscope — cleanest possible pair numbers</a:t>
                      </a:r>
                    </a:p>
                  </a:txBody>
                  <a:tcPr marL="91440" marR="91440" marT="45720" marB="45720" anchor="ctr">
                    <a:solidFill>
                      <a:srgbClr val="FFFFFF"/>
                    </a:solidFill>
                  </a:tcPr>
                </a:tc>
              </a:tr>
              <a:tr h="542544">
                <a:tc>
                  <a:txBody>
                    <a:bodyPr/>
                    <a:lstStyle/>
                    <a:p>
                      <a:r>
                        <a:rPr sz="1150" b="1">
                          <a:solidFill>
                            <a:srgbClr val="C8721C"/>
                          </a:solidFill>
                          <a:latin typeface="Consolas"/>
                        </a:rPr>
                        <a:t>rolling</a:t>
                      </a:r>
                    </a:p>
                  </a:txBody>
                  <a:tcPr marL="91440" marR="91440" marT="45720" marB="45720" anchor="ctr">
                    <a:solidFill>
                      <a:srgbClr val="F1F4F8"/>
                    </a:solidFill>
                  </a:tcPr>
                </a:tc>
                <a:tc>
                  <a:txBody>
                    <a:bodyPr/>
                    <a:lstStyle/>
                    <a:p>
                      <a:r>
                        <a:rPr b="0" sz="1200">
                          <a:solidFill>
                            <a:srgbClr val="1C2B3A"/>
                          </a:solidFill>
                          <a:latin typeface="Calibri"/>
                        </a:rPr>
                        <a:t>a few per host, continuously</a:t>
                      </a:r>
                    </a:p>
                  </a:txBody>
                  <a:tcPr marL="91440" marR="91440" marT="45720" marB="45720" anchor="ctr">
                    <a:solidFill>
                      <a:srgbClr val="F1F4F8"/>
                    </a:solidFill>
                  </a:tcPr>
                </a:tc>
                <a:tc>
                  <a:txBody>
                    <a:bodyPr/>
                    <a:lstStyle/>
                    <a:p>
                      <a:r>
                        <a:rPr b="0" sz="1200">
                          <a:solidFill>
                            <a:srgbClr val="1C2B3A"/>
                          </a:solidFill>
                          <a:latin typeface="Calibri"/>
                        </a:rPr>
                        <a:t>you choose</a:t>
                      </a:r>
                    </a:p>
                  </a:txBody>
                  <a:tcPr marL="91440" marR="91440" marT="45720" marB="45720" anchor="ctr">
                    <a:solidFill>
                      <a:srgbClr val="F1F4F8"/>
                    </a:solidFill>
                  </a:tcPr>
                </a:tc>
                <a:tc>
                  <a:txBody>
                    <a:bodyPr/>
                    <a:lstStyle/>
                    <a:p>
                      <a:r>
                        <a:rPr b="0" sz="1200">
                          <a:solidFill>
                            <a:srgbClr val="1C2B3A"/>
                          </a:solidFill>
                          <a:latin typeface="Calibri"/>
                        </a:rPr>
                        <a:t>fleets too big to mesh; long soaks</a:t>
                      </a:r>
                    </a:p>
                  </a:txBody>
                  <a:tcPr marL="91440" marR="91440" marT="45720" marB="45720" anchor="ctr">
                    <a:solidFill>
                      <a:srgbClr val="F1F4F8"/>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C8721C"/>
                </a:solidFill>
                <a:latin typeface="Calibri"/>
              </a:rPr>
              <a:t>IPERF_ORCHESTRATOR</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parallel — the stress test (default)</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11</a:t>
            </a:r>
          </a:p>
        </p:txBody>
      </p:sp>
      <p:graphicFrame>
        <p:nvGraphicFramePr>
          <p:cNvPr id="7" name="Table 6"/>
          <p:cNvGraphicFramePr>
            <a:graphicFrameLocks noGrp="1"/>
          </p:cNvGraphicFramePr>
          <p:nvPr/>
        </p:nvGraphicFramePr>
        <p:xfrm>
          <a:off x="566928" y="1389888"/>
          <a:ext cx="11057838" cy="2669159"/>
        </p:xfrm>
        <a:graphic>
          <a:graphicData uri="http://schemas.openxmlformats.org/drawingml/2006/table">
            <a:tbl>
              <a:tblPr>
                <a:tableStyleId>{5C22544A-7EE6-4342-B048-85BDC9FD1C3A}</a:tableStyleId>
              </a:tblPr>
              <a:tblGrid>
                <a:gridCol w="2187058"/>
                <a:gridCol w="8870780"/>
              </a:tblGrid>
              <a:tr h="352679">
                <a:tc>
                  <a:txBody>
                    <a:bodyPr/>
                    <a:lstStyle/>
                    <a:p>
                      <a:r>
                        <a:rPr b="1" sz="1200">
                          <a:solidFill>
                            <a:srgbClr val="FFFFFF"/>
                          </a:solidFill>
                          <a:latin typeface="Calibri"/>
                        </a:rPr>
                        <a:t/>
                      </a:r>
                    </a:p>
                  </a:txBody>
                  <a:tcPr marL="91440" marR="91440" marT="45720" marB="45720" anchor="ctr">
                    <a:solidFill>
                      <a:srgbClr val="101E30"/>
                    </a:solidFill>
                  </a:tcPr>
                </a:tc>
                <a:tc>
                  <a:txBody>
                    <a:bodyPr/>
                    <a:lstStyle/>
                    <a:p>
                      <a:r>
                        <a:rPr b="1" sz="1200">
                          <a:solidFill>
                            <a:srgbClr val="FFFFFF"/>
                          </a:solidFill>
                          <a:latin typeface="Calibri"/>
                        </a:rPr>
                        <a:t/>
                      </a:r>
                    </a:p>
                  </a:txBody>
                  <a:tcPr marL="91440" marR="91440" marT="45720" marB="45720" anchor="ctr">
                    <a:solidFill>
                      <a:srgbClr val="101E30"/>
                    </a:solidFill>
                  </a:tcPr>
                </a:tc>
              </a:tr>
              <a:tr h="542544">
                <a:tc>
                  <a:txBody>
                    <a:bodyPr/>
                    <a:lstStyle/>
                    <a:p>
                      <a:r>
                        <a:rPr b="0" sz="1200">
                          <a:solidFill>
                            <a:srgbClr val="1C2B3A"/>
                          </a:solidFill>
                          <a:latin typeface="Calibri"/>
                        </a:rPr>
                        <a:t>What happens</a:t>
                      </a:r>
                    </a:p>
                  </a:txBody>
                  <a:tcPr marL="91440" marR="91440" marT="45720" marB="45720" anchor="ctr">
                    <a:solidFill>
                      <a:srgbClr val="FFFFFF"/>
                    </a:solidFill>
                  </a:tcPr>
                </a:tc>
                <a:tc>
                  <a:txBody>
                    <a:bodyPr/>
                    <a:lstStyle/>
                    <a:p>
                      <a:r>
                        <a:rPr b="0" sz="1200">
                          <a:solidFill>
                            <a:srgbClr val="1C2B3A"/>
                          </a:solidFill>
                          <a:latin typeface="Calibri"/>
                        </a:rPr>
                        <a:t>after a synchronized start, every host fires all of its tests at once — the whole fabric is under full bidirectional load within a second</a:t>
                      </a:r>
                    </a:p>
                  </a:txBody>
                  <a:tcPr marL="91440" marR="91440" marT="45720" marB="45720" anchor="ctr">
                    <a:solidFill>
                      <a:srgbClr val="FFFFFF"/>
                    </a:solidFill>
                  </a:tcPr>
                </a:tc>
              </a:tr>
              <a:tr h="344424">
                <a:tc>
                  <a:txBody>
                    <a:bodyPr/>
                    <a:lstStyle/>
                    <a:p>
                      <a:r>
                        <a:rPr b="0" sz="1200">
                          <a:solidFill>
                            <a:srgbClr val="1C2B3A"/>
                          </a:solidFill>
                          <a:latin typeface="Calibri"/>
                        </a:rPr>
                        <a:t>When to use it</a:t>
                      </a:r>
                    </a:p>
                  </a:txBody>
                  <a:tcPr marL="91440" marR="91440" marT="45720" marB="45720" anchor="ctr">
                    <a:solidFill>
                      <a:srgbClr val="F1F4F8"/>
                    </a:solidFill>
                  </a:tcPr>
                </a:tc>
                <a:tc>
                  <a:txBody>
                    <a:bodyPr/>
                    <a:lstStyle/>
                    <a:p>
                      <a:r>
                        <a:rPr b="0" sz="1200">
                          <a:solidFill>
                            <a:srgbClr val="1C2B3A"/>
                          </a:solidFill>
                          <a:latin typeface="Calibri"/>
                        </a:rPr>
                        <a:t>accepting a new fabric, validating a change window — "what breaks under full load?"</a:t>
                      </a:r>
                    </a:p>
                  </a:txBody>
                  <a:tcPr marL="91440" marR="91440" marT="45720" marB="45720" anchor="ctr">
                    <a:solidFill>
                      <a:srgbClr val="F1F4F8"/>
                    </a:solidFill>
                  </a:tcPr>
                </a:tc>
              </a:tr>
              <a:tr h="344424">
                <a:tc>
                  <a:txBody>
                    <a:bodyPr/>
                    <a:lstStyle/>
                    <a:p>
                      <a:r>
                        <a:rPr b="0" sz="1200">
                          <a:solidFill>
                            <a:srgbClr val="1C2B3A"/>
                          </a:solidFill>
                          <a:latin typeface="Calibri"/>
                        </a:rPr>
                        <a:t>How</a:t>
                      </a:r>
                    </a:p>
                  </a:txBody>
                  <a:tcPr marL="91440" marR="91440" marT="45720" marB="45720" anchor="ctr">
                    <a:solidFill>
                      <a:srgbClr val="FFFFFF"/>
                    </a:solidFill>
                  </a:tcPr>
                </a:tc>
                <a:tc>
                  <a:txBody>
                    <a:bodyPr/>
                    <a:lstStyle/>
                    <a:p>
                      <a:r>
                        <a:rPr sz="1100">
                          <a:solidFill>
                            <a:srgbClr val="C8721C"/>
                          </a:solidFill>
                          <a:latin typeface="Consolas"/>
                        </a:rPr>
                        <a:t>iperf-orchestrator --servers servers.txt all</a:t>
                      </a:r>
                    </a:p>
                  </a:txBody>
                  <a:tcPr marL="91440" marR="91440" marT="45720" marB="45720" anchor="ctr">
                    <a:solidFill>
                      <a:srgbClr val="FFFFFF"/>
                    </a:solidFill>
                  </a:tcPr>
                </a:tc>
              </a:tr>
              <a:tr h="344424">
                <a:tc>
                  <a:txBody>
                    <a:bodyPr/>
                    <a:lstStyle/>
                    <a:p>
                      <a:r>
                        <a:rPr b="0" sz="1200">
                          <a:solidFill>
                            <a:srgbClr val="1C2B3A"/>
                          </a:solidFill>
                          <a:latin typeface="Calibri"/>
                        </a:rPr>
                        <a:t>Wall-clock</a:t>
                      </a:r>
                    </a:p>
                  </a:txBody>
                  <a:tcPr marL="91440" marR="91440" marT="45720" marB="45720" anchor="ctr">
                    <a:solidFill>
                      <a:srgbClr val="F1F4F8"/>
                    </a:solidFill>
                  </a:tcPr>
                </a:tc>
                <a:tc>
                  <a:txBody>
                    <a:bodyPr/>
                    <a:lstStyle/>
                    <a:p>
                      <a:r>
                        <a:rPr b="0" sz="1200">
                          <a:solidFill>
                            <a:srgbClr val="1C2B3A"/>
                          </a:solidFill>
                          <a:latin typeface="Calibri"/>
                        </a:rPr>
                        <a:t>~1 test duration, at any fleet size (~50 s at N=100)</a:t>
                      </a:r>
                    </a:p>
                  </a:txBody>
                  <a:tcPr marL="91440" marR="91440" marT="45720" marB="45720" anchor="ctr">
                    <a:solidFill>
                      <a:srgbClr val="F1F4F8"/>
                    </a:solidFill>
                  </a:tcPr>
                </a:tc>
              </a:tr>
              <a:tr h="740664">
                <a:tc>
                  <a:txBody>
                    <a:bodyPr/>
                    <a:lstStyle/>
                    <a:p>
                      <a:r>
                        <a:rPr b="0" sz="1200">
                          <a:solidFill>
                            <a:srgbClr val="1C2B3A"/>
                          </a:solidFill>
                          <a:latin typeface="Calibri"/>
                        </a:rPr>
                        <a:t>Reading the results</a:t>
                      </a:r>
                    </a:p>
                  </a:txBody>
                  <a:tcPr marL="91440" marR="91440" marT="45720" marB="45720" anchor="ctr">
                    <a:solidFill>
                      <a:srgbClr val="FFFFFF"/>
                    </a:solidFill>
                  </a:tcPr>
                </a:tc>
                <a:tc>
                  <a:txBody>
                    <a:bodyPr/>
                    <a:lstStyle/>
                    <a:p>
                      <a:r>
                        <a:rPr b="0" sz="1200">
                          <a:solidFill>
                            <a:srgbClr val="1C2B3A"/>
                          </a:solidFill>
                          <a:latin typeface="Calibri"/>
                        </a:rPr>
                        <a:t>numbers below line rate are *normal* — every pair is sharing. Look for outliers: dark rows/columns, and hosts whose CPU pegged. Finds congestion and weak links; not any single pair's clean maximum</a:t>
                      </a:r>
                    </a:p>
                  </a:txBody>
                  <a:tcPr marL="91440" marR="91440" marT="45720" marB="45720" anchor="ct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C8721C"/>
                </a:solidFill>
                <a:latin typeface="Calibri"/>
              </a:rPr>
              <a:t>IPERF_ORCHESTRATOR</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sequential-host — one server at a time</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12</a:t>
            </a:r>
          </a:p>
        </p:txBody>
      </p:sp>
      <p:graphicFrame>
        <p:nvGraphicFramePr>
          <p:cNvPr id="7" name="Table 6"/>
          <p:cNvGraphicFramePr>
            <a:graphicFrameLocks noGrp="1"/>
          </p:cNvGraphicFramePr>
          <p:nvPr/>
        </p:nvGraphicFramePr>
        <p:xfrm>
          <a:off x="566928" y="1389888"/>
          <a:ext cx="11057838" cy="2669159"/>
        </p:xfrm>
        <a:graphic>
          <a:graphicData uri="http://schemas.openxmlformats.org/drawingml/2006/table">
            <a:tbl>
              <a:tblPr>
                <a:tableStyleId>{5C22544A-7EE6-4342-B048-85BDC9FD1C3A}</a:tableStyleId>
              </a:tblPr>
              <a:tblGrid>
                <a:gridCol w="2266120"/>
                <a:gridCol w="8791718"/>
              </a:tblGrid>
              <a:tr h="352679">
                <a:tc>
                  <a:txBody>
                    <a:bodyPr/>
                    <a:lstStyle/>
                    <a:p>
                      <a:r>
                        <a:rPr b="1" sz="1200">
                          <a:solidFill>
                            <a:srgbClr val="FFFFFF"/>
                          </a:solidFill>
                          <a:latin typeface="Calibri"/>
                        </a:rPr>
                        <a:t/>
                      </a:r>
                    </a:p>
                  </a:txBody>
                  <a:tcPr marL="91440" marR="91440" marT="45720" marB="45720" anchor="ctr">
                    <a:solidFill>
                      <a:srgbClr val="101E30"/>
                    </a:solidFill>
                  </a:tcPr>
                </a:tc>
                <a:tc>
                  <a:txBody>
                    <a:bodyPr/>
                    <a:lstStyle/>
                    <a:p>
                      <a:r>
                        <a:rPr b="1" sz="1200">
                          <a:solidFill>
                            <a:srgbClr val="FFFFFF"/>
                          </a:solidFill>
                          <a:latin typeface="Calibri"/>
                        </a:rPr>
                        <a:t/>
                      </a:r>
                    </a:p>
                  </a:txBody>
                  <a:tcPr marL="91440" marR="91440" marT="45720" marB="45720" anchor="ctr">
                    <a:solidFill>
                      <a:srgbClr val="101E30"/>
                    </a:solidFill>
                  </a:tcPr>
                </a:tc>
              </a:tr>
              <a:tr h="344424">
                <a:tc>
                  <a:txBody>
                    <a:bodyPr/>
                    <a:lstStyle/>
                    <a:p>
                      <a:r>
                        <a:rPr b="0" sz="1200">
                          <a:solidFill>
                            <a:srgbClr val="1C2B3A"/>
                          </a:solidFill>
                          <a:latin typeface="Calibri"/>
                        </a:rPr>
                        <a:t>What happens</a:t>
                      </a:r>
                    </a:p>
                  </a:txBody>
                  <a:tcPr marL="91440" marR="91440" marT="45720" marB="45720" anchor="ctr">
                    <a:solidFill>
                      <a:srgbClr val="FFFFFF"/>
                    </a:solidFill>
                  </a:tcPr>
                </a:tc>
                <a:tc>
                  <a:txBody>
                    <a:bodyPr/>
                    <a:lstStyle/>
                    <a:p>
                      <a:r>
                        <a:rPr b="0" sz="1200">
                          <a:solidFill>
                            <a:srgbClr val="1C2B3A"/>
                          </a:solidFill>
                          <a:latin typeface="Calibri"/>
                        </a:rPr>
                        <a:t>each host in turn runs all of its tests while every other host stays quiet</a:t>
                      </a:r>
                    </a:p>
                  </a:txBody>
                  <a:tcPr marL="91440" marR="91440" marT="45720" marB="45720" anchor="ctr">
                    <a:solidFill>
                      <a:srgbClr val="FFFFFF"/>
                    </a:solidFill>
                  </a:tcPr>
                </a:tc>
              </a:tr>
              <a:tr h="542544">
                <a:tc>
                  <a:txBody>
                    <a:bodyPr/>
                    <a:lstStyle/>
                    <a:p>
                      <a:r>
                        <a:rPr b="0" sz="1200">
                          <a:solidFill>
                            <a:srgbClr val="1C2B3A"/>
                          </a:solidFill>
                          <a:latin typeface="Calibri"/>
                        </a:rPr>
                        <a:t>When to use it</a:t>
                      </a:r>
                    </a:p>
                  </a:txBody>
                  <a:tcPr marL="91440" marR="91440" marT="45720" marB="45720" anchor="ctr">
                    <a:solidFill>
                      <a:srgbClr val="F1F4F8"/>
                    </a:solidFill>
                  </a:tcPr>
                </a:tc>
                <a:tc>
                  <a:txBody>
                    <a:bodyPr/>
                    <a:lstStyle/>
                    <a:p>
                      <a:r>
                        <a:rPr b="0" sz="1200">
                          <a:solidFill>
                            <a:srgbClr val="1C2B3A"/>
                          </a:solidFill>
                          <a:latin typeface="Calibri"/>
                        </a:rPr>
                        <a:t>"what is this *server* capable of?" — the follow-up for a host that looked bad under parallel</a:t>
                      </a:r>
                    </a:p>
                  </a:txBody>
                  <a:tcPr marL="91440" marR="91440" marT="45720" marB="45720" anchor="ctr">
                    <a:solidFill>
                      <a:srgbClr val="F1F4F8"/>
                    </a:solidFill>
                  </a:tcPr>
                </a:tc>
              </a:tr>
              <a:tr h="344424">
                <a:tc>
                  <a:txBody>
                    <a:bodyPr/>
                    <a:lstStyle/>
                    <a:p>
                      <a:r>
                        <a:rPr b="0" sz="1200">
                          <a:solidFill>
                            <a:srgbClr val="1C2B3A"/>
                          </a:solidFill>
                          <a:latin typeface="Calibri"/>
                        </a:rPr>
                        <a:t>How</a:t>
                      </a:r>
                    </a:p>
                  </a:txBody>
                  <a:tcPr marL="91440" marR="91440" marT="45720" marB="45720" anchor="ctr">
                    <a:solidFill>
                      <a:srgbClr val="FFFFFF"/>
                    </a:solidFill>
                  </a:tcPr>
                </a:tc>
                <a:tc>
                  <a:txBody>
                    <a:bodyPr/>
                    <a:lstStyle/>
                    <a:p>
                      <a:r>
                        <a:rPr sz="1100">
                          <a:solidFill>
                            <a:srgbClr val="C8721C"/>
                          </a:solidFill>
                          <a:latin typeface="Consolas"/>
                        </a:rPr>
                        <a:t>iperf-orchestrator --servers servers.txt all sequential-host</a:t>
                      </a:r>
                    </a:p>
                  </a:txBody>
                  <a:tcPr marL="91440" marR="91440" marT="45720" marB="45720" anchor="ctr">
                    <a:solidFill>
                      <a:srgbClr val="FFFFFF"/>
                    </a:solidFill>
                  </a:tcPr>
                </a:tc>
              </a:tr>
              <a:tr h="344424">
                <a:tc>
                  <a:txBody>
                    <a:bodyPr/>
                    <a:lstStyle/>
                    <a:p>
                      <a:r>
                        <a:rPr b="0" sz="1200">
                          <a:solidFill>
                            <a:srgbClr val="1C2B3A"/>
                          </a:solidFill>
                          <a:latin typeface="Calibri"/>
                        </a:rPr>
                        <a:t>Wall-clock</a:t>
                      </a:r>
                    </a:p>
                  </a:txBody>
                  <a:tcPr marL="91440" marR="91440" marT="45720" marB="45720" anchor="ctr">
                    <a:solidFill>
                      <a:srgbClr val="F1F4F8"/>
                    </a:solidFill>
                  </a:tcPr>
                </a:tc>
                <a:tc>
                  <a:txBody>
                    <a:bodyPr/>
                    <a:lstStyle/>
                    <a:p>
                      <a:r>
                        <a:rPr b="0" sz="1200">
                          <a:solidFill>
                            <a:srgbClr val="1C2B3A"/>
                          </a:solidFill>
                          <a:latin typeface="Calibri"/>
                        </a:rPr>
                        <a:t>~N × duration (~17 min at N=100)</a:t>
                      </a:r>
                    </a:p>
                  </a:txBody>
                  <a:tcPr marL="91440" marR="91440" marT="45720" marB="45720" anchor="ctr">
                    <a:solidFill>
                      <a:srgbClr val="F1F4F8"/>
                    </a:solidFill>
                  </a:tcPr>
                </a:tc>
              </a:tr>
              <a:tr h="740664">
                <a:tc>
                  <a:txBody>
                    <a:bodyPr/>
                    <a:lstStyle/>
                    <a:p>
                      <a:r>
                        <a:rPr b="0" sz="1200">
                          <a:solidFill>
                            <a:srgbClr val="1C2B3A"/>
                          </a:solidFill>
                          <a:latin typeface="Calibri"/>
                        </a:rPr>
                        <a:t>Reading the results</a:t>
                      </a:r>
                    </a:p>
                  </a:txBody>
                  <a:tcPr marL="91440" marR="91440" marT="45720" marB="45720" anchor="ctr">
                    <a:solidFill>
                      <a:srgbClr val="FFFFFF"/>
                    </a:solidFill>
                  </a:tcPr>
                </a:tc>
                <a:tc>
                  <a:txBody>
                    <a:bodyPr/>
                    <a:lstStyle/>
                    <a:p>
                      <a:r>
                        <a:rPr b="0" sz="1200">
                          <a:solidFill>
                            <a:srgbClr val="1C2B3A"/>
                          </a:solidFill>
                          <a:latin typeface="Calibri"/>
                        </a:rPr>
                        <a:t>with the fabric to itself, each host should approach line rate. Still slow = a *local* problem (NIC, driver, CPU). Fine alone but bad in parallel = contention; bad in both = the host</a:t>
                      </a:r>
                    </a:p>
                  </a:txBody>
                  <a:tcPr marL="91440" marR="91440" marT="45720" marB="45720"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C8721C"/>
                </a:solidFill>
                <a:latin typeface="Calibri"/>
              </a:rPr>
              <a:t>IPERF_ORCHESTRATOR</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sequential-pair — the microscope</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13</a:t>
            </a:r>
          </a:p>
        </p:txBody>
      </p:sp>
      <p:graphicFrame>
        <p:nvGraphicFramePr>
          <p:cNvPr id="7" name="Table 6"/>
          <p:cNvGraphicFramePr>
            <a:graphicFrameLocks noGrp="1"/>
          </p:cNvGraphicFramePr>
          <p:nvPr/>
        </p:nvGraphicFramePr>
        <p:xfrm>
          <a:off x="566928" y="1389888"/>
          <a:ext cx="11057838" cy="2669159"/>
        </p:xfrm>
        <a:graphic>
          <a:graphicData uri="http://schemas.openxmlformats.org/drawingml/2006/table">
            <a:tbl>
              <a:tblPr>
                <a:tableStyleId>{5C22544A-7EE6-4342-B048-85BDC9FD1C3A}</a:tableStyleId>
              </a:tblPr>
              <a:tblGrid>
                <a:gridCol w="2882177"/>
                <a:gridCol w="8175661"/>
              </a:tblGrid>
              <a:tr h="352679">
                <a:tc>
                  <a:txBody>
                    <a:bodyPr/>
                    <a:lstStyle/>
                    <a:p>
                      <a:r>
                        <a:rPr b="1" sz="1200">
                          <a:solidFill>
                            <a:srgbClr val="FFFFFF"/>
                          </a:solidFill>
                          <a:latin typeface="Calibri"/>
                        </a:rPr>
                        <a:t/>
                      </a:r>
                    </a:p>
                  </a:txBody>
                  <a:tcPr marL="91440" marR="91440" marT="45720" marB="45720" anchor="ctr">
                    <a:solidFill>
                      <a:srgbClr val="101E30"/>
                    </a:solidFill>
                  </a:tcPr>
                </a:tc>
                <a:tc>
                  <a:txBody>
                    <a:bodyPr/>
                    <a:lstStyle/>
                    <a:p>
                      <a:r>
                        <a:rPr b="1" sz="1200">
                          <a:solidFill>
                            <a:srgbClr val="FFFFFF"/>
                          </a:solidFill>
                          <a:latin typeface="Calibri"/>
                        </a:rPr>
                        <a:t/>
                      </a:r>
                    </a:p>
                  </a:txBody>
                  <a:tcPr marL="91440" marR="91440" marT="45720" marB="45720" anchor="ctr">
                    <a:solidFill>
                      <a:srgbClr val="101E30"/>
                    </a:solidFill>
                  </a:tcPr>
                </a:tc>
              </a:tr>
              <a:tr h="344424">
                <a:tc>
                  <a:txBody>
                    <a:bodyPr/>
                    <a:lstStyle/>
                    <a:p>
                      <a:r>
                        <a:rPr b="0" sz="1200">
                          <a:solidFill>
                            <a:srgbClr val="1C2B3A"/>
                          </a:solidFill>
                          <a:latin typeface="Calibri"/>
                        </a:rPr>
                        <a:t>What happens</a:t>
                      </a:r>
                    </a:p>
                  </a:txBody>
                  <a:tcPr marL="91440" marR="91440" marT="45720" marB="45720" anchor="ctr">
                    <a:solidFill>
                      <a:srgbClr val="FFFFFF"/>
                    </a:solidFill>
                  </a:tcPr>
                </a:tc>
                <a:tc>
                  <a:txBody>
                    <a:bodyPr/>
                    <a:lstStyle/>
                    <a:p>
                      <a:r>
                        <a:rPr b="0" sz="1200">
                          <a:solidFill>
                            <a:srgbClr val="1C2B3A"/>
                          </a:solidFill>
                          <a:latin typeface="Calibri"/>
                        </a:rPr>
                        <a:t>exactly one connection on the wire at any moment, pair after pair</a:t>
                      </a:r>
                    </a:p>
                  </a:txBody>
                  <a:tcPr marL="91440" marR="91440" marT="45720" marB="45720" anchor="ctr">
                    <a:solidFill>
                      <a:srgbClr val="FFFFFF"/>
                    </a:solidFill>
                  </a:tcPr>
                </a:tc>
              </a:tr>
              <a:tr h="542544">
                <a:tc>
                  <a:txBody>
                    <a:bodyPr/>
                    <a:lstStyle/>
                    <a:p>
                      <a:r>
                        <a:rPr b="0" sz="1200">
                          <a:solidFill>
                            <a:srgbClr val="1C2B3A"/>
                          </a:solidFill>
                          <a:latin typeface="Calibri"/>
                        </a:rPr>
                        <a:t>When to use it</a:t>
                      </a:r>
                    </a:p>
                  </a:txBody>
                  <a:tcPr marL="91440" marR="91440" marT="45720" marB="45720" anchor="ctr">
                    <a:solidFill>
                      <a:srgbClr val="F1F4F8"/>
                    </a:solidFill>
                  </a:tcPr>
                </a:tc>
                <a:tc>
                  <a:txBody>
                    <a:bodyPr/>
                    <a:lstStyle/>
                    <a:p>
                      <a:r>
                        <a:rPr b="0" sz="1200">
                          <a:solidFill>
                            <a:srgbClr val="1C2B3A"/>
                          </a:solidFill>
                          <a:latin typeface="Calibri"/>
                        </a:rPr>
                        <a:t>confirming a single suspect pair with the cleanest number possible — almost never a whole fleet</a:t>
                      </a:r>
                    </a:p>
                  </a:txBody>
                  <a:tcPr marL="91440" marR="91440" marT="45720" marB="45720" anchor="ctr">
                    <a:solidFill>
                      <a:srgbClr val="F1F4F8"/>
                    </a:solidFill>
                  </a:tcPr>
                </a:tc>
              </a:tr>
              <a:tr h="542544">
                <a:tc>
                  <a:txBody>
                    <a:bodyPr/>
                    <a:lstStyle/>
                    <a:p>
                      <a:r>
                        <a:rPr b="0" sz="1200">
                          <a:solidFill>
                            <a:srgbClr val="1C2B3A"/>
                          </a:solidFill>
                          <a:latin typeface="Calibri"/>
                        </a:rPr>
                        <a:t>How</a:t>
                      </a:r>
                    </a:p>
                  </a:txBody>
                  <a:tcPr marL="91440" marR="91440" marT="45720" marB="45720" anchor="ctr">
                    <a:solidFill>
                      <a:srgbClr val="FFFFFF"/>
                    </a:solidFill>
                  </a:tcPr>
                </a:tc>
                <a:tc>
                  <a:txBody>
                    <a:bodyPr/>
                    <a:lstStyle/>
                    <a:p>
                      <a:r>
                        <a:rPr sz="1100">
                          <a:solidFill>
                            <a:srgbClr val="C8721C"/>
                          </a:solidFill>
                          <a:latin typeface="Consolas"/>
                        </a:rPr>
                        <a:t>iperf-orchestrator --servers suspects.txt all sequential-pair</a:t>
                      </a:r>
                      <a:r>
                        <a:rPr b="0" sz="1200">
                          <a:solidFill>
                            <a:srgbClr val="1C2B3A"/>
                          </a:solidFill>
                          <a:latin typeface="Calibri"/>
                        </a:rPr>
                        <a:t> — list only the suspects</a:t>
                      </a:r>
                    </a:p>
                  </a:txBody>
                  <a:tcPr marL="91440" marR="91440" marT="45720" marB="45720" anchor="ctr">
                    <a:solidFill>
                      <a:srgbClr val="FFFFFF"/>
                    </a:solidFill>
                  </a:tcPr>
                </a:tc>
              </a:tr>
              <a:tr h="344424">
                <a:tc>
                  <a:txBody>
                    <a:bodyPr/>
                    <a:lstStyle/>
                    <a:p>
                      <a:r>
                        <a:rPr b="0" sz="1200">
                          <a:solidFill>
                            <a:srgbClr val="1C2B3A"/>
                          </a:solidFill>
                          <a:latin typeface="Calibri"/>
                        </a:rPr>
                        <a:t>Wall-clock</a:t>
                      </a:r>
                    </a:p>
                  </a:txBody>
                  <a:tcPr marL="91440" marR="91440" marT="45720" marB="45720" anchor="ctr">
                    <a:solidFill>
                      <a:srgbClr val="F1F4F8"/>
                    </a:solidFill>
                  </a:tcPr>
                </a:tc>
                <a:tc>
                  <a:txBody>
                    <a:bodyPr/>
                    <a:lstStyle/>
                    <a:p>
                      <a:r>
                        <a:rPr b="0" sz="1200">
                          <a:solidFill>
                            <a:srgbClr val="1C2B3A"/>
                          </a:solidFill>
                          <a:latin typeface="Calibri"/>
                        </a:rPr>
                        <a:t>N(N−1)/2 × duration: ~14 h at N=100, a minute at N=4</a:t>
                      </a:r>
                    </a:p>
                  </a:txBody>
                  <a:tcPr marL="91440" marR="91440" marT="45720" marB="45720" anchor="ctr">
                    <a:solidFill>
                      <a:srgbClr val="F1F4F8"/>
                    </a:solidFill>
                  </a:tcPr>
                </a:tc>
              </a:tr>
              <a:tr h="542544">
                <a:tc>
                  <a:txBody>
                    <a:bodyPr/>
                    <a:lstStyle/>
                    <a:p>
                      <a:r>
                        <a:rPr b="0" sz="1200">
                          <a:solidFill>
                            <a:srgbClr val="1C2B3A"/>
                          </a:solidFill>
                          <a:latin typeface="Calibri"/>
                        </a:rPr>
                        <a:t>Reading the results</a:t>
                      </a:r>
                    </a:p>
                  </a:txBody>
                  <a:tcPr marL="91440" marR="91440" marT="45720" marB="45720" anchor="ctr">
                    <a:solidFill>
                      <a:srgbClr val="FFFFFF"/>
                    </a:solidFill>
                  </a:tcPr>
                </a:tc>
                <a:tc>
                  <a:txBody>
                    <a:bodyPr/>
                    <a:lstStyle/>
                    <a:p>
                      <a:r>
                        <a:rPr b="0" sz="1200">
                          <a:solidFill>
                            <a:srgbClr val="1C2B3A"/>
                          </a:solidFill>
                          <a:latin typeface="Calibri"/>
                        </a:rPr>
                        <a:t>as clean as pair numbers get. Still slow here = the *path itself* — hand it to </a:t>
                      </a:r>
                      <a:r>
                        <a:rPr sz="1100">
                          <a:solidFill>
                            <a:srgbClr val="C8721C"/>
                          </a:solidFill>
                          <a:latin typeface="Consolas"/>
                        </a:rPr>
                        <a:t>netmesh paths</a:t>
                      </a:r>
                      <a:r>
                        <a:rPr b="0" sz="1200">
                          <a:solidFill>
                            <a:srgbClr val="1C2B3A"/>
                          </a:solidFill>
                          <a:latin typeface="Calibri"/>
                        </a:rPr>
                        <a:t> to find the hop</a:t>
                      </a:r>
                    </a:p>
                  </a:txBody>
                  <a:tcPr marL="91440" marR="91440" marT="45720" marB="45720"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C8721C"/>
                </a:solidFill>
                <a:latin typeface="Calibri"/>
              </a:rPr>
              <a:t>IPERF_ORCHESTRATOR</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rolling — fleets too big to mesh</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14</a:t>
            </a:r>
          </a:p>
        </p:txBody>
      </p:sp>
      <p:graphicFrame>
        <p:nvGraphicFramePr>
          <p:cNvPr id="7" name="Table 6"/>
          <p:cNvGraphicFramePr>
            <a:graphicFrameLocks noGrp="1"/>
          </p:cNvGraphicFramePr>
          <p:nvPr/>
        </p:nvGraphicFramePr>
        <p:xfrm>
          <a:off x="566928" y="1389888"/>
          <a:ext cx="11057838" cy="2669159"/>
        </p:xfrm>
        <a:graphic>
          <a:graphicData uri="http://schemas.openxmlformats.org/drawingml/2006/table">
            <a:tbl>
              <a:tblPr>
                <a:tableStyleId>{5C22544A-7EE6-4342-B048-85BDC9FD1C3A}</a:tableStyleId>
              </a:tblPr>
              <a:tblGrid>
                <a:gridCol w="2689488"/>
                <a:gridCol w="8368350"/>
              </a:tblGrid>
              <a:tr h="352679">
                <a:tc>
                  <a:txBody>
                    <a:bodyPr/>
                    <a:lstStyle/>
                    <a:p>
                      <a:r>
                        <a:rPr b="1" sz="1200">
                          <a:solidFill>
                            <a:srgbClr val="FFFFFF"/>
                          </a:solidFill>
                          <a:latin typeface="Calibri"/>
                        </a:rPr>
                        <a:t/>
                      </a:r>
                    </a:p>
                  </a:txBody>
                  <a:tcPr marL="91440" marR="91440" marT="45720" marB="45720" anchor="ctr">
                    <a:solidFill>
                      <a:srgbClr val="101E30"/>
                    </a:solidFill>
                  </a:tcPr>
                </a:tc>
                <a:tc>
                  <a:txBody>
                    <a:bodyPr/>
                    <a:lstStyle/>
                    <a:p>
                      <a:r>
                        <a:rPr b="1" sz="1200">
                          <a:solidFill>
                            <a:srgbClr val="FFFFFF"/>
                          </a:solidFill>
                          <a:latin typeface="Calibri"/>
                        </a:rPr>
                        <a:t/>
                      </a:r>
                    </a:p>
                  </a:txBody>
                  <a:tcPr marL="91440" marR="91440" marT="45720" marB="45720" anchor="ctr">
                    <a:solidFill>
                      <a:srgbClr val="101E30"/>
                    </a:solidFill>
                  </a:tcPr>
                </a:tc>
              </a:tr>
              <a:tr h="542544">
                <a:tc>
                  <a:txBody>
                    <a:bodyPr/>
                    <a:lstStyle/>
                    <a:p>
                      <a:r>
                        <a:rPr b="0" sz="1200">
                          <a:solidFill>
                            <a:srgbClr val="1C2B3A"/>
                          </a:solidFill>
                          <a:latin typeface="Calibri"/>
                        </a:rPr>
                        <a:t>What happens</a:t>
                      </a:r>
                    </a:p>
                  </a:txBody>
                  <a:tcPr marL="91440" marR="91440" marT="45720" marB="45720" anchor="ctr">
                    <a:solidFill>
                      <a:srgbClr val="FFFFFF"/>
                    </a:solidFill>
                  </a:tcPr>
                </a:tc>
                <a:tc>
                  <a:txBody>
                    <a:bodyPr/>
                    <a:lstStyle/>
                    <a:p>
                      <a:r>
                        <a:rPr b="0" sz="1200">
                          <a:solidFill>
                            <a:srgbClr val="1C2B3A"/>
                          </a:solidFill>
                          <a:latin typeface="Calibri"/>
                        </a:rPr>
                        <a:t>no grand schedule — each host keeps a couple of short tests running against its *least-tested* peer, for as long as you budget</a:t>
                      </a:r>
                    </a:p>
                  </a:txBody>
                  <a:tcPr marL="91440" marR="91440" marT="45720" marB="45720" anchor="ctr">
                    <a:solidFill>
                      <a:srgbClr val="FFFFFF"/>
                    </a:solidFill>
                  </a:tcPr>
                </a:tc>
              </a:tr>
              <a:tr h="542544">
                <a:tc>
                  <a:txBody>
                    <a:bodyPr/>
                    <a:lstStyle/>
                    <a:p>
                      <a:r>
                        <a:rPr b="0" sz="1200">
                          <a:solidFill>
                            <a:srgbClr val="1C2B3A"/>
                          </a:solidFill>
                          <a:latin typeface="Calibri"/>
                        </a:rPr>
                        <a:t>When to use it</a:t>
                      </a:r>
                    </a:p>
                  </a:txBody>
                  <a:tcPr marL="91440" marR="91440" marT="45720" marB="45720" anchor="ctr">
                    <a:solidFill>
                      <a:srgbClr val="F1F4F8"/>
                    </a:solidFill>
                  </a:tcPr>
                </a:tc>
                <a:tc>
                  <a:txBody>
                    <a:bodyPr/>
                    <a:lstStyle/>
                    <a:p>
                      <a:r>
                        <a:rPr b="0" sz="1200">
                          <a:solidFill>
                            <a:srgbClr val="1C2B3A"/>
                          </a:solidFill>
                          <a:latin typeface="Calibri"/>
                        </a:rPr>
                        <a:t>very large fleets, where even the parallel mesh becomes the problem; long soak tests</a:t>
                      </a:r>
                    </a:p>
                  </a:txBody>
                  <a:tcPr marL="91440" marR="91440" marT="45720" marB="45720" anchor="ctr">
                    <a:solidFill>
                      <a:srgbClr val="F1F4F8"/>
                    </a:solidFill>
                  </a:tcPr>
                </a:tc>
              </a:tr>
              <a:tr h="344424">
                <a:tc>
                  <a:txBody>
                    <a:bodyPr/>
                    <a:lstStyle/>
                    <a:p>
                      <a:r>
                        <a:rPr b="0" sz="1200">
                          <a:solidFill>
                            <a:srgbClr val="1C2B3A"/>
                          </a:solidFill>
                          <a:latin typeface="Calibri"/>
                        </a:rPr>
                        <a:t>How</a:t>
                      </a:r>
                    </a:p>
                  </a:txBody>
                  <a:tcPr marL="91440" marR="91440" marT="45720" marB="45720" anchor="ctr">
                    <a:solidFill>
                      <a:srgbClr val="FFFFFF"/>
                    </a:solidFill>
                  </a:tcPr>
                </a:tc>
                <a:tc>
                  <a:txBody>
                    <a:bodyPr/>
                    <a:lstStyle/>
                    <a:p>
                      <a:r>
                        <a:rPr sz="1100">
                          <a:solidFill>
                            <a:srgbClr val="C8721C"/>
                          </a:solidFill>
                          <a:latin typeface="Consolas"/>
                        </a:rPr>
                        <a:t>iperf-orchestrator --total-time 1800 --flows 2 all rolling</a:t>
                      </a:r>
                    </a:p>
                  </a:txBody>
                  <a:tcPr marL="91440" marR="91440" marT="45720" marB="45720" anchor="ctr">
                    <a:solidFill>
                      <a:srgbClr val="FFFFFF"/>
                    </a:solidFill>
                  </a:tcPr>
                </a:tc>
              </a:tr>
              <a:tr h="344424">
                <a:tc>
                  <a:txBody>
                    <a:bodyPr/>
                    <a:lstStyle/>
                    <a:p>
                      <a:r>
                        <a:rPr b="0" sz="1200">
                          <a:solidFill>
                            <a:srgbClr val="1C2B3A"/>
                          </a:solidFill>
                          <a:latin typeface="Calibri"/>
                        </a:rPr>
                        <a:t>Wall-clock</a:t>
                      </a:r>
                    </a:p>
                  </a:txBody>
                  <a:tcPr marL="91440" marR="91440" marT="45720" marB="45720" anchor="ctr">
                    <a:solidFill>
                      <a:srgbClr val="F1F4F8"/>
                    </a:solidFill>
                  </a:tcPr>
                </a:tc>
                <a:tc>
                  <a:txBody>
                    <a:bodyPr/>
                    <a:lstStyle/>
                    <a:p>
                      <a:r>
                        <a:rPr b="0" sz="1200">
                          <a:solidFill>
                            <a:srgbClr val="1C2B3A"/>
                          </a:solidFill>
                          <a:latin typeface="Calibri"/>
                        </a:rPr>
                        <a:t>exactly the budget you give it; per-host load is constant at any fleet size</a:t>
                      </a:r>
                    </a:p>
                  </a:txBody>
                  <a:tcPr marL="91440" marR="91440" marT="45720" marB="45720" anchor="ctr">
                    <a:solidFill>
                      <a:srgbClr val="F1F4F8"/>
                    </a:solidFill>
                  </a:tcPr>
                </a:tc>
              </a:tr>
              <a:tr h="542544">
                <a:tc>
                  <a:txBody>
                    <a:bodyPr/>
                    <a:lstStyle/>
                    <a:p>
                      <a:r>
                        <a:rPr b="0" sz="1200">
                          <a:solidFill>
                            <a:srgbClr val="1C2B3A"/>
                          </a:solidFill>
                          <a:latin typeface="Calibri"/>
                        </a:rPr>
                        <a:t>Reading the results</a:t>
                      </a:r>
                    </a:p>
                  </a:txBody>
                  <a:tcPr marL="91440" marR="91440" marT="45720" marB="45720" anchor="ctr">
                    <a:solidFill>
                      <a:srgbClr val="FFFFFF"/>
                    </a:solidFill>
                  </a:tcPr>
                </a:tc>
                <a:tc>
                  <a:txBody>
                    <a:bodyPr/>
                    <a:lstStyle/>
                    <a:p>
                      <a:r>
                        <a:rPr b="0" sz="1200">
                          <a:solidFill>
                            <a:srgbClr val="1C2B3A"/>
                          </a:solidFill>
                          <a:latin typeface="Calibri"/>
                        </a:rPr>
                        <a:t>a survey, not a snapshot — coverage evens out over time. Read percentiles and slowest pairs; give every pair a few visits</a:t>
                      </a:r>
                    </a:p>
                  </a:txBody>
                  <a:tcPr marL="91440" marR="91440" marT="45720" marB="45720"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C8721C"/>
                </a:solidFill>
                <a:latin typeface="Calibri"/>
              </a:rPr>
              <a:t>IPERF_ORCHESTRATOR</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Tutorial — your first run</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15</a:t>
            </a:r>
          </a:p>
        </p:txBody>
      </p:sp>
      <p:sp>
        <p:nvSpPr>
          <p:cNvPr id="7" name="Rounded Rectangle 6"/>
          <p:cNvSpPr/>
          <p:nvPr/>
        </p:nvSpPr>
        <p:spPr>
          <a:xfrm>
            <a:off x="566928" y="1389888"/>
            <a:ext cx="11057839" cy="3566160"/>
          </a:xfrm>
          <a:prstGeom prst="roundRect">
            <a:avLst>
              <a:gd name="adj" fmla="val 10000"/>
            </a:avLst>
          </a:prstGeom>
          <a:solidFill>
            <a:srgbClr val="14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527048"/>
            <a:ext cx="10600639" cy="3291840"/>
          </a:xfrm>
          <a:prstGeom prst="rect">
            <a:avLst/>
          </a:prstGeom>
          <a:noFill/>
        </p:spPr>
        <p:txBody>
          <a:bodyPr wrap="square" lIns="0" rIns="0" tIns="0" bIns="0">
            <a:spAutoFit/>
          </a:bodyPr>
          <a:lstStyle/>
          <a:p>
            <a:r>
              <a:rPr sz="1200">
                <a:solidFill>
                  <a:srgbClr val="8A9BB0"/>
                </a:solidFill>
                <a:latin typeface="Consolas"/>
              </a:rPr>
              <a:t># 0. install on the machine you'll drive from</a:t>
            </a:r>
          </a:p>
          <a:p>
            <a:r>
              <a:rPr sz="1200">
                <a:solidFill>
                  <a:srgbClr val="8A9BB0"/>
                </a:solidFill>
                <a:latin typeface="Consolas"/>
              </a:rPr>
              <a:t>#    (servers need only iperf2 + your ssh key)</a:t>
            </a:r>
          </a:p>
          <a:p>
            <a:r>
              <a:rPr sz="1200" b="1">
                <a:solidFill>
                  <a:srgbClr val="E8EEF6"/>
                </a:solidFill>
                <a:latin typeface="Consolas"/>
              </a:rPr>
              <a:t>pip install iperf-orchestrator</a:t>
            </a:r>
          </a:p>
          <a:p>
            <a:r>
              <a:rPr sz="1200">
                <a:solidFill>
                  <a:srgbClr val="E8EEF6"/>
                </a:solidFill>
                <a:latin typeface="Consolas"/>
              </a:rPr>
              <a:t> </a:t>
            </a:r>
          </a:p>
          <a:p>
            <a:r>
              <a:rPr sz="1200">
                <a:solidFill>
                  <a:srgbClr val="8A9BB0"/>
                </a:solidFill>
                <a:latin typeface="Consolas"/>
              </a:rPr>
              <a:t># 1. list your servers, one per line</a:t>
            </a:r>
          </a:p>
          <a:p>
            <a:r>
              <a:rPr sz="1200" b="1">
                <a:solidFill>
                  <a:srgbClr val="E8EEF6"/>
                </a:solidFill>
                <a:latin typeface="Consolas"/>
              </a:rPr>
              <a:t>printf '%s\n' 10.0.0.10 10.0.0.11 10.0.0.12 10.0.0.13 &gt; servers.txt</a:t>
            </a:r>
          </a:p>
          <a:p>
            <a:r>
              <a:rPr sz="1200">
                <a:solidFill>
                  <a:srgbClr val="E8EEF6"/>
                </a:solidFill>
                <a:latin typeface="Consolas"/>
              </a:rPr>
              <a:t> </a:t>
            </a:r>
          </a:p>
          <a:p>
            <a:r>
              <a:rPr sz="1200">
                <a:solidFill>
                  <a:srgbClr val="8A9BB0"/>
                </a:solidFill>
                <a:latin typeface="Consolas"/>
              </a:rPr>
              <a:t># 2. make key-based ssh work everywhere</a:t>
            </a:r>
          </a:p>
          <a:p>
            <a:r>
              <a:rPr sz="1200" b="1">
                <a:solidFill>
                  <a:srgbClr val="E8EEF6"/>
                </a:solidFill>
                <a:latin typeface="Consolas"/>
              </a:rPr>
              <a:t>for h in $(grep -v '^#' servers.txt); do ssh-copy-id "$h"; done</a:t>
            </a:r>
          </a:p>
          <a:p>
            <a:r>
              <a:rPr sz="1200">
                <a:solidFill>
                  <a:srgbClr val="E8EEF6"/>
                </a:solidFill>
                <a:latin typeface="Consolas"/>
              </a:rPr>
              <a:t> </a:t>
            </a:r>
          </a:p>
          <a:p>
            <a:r>
              <a:rPr sz="1200">
                <a:solidFill>
                  <a:srgbClr val="8A9BB0"/>
                </a:solidFill>
                <a:latin typeface="Consolas"/>
              </a:rPr>
              <a:t># 3. preflight: local deps, then iperf2 + mpstat on every host</a:t>
            </a:r>
          </a:p>
          <a:p>
            <a:r>
              <a:rPr sz="1200" b="1">
                <a:solidFill>
                  <a:srgbClr val="E8EEF6"/>
                </a:solidFill>
                <a:latin typeface="Consolas"/>
              </a:rPr>
              <a:t>iperf-orchestrator doctor</a:t>
            </a:r>
          </a:p>
          <a:p>
            <a:r>
              <a:rPr sz="1200" b="1">
                <a:solidFill>
                  <a:srgbClr val="E8EEF6"/>
                </a:solidFill>
                <a:latin typeface="Consolas"/>
              </a:rPr>
              <a:t>iperf-orchestrator --servers servers.txt check-iperf</a:t>
            </a:r>
          </a:p>
          <a:p>
            <a:r>
              <a:rPr sz="1200">
                <a:solidFill>
                  <a:srgbClr val="E8EEF6"/>
                </a:solidFill>
                <a:latin typeface="Consolas"/>
              </a:rPr>
              <a:t> </a:t>
            </a:r>
          </a:p>
          <a:p>
            <a:r>
              <a:rPr sz="1200">
                <a:solidFill>
                  <a:srgbClr val="8A9BB0"/>
                </a:solidFill>
                <a:latin typeface="Consolas"/>
              </a:rPr>
              <a:t># 4. the whole pipeline, default (parallel) mode</a:t>
            </a:r>
          </a:p>
          <a:p>
            <a:r>
              <a:rPr sz="1200" b="1">
                <a:solidFill>
                  <a:srgbClr val="E8EEF6"/>
                </a:solidFill>
                <a:latin typeface="Consolas"/>
              </a:rPr>
              <a:t>iperf-orchestrator --servers servers.txt all</a:t>
            </a:r>
          </a:p>
        </p:txBody>
      </p:sp>
      <p:sp>
        <p:nvSpPr>
          <p:cNvPr id="9" name="TextBox 8"/>
          <p:cNvSpPr txBox="1"/>
          <p:nvPr/>
        </p:nvSpPr>
        <p:spPr>
          <a:xfrm>
            <a:off x="566928" y="5102352"/>
            <a:ext cx="11057839" cy="527304"/>
          </a:xfrm>
          <a:prstGeom prst="rect">
            <a:avLst/>
          </a:prstGeom>
          <a:noFill/>
        </p:spPr>
        <p:txBody>
          <a:bodyPr wrap="square" lIns="0" rIns="0" tIns="0" bIns="0">
            <a:normAutofit/>
          </a:bodyPr>
          <a:lstStyle/>
          <a:p>
            <a:pPr>
              <a:spcAft>
                <a:spcPts val="700"/>
              </a:spcAft>
            </a:pPr>
            <a:r>
              <a:rPr sz="1200" b="1">
                <a:solidFill>
                  <a:srgbClr val="C8721C"/>
                </a:solidFill>
                <a:latin typeface="Calibri"/>
              </a:rPr>
              <a:t>▪  </a:t>
            </a:r>
            <a:r>
              <a:rPr b="0" sz="1300">
                <a:solidFill>
                  <a:srgbClr val="1C2B3A"/>
                </a:solidFill>
                <a:latin typeface="Calibri"/>
              </a:rPr>
              <a:t>You'll watch the five stages run; per-host warnings are printed but don't stop the run. A few minutes later the results directory is announced.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C8721C"/>
                </a:solidFill>
                <a:latin typeface="Calibri"/>
              </a:rPr>
              <a:t>IPERF_ORCHESTRATOR</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Tutorial — reading it, and running it again</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16</a:t>
            </a:r>
          </a:p>
        </p:txBody>
      </p:sp>
      <p:sp>
        <p:nvSpPr>
          <p:cNvPr id="7" name="Rounded Rectangle 6"/>
          <p:cNvSpPr/>
          <p:nvPr/>
        </p:nvSpPr>
        <p:spPr>
          <a:xfrm>
            <a:off x="566928" y="1389888"/>
            <a:ext cx="11057839" cy="1714500"/>
          </a:xfrm>
          <a:prstGeom prst="roundRect">
            <a:avLst>
              <a:gd name="adj" fmla="val 10000"/>
            </a:avLst>
          </a:prstGeom>
          <a:solidFill>
            <a:srgbClr val="14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527048"/>
            <a:ext cx="10600639" cy="1440180"/>
          </a:xfrm>
          <a:prstGeom prst="rect">
            <a:avLst/>
          </a:prstGeom>
          <a:noFill/>
        </p:spPr>
        <p:txBody>
          <a:bodyPr wrap="square" lIns="0" rIns="0" tIns="0" bIns="0">
            <a:spAutoFit/>
          </a:bodyPr>
          <a:lstStyle/>
          <a:p>
            <a:r>
              <a:rPr sz="1200" b="1">
                <a:solidFill>
                  <a:srgbClr val="E8EEF6"/>
                </a:solidFill>
                <a:latin typeface="Consolas"/>
              </a:rPr>
              <a:t>ls results/latest/                # iperf_results.csv  cpu_summary.csv</a:t>
            </a:r>
          </a:p>
          <a:p>
            <a:r>
              <a:rPr sz="1200">
                <a:solidFill>
                  <a:srgbClr val="8A9BB0"/>
                </a:solidFill>
                <a:latin typeface="Consolas"/>
              </a:rPr>
              <a:t>                                  # iperf_pivot.txt    iperf_heatmap.png</a:t>
            </a:r>
          </a:p>
          <a:p>
            <a:r>
              <a:rPr sz="1200" b="1">
                <a:solidFill>
                  <a:srgbClr val="E8EEF6"/>
                </a:solidFill>
                <a:latin typeface="Consolas"/>
              </a:rPr>
              <a:t>iperf-orchestrator results-summary          # P50/P95 + 5 slowest pairs</a:t>
            </a:r>
          </a:p>
          <a:p>
            <a:r>
              <a:rPr sz="1200">
                <a:solidFill>
                  <a:srgbClr val="E8EEF6"/>
                </a:solidFill>
                <a:latin typeface="Consolas"/>
              </a:rPr>
              <a:t> </a:t>
            </a:r>
          </a:p>
          <a:p>
            <a:r>
              <a:rPr sz="1200" b="1">
                <a:solidFill>
                  <a:srgbClr val="E8EEF6"/>
                </a:solidFill>
                <a:latin typeface="Consolas"/>
              </a:rPr>
              <a:t>iperf-orchestrator --duration 30 -P 4 all   # longer tests, 4 streams each</a:t>
            </a:r>
          </a:p>
          <a:p>
            <a:r>
              <a:rPr sz="1200" b="1">
                <a:solidFill>
                  <a:srgbClr val="E8EEF6"/>
                </a:solidFill>
                <a:latin typeface="Consolas"/>
              </a:rPr>
              <a:t>iperf-orchestrator --run-id &lt;id&gt; make-heatmap        # re-render an old run</a:t>
            </a:r>
          </a:p>
          <a:p>
            <a:r>
              <a:rPr sz="1200" b="1">
                <a:solidFill>
                  <a:srgbClr val="E8EEF6"/>
                </a:solidFill>
                <a:latin typeface="Consolas"/>
              </a:rPr>
              <a:t>iperf-orchestrator --servers servers.txt cleanup --yes   # tidy the servers</a:t>
            </a:r>
          </a:p>
        </p:txBody>
      </p:sp>
      <p:sp>
        <p:nvSpPr>
          <p:cNvPr id="9" name="Rounded Rectangle 8"/>
          <p:cNvSpPr/>
          <p:nvPr/>
        </p:nvSpPr>
        <p:spPr>
          <a:xfrm>
            <a:off x="1293876" y="3415284"/>
            <a:ext cx="182880" cy="182880"/>
          </a:xfrm>
          <a:prstGeom prst="roundRect">
            <a:avLst>
              <a:gd name="adj" fmla="val 10000"/>
            </a:avLst>
          </a:prstGeom>
          <a:solidFill>
            <a:srgbClr val="FBE6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17904" y="3415284"/>
            <a:ext cx="182880" cy="182880"/>
          </a:xfrm>
          <a:prstGeom prst="roundRect">
            <a:avLst>
              <a:gd name="adj" fmla="val 10000"/>
            </a:avLst>
          </a:prstGeom>
          <a:solidFill>
            <a:srgbClr val="D95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741931" y="3415284"/>
            <a:ext cx="182880" cy="182880"/>
          </a:xfrm>
          <a:prstGeom prst="roundRect">
            <a:avLst>
              <a:gd name="adj" fmla="val 10000"/>
            </a:avLst>
          </a:prstGeom>
          <a:solidFill>
            <a:srgbClr val="F2C9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965960" y="3415284"/>
            <a:ext cx="182880" cy="182880"/>
          </a:xfrm>
          <a:prstGeom prst="roundRect">
            <a:avLst>
              <a:gd name="adj" fmla="val 10000"/>
            </a:avLst>
          </a:prstGeom>
          <a:solidFill>
            <a:srgbClr val="F2C9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189988" y="3415284"/>
            <a:ext cx="182880" cy="182880"/>
          </a:xfrm>
          <a:prstGeom prst="roundRect">
            <a:avLst>
              <a:gd name="adj" fmla="val 10000"/>
            </a:avLst>
          </a:prstGeom>
          <a:solidFill>
            <a:srgbClr val="E8A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414015" y="3415284"/>
            <a:ext cx="182880" cy="182880"/>
          </a:xfrm>
          <a:prstGeom prst="roundRect">
            <a:avLst>
              <a:gd name="adj" fmla="val 10000"/>
            </a:avLst>
          </a:prstGeom>
          <a:solidFill>
            <a:srgbClr val="E8A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638044" y="3415284"/>
            <a:ext cx="182880" cy="182880"/>
          </a:xfrm>
          <a:prstGeom prst="roundRect">
            <a:avLst>
              <a:gd name="adj" fmla="val 10000"/>
            </a:avLst>
          </a:prstGeom>
          <a:solidFill>
            <a:srgbClr val="FBE6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69848" y="3639312"/>
            <a:ext cx="182880" cy="182880"/>
          </a:xfrm>
          <a:prstGeom prst="roundRect">
            <a:avLst>
              <a:gd name="adj" fmla="val 10000"/>
            </a:avLst>
          </a:prstGeom>
          <a:solidFill>
            <a:srgbClr val="F2C9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517904" y="3639312"/>
            <a:ext cx="182880" cy="182880"/>
          </a:xfrm>
          <a:prstGeom prst="roundRect">
            <a:avLst>
              <a:gd name="adj" fmla="val 10000"/>
            </a:avLst>
          </a:prstGeom>
          <a:solidFill>
            <a:srgbClr val="D95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741931" y="3639312"/>
            <a:ext cx="182880" cy="182880"/>
          </a:xfrm>
          <a:prstGeom prst="roundRect">
            <a:avLst>
              <a:gd name="adj" fmla="val 10000"/>
            </a:avLst>
          </a:prstGeom>
          <a:solidFill>
            <a:srgbClr val="FBE6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965960" y="3639312"/>
            <a:ext cx="182880" cy="182880"/>
          </a:xfrm>
          <a:prstGeom prst="roundRect">
            <a:avLst>
              <a:gd name="adj" fmla="val 10000"/>
            </a:avLst>
          </a:prstGeom>
          <a:solidFill>
            <a:srgbClr val="FBE6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189988" y="3639312"/>
            <a:ext cx="182880" cy="182880"/>
          </a:xfrm>
          <a:prstGeom prst="roundRect">
            <a:avLst>
              <a:gd name="adj" fmla="val 10000"/>
            </a:avLst>
          </a:prstGeom>
          <a:solidFill>
            <a:srgbClr val="F2C9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414015" y="3639312"/>
            <a:ext cx="182880" cy="182880"/>
          </a:xfrm>
          <a:prstGeom prst="roundRect">
            <a:avLst>
              <a:gd name="adj" fmla="val 10000"/>
            </a:avLst>
          </a:prstGeom>
          <a:solidFill>
            <a:srgbClr val="F2C9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638044" y="3639312"/>
            <a:ext cx="182880" cy="182880"/>
          </a:xfrm>
          <a:prstGeom prst="roundRect">
            <a:avLst>
              <a:gd name="adj" fmla="val 10000"/>
            </a:avLst>
          </a:prstGeom>
          <a:solidFill>
            <a:srgbClr val="F2C9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69848" y="3863340"/>
            <a:ext cx="182880" cy="182880"/>
          </a:xfrm>
          <a:prstGeom prst="roundRect">
            <a:avLst>
              <a:gd name="adj" fmla="val 10000"/>
            </a:avLst>
          </a:prstGeom>
          <a:solidFill>
            <a:srgbClr val="FBE6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293876" y="3863340"/>
            <a:ext cx="182880" cy="182880"/>
          </a:xfrm>
          <a:prstGeom prst="roundRect">
            <a:avLst>
              <a:gd name="adj" fmla="val 10000"/>
            </a:avLst>
          </a:prstGeom>
          <a:solidFill>
            <a:srgbClr val="F2C9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741931" y="3863340"/>
            <a:ext cx="182880" cy="182880"/>
          </a:xfrm>
          <a:prstGeom prst="roundRect">
            <a:avLst>
              <a:gd name="adj" fmla="val 10000"/>
            </a:avLst>
          </a:prstGeom>
          <a:solidFill>
            <a:srgbClr val="F2C9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965960" y="3863340"/>
            <a:ext cx="182880" cy="182880"/>
          </a:xfrm>
          <a:prstGeom prst="roundRect">
            <a:avLst>
              <a:gd name="adj" fmla="val 10000"/>
            </a:avLst>
          </a:prstGeom>
          <a:solidFill>
            <a:srgbClr val="E8A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189988" y="3863340"/>
            <a:ext cx="182880" cy="182880"/>
          </a:xfrm>
          <a:prstGeom prst="roundRect">
            <a:avLst>
              <a:gd name="adj" fmla="val 10000"/>
            </a:avLst>
          </a:prstGeom>
          <a:solidFill>
            <a:srgbClr val="E8A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414015" y="3863340"/>
            <a:ext cx="182880" cy="182880"/>
          </a:xfrm>
          <a:prstGeom prst="roundRect">
            <a:avLst>
              <a:gd name="adj" fmla="val 10000"/>
            </a:avLst>
          </a:prstGeom>
          <a:solidFill>
            <a:srgbClr val="FBE6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638044" y="3863340"/>
            <a:ext cx="182880" cy="182880"/>
          </a:xfrm>
          <a:prstGeom prst="roundRect">
            <a:avLst>
              <a:gd name="adj" fmla="val 10000"/>
            </a:avLst>
          </a:prstGeom>
          <a:solidFill>
            <a:srgbClr val="F2C9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69848" y="4087368"/>
            <a:ext cx="182880" cy="182880"/>
          </a:xfrm>
          <a:prstGeom prst="roundRect">
            <a:avLst>
              <a:gd name="adj" fmla="val 10000"/>
            </a:avLst>
          </a:prstGeom>
          <a:solidFill>
            <a:srgbClr val="E8A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293876" y="4087368"/>
            <a:ext cx="182880" cy="182880"/>
          </a:xfrm>
          <a:prstGeom prst="roundRect">
            <a:avLst>
              <a:gd name="adj" fmla="val 10000"/>
            </a:avLst>
          </a:prstGeom>
          <a:solidFill>
            <a:srgbClr val="E8A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517904" y="4087368"/>
            <a:ext cx="182880" cy="182880"/>
          </a:xfrm>
          <a:prstGeom prst="roundRect">
            <a:avLst>
              <a:gd name="adj" fmla="val 10000"/>
            </a:avLst>
          </a:prstGeom>
          <a:solidFill>
            <a:srgbClr val="D95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965960" y="4087368"/>
            <a:ext cx="182880" cy="182880"/>
          </a:xfrm>
          <a:prstGeom prst="roundRect">
            <a:avLst>
              <a:gd name="adj" fmla="val 10000"/>
            </a:avLst>
          </a:prstGeom>
          <a:solidFill>
            <a:srgbClr val="F2C9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2189988" y="4087368"/>
            <a:ext cx="182880" cy="182880"/>
          </a:xfrm>
          <a:prstGeom prst="roundRect">
            <a:avLst>
              <a:gd name="adj" fmla="val 10000"/>
            </a:avLst>
          </a:prstGeom>
          <a:solidFill>
            <a:srgbClr val="F2C9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2414015" y="4087368"/>
            <a:ext cx="182880" cy="182880"/>
          </a:xfrm>
          <a:prstGeom prst="roundRect">
            <a:avLst>
              <a:gd name="adj" fmla="val 10000"/>
            </a:avLst>
          </a:prstGeom>
          <a:solidFill>
            <a:srgbClr val="E8A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2638044" y="4087368"/>
            <a:ext cx="182880" cy="182880"/>
          </a:xfrm>
          <a:prstGeom prst="roundRect">
            <a:avLst>
              <a:gd name="adj" fmla="val 10000"/>
            </a:avLst>
          </a:prstGeom>
          <a:solidFill>
            <a:srgbClr val="E8A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069848" y="4311396"/>
            <a:ext cx="182880" cy="182880"/>
          </a:xfrm>
          <a:prstGeom prst="roundRect">
            <a:avLst>
              <a:gd name="adj" fmla="val 10000"/>
            </a:avLst>
          </a:prstGeom>
          <a:solidFill>
            <a:srgbClr val="F2C9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293876" y="4311396"/>
            <a:ext cx="182880" cy="182880"/>
          </a:xfrm>
          <a:prstGeom prst="roundRect">
            <a:avLst>
              <a:gd name="adj" fmla="val 10000"/>
            </a:avLst>
          </a:prstGeom>
          <a:solidFill>
            <a:srgbClr val="F2C9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517904" y="4311396"/>
            <a:ext cx="182880" cy="182880"/>
          </a:xfrm>
          <a:prstGeom prst="roundRect">
            <a:avLst>
              <a:gd name="adj" fmla="val 10000"/>
            </a:avLst>
          </a:prstGeom>
          <a:solidFill>
            <a:srgbClr val="D95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741931" y="4311396"/>
            <a:ext cx="182880" cy="182880"/>
          </a:xfrm>
          <a:prstGeom prst="roundRect">
            <a:avLst>
              <a:gd name="adj" fmla="val 10000"/>
            </a:avLst>
          </a:prstGeom>
          <a:solidFill>
            <a:srgbClr val="E8A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2189988" y="4311396"/>
            <a:ext cx="182880" cy="182880"/>
          </a:xfrm>
          <a:prstGeom prst="roundRect">
            <a:avLst>
              <a:gd name="adj" fmla="val 10000"/>
            </a:avLst>
          </a:prstGeom>
          <a:solidFill>
            <a:srgbClr val="FBE6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414015" y="4311396"/>
            <a:ext cx="182880" cy="182880"/>
          </a:xfrm>
          <a:prstGeom prst="roundRect">
            <a:avLst>
              <a:gd name="adj" fmla="val 10000"/>
            </a:avLst>
          </a:prstGeom>
          <a:solidFill>
            <a:srgbClr val="F2C9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2638044" y="4311396"/>
            <a:ext cx="182880" cy="182880"/>
          </a:xfrm>
          <a:prstGeom prst="roundRect">
            <a:avLst>
              <a:gd name="adj" fmla="val 10000"/>
            </a:avLst>
          </a:prstGeom>
          <a:solidFill>
            <a:srgbClr val="F2C9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069848" y="4535424"/>
            <a:ext cx="182880" cy="182880"/>
          </a:xfrm>
          <a:prstGeom prst="roundRect">
            <a:avLst>
              <a:gd name="adj" fmla="val 1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1293876" y="4535424"/>
            <a:ext cx="182880" cy="182880"/>
          </a:xfrm>
          <a:prstGeom prst="roundRect">
            <a:avLst>
              <a:gd name="adj" fmla="val 1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1517904" y="4535424"/>
            <a:ext cx="182880" cy="182880"/>
          </a:xfrm>
          <a:prstGeom prst="roundRect">
            <a:avLst>
              <a:gd name="adj" fmla="val 1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1741931" y="4535424"/>
            <a:ext cx="182880" cy="182880"/>
          </a:xfrm>
          <a:prstGeom prst="roundRect">
            <a:avLst>
              <a:gd name="adj" fmla="val 1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965960" y="4535424"/>
            <a:ext cx="182880" cy="182880"/>
          </a:xfrm>
          <a:prstGeom prst="roundRect">
            <a:avLst>
              <a:gd name="adj" fmla="val 1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2414015" y="4535424"/>
            <a:ext cx="182880" cy="182880"/>
          </a:xfrm>
          <a:prstGeom prst="roundRect">
            <a:avLst>
              <a:gd name="adj" fmla="val 1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638044" y="4535424"/>
            <a:ext cx="182880" cy="182880"/>
          </a:xfrm>
          <a:prstGeom prst="roundRect">
            <a:avLst>
              <a:gd name="adj" fmla="val 1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1069848" y="4759452"/>
            <a:ext cx="182880" cy="182880"/>
          </a:xfrm>
          <a:prstGeom prst="roundRect">
            <a:avLst>
              <a:gd name="adj" fmla="val 10000"/>
            </a:avLst>
          </a:prstGeom>
          <a:solidFill>
            <a:srgbClr val="F2C9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1293876" y="4759452"/>
            <a:ext cx="182880" cy="182880"/>
          </a:xfrm>
          <a:prstGeom prst="roundRect">
            <a:avLst>
              <a:gd name="adj" fmla="val 10000"/>
            </a:avLst>
          </a:prstGeom>
          <a:solidFill>
            <a:srgbClr val="E8A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517904" y="4759452"/>
            <a:ext cx="182880" cy="182880"/>
          </a:xfrm>
          <a:prstGeom prst="roundRect">
            <a:avLst>
              <a:gd name="adj" fmla="val 10000"/>
            </a:avLst>
          </a:prstGeom>
          <a:solidFill>
            <a:srgbClr val="D95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1741931" y="4759452"/>
            <a:ext cx="182880" cy="182880"/>
          </a:xfrm>
          <a:prstGeom prst="roundRect">
            <a:avLst>
              <a:gd name="adj" fmla="val 10000"/>
            </a:avLst>
          </a:prstGeom>
          <a:solidFill>
            <a:srgbClr val="FBE6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1965960" y="4759452"/>
            <a:ext cx="182880" cy="182880"/>
          </a:xfrm>
          <a:prstGeom prst="roundRect">
            <a:avLst>
              <a:gd name="adj" fmla="val 10000"/>
            </a:avLst>
          </a:prstGeom>
          <a:solidFill>
            <a:srgbClr val="F2C9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2189988" y="4759452"/>
            <a:ext cx="182880" cy="182880"/>
          </a:xfrm>
          <a:prstGeom prst="roundRect">
            <a:avLst>
              <a:gd name="adj" fmla="val 10000"/>
            </a:avLst>
          </a:prstGeom>
          <a:solidFill>
            <a:srgbClr val="F2C9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2638044" y="4759452"/>
            <a:ext cx="182880" cy="182880"/>
          </a:xfrm>
          <a:prstGeom prst="roundRect">
            <a:avLst>
              <a:gd name="adj" fmla="val 10000"/>
            </a:avLst>
          </a:prstGeom>
          <a:solidFill>
            <a:srgbClr val="E8A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1069848" y="4983480"/>
            <a:ext cx="182880" cy="182880"/>
          </a:xfrm>
          <a:prstGeom prst="roundRect">
            <a:avLst>
              <a:gd name="adj" fmla="val 10000"/>
            </a:avLst>
          </a:prstGeom>
          <a:solidFill>
            <a:srgbClr val="F2C9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1293876" y="4983480"/>
            <a:ext cx="182880" cy="182880"/>
          </a:xfrm>
          <a:prstGeom prst="roundRect">
            <a:avLst>
              <a:gd name="adj" fmla="val 10000"/>
            </a:avLst>
          </a:prstGeom>
          <a:solidFill>
            <a:srgbClr val="F2C9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1517904" y="4983480"/>
            <a:ext cx="182880" cy="182880"/>
          </a:xfrm>
          <a:prstGeom prst="roundRect">
            <a:avLst>
              <a:gd name="adj" fmla="val 10000"/>
            </a:avLst>
          </a:prstGeom>
          <a:solidFill>
            <a:srgbClr val="D95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1741931" y="4983480"/>
            <a:ext cx="182880" cy="182880"/>
          </a:xfrm>
          <a:prstGeom prst="roundRect">
            <a:avLst>
              <a:gd name="adj" fmla="val 10000"/>
            </a:avLst>
          </a:prstGeom>
          <a:solidFill>
            <a:srgbClr val="E8A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1965960" y="4983480"/>
            <a:ext cx="182880" cy="182880"/>
          </a:xfrm>
          <a:prstGeom prst="roundRect">
            <a:avLst>
              <a:gd name="adj" fmla="val 10000"/>
            </a:avLst>
          </a:prstGeom>
          <a:solidFill>
            <a:srgbClr val="E8A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2189988" y="4983480"/>
            <a:ext cx="182880" cy="182880"/>
          </a:xfrm>
          <a:prstGeom prst="roundRect">
            <a:avLst>
              <a:gd name="adj" fmla="val 10000"/>
            </a:avLst>
          </a:prstGeom>
          <a:solidFill>
            <a:srgbClr val="FBE6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2414015" y="4983480"/>
            <a:ext cx="182880" cy="182880"/>
          </a:xfrm>
          <a:prstGeom prst="roundRect">
            <a:avLst>
              <a:gd name="adj" fmla="val 10000"/>
            </a:avLst>
          </a:prstGeom>
          <a:solidFill>
            <a:srgbClr val="FBE6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8407" y="5253228"/>
            <a:ext cx="2157984" cy="365760"/>
          </a:xfrm>
          <a:prstGeom prst="rect">
            <a:avLst/>
          </a:prstGeom>
          <a:noFill/>
        </p:spPr>
        <p:txBody>
          <a:bodyPr wrap="square" lIns="0" rIns="0" tIns="0" bIns="0">
            <a:spAutoFit/>
          </a:bodyPr>
          <a:lstStyle/>
          <a:p>
            <a:pPr algn="l"/>
            <a:r>
              <a:rPr sz="1000" b="0">
                <a:solidFill>
                  <a:srgbClr val="5C6B7A"/>
                </a:solidFill>
                <a:latin typeface="Calibri"/>
              </a:rPr>
              <a:t>rows = sender · columns = receiver</a:t>
            </a:r>
          </a:p>
        </p:txBody>
      </p:sp>
      <p:sp>
        <p:nvSpPr>
          <p:cNvPr id="66" name="TextBox 65"/>
          <p:cNvSpPr txBox="1"/>
          <p:nvPr/>
        </p:nvSpPr>
        <p:spPr>
          <a:xfrm>
            <a:off x="3364991" y="3506724"/>
            <a:ext cx="7802575" cy="1828800"/>
          </a:xfrm>
          <a:prstGeom prst="rect">
            <a:avLst/>
          </a:prstGeom>
          <a:noFill/>
        </p:spPr>
        <p:txBody>
          <a:bodyPr wrap="square" lIns="0" rIns="0" tIns="0" bIns="0">
            <a:spAutoFit/>
          </a:bodyPr>
          <a:lstStyle/>
          <a:p>
            <a:pPr>
              <a:spcAft>
                <a:spcPts val="600"/>
              </a:spcAft>
            </a:pPr>
            <a:r>
              <a:rPr b="1" sz="1250">
                <a:solidFill>
                  <a:srgbClr val="1C2B3A"/>
                </a:solidFill>
                <a:latin typeface="Calibri"/>
              </a:rPr>
              <a:t>A red row</a:t>
            </a:r>
            <a:r>
              <a:rPr b="0" sz="1250">
                <a:solidFill>
                  <a:srgbClr val="1C2B3A"/>
                </a:solidFill>
                <a:latin typeface="Calibri"/>
              </a:rPr>
              <a:t> — that host sends slowly to everyone: its outbound is sick.</a:t>
            </a:r>
          </a:p>
          <a:p>
            <a:pPr>
              <a:spcAft>
                <a:spcPts val="600"/>
              </a:spcAft>
            </a:pPr>
            <a:r>
              <a:rPr b="1" sz="1250">
                <a:solidFill>
                  <a:srgbClr val="1C2B3A"/>
                </a:solidFill>
                <a:latin typeface="Calibri"/>
              </a:rPr>
              <a:t>A red column</a:t>
            </a:r>
            <a:r>
              <a:rPr b="0" sz="1250">
                <a:solidFill>
                  <a:srgbClr val="1C2B3A"/>
                </a:solidFill>
                <a:latin typeface="Calibri"/>
              </a:rPr>
              <a:t> — everyone struggles to reach it: its inbound is sick.</a:t>
            </a:r>
          </a:p>
          <a:p>
            <a:r>
              <a:rPr b="0" sz="1250">
                <a:solidFill>
                  <a:srgbClr val="1C2B3A"/>
                </a:solidFill>
                <a:latin typeface="Calibri"/>
              </a:rPr>
              <a:t>Check </a:t>
            </a:r>
            <a:r>
              <a:rPr sz="1150">
                <a:solidFill>
                  <a:srgbClr val="C8721C"/>
                </a:solidFill>
                <a:latin typeface="Consolas"/>
              </a:rPr>
              <a:t>cpu_summary.csv</a:t>
            </a:r>
            <a:r>
              <a:rPr b="0" sz="1250">
                <a:solidFill>
                  <a:srgbClr val="1C2B3A"/>
                </a:solidFill>
                <a:latin typeface="Calibri"/>
              </a:rPr>
              <a:t> before blaming the network — a pegged host makes its own links look slow.</a:t>
            </a:r>
          </a:p>
        </p:txBody>
      </p:sp>
      <p:sp>
        <p:nvSpPr>
          <p:cNvPr id="67" name="TextBox 66"/>
          <p:cNvSpPr txBox="1"/>
          <p:nvPr/>
        </p:nvSpPr>
        <p:spPr>
          <a:xfrm>
            <a:off x="566928" y="5545836"/>
            <a:ext cx="11057839" cy="309372"/>
          </a:xfrm>
          <a:prstGeom prst="rect">
            <a:avLst/>
          </a:prstGeom>
          <a:noFill/>
        </p:spPr>
        <p:txBody>
          <a:bodyPr wrap="square" lIns="0" rIns="0" tIns="0" bIns="0">
            <a:normAutofit/>
          </a:bodyPr>
          <a:lstStyle/>
          <a:p>
            <a:pPr>
              <a:spcAft>
                <a:spcPts val="700"/>
              </a:spcAft>
            </a:pPr>
            <a:r>
              <a:rPr sz="1200" b="1">
                <a:solidFill>
                  <a:srgbClr val="C8721C"/>
                </a:solidFill>
                <a:latin typeface="Calibri"/>
              </a:rPr>
              <a:t>▪  </a:t>
            </a:r>
            <a:r>
              <a:rPr b="0" sz="1300">
                <a:solidFill>
                  <a:srgbClr val="1C2B3A"/>
                </a:solidFill>
                <a:latin typeface="Calibri"/>
              </a:rPr>
              <a:t>Every run is a timestamped folder: keep them, and diff results across change windows.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61704" y="1463040"/>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619488" y="146304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177272" y="146304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735056" y="1463040"/>
            <a:ext cx="457200" cy="457200"/>
          </a:xfrm>
          <a:prstGeom prst="roundRect">
            <a:avLst>
              <a:gd name="adj" fmla="val 10000"/>
            </a:avLst>
          </a:prstGeom>
          <a:solidFill>
            <a:srgbClr val="B03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292840" y="146304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1850624" y="1463040"/>
            <a:ext cx="457200" cy="457200"/>
          </a:xfrm>
          <a:prstGeom prst="roundRect">
            <a:avLst>
              <a:gd name="adj" fmla="val 10000"/>
            </a:avLst>
          </a:prstGeom>
          <a:solidFill>
            <a:srgbClr val="B03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03920" y="202082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619488" y="202082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177272" y="202082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735056" y="202082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292840" y="2020824"/>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850624" y="202082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503920" y="257860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61704" y="2578608"/>
            <a:ext cx="457200" cy="457200"/>
          </a:xfrm>
          <a:prstGeom prst="roundRect">
            <a:avLst>
              <a:gd name="adj" fmla="val 10000"/>
            </a:avLst>
          </a:prstGeom>
          <a:solidFill>
            <a:srgbClr val="B03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177272" y="257860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735056" y="257860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1292840" y="257860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1850624" y="257860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503920" y="3136392"/>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061704" y="3136392"/>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9488" y="3136392"/>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735056" y="3136392"/>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1292840" y="3136392"/>
            <a:ext cx="457200" cy="457200"/>
          </a:xfrm>
          <a:prstGeom prst="roundRect">
            <a:avLst>
              <a:gd name="adj" fmla="val 10000"/>
            </a:avLst>
          </a:prstGeom>
          <a:solidFill>
            <a:srgbClr val="B03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1850624" y="3136392"/>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503920" y="3694176"/>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061704" y="3694176"/>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19488" y="3694176"/>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177272" y="3694176"/>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1292840" y="3694176"/>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1850624" y="3694176"/>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503920" y="4251960"/>
            <a:ext cx="457200" cy="457200"/>
          </a:xfrm>
          <a:prstGeom prst="roundRect">
            <a:avLst>
              <a:gd name="adj" fmla="val 10000"/>
            </a:avLst>
          </a:prstGeom>
          <a:solidFill>
            <a:srgbClr val="B03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061704" y="425196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619488" y="4251960"/>
            <a:ext cx="457200" cy="457200"/>
          </a:xfrm>
          <a:prstGeom prst="roundRect">
            <a:avLst>
              <a:gd name="adj" fmla="val 10000"/>
            </a:avLst>
          </a:prstGeom>
          <a:solidFill>
            <a:srgbClr val="B03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0177272" y="425196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0735056" y="425196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1850624" y="425196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503920" y="480974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061704" y="4809744"/>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619488" y="480974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10177272" y="4809744"/>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0735056" y="480974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1292840" y="480974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66928" y="2011680"/>
            <a:ext cx="5486400" cy="365760"/>
          </a:xfrm>
          <a:prstGeom prst="rect">
            <a:avLst/>
          </a:prstGeom>
          <a:noFill/>
        </p:spPr>
        <p:txBody>
          <a:bodyPr wrap="square" lIns="0" rIns="0" tIns="0" bIns="0">
            <a:spAutoFit/>
          </a:bodyPr>
          <a:lstStyle/>
          <a:p>
            <a:pPr algn="l"/>
            <a:r>
              <a:rPr sz="1400" b="1">
                <a:solidFill>
                  <a:srgbClr val="B0384A"/>
                </a:solidFill>
                <a:latin typeface="Calibri"/>
              </a:rPr>
              <a:t>PART 2</a:t>
            </a:r>
          </a:p>
        </p:txBody>
      </p:sp>
      <p:sp>
        <p:nvSpPr>
          <p:cNvPr id="46" name="TextBox 45"/>
          <p:cNvSpPr txBox="1"/>
          <p:nvPr/>
        </p:nvSpPr>
        <p:spPr>
          <a:xfrm>
            <a:off x="566928" y="2468880"/>
            <a:ext cx="7863840" cy="1097280"/>
          </a:xfrm>
          <a:prstGeom prst="rect">
            <a:avLst/>
          </a:prstGeom>
          <a:noFill/>
        </p:spPr>
        <p:txBody>
          <a:bodyPr wrap="square" lIns="0" rIns="0" tIns="0" bIns="0">
            <a:spAutoFit/>
          </a:bodyPr>
          <a:lstStyle/>
          <a:p>
            <a:r>
              <a:rPr sz="4000" b="1">
                <a:solidFill>
                  <a:srgbClr val="FFFFFF"/>
                </a:solidFill>
                <a:latin typeface="Consolas"/>
              </a:rPr>
              <a:t>matrix_orchestrator (mx)</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B0384A"/>
                </a:solidFill>
                <a:latin typeface="Calibri"/>
              </a:rPr>
              <a:t>MATRIX_ORCHESTRATOR</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The question iperf can't answer</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18</a:t>
            </a:r>
          </a:p>
        </p:txBody>
      </p:sp>
      <p:sp>
        <p:nvSpPr>
          <p:cNvPr id="7" name="TextBox 6"/>
          <p:cNvSpPr txBox="1"/>
          <p:nvPr/>
        </p:nvSpPr>
        <p:spPr>
          <a:xfrm>
            <a:off x="566928" y="1389888"/>
            <a:ext cx="11057839" cy="1272540"/>
          </a:xfrm>
          <a:prstGeom prst="rect">
            <a:avLst/>
          </a:prstGeom>
          <a:noFill/>
        </p:spPr>
        <p:txBody>
          <a:bodyPr wrap="square" lIns="0" rIns="0" tIns="0" bIns="0">
            <a:normAutofit/>
          </a:bodyPr>
          <a:lstStyle/>
          <a:p>
            <a:pPr>
              <a:spcAft>
                <a:spcPts val="700"/>
              </a:spcAft>
            </a:pPr>
            <a:r>
              <a:rPr sz="1200" b="1">
                <a:solidFill>
                  <a:srgbClr val="B0384A"/>
                </a:solidFill>
                <a:latin typeface="Calibri"/>
              </a:rPr>
              <a:t>▪  </a:t>
            </a:r>
            <a:r>
              <a:rPr b="0" sz="1300">
                <a:solidFill>
                  <a:srgbClr val="1C2B3A"/>
                </a:solidFill>
                <a:latin typeface="Calibri"/>
              </a:rPr>
              <a:t>iperf measured </a:t>
            </a:r>
            <a:r>
              <a:rPr b="1" sz="1300">
                <a:solidFill>
                  <a:srgbClr val="1C2B3A"/>
                </a:solidFill>
                <a:latin typeface="Calibri"/>
              </a:rPr>
              <a:t>bytes</a:t>
            </a:r>
            <a:r>
              <a:rPr b="0" sz="1300">
                <a:solidFill>
                  <a:srgbClr val="1C2B3A"/>
                </a:solidFill>
                <a:latin typeface="Calibri"/>
              </a:rPr>
              <a:t> per second. But most real traffic is *conversations* — RPCs, storage reads, control planes: a small request out, an answer back — and that stresses a network in </a:t>
            </a:r>
            <a:r>
              <a:rPr b="1" sz="1300">
                <a:solidFill>
                  <a:srgbClr val="1C2B3A"/>
                </a:solidFill>
                <a:latin typeface="Calibri"/>
              </a:rPr>
              <a:t>packets per second</a:t>
            </a:r>
            <a:r>
              <a:rPr b="0" sz="1300">
                <a:solidFill>
                  <a:srgbClr val="1C2B3A"/>
                </a:solidFill>
                <a:latin typeface="Calibri"/>
              </a:rPr>
              <a:t>, which is where fabrics and NICs actually fall over.</a:t>
            </a:r>
          </a:p>
          <a:p>
            <a:pPr>
              <a:spcAft>
                <a:spcPts val="700"/>
              </a:spcAft>
            </a:pPr>
            <a:r>
              <a:rPr sz="1200" b="1">
                <a:solidFill>
                  <a:srgbClr val="B0384A"/>
                </a:solidFill>
                <a:latin typeface="Calibri"/>
              </a:rPr>
              <a:t>▪  </a:t>
            </a:r>
            <a:r>
              <a:rPr sz="1200">
                <a:solidFill>
                  <a:srgbClr val="B0384A"/>
                </a:solidFill>
                <a:latin typeface="Consolas"/>
              </a:rPr>
              <a:t>mx</a:t>
            </a:r>
            <a:r>
              <a:rPr b="0" sz="1300">
                <a:solidFill>
                  <a:srgbClr val="1C2B3A"/>
                </a:solidFill>
                <a:latin typeface="Calibri"/>
              </a:rPr>
              <a:t> runs exactly that shape between every pair of hosts, at a rate you choose — and the asymmetry it creates (tiny requests, fat replies) is usually what breaks first.</a:t>
            </a:r>
          </a:p>
        </p:txBody>
      </p:sp>
      <p:sp>
        <p:nvSpPr>
          <p:cNvPr id="8" name="Rounded Rectangle 7"/>
          <p:cNvSpPr/>
          <p:nvPr/>
        </p:nvSpPr>
        <p:spPr>
          <a:xfrm>
            <a:off x="1389888" y="3028188"/>
            <a:ext cx="2468880" cy="868680"/>
          </a:xfrm>
          <a:prstGeom prst="roundRect">
            <a:avLst>
              <a:gd name="adj" fmla="val 10000"/>
            </a:avLst>
          </a:prstGeom>
          <a:solidFill>
            <a:srgbClr val="B038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HOST A</a:t>
            </a:r>
          </a:p>
          <a:p>
            <a:pPr algn="ctr"/>
            <a:r>
              <a:rPr sz="1100">
                <a:solidFill>
                  <a:srgbClr val="EAEFF5"/>
                </a:solidFill>
                <a:latin typeface="Consolas"/>
              </a:rPr>
              <a:t>mx agent</a:t>
            </a:r>
          </a:p>
        </p:txBody>
      </p:sp>
      <p:sp>
        <p:nvSpPr>
          <p:cNvPr id="9" name="Rounded Rectangle 8"/>
          <p:cNvSpPr/>
          <p:nvPr/>
        </p:nvSpPr>
        <p:spPr>
          <a:xfrm>
            <a:off x="8332927" y="3028188"/>
            <a:ext cx="2468880" cy="868680"/>
          </a:xfrm>
          <a:prstGeom prst="roundRect">
            <a:avLst>
              <a:gd name="adj" fmla="val 10000"/>
            </a:avLst>
          </a:prstGeom>
          <a:solidFill>
            <a:srgbClr val="B038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HOST B</a:t>
            </a:r>
          </a:p>
          <a:p>
            <a:pPr algn="ctr"/>
            <a:r>
              <a:rPr sz="1100">
                <a:solidFill>
                  <a:srgbClr val="EAEFF5"/>
                </a:solidFill>
                <a:latin typeface="Consolas"/>
              </a:rPr>
              <a:t>mx agent</a:t>
            </a:r>
          </a:p>
        </p:txBody>
      </p:sp>
      <p:sp>
        <p:nvSpPr>
          <p:cNvPr id="10" name="Right Arrow 9"/>
          <p:cNvSpPr/>
          <p:nvPr/>
        </p:nvSpPr>
        <p:spPr>
          <a:xfrm>
            <a:off x="4087368" y="3046476"/>
            <a:ext cx="4016959" cy="310896"/>
          </a:xfrm>
          <a:prstGeom prst="rightArrow">
            <a:avLst/>
          </a:prstGeom>
          <a:solidFill>
            <a:srgbClr val="B03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eft Arrow 10"/>
          <p:cNvSpPr/>
          <p:nvPr/>
        </p:nvSpPr>
        <p:spPr>
          <a:xfrm>
            <a:off x="4087368" y="3521964"/>
            <a:ext cx="4016959" cy="310896"/>
          </a:xfrm>
          <a:prstGeom prst="leftArrow">
            <a:avLst/>
          </a:prstGeom>
          <a:solidFill>
            <a:srgbClr val="D89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87368" y="2717292"/>
            <a:ext cx="4016959" cy="365760"/>
          </a:xfrm>
          <a:prstGeom prst="rect">
            <a:avLst/>
          </a:prstGeom>
          <a:noFill/>
        </p:spPr>
        <p:txBody>
          <a:bodyPr wrap="square" lIns="0" rIns="0" tIns="0" bIns="0">
            <a:spAutoFit/>
          </a:bodyPr>
          <a:lstStyle/>
          <a:p>
            <a:pPr algn="ctr"/>
            <a:r>
              <a:rPr sz="1100" b="0">
                <a:solidFill>
                  <a:srgbClr val="5C6B7A"/>
                </a:solidFill>
                <a:latin typeface="Calibri"/>
              </a:rPr>
              <a:t>request: 128 bytes · 20,000 per second</a:t>
            </a:r>
          </a:p>
        </p:txBody>
      </p:sp>
      <p:sp>
        <p:nvSpPr>
          <p:cNvPr id="13" name="TextBox 12"/>
          <p:cNvSpPr txBox="1"/>
          <p:nvPr/>
        </p:nvSpPr>
        <p:spPr>
          <a:xfrm>
            <a:off x="4087368" y="3887724"/>
            <a:ext cx="4016959" cy="365760"/>
          </a:xfrm>
          <a:prstGeom prst="rect">
            <a:avLst/>
          </a:prstGeom>
          <a:noFill/>
        </p:spPr>
        <p:txBody>
          <a:bodyPr wrap="square" lIns="0" rIns="0" tIns="0" bIns="0">
            <a:spAutoFit/>
          </a:bodyPr>
          <a:lstStyle/>
          <a:p>
            <a:pPr algn="ctr"/>
            <a:r>
              <a:rPr sz="1100" b="0">
                <a:solidFill>
                  <a:srgbClr val="5C6B7A"/>
                </a:solidFill>
                <a:latin typeface="Calibri"/>
              </a:rPr>
              <a:t>reply: 8 KB — one per request, carrying its timestamp back</a:t>
            </a:r>
          </a:p>
        </p:txBody>
      </p:sp>
      <p:sp>
        <p:nvSpPr>
          <p:cNvPr id="14" name="TextBox 13"/>
          <p:cNvSpPr txBox="1"/>
          <p:nvPr/>
        </p:nvSpPr>
        <p:spPr>
          <a:xfrm>
            <a:off x="566928" y="4216908"/>
            <a:ext cx="11057839" cy="365760"/>
          </a:xfrm>
          <a:prstGeom prst="rect">
            <a:avLst/>
          </a:prstGeom>
          <a:noFill/>
        </p:spPr>
        <p:txBody>
          <a:bodyPr wrap="square" lIns="0" rIns="0" tIns="0" bIns="0">
            <a:spAutoFit/>
          </a:bodyPr>
          <a:lstStyle/>
          <a:p>
            <a:pPr algn="ctr"/>
            <a:r>
              <a:rPr sz="1250" b="1">
                <a:solidFill>
                  <a:srgbClr val="1C2B3A"/>
                </a:solidFill>
                <a:latin typeface="Calibri"/>
              </a:rPr>
              <a:t>same packet rate both ways · 64× the bytes on the reply path · RTT for free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B0384A"/>
                </a:solidFill>
                <a:latin typeface="Calibri"/>
              </a:rPr>
              <a:t>MATRIX_ORCHESTRATOR</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What it does — and where it stops</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19</a:t>
            </a:r>
          </a:p>
        </p:txBody>
      </p:sp>
      <p:sp>
        <p:nvSpPr>
          <p:cNvPr id="7" name="TextBox 6"/>
          <p:cNvSpPr txBox="1"/>
          <p:nvPr/>
        </p:nvSpPr>
        <p:spPr>
          <a:xfrm>
            <a:off x="566928" y="1389888"/>
            <a:ext cx="11057839" cy="3163824"/>
          </a:xfrm>
          <a:prstGeom prst="rect">
            <a:avLst/>
          </a:prstGeom>
          <a:noFill/>
        </p:spPr>
        <p:txBody>
          <a:bodyPr wrap="square" lIns="0" rIns="0" tIns="0" bIns="0">
            <a:normAutofit/>
          </a:bodyPr>
          <a:lstStyle/>
          <a:p>
            <a:pPr>
              <a:spcAft>
                <a:spcPts val="700"/>
              </a:spcAft>
            </a:pPr>
            <a:r>
              <a:rPr sz="1200" b="1">
                <a:solidFill>
                  <a:srgbClr val="B0384A"/>
                </a:solidFill>
                <a:latin typeface="Calibri"/>
              </a:rPr>
              <a:t>▪  </a:t>
            </a:r>
            <a:r>
              <a:rPr b="1" sz="1300">
                <a:solidFill>
                  <a:srgbClr val="1C2B3A"/>
                </a:solidFill>
                <a:latin typeface="Calibri"/>
              </a:rPr>
              <a:t>Does:</a:t>
            </a:r>
            <a:r>
              <a:rPr b="0" sz="1300">
                <a:solidFill>
                  <a:srgbClr val="1C2B3A"/>
                </a:solidFill>
                <a:latin typeface="Calibri"/>
              </a:rPr>
              <a:t> a paced request/response matrix between every pair — rate, sizes and port all in one editable file.</a:t>
            </a:r>
          </a:p>
          <a:p>
            <a:pPr>
              <a:spcAft>
                <a:spcPts val="700"/>
              </a:spcAft>
            </a:pPr>
            <a:r>
              <a:rPr sz="1200" b="1">
                <a:solidFill>
                  <a:srgbClr val="B0384A"/>
                </a:solidFill>
                <a:latin typeface="Calibri"/>
              </a:rPr>
              <a:t>▪  </a:t>
            </a:r>
            <a:r>
              <a:rPr b="1" sz="1300">
                <a:solidFill>
                  <a:srgbClr val="1C2B3A"/>
                </a:solidFill>
                <a:latin typeface="Calibri"/>
              </a:rPr>
              <a:t>Does:</a:t>
            </a:r>
            <a:r>
              <a:rPr b="0" sz="1300">
                <a:solidFill>
                  <a:srgbClr val="1C2B3A"/>
                </a:solidFill>
                <a:latin typeface="Calibri"/>
              </a:rPr>
              <a:t> honest accounting — the headline is what the *receivers* counted, and loss is split into the outbound leg and the return leg.</a:t>
            </a:r>
          </a:p>
          <a:p>
            <a:pPr>
              <a:spcAft>
                <a:spcPts val="700"/>
              </a:spcAft>
            </a:pPr>
            <a:r>
              <a:rPr sz="1200" b="1">
                <a:solidFill>
                  <a:srgbClr val="B0384A"/>
                </a:solidFill>
                <a:latin typeface="Calibri"/>
              </a:rPr>
              <a:t>▪  </a:t>
            </a:r>
            <a:r>
              <a:rPr b="1" sz="1300">
                <a:solidFill>
                  <a:srgbClr val="1C2B3A"/>
                </a:solidFill>
                <a:latin typeface="Calibri"/>
              </a:rPr>
              <a:t>Does:</a:t>
            </a:r>
            <a:r>
              <a:rPr b="0" sz="1300">
                <a:solidFill>
                  <a:srgbClr val="1C2B3A"/>
                </a:solidFill>
                <a:latin typeface="Calibri"/>
              </a:rPr>
              <a:t> true round-trip percentiles per flow, and it reports its </a:t>
            </a:r>
            <a:r>
              <a:rPr b="1" sz="1300">
                <a:solidFill>
                  <a:srgbClr val="1C2B3A"/>
                </a:solidFill>
                <a:latin typeface="Calibri"/>
              </a:rPr>
              <a:t>own CPU cost</a:t>
            </a:r>
            <a:r>
              <a:rPr b="0" sz="1300">
                <a:solidFill>
                  <a:srgbClr val="1C2B3A"/>
                </a:solidFill>
                <a:latin typeface="Calibri"/>
              </a:rPr>
              <a:t> right next to the network numbers.</a:t>
            </a:r>
          </a:p>
          <a:p>
            <a:pPr>
              <a:spcAft>
                <a:spcPts val="700"/>
              </a:spcAft>
            </a:pPr>
            <a:r>
              <a:rPr sz="1200" b="1">
                <a:solidFill>
                  <a:srgbClr val="B0384A"/>
                </a:solidFill>
                <a:latin typeface="Calibri"/>
              </a:rPr>
              <a:t>▪  </a:t>
            </a:r>
            <a:r>
              <a:rPr b="1" sz="1300">
                <a:solidFill>
                  <a:srgbClr val="1C2B3A"/>
                </a:solidFill>
                <a:latin typeface="Calibri"/>
              </a:rPr>
              <a:t>Doesn't:</a:t>
            </a:r>
            <a:r>
              <a:rPr b="0" sz="1300">
                <a:solidFill>
                  <a:srgbClr val="1C2B3A"/>
                </a:solidFill>
                <a:latin typeface="Calibri"/>
              </a:rPr>
              <a:t> TCP — that's iperf_orchestrator's job.</a:t>
            </a:r>
          </a:p>
          <a:p>
            <a:pPr>
              <a:spcAft>
                <a:spcPts val="700"/>
              </a:spcAft>
            </a:pPr>
            <a:r>
              <a:rPr sz="1200" b="1">
                <a:solidFill>
                  <a:srgbClr val="B0384A"/>
                </a:solidFill>
                <a:latin typeface="Calibri"/>
              </a:rPr>
              <a:t>▪  </a:t>
            </a:r>
            <a:r>
              <a:rPr b="1" sz="1300">
                <a:solidFill>
                  <a:srgbClr val="1C2B3A"/>
                </a:solidFill>
                <a:latin typeface="Calibri"/>
              </a:rPr>
              <a:t>Doesn't:</a:t>
            </a:r>
            <a:r>
              <a:rPr b="0" sz="1300">
                <a:solidFill>
                  <a:srgbClr val="1C2B3A"/>
                </a:solidFill>
                <a:latin typeface="Calibri"/>
              </a:rPr>
              <a:t> one-way delay — that would need synchronized clocks nobody has, so it refuses to fake it.</a:t>
            </a:r>
          </a:p>
          <a:p>
            <a:pPr>
              <a:spcAft>
                <a:spcPts val="700"/>
              </a:spcAft>
            </a:pPr>
            <a:r>
              <a:rPr sz="1200" b="1">
                <a:solidFill>
                  <a:srgbClr val="B0384A"/>
                </a:solidFill>
                <a:latin typeface="Calibri"/>
              </a:rPr>
              <a:t>▪  </a:t>
            </a:r>
            <a:r>
              <a:rPr b="1" sz="1300">
                <a:solidFill>
                  <a:srgbClr val="1C2B3A"/>
                </a:solidFill>
                <a:latin typeface="Calibri"/>
              </a:rPr>
              <a:t>Doesn't:</a:t>
            </a:r>
            <a:r>
              <a:rPr b="0" sz="1300">
                <a:solidFill>
                  <a:srgbClr val="1C2B3A"/>
                </a:solidFill>
                <a:latin typeface="Calibri"/>
              </a:rPr>
              <a:t> more than a few million packets/sec per host — beyond that you're in kernel-bypass territory. And when the tool itself becomes the limit, </a:t>
            </a:r>
            <a:r>
              <a:rPr b="1" sz="1300">
                <a:solidFill>
                  <a:srgbClr val="1C2B3A"/>
                </a:solidFill>
                <a:latin typeface="Calibri"/>
              </a:rPr>
              <a:t>it tells you so</a:t>
            </a:r>
            <a:r>
              <a:rPr b="0" sz="1300">
                <a:solidFill>
                  <a:srgbClr val="1C2B3A"/>
                </a:solidFill>
                <a:latin typeface="Calibri"/>
              </a:rPr>
              <a:t> rather than letting you blame the network.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B0384A"/>
                </a:solidFill>
                <a:latin typeface="Calibri"/>
              </a:rPr>
              <a:t>MATRIX_ORCHESTRATOR</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Six commands drive it</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20</a:t>
            </a:r>
          </a:p>
        </p:txBody>
      </p:sp>
      <p:graphicFrame>
        <p:nvGraphicFramePr>
          <p:cNvPr id="7" name="Table 6"/>
          <p:cNvGraphicFramePr>
            <a:graphicFrameLocks noGrp="1"/>
          </p:cNvGraphicFramePr>
          <p:nvPr/>
        </p:nvGraphicFramePr>
        <p:xfrm>
          <a:off x="566928" y="1389888"/>
          <a:ext cx="11057838" cy="2419223"/>
        </p:xfrm>
        <a:graphic>
          <a:graphicData uri="http://schemas.openxmlformats.org/drawingml/2006/table">
            <a:tbl>
              <a:tblPr>
                <a:tableStyleId>{5C22544A-7EE6-4342-B048-85BDC9FD1C3A}</a:tableStyleId>
              </a:tblPr>
              <a:tblGrid>
                <a:gridCol w="3094277"/>
                <a:gridCol w="7963561"/>
              </a:tblGrid>
              <a:tr h="352679">
                <a:tc>
                  <a:txBody>
                    <a:bodyPr/>
                    <a:lstStyle/>
                    <a:p>
                      <a:r>
                        <a:rPr b="1" sz="1200">
                          <a:solidFill>
                            <a:srgbClr val="FFFFFF"/>
                          </a:solidFill>
                          <a:latin typeface="Calibri"/>
                        </a:rPr>
                        <a:t>Command</a:t>
                      </a:r>
                    </a:p>
                  </a:txBody>
                  <a:tcPr marL="91440" marR="91440" marT="45720" marB="45720" anchor="ctr">
                    <a:solidFill>
                      <a:srgbClr val="101E30"/>
                    </a:solidFill>
                  </a:tcPr>
                </a:tc>
                <a:tc>
                  <a:txBody>
                    <a:bodyPr/>
                    <a:lstStyle/>
                    <a:p>
                      <a:r>
                        <a:rPr b="1" sz="1200">
                          <a:solidFill>
                            <a:srgbClr val="FFFFFF"/>
                          </a:solidFill>
                          <a:latin typeface="Calibri"/>
                        </a:rPr>
                        <a:t>What it does</a:t>
                      </a:r>
                    </a:p>
                  </a:txBody>
                  <a:tcPr marL="91440" marR="91440" marT="45720" marB="45720" anchor="ctr">
                    <a:solidFill>
                      <a:srgbClr val="101E30"/>
                    </a:solidFill>
                  </a:tcPr>
                </a:tc>
              </a:tr>
              <a:tr h="344424">
                <a:tc>
                  <a:txBody>
                    <a:bodyPr/>
                    <a:lstStyle/>
                    <a:p>
                      <a:r>
                        <a:rPr sz="1150" b="1">
                          <a:solidFill>
                            <a:srgbClr val="B0384A"/>
                          </a:solidFill>
                          <a:latin typeface="Consolas"/>
                        </a:rPr>
                        <a:t>mx gen</a:t>
                      </a:r>
                    </a:p>
                  </a:txBody>
                  <a:tcPr marL="91440" marR="91440" marT="45720" marB="45720" anchor="ctr">
                    <a:solidFill>
                      <a:srgbClr val="FFFFFF"/>
                    </a:solidFill>
                  </a:tcPr>
                </a:tc>
                <a:tc>
                  <a:txBody>
                    <a:bodyPr/>
                    <a:lstStyle/>
                    <a:p>
                      <a:r>
                        <a:rPr b="0" sz="1200">
                          <a:solidFill>
                            <a:srgbClr val="1C2B3A"/>
                          </a:solidFill>
                          <a:latin typeface="Calibri"/>
                        </a:rPr>
                        <a:t>build the traffic matrix from your server list</a:t>
                      </a:r>
                    </a:p>
                  </a:txBody>
                  <a:tcPr marL="91440" marR="91440" marT="45720" marB="45720" anchor="ctr">
                    <a:solidFill>
                      <a:srgbClr val="FFFFFF"/>
                    </a:solidFill>
                  </a:tcPr>
                </a:tc>
              </a:tr>
              <a:tr h="344424">
                <a:tc>
                  <a:txBody>
                    <a:bodyPr/>
                    <a:lstStyle/>
                    <a:p>
                      <a:r>
                        <a:rPr sz="1150" b="1">
                          <a:solidFill>
                            <a:srgbClr val="B0384A"/>
                          </a:solidFill>
                          <a:latin typeface="Consolas"/>
                        </a:rPr>
                        <a:t>mx start</a:t>
                      </a:r>
                    </a:p>
                  </a:txBody>
                  <a:tcPr marL="91440" marR="91440" marT="45720" marB="45720" anchor="ctr">
                    <a:solidFill>
                      <a:srgbClr val="F1F4F8"/>
                    </a:solidFill>
                  </a:tcPr>
                </a:tc>
                <a:tc>
                  <a:txBody>
                    <a:bodyPr/>
                    <a:lstStyle/>
                    <a:p>
                      <a:r>
                        <a:rPr b="0" sz="1200">
                          <a:solidFill>
                            <a:srgbClr val="1C2B3A"/>
                          </a:solidFill>
                          <a:latin typeface="Calibri"/>
                        </a:rPr>
                        <a:t>copy the agent everywhere and start it</a:t>
                      </a:r>
                    </a:p>
                  </a:txBody>
                  <a:tcPr marL="91440" marR="91440" marT="45720" marB="45720" anchor="ctr">
                    <a:solidFill>
                      <a:srgbClr val="F1F4F8"/>
                    </a:solidFill>
                  </a:tcPr>
                </a:tc>
              </a:tr>
              <a:tr h="344424">
                <a:tc>
                  <a:txBody>
                    <a:bodyPr/>
                    <a:lstStyle/>
                    <a:p>
                      <a:r>
                        <a:rPr sz="1150" b="1">
                          <a:solidFill>
                            <a:srgbClr val="B0384A"/>
                          </a:solidFill>
                          <a:latin typeface="Consolas"/>
                        </a:rPr>
                        <a:t>mx status</a:t>
                      </a:r>
                    </a:p>
                  </a:txBody>
                  <a:tcPr marL="91440" marR="91440" marT="45720" marB="45720" anchor="ctr">
                    <a:solidFill>
                      <a:srgbClr val="FFFFFF"/>
                    </a:solidFill>
                  </a:tcPr>
                </a:tc>
                <a:tc>
                  <a:txBody>
                    <a:bodyPr/>
                    <a:lstStyle/>
                    <a:p>
                      <a:r>
                        <a:rPr b="0" sz="1200">
                          <a:solidFill>
                            <a:srgbClr val="1C2B3A"/>
                          </a:solidFill>
                          <a:latin typeface="Calibri"/>
                        </a:rPr>
                        <a:t>one live line per host — running, and how fast?</a:t>
                      </a:r>
                    </a:p>
                  </a:txBody>
                  <a:tcPr marL="91440" marR="91440" marT="45720" marB="45720" anchor="ctr">
                    <a:solidFill>
                      <a:srgbClr val="FFFFFF"/>
                    </a:solidFill>
                  </a:tcPr>
                </a:tc>
              </a:tr>
              <a:tr h="344424">
                <a:tc>
                  <a:txBody>
                    <a:bodyPr/>
                    <a:lstStyle/>
                    <a:p>
                      <a:r>
                        <a:rPr sz="1150" b="1">
                          <a:solidFill>
                            <a:srgbClr val="B0384A"/>
                          </a:solidFill>
                          <a:latin typeface="Consolas"/>
                        </a:rPr>
                        <a:t>mx summarize</a:t>
                      </a:r>
                    </a:p>
                  </a:txBody>
                  <a:tcPr marL="91440" marR="91440" marT="45720" marB="45720" anchor="ctr">
                    <a:solidFill>
                      <a:srgbClr val="F1F4F8"/>
                    </a:solidFill>
                  </a:tcPr>
                </a:tc>
                <a:tc>
                  <a:txBody>
                    <a:bodyPr/>
                    <a:lstStyle/>
                    <a:p>
                      <a:r>
                        <a:rPr b="0" sz="1200">
                          <a:solidFill>
                            <a:srgbClr val="1C2B3A"/>
                          </a:solidFill>
                          <a:latin typeface="Calibri"/>
                        </a:rPr>
                        <a:t>collect reports → pps / loss / latency + *what to do next*</a:t>
                      </a:r>
                    </a:p>
                  </a:txBody>
                  <a:tcPr marL="91440" marR="91440" marT="45720" marB="45720" anchor="ctr">
                    <a:solidFill>
                      <a:srgbClr val="F1F4F8"/>
                    </a:solidFill>
                  </a:tcPr>
                </a:tc>
              </a:tr>
              <a:tr h="344424">
                <a:tc>
                  <a:txBody>
                    <a:bodyPr/>
                    <a:lstStyle/>
                    <a:p>
                      <a:r>
                        <a:rPr sz="1150" b="1">
                          <a:solidFill>
                            <a:srgbClr val="B0384A"/>
                          </a:solidFill>
                          <a:latin typeface="Consolas"/>
                        </a:rPr>
                        <a:t>mx stop</a:t>
                      </a:r>
                    </a:p>
                  </a:txBody>
                  <a:tcPr marL="91440" marR="91440" marT="45720" marB="45720" anchor="ctr">
                    <a:solidFill>
                      <a:srgbClr val="FFFFFF"/>
                    </a:solidFill>
                  </a:tcPr>
                </a:tc>
                <a:tc>
                  <a:txBody>
                    <a:bodyPr/>
                    <a:lstStyle/>
                    <a:p>
                      <a:r>
                        <a:rPr b="0" sz="1200">
                          <a:solidFill>
                            <a:srgbClr val="1C2B3A"/>
                          </a:solidFill>
                          <a:latin typeface="Calibri"/>
                        </a:rPr>
                        <a:t>stop the agents — reports stay on the hosts</a:t>
                      </a:r>
                    </a:p>
                  </a:txBody>
                  <a:tcPr marL="91440" marR="91440" marT="45720" marB="45720" anchor="ctr">
                    <a:solidFill>
                      <a:srgbClr val="FFFFFF"/>
                    </a:solidFill>
                  </a:tcPr>
                </a:tc>
              </a:tr>
              <a:tr h="344424">
                <a:tc>
                  <a:txBody>
                    <a:bodyPr/>
                    <a:lstStyle/>
                    <a:p>
                      <a:r>
                        <a:rPr sz="1150" b="1">
                          <a:solidFill>
                            <a:srgbClr val="B0384A"/>
                          </a:solidFill>
                          <a:latin typeface="Consolas"/>
                        </a:rPr>
                        <a:t>mx clean</a:t>
                      </a:r>
                    </a:p>
                  </a:txBody>
                  <a:tcPr marL="91440" marR="91440" marT="45720" marB="45720" anchor="ctr">
                    <a:solidFill>
                      <a:srgbClr val="F1F4F8"/>
                    </a:solidFill>
                  </a:tcPr>
                </a:tc>
                <a:tc>
                  <a:txBody>
                    <a:bodyPr/>
                    <a:lstStyle/>
                    <a:p>
                      <a:r>
                        <a:rPr b="0" sz="1200">
                          <a:solidFill>
                            <a:srgbClr val="1C2B3A"/>
                          </a:solidFill>
                          <a:latin typeface="Calibri"/>
                        </a:rPr>
                        <a:t>stop, delete every trace, and verify it's gone</a:t>
                      </a:r>
                    </a:p>
                  </a:txBody>
                  <a:tcPr marL="91440" marR="91440" marT="45720" marB="45720" anchor="ctr">
                    <a:solidFill>
                      <a:srgbClr val="F1F4F8"/>
                    </a:solidFill>
                  </a:tcPr>
                </a:tc>
              </a:tr>
            </a:tbl>
          </a:graphicData>
        </a:graphic>
      </p:graphicFrame>
      <p:sp>
        <p:nvSpPr>
          <p:cNvPr id="8" name="TextBox 7"/>
          <p:cNvSpPr txBox="1"/>
          <p:nvPr/>
        </p:nvSpPr>
        <p:spPr>
          <a:xfrm>
            <a:off x="566928" y="3973703"/>
            <a:ext cx="11057839" cy="527304"/>
          </a:xfrm>
          <a:prstGeom prst="rect">
            <a:avLst/>
          </a:prstGeom>
          <a:noFill/>
        </p:spPr>
        <p:txBody>
          <a:bodyPr wrap="square" lIns="0" rIns="0" tIns="0" bIns="0">
            <a:normAutofit/>
          </a:bodyPr>
          <a:lstStyle/>
          <a:p>
            <a:pPr>
              <a:spcAft>
                <a:spcPts val="700"/>
              </a:spcAft>
            </a:pPr>
            <a:r>
              <a:rPr sz="1200">
                <a:solidFill>
                  <a:srgbClr val="B0384A"/>
                </a:solidFill>
                <a:latin typeface="Consolas"/>
              </a:rPr>
              <a:t>mx run --for 60</a:t>
            </a:r>
            <a:r>
              <a:rPr b="0" sz="1300">
                <a:solidFill>
                  <a:srgbClr val="1C2B3A"/>
                </a:solidFill>
                <a:latin typeface="Calibri"/>
              </a:rPr>
              <a:t> does the whole cycle in one shot. Servers need nothing but Python and your ssh key — no iperf, no packages, no root.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B0384A"/>
                </a:solidFill>
                <a:latin typeface="Calibri"/>
              </a:rPr>
              <a:t>MATRIX_ORCHESTRATOR</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One file describes the traffic — edit it, even mid-run</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21</a:t>
            </a:r>
          </a:p>
        </p:txBody>
      </p:sp>
      <p:sp>
        <p:nvSpPr>
          <p:cNvPr id="7" name="Rounded Rectangle 6"/>
          <p:cNvSpPr/>
          <p:nvPr/>
        </p:nvSpPr>
        <p:spPr>
          <a:xfrm>
            <a:off x="566928" y="1389888"/>
            <a:ext cx="11057839" cy="1508760"/>
          </a:xfrm>
          <a:prstGeom prst="roundRect">
            <a:avLst>
              <a:gd name="adj" fmla="val 10000"/>
            </a:avLst>
          </a:prstGeom>
          <a:solidFill>
            <a:srgbClr val="14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527048"/>
            <a:ext cx="10600639" cy="1234440"/>
          </a:xfrm>
          <a:prstGeom prst="rect">
            <a:avLst/>
          </a:prstGeom>
          <a:noFill/>
        </p:spPr>
        <p:txBody>
          <a:bodyPr wrap="square" lIns="0" rIns="0" tIns="0" bIns="0">
            <a:spAutoFit/>
          </a:bodyPr>
          <a:lstStyle/>
          <a:p>
            <a:r>
              <a:rPr sz="1200">
                <a:solidFill>
                  <a:srgbClr val="8A9BB0"/>
                </a:solidFill>
                <a:latin typeface="Consolas"/>
              </a:rPr>
              <a:t># rows send, columns receive, cells are packets/sec</a:t>
            </a:r>
          </a:p>
          <a:p>
            <a:r>
              <a:rPr sz="1200">
                <a:solidFill>
                  <a:srgbClr val="8A9BB0"/>
                </a:solidFill>
                <a:latin typeface="Consolas"/>
              </a:rPr>
              <a:t># tx_size=64 rx_size=512 port=5300</a:t>
            </a:r>
          </a:p>
          <a:p>
            <a:r>
              <a:rPr sz="1200" b="1">
                <a:solidFill>
                  <a:srgbClr val="E8EEF6"/>
                </a:solidFill>
                <a:latin typeface="Consolas"/>
              </a:rPr>
              <a:t>src\dst,10.0.0.10,10.0.0.11,10.0.0.12</a:t>
            </a:r>
          </a:p>
          <a:p>
            <a:r>
              <a:rPr sz="1200" b="1">
                <a:solidFill>
                  <a:srgbClr val="E8EEF6"/>
                </a:solidFill>
                <a:latin typeface="Consolas"/>
              </a:rPr>
              <a:t>10.0.0.10,,20000,20000</a:t>
            </a:r>
          </a:p>
          <a:p>
            <a:r>
              <a:rPr sz="1200" b="1">
                <a:solidFill>
                  <a:srgbClr val="E8EEF6"/>
                </a:solidFill>
                <a:latin typeface="Consolas"/>
              </a:rPr>
              <a:t>10.0.0.11,5000,,max</a:t>
            </a:r>
          </a:p>
          <a:p>
            <a:r>
              <a:rPr sz="1200" b="1">
                <a:solidFill>
                  <a:srgbClr val="E8EEF6"/>
                </a:solidFill>
                <a:latin typeface="Consolas"/>
              </a:rPr>
              <a:t>10.0.0.12,20000,20000,</a:t>
            </a:r>
          </a:p>
        </p:txBody>
      </p:sp>
      <p:sp>
        <p:nvSpPr>
          <p:cNvPr id="9" name="TextBox 8"/>
          <p:cNvSpPr txBox="1"/>
          <p:nvPr/>
        </p:nvSpPr>
        <p:spPr>
          <a:xfrm>
            <a:off x="566928" y="3044952"/>
            <a:ext cx="11057839" cy="1363980"/>
          </a:xfrm>
          <a:prstGeom prst="rect">
            <a:avLst/>
          </a:prstGeom>
          <a:noFill/>
        </p:spPr>
        <p:txBody>
          <a:bodyPr wrap="square" lIns="0" rIns="0" tIns="0" bIns="0">
            <a:normAutofit/>
          </a:bodyPr>
          <a:lstStyle/>
          <a:p>
            <a:pPr>
              <a:spcAft>
                <a:spcPts val="700"/>
              </a:spcAft>
            </a:pPr>
            <a:r>
              <a:rPr sz="1200" b="1">
                <a:solidFill>
                  <a:srgbClr val="B0384A"/>
                </a:solidFill>
                <a:latin typeface="Calibri"/>
              </a:rPr>
              <a:t>▪  </a:t>
            </a:r>
            <a:r>
              <a:rPr b="0" sz="1300">
                <a:solidFill>
                  <a:srgbClr val="1C2B3A"/>
                </a:solidFill>
                <a:latin typeface="Calibri"/>
              </a:rPr>
              <a:t>Everything about the traffic lives in </a:t>
            </a:r>
            <a:r>
              <a:rPr sz="1200">
                <a:solidFill>
                  <a:srgbClr val="B0384A"/>
                </a:solidFill>
                <a:latin typeface="Consolas"/>
              </a:rPr>
              <a:t>matrix.csv</a:t>
            </a:r>
            <a:r>
              <a:rPr b="0" sz="1300">
                <a:solidFill>
                  <a:srgbClr val="1C2B3A"/>
                </a:solidFill>
                <a:latin typeface="Calibri"/>
              </a:rPr>
              <a:t> — no flags to remember or re-type.</a:t>
            </a:r>
          </a:p>
          <a:p>
            <a:pPr>
              <a:spcAft>
                <a:spcPts val="700"/>
              </a:spcAft>
            </a:pPr>
            <a:r>
              <a:rPr sz="1200" b="1">
                <a:solidFill>
                  <a:srgbClr val="B0384A"/>
                </a:solidFill>
                <a:latin typeface="Calibri"/>
              </a:rPr>
              <a:t>▪  </a:t>
            </a:r>
            <a:r>
              <a:rPr b="0" sz="1300">
                <a:solidFill>
                  <a:srgbClr val="1C2B3A"/>
                </a:solidFill>
                <a:latin typeface="Calibri"/>
              </a:rPr>
              <a:t>Want to change a running test? </a:t>
            </a:r>
            <a:r>
              <a:rPr b="1" sz="1300">
                <a:solidFill>
                  <a:srgbClr val="1C2B3A"/>
                </a:solidFill>
                <a:latin typeface="Calibri"/>
              </a:rPr>
              <a:t>Edit the file, `mx start` again.</a:t>
            </a:r>
            <a:r>
              <a:rPr b="0" sz="1300">
                <a:solidFill>
                  <a:srgbClr val="1C2B3A"/>
                </a:solidFill>
                <a:latin typeface="Calibri"/>
              </a:rPr>
              <a:t> Blank a cell to silence a pair · raise a cell to make a hot pair · write </a:t>
            </a:r>
            <a:r>
              <a:rPr sz="1200">
                <a:solidFill>
                  <a:srgbClr val="B0384A"/>
                </a:solidFill>
                <a:latin typeface="Consolas"/>
              </a:rPr>
              <a:t>max</a:t>
            </a:r>
            <a:r>
              <a:rPr b="0" sz="1300">
                <a:solidFill>
                  <a:srgbClr val="1C2B3A"/>
                </a:solidFill>
                <a:latin typeface="Calibri"/>
              </a:rPr>
              <a:t> to run one pair unpaced · edit the header to reshape every packet.</a:t>
            </a:r>
          </a:p>
          <a:p>
            <a:pPr>
              <a:spcAft>
                <a:spcPts val="700"/>
              </a:spcAft>
            </a:pPr>
            <a:r>
              <a:rPr sz="1200" b="1">
                <a:solidFill>
                  <a:srgbClr val="B0384A"/>
                </a:solidFill>
                <a:latin typeface="Calibri"/>
              </a:rPr>
              <a:t>▪  </a:t>
            </a:r>
            <a:r>
              <a:rPr b="0" sz="1300">
                <a:solidFill>
                  <a:srgbClr val="1C2B3A"/>
                </a:solidFill>
                <a:latin typeface="Calibri"/>
              </a:rPr>
              <a:t>"What if only the cross-rack pairs run?" is a thirty-second text edit, not a feature request.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B0384A"/>
                </a:solidFill>
                <a:latin typeface="Calibri"/>
              </a:rPr>
              <a:t>MATRIX_ORCHESTRATOR</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Reading the summary</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22</a:t>
            </a:r>
          </a:p>
        </p:txBody>
      </p:sp>
      <p:sp>
        <p:nvSpPr>
          <p:cNvPr id="7" name="Rounded Rectangle 6"/>
          <p:cNvSpPr/>
          <p:nvPr/>
        </p:nvSpPr>
        <p:spPr>
          <a:xfrm>
            <a:off x="566928" y="1389888"/>
            <a:ext cx="11057839" cy="1097280"/>
          </a:xfrm>
          <a:prstGeom prst="roundRect">
            <a:avLst>
              <a:gd name="adj" fmla="val 10000"/>
            </a:avLst>
          </a:prstGeom>
          <a:solidFill>
            <a:srgbClr val="14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527048"/>
            <a:ext cx="10600639" cy="822959"/>
          </a:xfrm>
          <a:prstGeom prst="rect">
            <a:avLst/>
          </a:prstGeom>
          <a:noFill/>
        </p:spPr>
        <p:txBody>
          <a:bodyPr wrap="square" lIns="0" rIns="0" tIns="0" bIns="0">
            <a:spAutoFit/>
          </a:bodyPr>
          <a:lstStyle/>
          <a:p>
            <a:r>
              <a:rPr sz="1200" b="1">
                <a:solidFill>
                  <a:srgbClr val="E8EEF6"/>
                </a:solidFill>
                <a:latin typeface="Consolas"/>
              </a:rPr>
              <a:t>REQUESTS    2.640 Mpps        what the senders put on the wire</a:t>
            </a:r>
          </a:p>
          <a:p>
            <a:r>
              <a:rPr sz="1200" b="1">
                <a:solidFill>
                  <a:srgbClr val="E8EEF6"/>
                </a:solidFill>
                <a:latin typeface="Consolas"/>
              </a:rPr>
              <a:t>DELIVERED   2.601 Mpps        what the receivers actually counted</a:t>
            </a:r>
          </a:p>
          <a:p>
            <a:r>
              <a:rPr sz="1200" b="1">
                <a:solidFill>
                  <a:srgbClr val="E8EEF6"/>
                </a:solidFill>
                <a:latin typeface="Consolas"/>
              </a:rPr>
              <a:t>LOSS        1.59% round trip  (1.48% outbound, 0.11% coming back)</a:t>
            </a:r>
          </a:p>
          <a:p>
            <a:r>
              <a:rPr sz="1200" b="1">
                <a:solidFill>
                  <a:srgbClr val="E8EEF6"/>
                </a:solidFill>
                <a:latin typeface="Consolas"/>
              </a:rPr>
              <a:t>RTT         avg 240us         worst flow p99 4.1ms</a:t>
            </a:r>
          </a:p>
        </p:txBody>
      </p:sp>
      <p:sp>
        <p:nvSpPr>
          <p:cNvPr id="9" name="TextBox 8"/>
          <p:cNvSpPr txBox="1"/>
          <p:nvPr/>
        </p:nvSpPr>
        <p:spPr>
          <a:xfrm>
            <a:off x="566928" y="2633472"/>
            <a:ext cx="11057839" cy="2418588"/>
          </a:xfrm>
          <a:prstGeom prst="rect">
            <a:avLst/>
          </a:prstGeom>
          <a:noFill/>
        </p:spPr>
        <p:txBody>
          <a:bodyPr wrap="square" lIns="0" rIns="0" tIns="0" bIns="0">
            <a:normAutofit/>
          </a:bodyPr>
          <a:lstStyle/>
          <a:p>
            <a:pPr>
              <a:spcAft>
                <a:spcPts val="700"/>
              </a:spcAft>
            </a:pPr>
            <a:r>
              <a:rPr sz="1200" b="1">
                <a:solidFill>
                  <a:srgbClr val="B0384A"/>
                </a:solidFill>
                <a:latin typeface="Calibri"/>
              </a:rPr>
              <a:t>▪  </a:t>
            </a:r>
            <a:r>
              <a:rPr b="1" sz="1300">
                <a:solidFill>
                  <a:srgbClr val="1C2B3A"/>
                </a:solidFill>
                <a:latin typeface="Calibri"/>
              </a:rPr>
              <a:t>DELIVERED is the headline</a:t>
            </a:r>
            <a:r>
              <a:rPr b="0" sz="1300">
                <a:solidFill>
                  <a:srgbClr val="1C2B3A"/>
                </a:solidFill>
                <a:latin typeface="Calibri"/>
              </a:rPr>
              <a:t> — a sender can't see its own drops.</a:t>
            </a:r>
          </a:p>
          <a:p>
            <a:pPr>
              <a:spcAft>
                <a:spcPts val="700"/>
              </a:spcAft>
            </a:pPr>
            <a:r>
              <a:rPr sz="1200" b="1">
                <a:solidFill>
                  <a:srgbClr val="B0384A"/>
                </a:solidFill>
                <a:latin typeface="Calibri"/>
              </a:rPr>
              <a:t>▪  </a:t>
            </a:r>
            <a:r>
              <a:rPr b="1" sz="1300">
                <a:solidFill>
                  <a:srgbClr val="1C2B3A"/>
                </a:solidFill>
                <a:latin typeface="Calibri"/>
              </a:rPr>
              <a:t>Loss is split by direction</a:t>
            </a:r>
            <a:r>
              <a:rPr b="0" sz="1300">
                <a:solidFill>
                  <a:srgbClr val="1C2B3A"/>
                </a:solidFill>
                <a:latin typeface="Calibri"/>
              </a:rPr>
              <a:t> — dropping tiny requests and dropping big replies point at different problems.</a:t>
            </a:r>
          </a:p>
          <a:p>
            <a:pPr>
              <a:spcAft>
                <a:spcPts val="700"/>
              </a:spcAft>
            </a:pPr>
            <a:r>
              <a:rPr sz="1200" b="1">
                <a:solidFill>
                  <a:srgbClr val="B0384A"/>
                </a:solidFill>
                <a:latin typeface="Calibri"/>
              </a:rPr>
              <a:t>▪  </a:t>
            </a:r>
            <a:r>
              <a:rPr b="0" sz="1300">
                <a:solidFill>
                  <a:srgbClr val="1C2B3A"/>
                </a:solidFill>
                <a:latin typeface="Calibri"/>
              </a:rPr>
              <a:t>The summary ends with </a:t>
            </a:r>
            <a:r>
              <a:rPr b="1" sz="1300">
                <a:solidFill>
                  <a:srgbClr val="1C2B3A"/>
                </a:solidFill>
                <a:latin typeface="Calibri"/>
              </a:rPr>
              <a:t>WHAT TO DO NEXT</a:t>
            </a:r>
            <a:r>
              <a:rPr b="0" sz="1300">
                <a:solidFill>
                  <a:srgbClr val="1C2B3A"/>
                </a:solidFill>
                <a:latin typeface="Calibri"/>
              </a:rPr>
              <a:t> — it reads its own numbers and names the knob they point at.</a:t>
            </a:r>
          </a:p>
          <a:p>
            <a:pPr>
              <a:spcAft>
                <a:spcPts val="700"/>
              </a:spcAft>
            </a:pPr>
            <a:r>
              <a:rPr sz="1200" b="1">
                <a:solidFill>
                  <a:srgbClr val="B0384A"/>
                </a:solidFill>
                <a:latin typeface="Calibri"/>
              </a:rPr>
              <a:t>▪  </a:t>
            </a:r>
            <a:r>
              <a:rPr b="0" sz="1300">
                <a:solidFill>
                  <a:srgbClr val="1C2B3A"/>
                </a:solidFill>
                <a:latin typeface="Calibri"/>
              </a:rPr>
              <a:t>Watch the </a:t>
            </a:r>
            <a:r>
              <a:rPr b="1" sz="1300">
                <a:solidFill>
                  <a:srgbClr val="1C2B3A"/>
                </a:solidFill>
                <a:latin typeface="Calibri"/>
              </a:rPr>
              <a:t>agent</a:t>
            </a:r>
            <a:r>
              <a:rPr b="0" sz="1300">
                <a:solidFill>
                  <a:srgbClr val="1C2B3A"/>
                </a:solidFill>
                <a:latin typeface="Calibri"/>
              </a:rPr>
              <a:t> CPU column: near 100% means the tool is the bottleneck, not your network — add workers (</a:t>
            </a:r>
            <a:r>
              <a:rPr sz="1200">
                <a:solidFill>
                  <a:srgbClr val="B0384A"/>
                </a:solidFill>
                <a:latin typeface="Consolas"/>
              </a:rPr>
              <a:t>--workers</a:t>
            </a:r>
            <a:r>
              <a:rPr b="0" sz="1300">
                <a:solidFill>
                  <a:srgbClr val="1C2B3A"/>
                </a:solidFill>
                <a:latin typeface="Calibri"/>
              </a:rPr>
              <a:t>), spread with </a:t>
            </a:r>
            <a:r>
              <a:rPr sz="1200">
                <a:solidFill>
                  <a:srgbClr val="B0384A"/>
                </a:solidFill>
                <a:latin typeface="Consolas"/>
              </a:rPr>
              <a:t>--streams</a:t>
            </a:r>
            <a:r>
              <a:rPr b="0" sz="1300">
                <a:solidFill>
                  <a:srgbClr val="1C2B3A"/>
                </a:solidFill>
                <a:latin typeface="Calibri"/>
              </a:rPr>
              <a:t>, or add hosts. The summary says this in as many words.</a:t>
            </a:r>
          </a:p>
          <a:p>
            <a:pPr>
              <a:spcAft>
                <a:spcPts val="700"/>
              </a:spcAft>
            </a:pPr>
            <a:r>
              <a:rPr sz="1200" b="1">
                <a:solidFill>
                  <a:srgbClr val="B0384A"/>
                </a:solidFill>
                <a:latin typeface="Calibri"/>
              </a:rPr>
              <a:t>▪  </a:t>
            </a:r>
            <a:r>
              <a:rPr sz="1200">
                <a:solidFill>
                  <a:srgbClr val="B0384A"/>
                </a:solidFill>
                <a:latin typeface="Consolas"/>
              </a:rPr>
              <a:t>mx summarize --grid g</a:t>
            </a:r>
            <a:r>
              <a:rPr b="0" sz="1300">
                <a:solidFill>
                  <a:srgbClr val="1C2B3A"/>
                </a:solidFill>
                <a:latin typeface="Calibri"/>
              </a:rPr>
              <a:t> writes N×N grids: a dark </a:t>
            </a:r>
            <a:r>
              <a:rPr b="1" sz="1300">
                <a:solidFill>
                  <a:srgbClr val="1C2B3A"/>
                </a:solidFill>
                <a:latin typeface="Calibri"/>
              </a:rPr>
              <a:t>row</a:t>
            </a:r>
            <a:r>
              <a:rPr b="0" sz="1300">
                <a:solidFill>
                  <a:srgbClr val="1C2B3A"/>
                </a:solidFill>
                <a:latin typeface="Calibri"/>
              </a:rPr>
              <a:t> is a sick sender, a dark </a:t>
            </a:r>
            <a:r>
              <a:rPr b="1" sz="1300">
                <a:solidFill>
                  <a:srgbClr val="1C2B3A"/>
                </a:solidFill>
                <a:latin typeface="Calibri"/>
              </a:rPr>
              <a:t>column</a:t>
            </a:r>
            <a:r>
              <a:rPr b="0" sz="1300">
                <a:solidFill>
                  <a:srgbClr val="1C2B3A"/>
                </a:solidFill>
                <a:latin typeface="Calibri"/>
              </a:rPr>
              <a:t> a sick receiver — read exactly like the iperf heatmap.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B0384A"/>
                </a:solidFill>
                <a:latin typeface="Calibri"/>
              </a:rPr>
              <a:t>MATRIX_ORCHESTRATOR</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Finding the fleet's limit</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23</a:t>
            </a:r>
          </a:p>
        </p:txBody>
      </p:sp>
      <p:sp>
        <p:nvSpPr>
          <p:cNvPr id="7" name="Rounded Rectangle 6"/>
          <p:cNvSpPr/>
          <p:nvPr/>
        </p:nvSpPr>
        <p:spPr>
          <a:xfrm>
            <a:off x="566928" y="1389888"/>
            <a:ext cx="11057839" cy="1097280"/>
          </a:xfrm>
          <a:prstGeom prst="roundRect">
            <a:avLst>
              <a:gd name="adj" fmla="val 10000"/>
            </a:avLst>
          </a:prstGeom>
          <a:solidFill>
            <a:srgbClr val="14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527048"/>
            <a:ext cx="10600639" cy="822959"/>
          </a:xfrm>
          <a:prstGeom prst="rect">
            <a:avLst/>
          </a:prstGeom>
          <a:noFill/>
        </p:spPr>
        <p:txBody>
          <a:bodyPr wrap="square" lIns="0" rIns="0" tIns="0" bIns="0">
            <a:spAutoFit/>
          </a:bodyPr>
          <a:lstStyle/>
          <a:p>
            <a:r>
              <a:rPr sz="1200" b="1">
                <a:solidFill>
                  <a:srgbClr val="E8EEF6"/>
                </a:solidFill>
                <a:latin typeface="Consolas"/>
              </a:rPr>
              <a:t>mx check --nic-gbps 25            # was what you're asking even possible?</a:t>
            </a:r>
          </a:p>
          <a:p>
            <a:r>
              <a:rPr sz="1200" b="1">
                <a:solidFill>
                  <a:srgbClr val="E8EEF6"/>
                </a:solidFill>
                <a:latin typeface="Consolas"/>
              </a:rPr>
              <a:t>mx gen --servers s.txt --pps 50000  &amp;&amp; mx run --for 120</a:t>
            </a:r>
          </a:p>
          <a:p>
            <a:r>
              <a:rPr sz="1200" b="1">
                <a:solidFill>
                  <a:srgbClr val="E8EEF6"/>
                </a:solidFill>
                <a:latin typeface="Consolas"/>
              </a:rPr>
              <a:t>mx gen --servers s.txt --pps 100000 &amp;&amp; mx run --for 120</a:t>
            </a:r>
          </a:p>
          <a:p>
            <a:r>
              <a:rPr sz="1200" b="1">
                <a:solidFill>
                  <a:srgbClr val="E8EEF6"/>
                </a:solidFill>
                <a:latin typeface="Consolas"/>
              </a:rPr>
              <a:t>...                               # raise until delivery stops keeping up</a:t>
            </a:r>
          </a:p>
        </p:txBody>
      </p:sp>
      <p:sp>
        <p:nvSpPr>
          <p:cNvPr id="9" name="TextBox 8"/>
          <p:cNvSpPr txBox="1"/>
          <p:nvPr/>
        </p:nvSpPr>
        <p:spPr>
          <a:xfrm>
            <a:off x="566928" y="2633472"/>
            <a:ext cx="11057839" cy="1363980"/>
          </a:xfrm>
          <a:prstGeom prst="rect">
            <a:avLst/>
          </a:prstGeom>
          <a:noFill/>
        </p:spPr>
        <p:txBody>
          <a:bodyPr wrap="square" lIns="0" rIns="0" tIns="0" bIns="0">
            <a:normAutofit/>
          </a:bodyPr>
          <a:lstStyle/>
          <a:p>
            <a:pPr>
              <a:spcAft>
                <a:spcPts val="700"/>
              </a:spcAft>
            </a:pPr>
            <a:r>
              <a:rPr sz="1200" b="1">
                <a:solidFill>
                  <a:srgbClr val="B0384A"/>
                </a:solidFill>
                <a:latin typeface="Calibri"/>
              </a:rPr>
              <a:t>▪  </a:t>
            </a:r>
            <a:r>
              <a:rPr b="0" sz="1300">
                <a:solidFill>
                  <a:srgbClr val="1C2B3A"/>
                </a:solidFill>
                <a:latin typeface="Calibri"/>
              </a:rPr>
              <a:t>The last rate that delivers cleanly </a:t>
            </a:r>
            <a:r>
              <a:rPr b="1" sz="1300">
                <a:solidFill>
                  <a:srgbClr val="1C2B3A"/>
                </a:solidFill>
                <a:latin typeface="Calibri"/>
              </a:rPr>
              <a:t>is</a:t>
            </a:r>
            <a:r>
              <a:rPr b="0" sz="1300">
                <a:solidFill>
                  <a:srgbClr val="1C2B3A"/>
                </a:solidFill>
                <a:latin typeface="Calibri"/>
              </a:rPr>
              <a:t> the fleet's sustainable packet rate.</a:t>
            </a:r>
          </a:p>
          <a:p>
            <a:pPr>
              <a:spcAft>
                <a:spcPts val="700"/>
              </a:spcAft>
            </a:pPr>
            <a:r>
              <a:rPr sz="1200" b="1">
                <a:solidFill>
                  <a:srgbClr val="B0384A"/>
                </a:solidFill>
                <a:latin typeface="Calibri"/>
              </a:rPr>
              <a:t>▪  </a:t>
            </a:r>
            <a:r>
              <a:rPr b="0" sz="1300">
                <a:solidFill>
                  <a:srgbClr val="1C2B3A"/>
                </a:solidFill>
                <a:latin typeface="Calibri"/>
              </a:rPr>
              <a:t>Two warning signs, in the order they appear: ① </a:t>
            </a:r>
            <a:r>
              <a:rPr b="1" sz="1300">
                <a:solidFill>
                  <a:srgbClr val="1C2B3A"/>
                </a:solidFill>
                <a:latin typeface="Calibri"/>
              </a:rPr>
              <a:t>p99 latency lifts away from the median</a:t>
            </a:r>
            <a:r>
              <a:rPr b="0" sz="1300">
                <a:solidFill>
                  <a:srgbClr val="1C2B3A"/>
                </a:solidFill>
                <a:latin typeface="Calibri"/>
              </a:rPr>
              <a:t> — queues are filling; ② </a:t>
            </a:r>
            <a:r>
              <a:rPr b="1" sz="1300">
                <a:solidFill>
                  <a:srgbClr val="1C2B3A"/>
                </a:solidFill>
                <a:latin typeface="Calibri"/>
              </a:rPr>
              <a:t>DELIVERED falls behind REQUESTS</a:t>
            </a:r>
            <a:r>
              <a:rPr b="0" sz="1300">
                <a:solidFill>
                  <a:srgbClr val="1C2B3A"/>
                </a:solidFill>
                <a:latin typeface="Calibri"/>
              </a:rPr>
              <a:t> — something is now dropping.</a:t>
            </a:r>
          </a:p>
          <a:p>
            <a:pPr>
              <a:spcAft>
                <a:spcPts val="700"/>
              </a:spcAft>
            </a:pPr>
            <a:r>
              <a:rPr sz="1200" b="1">
                <a:solidFill>
                  <a:srgbClr val="B0384A"/>
                </a:solidFill>
                <a:latin typeface="Calibri"/>
              </a:rPr>
              <a:t>▪  </a:t>
            </a:r>
            <a:r>
              <a:rPr b="0" sz="1300">
                <a:solidFill>
                  <a:srgbClr val="1C2B3A"/>
                </a:solidFill>
                <a:latin typeface="Calibri"/>
              </a:rPr>
              <a:t>In a hurry? </a:t>
            </a:r>
            <a:r>
              <a:rPr sz="1200">
                <a:solidFill>
                  <a:srgbClr val="B0384A"/>
                </a:solidFill>
                <a:latin typeface="Consolas"/>
              </a:rPr>
              <a:t>--pps max</a:t>
            </a:r>
            <a:r>
              <a:rPr b="0" sz="1300">
                <a:solidFill>
                  <a:srgbClr val="1C2B3A"/>
                </a:solidFill>
                <a:latin typeface="Calibri"/>
              </a:rPr>
              <a:t> sends unpaced and finds the ceiling fastest — but tells you less about where the comfortable limit is.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B0384A"/>
                </a:solidFill>
                <a:latin typeface="Calibri"/>
              </a:rPr>
              <a:t>MATRIX_ORCHESTRATOR</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Big fleets</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24</a:t>
            </a:r>
          </a:p>
        </p:txBody>
      </p:sp>
      <p:sp>
        <p:nvSpPr>
          <p:cNvPr id="7" name="TextBox 6"/>
          <p:cNvSpPr txBox="1"/>
          <p:nvPr/>
        </p:nvSpPr>
        <p:spPr>
          <a:xfrm>
            <a:off x="566928" y="1389888"/>
            <a:ext cx="11057839" cy="1891284"/>
          </a:xfrm>
          <a:prstGeom prst="rect">
            <a:avLst/>
          </a:prstGeom>
          <a:noFill/>
        </p:spPr>
        <p:txBody>
          <a:bodyPr wrap="square" lIns="0" rIns="0" tIns="0" bIns="0">
            <a:normAutofit/>
          </a:bodyPr>
          <a:lstStyle/>
          <a:p>
            <a:pPr>
              <a:spcAft>
                <a:spcPts val="700"/>
              </a:spcAft>
            </a:pPr>
            <a:r>
              <a:rPr sz="1200" b="1">
                <a:solidFill>
                  <a:srgbClr val="B0384A"/>
                </a:solidFill>
                <a:latin typeface="Calibri"/>
              </a:rPr>
              <a:t>▪  </a:t>
            </a:r>
            <a:r>
              <a:rPr b="0" sz="1300">
                <a:solidFill>
                  <a:srgbClr val="1C2B3A"/>
                </a:solidFill>
                <a:latin typeface="Calibri"/>
              </a:rPr>
              <a:t>Small fleet? The default </a:t>
            </a:r>
            <a:r>
              <a:rPr b="1" sz="1300">
                <a:solidFill>
                  <a:srgbClr val="1C2B3A"/>
                </a:solidFill>
                <a:latin typeface="Calibri"/>
              </a:rPr>
              <a:t>full mesh</a:t>
            </a:r>
            <a:r>
              <a:rPr b="0" sz="1300">
                <a:solidFill>
                  <a:srgbClr val="1C2B3A"/>
                </a:solidFill>
                <a:latin typeface="Calibri"/>
              </a:rPr>
              <a:t> is perfect — every pair, all the time.</a:t>
            </a:r>
          </a:p>
          <a:p>
            <a:pPr>
              <a:spcAft>
                <a:spcPts val="700"/>
              </a:spcAft>
            </a:pPr>
            <a:r>
              <a:rPr sz="1200" b="1">
                <a:solidFill>
                  <a:srgbClr val="B0384A"/>
                </a:solidFill>
                <a:latin typeface="Calibri"/>
              </a:rPr>
              <a:t>▪  </a:t>
            </a:r>
            <a:r>
              <a:rPr b="0" sz="1300">
                <a:solidFill>
                  <a:srgbClr val="1C2B3A"/>
                </a:solidFill>
                <a:latin typeface="Calibri"/>
              </a:rPr>
              <a:t>Big fleet? </a:t>
            </a:r>
            <a:r>
              <a:rPr sz="1200">
                <a:solidFill>
                  <a:srgbClr val="B0384A"/>
                </a:solidFill>
                <a:latin typeface="Consolas"/>
              </a:rPr>
              <a:t>--peers 8</a:t>
            </a:r>
            <a:r>
              <a:rPr b="0" sz="1300">
                <a:solidFill>
                  <a:srgbClr val="1C2B3A"/>
                </a:solidFill>
                <a:latin typeface="Calibri"/>
              </a:rPr>
              <a:t>: each host talks to exactly </a:t>
            </a:r>
            <a:r>
              <a:rPr b="1" sz="1300">
                <a:solidFill>
                  <a:srgbClr val="1C2B3A"/>
                </a:solidFill>
                <a:latin typeface="Calibri"/>
              </a:rPr>
              <a:t>8 shuffled peers</a:t>
            </a:r>
            <a:r>
              <a:rPr b="0" sz="1300">
                <a:solidFill>
                  <a:srgbClr val="1C2B3A"/>
                </a:solidFill>
                <a:latin typeface="Calibri"/>
              </a:rPr>
              <a:t> instead of all N−1. Every host still carries identical load, the whole fabric is still exercised — with 8 connections per host instead of hundreds.</a:t>
            </a:r>
          </a:p>
          <a:p>
            <a:pPr>
              <a:spcAft>
                <a:spcPts val="700"/>
              </a:spcAft>
            </a:pPr>
            <a:r>
              <a:rPr sz="1200" b="1">
                <a:solidFill>
                  <a:srgbClr val="B0384A"/>
                </a:solidFill>
                <a:latin typeface="Calibri"/>
              </a:rPr>
              <a:t>▪  </a:t>
            </a:r>
            <a:r>
              <a:rPr b="0" sz="1300">
                <a:solidFill>
                  <a:srgbClr val="1C2B3A"/>
                </a:solidFill>
                <a:latin typeface="Calibri"/>
              </a:rPr>
              <a:t>Still need every pair checked? Add </a:t>
            </a:r>
            <a:r>
              <a:rPr sz="1200">
                <a:solidFill>
                  <a:srgbClr val="B0384A"/>
                </a:solidFill>
                <a:latin typeface="Consolas"/>
              </a:rPr>
              <a:t>--dwell 60</a:t>
            </a:r>
            <a:r>
              <a:rPr b="0" sz="1300">
                <a:solidFill>
                  <a:srgbClr val="1C2B3A"/>
                </a:solidFill>
                <a:latin typeface="Calibri"/>
              </a:rPr>
              <a:t>: the 8 peers </a:t>
            </a:r>
            <a:r>
              <a:rPr b="1" sz="1300">
                <a:solidFill>
                  <a:srgbClr val="1C2B3A"/>
                </a:solidFill>
                <a:latin typeface="Calibri"/>
              </a:rPr>
              <a:t>rotate on a schedule</a:t>
            </a:r>
            <a:r>
              <a:rPr b="0" sz="1300">
                <a:solidFill>
                  <a:srgbClr val="1C2B3A"/>
                </a:solidFill>
                <a:latin typeface="Calibri"/>
              </a:rPr>
              <a:t> until every pair has been measured — per-host load never changes, and no coordination traffic is needed.</a:t>
            </a:r>
          </a:p>
          <a:p>
            <a:pPr>
              <a:spcAft>
                <a:spcPts val="700"/>
              </a:spcAft>
            </a:pPr>
            <a:r>
              <a:rPr sz="1200" b="1">
                <a:solidFill>
                  <a:srgbClr val="B0384A"/>
                </a:solidFill>
                <a:latin typeface="Calibri"/>
              </a:rPr>
              <a:t>▪  </a:t>
            </a:r>
            <a:r>
              <a:rPr b="0" sz="1300">
                <a:solidFill>
                  <a:srgbClr val="1C2B3A"/>
                </a:solidFill>
                <a:latin typeface="Calibri"/>
              </a:rPr>
              <a:t>Don't want to think about any of this? </a:t>
            </a:r>
            <a:r>
              <a:rPr b="1" sz="1300">
                <a:solidFill>
                  <a:srgbClr val="1C2B3A"/>
                </a:solidFill>
                <a:latin typeface="Calibri"/>
              </a:rPr>
              <a:t>`mx hints`</a:t>
            </a:r>
            <a:r>
              <a:rPr b="0" sz="1300">
                <a:solidFill>
                  <a:srgbClr val="1C2B3A"/>
                </a:solidFill>
                <a:latin typeface="Calibri"/>
              </a:rPr>
              <a:t> — tell it your goal, it prints the command.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B0384A"/>
                </a:solidFill>
                <a:latin typeface="Calibri"/>
              </a:rPr>
              <a:t>MATRIX_ORCHESTRATOR</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Tutorial — your first mx run</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25</a:t>
            </a:r>
          </a:p>
        </p:txBody>
      </p:sp>
      <p:sp>
        <p:nvSpPr>
          <p:cNvPr id="7" name="Rounded Rectangle 6"/>
          <p:cNvSpPr/>
          <p:nvPr/>
        </p:nvSpPr>
        <p:spPr>
          <a:xfrm>
            <a:off x="566928" y="1389888"/>
            <a:ext cx="11057839" cy="3977639"/>
          </a:xfrm>
          <a:prstGeom prst="roundRect">
            <a:avLst>
              <a:gd name="adj" fmla="val 10000"/>
            </a:avLst>
          </a:prstGeom>
          <a:solidFill>
            <a:srgbClr val="14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527048"/>
            <a:ext cx="10600639" cy="3703320"/>
          </a:xfrm>
          <a:prstGeom prst="rect">
            <a:avLst/>
          </a:prstGeom>
          <a:noFill/>
        </p:spPr>
        <p:txBody>
          <a:bodyPr wrap="square" lIns="0" rIns="0" tIns="0" bIns="0">
            <a:spAutoFit/>
          </a:bodyPr>
          <a:lstStyle/>
          <a:p>
            <a:r>
              <a:rPr sz="1200">
                <a:solidFill>
                  <a:srgbClr val="8A9BB0"/>
                </a:solidFill>
                <a:latin typeface="Consolas"/>
              </a:rPr>
              <a:t># 0. install on the machine you drive from</a:t>
            </a:r>
          </a:p>
          <a:p>
            <a:r>
              <a:rPr sz="1200">
                <a:solidFill>
                  <a:srgbClr val="8A9BB0"/>
                </a:solidFill>
                <a:latin typeface="Consolas"/>
              </a:rPr>
              <a:t>#    (servers need only python3 + your ssh key)</a:t>
            </a:r>
          </a:p>
          <a:p>
            <a:r>
              <a:rPr sz="1200" b="1">
                <a:solidFill>
                  <a:srgbClr val="E8EEF6"/>
                </a:solidFill>
                <a:latin typeface="Consolas"/>
              </a:rPr>
              <a:t>pip install matrix-orchestrator</a:t>
            </a:r>
          </a:p>
          <a:p>
            <a:r>
              <a:rPr sz="1200">
                <a:solidFill>
                  <a:srgbClr val="E8EEF6"/>
                </a:solidFill>
                <a:latin typeface="Consolas"/>
              </a:rPr>
              <a:t> </a:t>
            </a:r>
          </a:p>
          <a:p>
            <a:r>
              <a:rPr sz="1200">
                <a:solidFill>
                  <a:srgbClr val="8A9BB0"/>
                </a:solidFill>
                <a:latin typeface="Consolas"/>
              </a:rPr>
              <a:t># 1. servers, one per line</a:t>
            </a:r>
          </a:p>
          <a:p>
            <a:r>
              <a:rPr sz="1200" b="1">
                <a:solidFill>
                  <a:srgbClr val="E8EEF6"/>
                </a:solidFill>
                <a:latin typeface="Consolas"/>
              </a:rPr>
              <a:t>printf '%s\n' 10.0.0.10 10.0.0.11 10.0.0.12 &gt; servers.txt</a:t>
            </a:r>
          </a:p>
          <a:p>
            <a:r>
              <a:rPr sz="1200">
                <a:solidFill>
                  <a:srgbClr val="E8EEF6"/>
                </a:solidFill>
                <a:latin typeface="Consolas"/>
              </a:rPr>
              <a:t> </a:t>
            </a:r>
          </a:p>
          <a:p>
            <a:r>
              <a:rPr sz="1200">
                <a:solidFill>
                  <a:srgbClr val="8A9BB0"/>
                </a:solidFill>
                <a:latin typeface="Consolas"/>
              </a:rPr>
              <a:t># 2. preflight the fleet: ssh, python, file-descriptor limits</a:t>
            </a:r>
          </a:p>
          <a:p>
            <a:r>
              <a:rPr sz="1200" b="1">
                <a:solidFill>
                  <a:srgbClr val="E8EEF6"/>
                </a:solidFill>
                <a:latin typeface="Consolas"/>
              </a:rPr>
              <a:t>mx doctor</a:t>
            </a:r>
          </a:p>
          <a:p>
            <a:r>
              <a:rPr sz="1200">
                <a:solidFill>
                  <a:srgbClr val="E8EEF6"/>
                </a:solidFill>
                <a:latin typeface="Consolas"/>
              </a:rPr>
              <a:t> </a:t>
            </a:r>
          </a:p>
          <a:p>
            <a:r>
              <a:rPr sz="1200">
                <a:solidFill>
                  <a:srgbClr val="8A9BB0"/>
                </a:solidFill>
                <a:latin typeface="Consolas"/>
              </a:rPr>
              <a:t># 3. describe the traffic: every pair, 20k requests/sec</a:t>
            </a:r>
          </a:p>
          <a:p>
            <a:r>
              <a:rPr sz="1200" b="1">
                <a:solidFill>
                  <a:srgbClr val="E8EEF6"/>
                </a:solidFill>
                <a:latin typeface="Consolas"/>
              </a:rPr>
              <a:t>mx gen --servers servers.txt --pps 20000</a:t>
            </a:r>
          </a:p>
          <a:p>
            <a:r>
              <a:rPr sz="1200">
                <a:solidFill>
                  <a:srgbClr val="E8EEF6"/>
                </a:solidFill>
                <a:latin typeface="Consolas"/>
              </a:rPr>
              <a:t> </a:t>
            </a:r>
          </a:p>
          <a:p>
            <a:r>
              <a:rPr sz="1200">
                <a:solidFill>
                  <a:srgbClr val="8A9BB0"/>
                </a:solidFill>
                <a:latin typeface="Consolas"/>
              </a:rPr>
              <a:t># 4. sanity-check it against the hardware</a:t>
            </a:r>
          </a:p>
          <a:p>
            <a:r>
              <a:rPr sz="1200" b="1">
                <a:solidFill>
                  <a:srgbClr val="E8EEF6"/>
                </a:solidFill>
                <a:latin typeface="Consolas"/>
              </a:rPr>
              <a:t>mx check --nic-gbps 10</a:t>
            </a:r>
          </a:p>
          <a:p>
            <a:r>
              <a:rPr sz="1200">
                <a:solidFill>
                  <a:srgbClr val="E8EEF6"/>
                </a:solidFill>
                <a:latin typeface="Consolas"/>
              </a:rPr>
              <a:t> </a:t>
            </a:r>
          </a:p>
          <a:p>
            <a:r>
              <a:rPr sz="1200">
                <a:solidFill>
                  <a:srgbClr val="8A9BB0"/>
                </a:solidFill>
                <a:latin typeface="Consolas"/>
              </a:rPr>
              <a:t># 5. run for 60 seconds: deploy, run, summarize, stop</a:t>
            </a:r>
          </a:p>
          <a:p>
            <a:r>
              <a:rPr sz="1200" b="1">
                <a:solidFill>
                  <a:srgbClr val="E8EEF6"/>
                </a:solidFill>
                <a:latin typeface="Consolas"/>
              </a:rPr>
              <a:t>mx run --for 60</a:t>
            </a:r>
          </a:p>
        </p:txBody>
      </p:sp>
      <p:sp>
        <p:nvSpPr>
          <p:cNvPr id="9" name="TextBox 8"/>
          <p:cNvSpPr txBox="1"/>
          <p:nvPr/>
        </p:nvSpPr>
        <p:spPr>
          <a:xfrm>
            <a:off x="566928" y="5513831"/>
            <a:ext cx="11057839" cy="309372"/>
          </a:xfrm>
          <a:prstGeom prst="rect">
            <a:avLst/>
          </a:prstGeom>
          <a:noFill/>
        </p:spPr>
        <p:txBody>
          <a:bodyPr wrap="square" lIns="0" rIns="0" tIns="0" bIns="0">
            <a:normAutofit/>
          </a:bodyPr>
          <a:lstStyle/>
          <a:p>
            <a:pPr>
              <a:spcAft>
                <a:spcPts val="700"/>
              </a:spcAft>
            </a:pPr>
            <a:r>
              <a:rPr sz="1200" b="1">
                <a:solidFill>
                  <a:srgbClr val="B0384A"/>
                </a:solidFill>
                <a:latin typeface="Calibri"/>
              </a:rPr>
              <a:t>▪  </a:t>
            </a:r>
            <a:r>
              <a:rPr b="0" sz="1300">
                <a:solidFill>
                  <a:srgbClr val="1C2B3A"/>
                </a:solidFill>
                <a:latin typeface="Calibri"/>
              </a:rPr>
              <a:t>The summary prints totals, the worst hosts and flows, and what to do next.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B0384A"/>
                </a:solidFill>
                <a:latin typeface="Calibri"/>
              </a:rPr>
              <a:t>MATRIX_ORCHESTRATOR</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Tutorial — watching, tuning, cleaning up</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26</a:t>
            </a:r>
          </a:p>
        </p:txBody>
      </p:sp>
      <p:sp>
        <p:nvSpPr>
          <p:cNvPr id="7" name="Rounded Rectangle 6"/>
          <p:cNvSpPr/>
          <p:nvPr/>
        </p:nvSpPr>
        <p:spPr>
          <a:xfrm>
            <a:off x="566928" y="1389888"/>
            <a:ext cx="11057839" cy="2331720"/>
          </a:xfrm>
          <a:prstGeom prst="roundRect">
            <a:avLst>
              <a:gd name="adj" fmla="val 10000"/>
            </a:avLst>
          </a:prstGeom>
          <a:solidFill>
            <a:srgbClr val="14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527048"/>
            <a:ext cx="10600639" cy="2057400"/>
          </a:xfrm>
          <a:prstGeom prst="rect">
            <a:avLst/>
          </a:prstGeom>
          <a:noFill/>
        </p:spPr>
        <p:txBody>
          <a:bodyPr wrap="square" lIns="0" rIns="0" tIns="0" bIns="0">
            <a:spAutoFit/>
          </a:bodyPr>
          <a:lstStyle/>
          <a:p>
            <a:r>
              <a:rPr sz="1200" b="1">
                <a:solidFill>
                  <a:srgbClr val="E8EEF6"/>
                </a:solidFill>
                <a:latin typeface="Consolas"/>
              </a:rPr>
              <a:t>mx status --watch 5                  # live ticker while it runs</a:t>
            </a:r>
          </a:p>
          <a:p>
            <a:r>
              <a:rPr sz="1200" b="1">
                <a:solidFill>
                  <a:srgbClr val="E8EEF6"/>
                </a:solidFill>
                <a:latin typeface="Consolas"/>
              </a:rPr>
              <a:t>mx summarize                         # anytime -- reports accumulate</a:t>
            </a:r>
          </a:p>
          <a:p>
            <a:r>
              <a:rPr sz="1200" b="1">
                <a:solidFill>
                  <a:srgbClr val="E8EEF6"/>
                </a:solidFill>
                <a:latin typeface="Consolas"/>
              </a:rPr>
              <a:t>mx summarize --grid g                # N x N grids for a spreadsheet</a:t>
            </a:r>
          </a:p>
          <a:p>
            <a:r>
              <a:rPr sz="1200">
                <a:solidFill>
                  <a:srgbClr val="E8EEF6"/>
                </a:solidFill>
                <a:latin typeface="Consolas"/>
              </a:rPr>
              <a:t> </a:t>
            </a:r>
          </a:p>
          <a:p>
            <a:r>
              <a:rPr sz="1200" b="1">
                <a:solidFill>
                  <a:srgbClr val="E8EEF6"/>
                </a:solidFill>
                <a:latin typeface="Consolas"/>
              </a:rPr>
              <a:t>vi matrix.csv &amp;&amp; mx start            # change the traffic mid-flight</a:t>
            </a:r>
          </a:p>
          <a:p>
            <a:r>
              <a:rPr sz="1200" b="1">
                <a:solidFill>
                  <a:srgbClr val="E8EEF6"/>
                </a:solidFill>
                <a:latin typeface="Consolas"/>
              </a:rPr>
              <a:t>mx gen --servers servers.txt --pps 50000 &amp;&amp; mx run --for 120   # ramp up</a:t>
            </a:r>
          </a:p>
          <a:p>
            <a:r>
              <a:rPr sz="1200">
                <a:solidFill>
                  <a:srgbClr val="E8EEF6"/>
                </a:solidFill>
                <a:latin typeface="Consolas"/>
              </a:rPr>
              <a:t> </a:t>
            </a:r>
          </a:p>
          <a:p>
            <a:r>
              <a:rPr sz="1200" b="1">
                <a:solidFill>
                  <a:srgbClr val="E8EEF6"/>
                </a:solidFill>
                <a:latin typeface="Consolas"/>
              </a:rPr>
              <a:t>mx logs                              # keep the agent logs</a:t>
            </a:r>
          </a:p>
          <a:p>
            <a:r>
              <a:rPr sz="1200" b="1">
                <a:solidFill>
                  <a:srgbClr val="E8EEF6"/>
                </a:solidFill>
                <a:latin typeface="Consolas"/>
              </a:rPr>
              <a:t>mx stop                              # pause -- reports stay on hosts</a:t>
            </a:r>
          </a:p>
          <a:p>
            <a:r>
              <a:rPr sz="1200" b="1">
                <a:solidFill>
                  <a:srgbClr val="E8EEF6"/>
                </a:solidFill>
                <a:latin typeface="Consolas"/>
              </a:rPr>
              <a:t>mx clean                             # done -- delete every trace, verified</a:t>
            </a:r>
          </a:p>
        </p:txBody>
      </p:sp>
      <p:sp>
        <p:nvSpPr>
          <p:cNvPr id="9" name="TextBox 8"/>
          <p:cNvSpPr txBox="1"/>
          <p:nvPr/>
        </p:nvSpPr>
        <p:spPr>
          <a:xfrm>
            <a:off x="566928" y="3867912"/>
            <a:ext cx="11057839" cy="836676"/>
          </a:xfrm>
          <a:prstGeom prst="rect">
            <a:avLst/>
          </a:prstGeom>
          <a:noFill/>
        </p:spPr>
        <p:txBody>
          <a:bodyPr wrap="square" lIns="0" rIns="0" tIns="0" bIns="0">
            <a:normAutofit/>
          </a:bodyPr>
          <a:lstStyle/>
          <a:p>
            <a:pPr>
              <a:spcAft>
                <a:spcPts val="700"/>
              </a:spcAft>
            </a:pPr>
            <a:r>
              <a:rPr sz="1200" b="1">
                <a:solidFill>
                  <a:srgbClr val="B0384A"/>
                </a:solidFill>
                <a:latin typeface="Calibri"/>
              </a:rPr>
              <a:t>▪  </a:t>
            </a:r>
            <a:r>
              <a:rPr sz="1200">
                <a:solidFill>
                  <a:srgbClr val="B0384A"/>
                </a:solidFill>
                <a:latin typeface="Consolas"/>
              </a:rPr>
              <a:t>stop</a:t>
            </a:r>
            <a:r>
              <a:rPr b="0" sz="1300">
                <a:solidFill>
                  <a:srgbClr val="1C2B3A"/>
                </a:solidFill>
                <a:latin typeface="Calibri"/>
              </a:rPr>
              <a:t> and </a:t>
            </a:r>
            <a:r>
              <a:rPr sz="1200">
                <a:solidFill>
                  <a:srgbClr val="B0384A"/>
                </a:solidFill>
                <a:latin typeface="Consolas"/>
              </a:rPr>
              <a:t>clean</a:t>
            </a:r>
            <a:r>
              <a:rPr b="0" sz="1300">
                <a:solidFill>
                  <a:srgbClr val="1C2B3A"/>
                </a:solidFill>
                <a:latin typeface="Calibri"/>
              </a:rPr>
              <a:t> are different on purpose: stop keeps the evidence, clean removes it and *proves* it's gone.</a:t>
            </a:r>
          </a:p>
          <a:p>
            <a:pPr>
              <a:spcAft>
                <a:spcPts val="700"/>
              </a:spcAft>
            </a:pPr>
            <a:r>
              <a:rPr sz="1200" b="1">
                <a:solidFill>
                  <a:srgbClr val="B0384A"/>
                </a:solidFill>
                <a:latin typeface="Calibri"/>
              </a:rPr>
              <a:t>▪  </a:t>
            </a:r>
            <a:r>
              <a:rPr b="0" sz="1300">
                <a:solidFill>
                  <a:srgbClr val="1C2B3A"/>
                </a:solidFill>
                <a:latin typeface="Calibri"/>
              </a:rPr>
              <a:t>Everything on a server lives in one directory — no packages, no services, nothing to un-install.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61704" y="1463040"/>
            <a:ext cx="457200" cy="457200"/>
          </a:xfrm>
          <a:prstGeom prst="roundRect">
            <a:avLst>
              <a:gd name="adj" fmla="val 10000"/>
            </a:avLst>
          </a:prstGeom>
          <a:solidFill>
            <a:srgbClr val="0F7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619488" y="146304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177272" y="1463040"/>
            <a:ext cx="457200" cy="457200"/>
          </a:xfrm>
          <a:prstGeom prst="roundRect">
            <a:avLst>
              <a:gd name="adj" fmla="val 10000"/>
            </a:avLst>
          </a:prstGeom>
          <a:solidFill>
            <a:srgbClr val="0F7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735056" y="146304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292840" y="146304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1850624" y="146304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03920" y="202082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619488" y="2020824"/>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177272" y="202082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735056" y="2020824"/>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292840" y="202082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850624" y="202082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503920" y="257860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61704" y="257860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177272" y="257860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735056" y="257860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1292840" y="257860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1850624" y="257860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503920" y="3136392"/>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061704" y="3136392"/>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9488" y="3136392"/>
            <a:ext cx="457200" cy="457200"/>
          </a:xfrm>
          <a:prstGeom prst="roundRect">
            <a:avLst>
              <a:gd name="adj" fmla="val 10000"/>
            </a:avLst>
          </a:prstGeom>
          <a:solidFill>
            <a:srgbClr val="0F7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735056" y="3136392"/>
            <a:ext cx="457200" cy="457200"/>
          </a:xfrm>
          <a:prstGeom prst="roundRect">
            <a:avLst>
              <a:gd name="adj" fmla="val 10000"/>
            </a:avLst>
          </a:prstGeom>
          <a:solidFill>
            <a:srgbClr val="0F7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1292840" y="3136392"/>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1850624" y="3136392"/>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503920" y="3694176"/>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061704" y="3694176"/>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19488" y="3694176"/>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177272" y="3694176"/>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1292840" y="3694176"/>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1850624" y="3694176"/>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503920" y="425196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061704" y="425196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619488" y="425196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0177272" y="425196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0735056" y="425196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1850624" y="425196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503920" y="4809744"/>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061704" y="480974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619488" y="480974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10177272" y="4809744"/>
            <a:ext cx="457200" cy="457200"/>
          </a:xfrm>
          <a:prstGeom prst="roundRect">
            <a:avLst>
              <a:gd name="adj" fmla="val 10000"/>
            </a:avLst>
          </a:prstGeom>
          <a:solidFill>
            <a:srgbClr val="0F7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0735056" y="480974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1292840" y="4809744"/>
            <a:ext cx="457200" cy="457200"/>
          </a:xfrm>
          <a:prstGeom prst="roundRect">
            <a:avLst>
              <a:gd name="adj" fmla="val 10000"/>
            </a:avLst>
          </a:prstGeom>
          <a:solidFill>
            <a:srgbClr val="0F7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66928" y="2011680"/>
            <a:ext cx="5486400" cy="365760"/>
          </a:xfrm>
          <a:prstGeom prst="rect">
            <a:avLst/>
          </a:prstGeom>
          <a:noFill/>
        </p:spPr>
        <p:txBody>
          <a:bodyPr wrap="square" lIns="0" rIns="0" tIns="0" bIns="0">
            <a:spAutoFit/>
          </a:bodyPr>
          <a:lstStyle/>
          <a:p>
            <a:pPr algn="l"/>
            <a:r>
              <a:rPr sz="1400" b="1">
                <a:solidFill>
                  <a:srgbClr val="0F7D71"/>
                </a:solidFill>
                <a:latin typeface="Calibri"/>
              </a:rPr>
              <a:t>PART 3</a:t>
            </a:r>
          </a:p>
        </p:txBody>
      </p:sp>
      <p:sp>
        <p:nvSpPr>
          <p:cNvPr id="46" name="TextBox 45"/>
          <p:cNvSpPr txBox="1"/>
          <p:nvPr/>
        </p:nvSpPr>
        <p:spPr>
          <a:xfrm>
            <a:off x="566928" y="2468880"/>
            <a:ext cx="7863840" cy="1097280"/>
          </a:xfrm>
          <a:prstGeom prst="rect">
            <a:avLst/>
          </a:prstGeom>
          <a:noFill/>
        </p:spPr>
        <p:txBody>
          <a:bodyPr wrap="square" lIns="0" rIns="0" tIns="0" bIns="0">
            <a:spAutoFit/>
          </a:bodyPr>
          <a:lstStyle/>
          <a:p>
            <a:r>
              <a:rPr sz="4000" b="1">
                <a:solidFill>
                  <a:srgbClr val="FFFFFF"/>
                </a:solidFill>
                <a:latin typeface="Consolas"/>
              </a:rPr>
              <a:t>netmesh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0F7D71"/>
                </a:solidFill>
                <a:latin typeface="Calibri"/>
              </a:rPr>
              <a:t>NETMESH</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The baseline the load tests need</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28</a:t>
            </a:r>
          </a:p>
        </p:txBody>
      </p:sp>
      <p:sp>
        <p:nvSpPr>
          <p:cNvPr id="7" name="Rounded Rectangle 6"/>
          <p:cNvSpPr/>
          <p:nvPr/>
        </p:nvSpPr>
        <p:spPr>
          <a:xfrm>
            <a:off x="566928" y="1389888"/>
            <a:ext cx="3478682" cy="932688"/>
          </a:xfrm>
          <a:prstGeom prst="roundRect">
            <a:avLst>
              <a:gd name="adj" fmla="val 10000"/>
            </a:avLst>
          </a:prstGeom>
          <a:solidFill>
            <a:srgbClr val="357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50" b="1">
                <a:solidFill>
                  <a:srgbClr val="FFFFFF"/>
                </a:solidFill>
                <a:latin typeface="Consolas"/>
              </a:rPr>
              <a:t>netmesh</a:t>
            </a:r>
          </a:p>
          <a:p>
            <a:pPr algn="ctr"/>
            <a:r>
              <a:rPr sz="950">
                <a:solidFill>
                  <a:srgbClr val="F0F3F6"/>
                </a:solidFill>
                <a:latin typeface="Calibri"/>
              </a:rPr>
              <a:t>IDLE: latency · loss · path MTU</a:t>
            </a:r>
          </a:p>
        </p:txBody>
      </p:sp>
      <p:sp>
        <p:nvSpPr>
          <p:cNvPr id="8" name="TextBox 7"/>
          <p:cNvSpPr txBox="1"/>
          <p:nvPr/>
        </p:nvSpPr>
        <p:spPr>
          <a:xfrm>
            <a:off x="4045610" y="1682496"/>
            <a:ext cx="310896" cy="365760"/>
          </a:xfrm>
          <a:prstGeom prst="rect">
            <a:avLst/>
          </a:prstGeom>
          <a:noFill/>
        </p:spPr>
        <p:txBody>
          <a:bodyPr wrap="none" lIns="0" rIns="0" tIns="0" bIns="0">
            <a:spAutoFit/>
          </a:bodyPr>
          <a:lstStyle/>
          <a:p>
            <a:pPr algn="ctr"/>
            <a:r>
              <a:rPr sz="1500" b="1">
                <a:solidFill>
                  <a:srgbClr val="5C6B7A"/>
                </a:solidFill>
              </a:rPr>
              <a:t>→</a:t>
            </a:r>
          </a:p>
        </p:txBody>
      </p:sp>
      <p:sp>
        <p:nvSpPr>
          <p:cNvPr id="9" name="Rounded Rectangle 8"/>
          <p:cNvSpPr/>
          <p:nvPr/>
        </p:nvSpPr>
        <p:spPr>
          <a:xfrm>
            <a:off x="4356506" y="1389888"/>
            <a:ext cx="3478682" cy="932688"/>
          </a:xfrm>
          <a:prstGeom prst="roundRect">
            <a:avLst>
              <a:gd name="adj" fmla="val 10000"/>
            </a:avLst>
          </a:prstGeom>
          <a:solidFill>
            <a:srgbClr val="0F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50" b="1">
                <a:solidFill>
                  <a:srgbClr val="FFFFFF"/>
                </a:solidFill>
                <a:latin typeface="Consolas"/>
              </a:rPr>
              <a:t>iperf-orchestrator</a:t>
            </a:r>
          </a:p>
          <a:p>
            <a:pPr algn="ctr"/>
            <a:r>
              <a:rPr sz="950">
                <a:solidFill>
                  <a:srgbClr val="F0F3F6"/>
                </a:solidFill>
                <a:latin typeface="Calibri"/>
              </a:rPr>
              <a:t>LOADED: TCP bandwidth</a:t>
            </a:r>
          </a:p>
        </p:txBody>
      </p:sp>
      <p:sp>
        <p:nvSpPr>
          <p:cNvPr id="10" name="TextBox 9"/>
          <p:cNvSpPr txBox="1"/>
          <p:nvPr/>
        </p:nvSpPr>
        <p:spPr>
          <a:xfrm>
            <a:off x="7835188" y="1682496"/>
            <a:ext cx="310896" cy="365760"/>
          </a:xfrm>
          <a:prstGeom prst="rect">
            <a:avLst/>
          </a:prstGeom>
          <a:noFill/>
        </p:spPr>
        <p:txBody>
          <a:bodyPr wrap="none" lIns="0" rIns="0" tIns="0" bIns="0">
            <a:spAutoFit/>
          </a:bodyPr>
          <a:lstStyle/>
          <a:p>
            <a:pPr algn="ctr"/>
            <a:r>
              <a:rPr sz="1500" b="1">
                <a:solidFill>
                  <a:srgbClr val="5C6B7A"/>
                </a:solidFill>
              </a:rPr>
              <a:t>→</a:t>
            </a:r>
          </a:p>
        </p:txBody>
      </p:sp>
      <p:sp>
        <p:nvSpPr>
          <p:cNvPr id="11" name="Rounded Rectangle 10"/>
          <p:cNvSpPr/>
          <p:nvPr/>
        </p:nvSpPr>
        <p:spPr>
          <a:xfrm>
            <a:off x="8146084" y="1389888"/>
            <a:ext cx="3478682" cy="932688"/>
          </a:xfrm>
          <a:prstGeom prst="roundRect">
            <a:avLst>
              <a:gd name="adj" fmla="val 10000"/>
            </a:avLst>
          </a:prstGeom>
          <a:solidFill>
            <a:srgbClr val="C872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50" b="1">
                <a:solidFill>
                  <a:srgbClr val="FFFFFF"/>
                </a:solidFill>
                <a:latin typeface="Consolas"/>
              </a:rPr>
              <a:t>mx</a:t>
            </a:r>
          </a:p>
          <a:p>
            <a:pPr algn="ctr"/>
            <a:r>
              <a:rPr sz="950">
                <a:solidFill>
                  <a:srgbClr val="F0F3F6"/>
                </a:solidFill>
                <a:latin typeface="Calibri"/>
              </a:rPr>
              <a:t>LOADED: packets per second</a:t>
            </a:r>
          </a:p>
        </p:txBody>
      </p:sp>
      <p:sp>
        <p:nvSpPr>
          <p:cNvPr id="12" name="TextBox 11"/>
          <p:cNvSpPr txBox="1"/>
          <p:nvPr/>
        </p:nvSpPr>
        <p:spPr>
          <a:xfrm>
            <a:off x="566928" y="2523744"/>
            <a:ext cx="11057839" cy="1363980"/>
          </a:xfrm>
          <a:prstGeom prst="rect">
            <a:avLst/>
          </a:prstGeom>
          <a:noFill/>
        </p:spPr>
        <p:txBody>
          <a:bodyPr wrap="square" lIns="0" rIns="0" tIns="0" bIns="0">
            <a:normAutofit/>
          </a:bodyPr>
          <a:lstStyle/>
          <a:p>
            <a:pPr>
              <a:spcAft>
                <a:spcPts val="700"/>
              </a:spcAft>
            </a:pPr>
            <a:r>
              <a:rPr sz="1200" b="1">
                <a:solidFill>
                  <a:srgbClr val="0F7D71"/>
                </a:solidFill>
                <a:latin typeface="Calibri"/>
              </a:rPr>
              <a:t>▪  </a:t>
            </a:r>
            <a:r>
              <a:rPr b="0" sz="1300">
                <a:solidFill>
                  <a:srgbClr val="1C2B3A"/>
                </a:solidFill>
                <a:latin typeface="Calibri"/>
              </a:rPr>
              <a:t>The load tools tell you what the fabric can *carry*. netmesh tells you what the fabric is *like* when nothing is running — and every loaded number has to be read against that baseline.</a:t>
            </a:r>
          </a:p>
          <a:p>
            <a:pPr>
              <a:spcAft>
                <a:spcPts val="700"/>
              </a:spcAft>
            </a:pPr>
            <a:r>
              <a:rPr sz="1200" b="1">
                <a:solidFill>
                  <a:srgbClr val="0F7D71"/>
                </a:solidFill>
                <a:latin typeface="Calibri"/>
              </a:rPr>
              <a:t>▪  </a:t>
            </a:r>
            <a:r>
              <a:rPr b="0" sz="1300">
                <a:solidFill>
                  <a:srgbClr val="1C2B3A"/>
                </a:solidFill>
                <a:latin typeface="Calibri"/>
              </a:rPr>
              <a:t>It measures </a:t>
            </a:r>
            <a:r>
              <a:rPr b="1" sz="1300">
                <a:solidFill>
                  <a:srgbClr val="1C2B3A"/>
                </a:solidFill>
                <a:latin typeface="Calibri"/>
              </a:rPr>
              <a:t>round-trip time, jitter, loss and path MTU</a:t>
            </a:r>
            <a:r>
              <a:rPr b="0" sz="1300">
                <a:solidFill>
                  <a:srgbClr val="1C2B3A"/>
                </a:solidFill>
                <a:latin typeface="Calibri"/>
              </a:rPr>
              <a:t> between your machines, using ~10 small packets per second per pair — light enough to run on </a:t>
            </a:r>
            <a:r>
              <a:rPr b="1" sz="1300">
                <a:solidFill>
                  <a:srgbClr val="1C2B3A"/>
                </a:solidFill>
                <a:latin typeface="Calibri"/>
              </a:rPr>
              <a:t>production, during an incident</a:t>
            </a:r>
            <a:r>
              <a:rPr b="0" sz="1300">
                <a:solidFill>
                  <a:srgbClr val="1C2B3A"/>
                </a:solidFill>
                <a:latin typeface="Calibri"/>
              </a:rPr>
              <a:t>.</a:t>
            </a:r>
          </a:p>
          <a:p>
            <a:pPr>
              <a:spcAft>
                <a:spcPts val="700"/>
              </a:spcAft>
            </a:pPr>
            <a:r>
              <a:rPr sz="1200" b="1">
                <a:solidFill>
                  <a:srgbClr val="0F7D71"/>
                </a:solidFill>
                <a:latin typeface="Calibri"/>
              </a:rPr>
              <a:t>▪  </a:t>
            </a:r>
            <a:r>
              <a:rPr b="0" sz="1300">
                <a:solidFill>
                  <a:srgbClr val="1C2B3A"/>
                </a:solidFill>
                <a:latin typeface="Calibri"/>
              </a:rPr>
              <a:t>Two hosts and one line is the whole experience: </a:t>
            </a:r>
            <a:r>
              <a:rPr sz="1200">
                <a:solidFill>
                  <a:srgbClr val="0F7D71"/>
                </a:solidFill>
                <a:latin typeface="Consolas"/>
              </a:rPr>
              <a:t>netmesh check web01 db01</a:t>
            </a:r>
            <a:r>
              <a:rPr b="0" sz="1300">
                <a:solidFill>
                  <a:srgbClr val="1C2B3A"/>
                </a:solidFill>
                <a:latin typeface="Calibri"/>
              </a:rPr>
              <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0F7D71"/>
                </a:solidFill>
                <a:latin typeface="Calibri"/>
              </a:rPr>
              <a:t>NETMESH</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Why not just ping?</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29</a:t>
            </a:r>
          </a:p>
        </p:txBody>
      </p:sp>
      <p:sp>
        <p:nvSpPr>
          <p:cNvPr id="7" name="TextBox 6"/>
          <p:cNvSpPr txBox="1"/>
          <p:nvPr/>
        </p:nvSpPr>
        <p:spPr>
          <a:xfrm>
            <a:off x="566928" y="1389888"/>
            <a:ext cx="11057839" cy="527304"/>
          </a:xfrm>
          <a:prstGeom prst="rect">
            <a:avLst/>
          </a:prstGeom>
          <a:noFill/>
        </p:spPr>
        <p:txBody>
          <a:bodyPr wrap="square" lIns="0" rIns="0" tIns="0" bIns="0">
            <a:normAutofit/>
          </a:bodyPr>
          <a:lstStyle/>
          <a:p>
            <a:pPr>
              <a:spcAft>
                <a:spcPts val="700"/>
              </a:spcAft>
            </a:pPr>
            <a:r>
              <a:rPr sz="1200" b="1">
                <a:solidFill>
                  <a:srgbClr val="0F7D71"/>
                </a:solidFill>
                <a:latin typeface="Calibri"/>
              </a:rPr>
              <a:t>▪  </a:t>
            </a:r>
            <a:r>
              <a:rPr b="0" sz="1300">
                <a:solidFill>
                  <a:srgbClr val="1C2B3A"/>
                </a:solidFill>
                <a:latin typeface="Calibri"/>
              </a:rPr>
              <a:t>netmesh probes with </a:t>
            </a:r>
            <a:r>
              <a:rPr b="1" sz="1300">
                <a:solidFill>
                  <a:srgbClr val="1C2B3A"/>
                </a:solidFill>
                <a:latin typeface="Calibri"/>
              </a:rPr>
              <a:t>small UDP packets between two tiny agents</a:t>
            </a:r>
            <a:r>
              <a:rPr b="0" sz="1300">
                <a:solidFill>
                  <a:srgbClr val="1C2B3A"/>
                </a:solidFill>
                <a:latin typeface="Calibri"/>
              </a:rPr>
              <a:t> it places on your hosts — which buys four things ping can't do:</a:t>
            </a:r>
          </a:p>
        </p:txBody>
      </p:sp>
      <p:graphicFrame>
        <p:nvGraphicFramePr>
          <p:cNvPr id="8" name="Table 7"/>
          <p:cNvGraphicFramePr>
            <a:graphicFrameLocks noGrp="1"/>
          </p:cNvGraphicFramePr>
          <p:nvPr/>
        </p:nvGraphicFramePr>
        <p:xfrm>
          <a:off x="566928" y="1990344"/>
          <a:ext cx="11057837" cy="2324735"/>
        </p:xfrm>
        <a:graphic>
          <a:graphicData uri="http://schemas.openxmlformats.org/drawingml/2006/table">
            <a:tbl>
              <a:tblPr>
                <a:tableStyleId>{5C22544A-7EE6-4342-B048-85BDC9FD1C3A}</a:tableStyleId>
              </a:tblPr>
              <a:tblGrid>
                <a:gridCol w="1923424"/>
                <a:gridCol w="4367685"/>
                <a:gridCol w="4766728"/>
              </a:tblGrid>
              <a:tr h="352679">
                <a:tc>
                  <a:txBody>
                    <a:bodyPr/>
                    <a:lstStyle/>
                    <a:p>
                      <a:r>
                        <a:rPr b="1" sz="1200">
                          <a:solidFill>
                            <a:srgbClr val="FFFFFF"/>
                          </a:solidFill>
                          <a:latin typeface="Calibri"/>
                        </a:rPr>
                        <a:t/>
                      </a:r>
                    </a:p>
                  </a:txBody>
                  <a:tcPr marL="91440" marR="91440" marT="45720" marB="45720" anchor="ctr">
                    <a:solidFill>
                      <a:srgbClr val="101E30"/>
                    </a:solidFill>
                  </a:tcPr>
                </a:tc>
                <a:tc>
                  <a:txBody>
                    <a:bodyPr/>
                    <a:lstStyle/>
                    <a:p>
                      <a:r>
                        <a:rPr b="1" sz="1200">
                          <a:solidFill>
                            <a:srgbClr val="FFFFFF"/>
                          </a:solidFill>
                          <a:latin typeface="Calibri"/>
                        </a:rPr>
                        <a:t>ping</a:t>
                      </a:r>
                    </a:p>
                  </a:txBody>
                  <a:tcPr marL="91440" marR="91440" marT="45720" marB="45720" anchor="ctr">
                    <a:solidFill>
                      <a:srgbClr val="101E30"/>
                    </a:solidFill>
                  </a:tcPr>
                </a:tc>
                <a:tc>
                  <a:txBody>
                    <a:bodyPr/>
                    <a:lstStyle/>
                    <a:p>
                      <a:r>
                        <a:rPr b="1" sz="1200">
                          <a:solidFill>
                            <a:srgbClr val="FFFFFF"/>
                          </a:solidFill>
                          <a:latin typeface="Calibri"/>
                        </a:rPr>
                        <a:t>netmesh</a:t>
                      </a:r>
                    </a:p>
                  </a:txBody>
                  <a:tcPr marL="91440" marR="91440" marT="45720" marB="45720" anchor="ctr">
                    <a:solidFill>
                      <a:srgbClr val="101E30"/>
                    </a:solidFill>
                  </a:tcPr>
                </a:tc>
              </a:tr>
              <a:tr h="344424">
                <a:tc>
                  <a:txBody>
                    <a:bodyPr/>
                    <a:lstStyle/>
                    <a:p>
                      <a:r>
                        <a:rPr b="0" sz="1200">
                          <a:solidFill>
                            <a:srgbClr val="1C2B3A"/>
                          </a:solidFill>
                          <a:latin typeface="Calibri"/>
                        </a:rPr>
                        <a:t>Privileges</a:t>
                      </a:r>
                    </a:p>
                  </a:txBody>
                  <a:tcPr marL="91440" marR="91440" marT="45720" marB="45720" anchor="ctr">
                    <a:solidFill>
                      <a:srgbClr val="FFFFFF"/>
                    </a:solidFill>
                  </a:tcPr>
                </a:tc>
                <a:tc>
                  <a:txBody>
                    <a:bodyPr/>
                    <a:lstStyle/>
                    <a:p>
                      <a:r>
                        <a:rPr b="0" sz="1200">
                          <a:solidFill>
                            <a:srgbClr val="1C2B3A"/>
                          </a:solidFill>
                          <a:latin typeface="Calibri"/>
                        </a:rPr>
                        <a:t>often needs root / special settings</a:t>
                      </a:r>
                    </a:p>
                  </a:txBody>
                  <a:tcPr marL="91440" marR="91440" marT="45720" marB="45720" anchor="ctr">
                    <a:solidFill>
                      <a:srgbClr val="FFFFFF"/>
                    </a:solidFill>
                  </a:tcPr>
                </a:tc>
                <a:tc>
                  <a:txBody>
                    <a:bodyPr/>
                    <a:lstStyle/>
                    <a:p>
                      <a:r>
                        <a:rPr b="0" sz="1200">
                          <a:solidFill>
                            <a:srgbClr val="1C2B3A"/>
                          </a:solidFill>
                          <a:latin typeface="Calibri"/>
                        </a:rPr>
                        <a:t>none — ordinary sockets, ordinary user</a:t>
                      </a:r>
                    </a:p>
                  </a:txBody>
                  <a:tcPr marL="91440" marR="91440" marT="45720" marB="45720" anchor="ctr">
                    <a:solidFill>
                      <a:srgbClr val="FFFFFF"/>
                    </a:solidFill>
                  </a:tcPr>
                </a:tc>
              </a:tr>
              <a:tr h="542544">
                <a:tc>
                  <a:txBody>
                    <a:bodyPr/>
                    <a:lstStyle/>
                    <a:p>
                      <a:r>
                        <a:rPr b="0" sz="1200">
                          <a:solidFill>
                            <a:srgbClr val="1C2B3A"/>
                          </a:solidFill>
                          <a:latin typeface="Calibri"/>
                        </a:rPr>
                        <a:t>Latency</a:t>
                      </a:r>
                    </a:p>
                  </a:txBody>
                  <a:tcPr marL="91440" marR="91440" marT="45720" marB="45720" anchor="ctr">
                    <a:solidFill>
                      <a:srgbClr val="F1F4F8"/>
                    </a:solidFill>
                  </a:tcPr>
                </a:tc>
                <a:tc>
                  <a:txBody>
                    <a:bodyPr/>
                    <a:lstStyle/>
                    <a:p>
                      <a:r>
                        <a:rPr b="0" sz="1200">
                          <a:solidFill>
                            <a:srgbClr val="1C2B3A"/>
                          </a:solidFill>
                          <a:latin typeface="Calibri"/>
                        </a:rPr>
                        <a:t>approximate</a:t>
                      </a:r>
                    </a:p>
                  </a:txBody>
                  <a:tcPr marL="91440" marR="91440" marT="45720" marB="45720" anchor="ctr">
                    <a:solidFill>
                      <a:srgbClr val="F1F4F8"/>
                    </a:solidFill>
                  </a:tcPr>
                </a:tc>
                <a:tc>
                  <a:txBody>
                    <a:bodyPr/>
                    <a:lstStyle/>
                    <a:p>
                      <a:r>
                        <a:rPr b="0" sz="1200">
                          <a:solidFill>
                            <a:srgbClr val="1C2B3A"/>
                          </a:solidFill>
                          <a:latin typeface="Calibri"/>
                        </a:rPr>
                        <a:t>exact — the sender's own clock stamp comes back in the echo</a:t>
                      </a:r>
                    </a:p>
                  </a:txBody>
                  <a:tcPr marL="91440" marR="91440" marT="45720" marB="45720" anchor="ctr">
                    <a:solidFill>
                      <a:srgbClr val="F1F4F8"/>
                    </a:solidFill>
                  </a:tcPr>
                </a:tc>
              </a:tr>
              <a:tr h="542544">
                <a:tc>
                  <a:txBody>
                    <a:bodyPr/>
                    <a:lstStyle/>
                    <a:p>
                      <a:r>
                        <a:rPr b="0" sz="1200">
                          <a:solidFill>
                            <a:srgbClr val="1C2B3A"/>
                          </a:solidFill>
                          <a:latin typeface="Calibri"/>
                        </a:rPr>
                        <a:t>Loss</a:t>
                      </a:r>
                    </a:p>
                  </a:txBody>
                  <a:tcPr marL="91440" marR="91440" marT="45720" marB="45720" anchor="ctr">
                    <a:solidFill>
                      <a:srgbClr val="FFFFFF"/>
                    </a:solidFill>
                  </a:tcPr>
                </a:tc>
                <a:tc>
                  <a:txBody>
                    <a:bodyPr/>
                    <a:lstStyle/>
                    <a:p>
                      <a:r>
                        <a:rPr b="0" sz="1200">
                          <a:solidFill>
                            <a:srgbClr val="1C2B3A"/>
                          </a:solidFill>
                          <a:latin typeface="Calibri"/>
                        </a:rPr>
                        <a:t>one number, no direction</a:t>
                      </a:r>
                    </a:p>
                  </a:txBody>
                  <a:tcPr marL="91440" marR="91440" marT="45720" marB="45720" anchor="ctr">
                    <a:solidFill>
                      <a:srgbClr val="FFFFFF"/>
                    </a:solidFill>
                  </a:tcPr>
                </a:tc>
                <a:tc>
                  <a:txBody>
                    <a:bodyPr/>
                    <a:lstStyle/>
                    <a:p>
                      <a:r>
                        <a:rPr b="0" sz="1200">
                          <a:solidFill>
                            <a:srgbClr val="1C2B3A"/>
                          </a:solidFill>
                          <a:latin typeface="Calibri"/>
                        </a:rPr>
                        <a:t>split: *on the way there* vs *on the way back*</a:t>
                      </a:r>
                    </a:p>
                  </a:txBody>
                  <a:tcPr marL="91440" marR="91440" marT="45720" marB="45720" anchor="ctr">
                    <a:solidFill>
                      <a:srgbClr val="FFFFFF"/>
                    </a:solidFill>
                  </a:tcPr>
                </a:tc>
              </a:tr>
              <a:tr h="542544">
                <a:tc>
                  <a:txBody>
                    <a:bodyPr/>
                    <a:lstStyle/>
                    <a:p>
                      <a:r>
                        <a:rPr b="0" sz="1200">
                          <a:solidFill>
                            <a:srgbClr val="1C2B3A"/>
                          </a:solidFill>
                          <a:latin typeface="Calibri"/>
                        </a:rPr>
                        <a:t>Path measured</a:t>
                      </a:r>
                    </a:p>
                  </a:txBody>
                  <a:tcPr marL="91440" marR="91440" marT="45720" marB="45720" anchor="ctr">
                    <a:solidFill>
                      <a:srgbClr val="F1F4F8"/>
                    </a:solidFill>
                  </a:tcPr>
                </a:tc>
                <a:tc>
                  <a:txBody>
                    <a:bodyPr/>
                    <a:lstStyle/>
                    <a:p>
                      <a:r>
                        <a:rPr b="0" sz="1200">
                          <a:solidFill>
                            <a:srgbClr val="1C2B3A"/>
                          </a:solidFill>
                          <a:latin typeface="Calibri"/>
                        </a:rPr>
                        <a:t>the router's management CPU — rate-limited, it lies</a:t>
                      </a:r>
                    </a:p>
                  </a:txBody>
                  <a:tcPr marL="91440" marR="91440" marT="45720" marB="45720" anchor="ctr">
                    <a:solidFill>
                      <a:srgbClr val="F1F4F8"/>
                    </a:solidFill>
                  </a:tcPr>
                </a:tc>
                <a:tc>
                  <a:txBody>
                    <a:bodyPr/>
                    <a:lstStyle/>
                    <a:p>
                      <a:r>
                        <a:rPr b="0" sz="1200">
                          <a:solidFill>
                            <a:srgbClr val="1C2B3A"/>
                          </a:solidFill>
                          <a:latin typeface="Calibri"/>
                        </a:rPr>
                        <a:t>the same path your application traffic takes</a:t>
                      </a:r>
                    </a:p>
                  </a:txBody>
                  <a:tcPr marL="91440" marR="91440" marT="45720" marB="45720" anchor="ctr">
                    <a:solidFill>
                      <a:srgbClr val="F1F4F8"/>
                    </a:solidFill>
                  </a:tcPr>
                </a:tc>
              </a:tr>
            </a:tbl>
          </a:graphicData>
        </a:graphic>
      </p:graphicFrame>
      <p:sp>
        <p:nvSpPr>
          <p:cNvPr id="9" name="TextBox 8"/>
          <p:cNvSpPr txBox="1"/>
          <p:nvPr/>
        </p:nvSpPr>
        <p:spPr>
          <a:xfrm>
            <a:off x="566928" y="4479671"/>
            <a:ext cx="11057839" cy="527304"/>
          </a:xfrm>
          <a:prstGeom prst="rect">
            <a:avLst/>
          </a:prstGeom>
          <a:noFill/>
        </p:spPr>
        <p:txBody>
          <a:bodyPr wrap="square" lIns="0" rIns="0" tIns="0" bIns="0">
            <a:normAutofit/>
          </a:bodyPr>
          <a:lstStyle/>
          <a:p>
            <a:pPr>
              <a:spcAft>
                <a:spcPts val="700"/>
              </a:spcAft>
            </a:pPr>
            <a:r>
              <a:rPr sz="1200" b="1">
                <a:solidFill>
                  <a:srgbClr val="0F7D71"/>
                </a:solidFill>
                <a:latin typeface="Calibri"/>
              </a:rPr>
              <a:t>▪  </a:t>
            </a:r>
            <a:r>
              <a:rPr b="0" sz="1300">
                <a:solidFill>
                  <a:srgbClr val="1C2B3A"/>
                </a:solidFill>
                <a:latin typeface="Calibri"/>
              </a:rPr>
              <a:t>One-way delay is deliberately </a:t>
            </a:r>
            <a:r>
              <a:rPr b="1" sz="1300">
                <a:solidFill>
                  <a:srgbClr val="1C2B3A"/>
                </a:solidFill>
                <a:latin typeface="Calibri"/>
              </a:rPr>
              <a:t>not</a:t>
            </a:r>
            <a:r>
              <a:rPr b="0" sz="1300">
                <a:solidFill>
                  <a:srgbClr val="1C2B3A"/>
                </a:solidFill>
                <a:latin typeface="Calibri"/>
              </a:rPr>
              <a:t> reported: without synchronized clocks it would be a made-up number, and this tool doesn't report those.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0F7D71"/>
                </a:solidFill>
                <a:latin typeface="Calibri"/>
              </a:rPr>
              <a:t>NETMESH</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Reading the report</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30</a:t>
            </a:r>
          </a:p>
        </p:txBody>
      </p:sp>
      <p:graphicFrame>
        <p:nvGraphicFramePr>
          <p:cNvPr id="7" name="Table 6"/>
          <p:cNvGraphicFramePr>
            <a:graphicFrameLocks noGrp="1"/>
          </p:cNvGraphicFramePr>
          <p:nvPr/>
        </p:nvGraphicFramePr>
        <p:xfrm>
          <a:off x="566928" y="1389888"/>
          <a:ext cx="11057839" cy="2867279"/>
        </p:xfrm>
        <a:graphic>
          <a:graphicData uri="http://schemas.openxmlformats.org/drawingml/2006/table">
            <a:tbl>
              <a:tblPr>
                <a:tableStyleId>{5C22544A-7EE6-4342-B048-85BDC9FD1C3A}</a:tableStyleId>
              </a:tblPr>
              <a:tblGrid>
                <a:gridCol w="2636348"/>
                <a:gridCol w="8421491"/>
              </a:tblGrid>
              <a:tr h="352679">
                <a:tc>
                  <a:txBody>
                    <a:bodyPr/>
                    <a:lstStyle/>
                    <a:p>
                      <a:r>
                        <a:rPr b="1" sz="1200">
                          <a:solidFill>
                            <a:srgbClr val="FFFFFF"/>
                          </a:solidFill>
                          <a:latin typeface="Calibri"/>
                        </a:rPr>
                        <a:t>Finding</a:t>
                      </a:r>
                    </a:p>
                  </a:txBody>
                  <a:tcPr marL="91440" marR="91440" marT="45720" marB="45720" anchor="ctr">
                    <a:solidFill>
                      <a:srgbClr val="101E30"/>
                    </a:solidFill>
                  </a:tcPr>
                </a:tc>
                <a:tc>
                  <a:txBody>
                    <a:bodyPr/>
                    <a:lstStyle/>
                    <a:p>
                      <a:r>
                        <a:rPr b="1" sz="1200">
                          <a:solidFill>
                            <a:srgbClr val="FFFFFF"/>
                          </a:solidFill>
                          <a:latin typeface="Calibri"/>
                        </a:rPr>
                        <a:t>How to read it</a:t>
                      </a:r>
                    </a:p>
                  </a:txBody>
                  <a:tcPr marL="91440" marR="91440" marT="45720" marB="45720" anchor="ctr">
                    <a:solidFill>
                      <a:srgbClr val="101E30"/>
                    </a:solidFill>
                  </a:tcPr>
                </a:tc>
              </a:tr>
              <a:tr h="542544">
                <a:tc>
                  <a:txBody>
                    <a:bodyPr/>
                    <a:lstStyle/>
                    <a:p>
                      <a:r>
                        <a:rPr b="0" sz="1200">
                          <a:solidFill>
                            <a:srgbClr val="1C2B3A"/>
                          </a:solidFill>
                          <a:latin typeface="Calibri"/>
                        </a:rPr>
                        <a:t>Headline</a:t>
                      </a:r>
                    </a:p>
                  </a:txBody>
                  <a:tcPr marL="91440" marR="91440" marT="45720" marB="45720" anchor="ctr">
                    <a:solidFill>
                      <a:srgbClr val="FFFFFF"/>
                    </a:solidFill>
                  </a:tcPr>
                </a:tc>
                <a:tc>
                  <a:txBody>
                    <a:bodyPr/>
                    <a:lstStyle/>
                    <a:p>
                      <a:r>
                        <a:rPr b="0" sz="1200">
                          <a:solidFill>
                            <a:srgbClr val="1C2B3A"/>
                          </a:solidFill>
                          <a:latin typeface="Calibri"/>
                        </a:rPr>
                        <a:t>the *median* pair's latency — one sick pair can't drag it or hide in it; worst pairs listed below</a:t>
                      </a:r>
                    </a:p>
                  </a:txBody>
                  <a:tcPr marL="91440" marR="91440" marT="45720" marB="45720" anchor="ctr">
                    <a:solidFill>
                      <a:srgbClr val="FFFFFF"/>
                    </a:solidFill>
                  </a:tcPr>
                </a:tc>
              </a:tr>
              <a:tr h="542544">
                <a:tc>
                  <a:txBody>
                    <a:bodyPr/>
                    <a:lstStyle/>
                    <a:p>
                      <a:r>
                        <a:rPr b="0" sz="1200">
                          <a:solidFill>
                            <a:srgbClr val="1C2B3A"/>
                          </a:solidFill>
                          <a:latin typeface="Calibri"/>
                        </a:rPr>
                        <a:t>Asymmetry</a:t>
                      </a:r>
                    </a:p>
                  </a:txBody>
                  <a:tcPr marL="91440" marR="91440" marT="45720" marB="45720" anchor="ctr">
                    <a:solidFill>
                      <a:srgbClr val="F1F4F8"/>
                    </a:solidFill>
                  </a:tcPr>
                </a:tc>
                <a:tc>
                  <a:txBody>
                    <a:bodyPr/>
                    <a:lstStyle/>
                    <a:p>
                      <a:r>
                        <a:rPr b="0" sz="1200">
                          <a:solidFill>
                            <a:srgbClr val="1C2B3A"/>
                          </a:solidFill>
                          <a:latin typeface="Calibri"/>
                        </a:rPr>
                        <a:t>A→B slow, B→A fine → look at A's *sending* side: the return trip proved the rest of the path</a:t>
                      </a:r>
                    </a:p>
                  </a:txBody>
                  <a:tcPr marL="91440" marR="91440" marT="45720" marB="45720" anchor="ctr">
                    <a:solidFill>
                      <a:srgbClr val="F1F4F8"/>
                    </a:solidFill>
                  </a:tcPr>
                </a:tc>
              </a:tr>
              <a:tr h="542544">
                <a:tc>
                  <a:txBody>
                    <a:bodyPr/>
                    <a:lstStyle/>
                    <a:p>
                      <a:r>
                        <a:rPr b="0" sz="1200">
                          <a:solidFill>
                            <a:srgbClr val="1C2B3A"/>
                          </a:solidFill>
                          <a:latin typeface="Calibri"/>
                        </a:rPr>
                        <a:t>MTU black hole</a:t>
                      </a:r>
                    </a:p>
                  </a:txBody>
                  <a:tcPr marL="91440" marR="91440" marT="45720" marB="45720" anchor="ctr">
                    <a:solidFill>
                      <a:srgbClr val="FFFFFF"/>
                    </a:solidFill>
                  </a:tcPr>
                </a:tc>
                <a:tc>
                  <a:txBody>
                    <a:bodyPr/>
                    <a:lstStyle/>
                    <a:p>
                      <a:r>
                        <a:rPr b="0" sz="1200">
                          <a:solidFill>
                            <a:srgbClr val="1C2B3A"/>
                          </a:solidFill>
                          <a:latin typeface="Calibri"/>
                        </a:rPr>
                        <a:t>small packets pass, big ones silently vanish — "small requests work, large transfers hang"</a:t>
                      </a:r>
                    </a:p>
                  </a:txBody>
                  <a:tcPr marL="91440" marR="91440" marT="45720" marB="45720" anchor="ctr">
                    <a:solidFill>
                      <a:srgbClr val="FFFFFF"/>
                    </a:solidFill>
                  </a:tcPr>
                </a:tc>
              </a:tr>
              <a:tr h="344424">
                <a:tc>
                  <a:txBody>
                    <a:bodyPr/>
                    <a:lstStyle/>
                    <a:p>
                      <a:r>
                        <a:rPr b="0" sz="1200">
                          <a:solidFill>
                            <a:srgbClr val="1C2B3A"/>
                          </a:solidFill>
                          <a:latin typeface="Calibri"/>
                        </a:rPr>
                        <a:t>Path spread</a:t>
                      </a:r>
                    </a:p>
                  </a:txBody>
                  <a:tcPr marL="91440" marR="91440" marT="45720" marB="45720" anchor="ctr">
                    <a:solidFill>
                      <a:srgbClr val="F1F4F8"/>
                    </a:solidFill>
                  </a:tcPr>
                </a:tc>
                <a:tc>
                  <a:txBody>
                    <a:bodyPr/>
                    <a:lstStyle/>
                    <a:p>
                      <a:r>
                        <a:rPr b="0" sz="1200">
                          <a:solidFill>
                            <a:srgbClr val="1C2B3A"/>
                          </a:solidFill>
                          <a:latin typeface="Calibri"/>
                        </a:rPr>
                        <a:t>one stream 29× slower than its siblings = a sick member inside a LAG/ECMP bundle</a:t>
                      </a:r>
                    </a:p>
                  </a:txBody>
                  <a:tcPr marL="91440" marR="91440" marT="45720" marB="45720" anchor="ctr">
                    <a:solidFill>
                      <a:srgbClr val="F1F4F8"/>
                    </a:solidFill>
                  </a:tcPr>
                </a:tc>
              </a:tr>
              <a:tr h="542544">
                <a:tc>
                  <a:txBody>
                    <a:bodyPr/>
                    <a:lstStyle/>
                    <a:p>
                      <a:r>
                        <a:rPr b="0" sz="1200">
                          <a:solidFill>
                            <a:srgbClr val="1C2B3A"/>
                          </a:solidFill>
                          <a:latin typeface="Calibri"/>
                        </a:rPr>
                        <a:t>Under load</a:t>
                      </a:r>
                    </a:p>
                  </a:txBody>
                  <a:tcPr marL="91440" marR="91440" marT="45720" marB="45720" anchor="ctr">
                    <a:solidFill>
                      <a:srgbClr val="FFFFFF"/>
                    </a:solidFill>
                  </a:tcPr>
                </a:tc>
                <a:tc>
                  <a:txBody>
                    <a:bodyPr/>
                    <a:lstStyle/>
                    <a:p>
                      <a:r>
                        <a:rPr b="0" sz="1200">
                          <a:solidFill>
                            <a:srgbClr val="1C2B3A"/>
                          </a:solidFill>
                          <a:latin typeface="Calibri"/>
                        </a:rPr>
                        <a:t>what the load *did* to latency: p99 210 µs idle → 42 ms loaded is what everyone else paid</a:t>
                      </a:r>
                    </a:p>
                  </a:txBody>
                  <a:tcPr marL="91440" marR="91440" marT="45720" marB="45720" anchor="ctr">
                    <a:solidFill>
                      <a:srgbClr val="FFFFFF"/>
                    </a:solidFill>
                  </a:tcPr>
                </a:tc>
              </a:tr>
            </a:tbl>
          </a:graphicData>
        </a:graphic>
      </p:graphicFrame>
      <p:sp>
        <p:nvSpPr>
          <p:cNvPr id="8" name="TextBox 7"/>
          <p:cNvSpPr txBox="1"/>
          <p:nvPr/>
        </p:nvSpPr>
        <p:spPr>
          <a:xfrm>
            <a:off x="566928" y="4421759"/>
            <a:ext cx="11057839" cy="309372"/>
          </a:xfrm>
          <a:prstGeom prst="rect">
            <a:avLst/>
          </a:prstGeom>
          <a:noFill/>
        </p:spPr>
        <p:txBody>
          <a:bodyPr wrap="square" lIns="0" rIns="0" tIns="0" bIns="0">
            <a:normAutofit/>
          </a:bodyPr>
          <a:lstStyle/>
          <a:p>
            <a:pPr>
              <a:spcAft>
                <a:spcPts val="700"/>
              </a:spcAft>
            </a:pPr>
            <a:r>
              <a:rPr sz="1200" b="1">
                <a:solidFill>
                  <a:srgbClr val="0F7D71"/>
                </a:solidFill>
                <a:latin typeface="Calibri"/>
              </a:rPr>
              <a:t>▪  </a:t>
            </a:r>
            <a:r>
              <a:rPr b="0" sz="1300">
                <a:solidFill>
                  <a:srgbClr val="1C2B3A"/>
                </a:solidFill>
                <a:latin typeface="Calibri"/>
              </a:rPr>
              <a:t>And a clean run says so in plain words: </a:t>
            </a:r>
            <a:r>
              <a:rPr b="1" sz="1300">
                <a:solidFill>
                  <a:srgbClr val="1C2B3A"/>
                </a:solidFill>
                <a:latin typeface="Calibri"/>
              </a:rPr>
              <a:t>"the network is not your problem."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0F7D71"/>
                </a:solidFill>
                <a:latin typeface="Calibri"/>
              </a:rPr>
              <a:t>NETMESH</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Following up on what it finds</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31</a:t>
            </a:r>
          </a:p>
        </p:txBody>
      </p:sp>
      <p:sp>
        <p:nvSpPr>
          <p:cNvPr id="7" name="TextBox 6"/>
          <p:cNvSpPr txBox="1"/>
          <p:nvPr/>
        </p:nvSpPr>
        <p:spPr>
          <a:xfrm>
            <a:off x="566928" y="1389888"/>
            <a:ext cx="11057839" cy="1891284"/>
          </a:xfrm>
          <a:prstGeom prst="rect">
            <a:avLst/>
          </a:prstGeom>
          <a:noFill/>
        </p:spPr>
        <p:txBody>
          <a:bodyPr wrap="square" lIns="0" rIns="0" tIns="0" bIns="0">
            <a:normAutofit/>
          </a:bodyPr>
          <a:lstStyle/>
          <a:p>
            <a:pPr>
              <a:spcAft>
                <a:spcPts val="700"/>
              </a:spcAft>
            </a:pPr>
            <a:r>
              <a:rPr sz="1200" b="1">
                <a:solidFill>
                  <a:srgbClr val="0F7D71"/>
                </a:solidFill>
                <a:latin typeface="Calibri"/>
              </a:rPr>
              <a:t>▪  </a:t>
            </a:r>
            <a:r>
              <a:rPr b="1" sz="1300">
                <a:solidFill>
                  <a:srgbClr val="1C2B3A"/>
                </a:solidFill>
                <a:latin typeface="Calibri"/>
              </a:rPr>
              <a:t>A sick pair?</a:t>
            </a:r>
            <a:r>
              <a:rPr b="0" sz="1300">
                <a:solidFill>
                  <a:srgbClr val="1C2B3A"/>
                </a:solidFill>
                <a:latin typeface="Calibri"/>
              </a:rPr>
              <a:t> </a:t>
            </a:r>
            <a:r>
              <a:rPr sz="1200">
                <a:solidFill>
                  <a:srgbClr val="0F7D71"/>
                </a:solidFill>
                <a:latin typeface="Consolas"/>
              </a:rPr>
              <a:t>netmesh paths --compare web03:db01 web01:db01</a:t>
            </a:r>
            <a:r>
              <a:rPr b="0" sz="1300">
                <a:solidFill>
                  <a:srgbClr val="1C2B3A"/>
                </a:solidFill>
                <a:latin typeface="Calibri"/>
              </a:rPr>
              <a:t> — prints the two routes side by side and marks the </a:t>
            </a:r>
            <a:r>
              <a:rPr b="1" sz="1300">
                <a:solidFill>
                  <a:srgbClr val="1C2B3A"/>
                </a:solidFill>
                <a:latin typeface="Calibri"/>
              </a:rPr>
              <a:t>first hop where they differ</a:t>
            </a:r>
            <a:r>
              <a:rPr b="0" sz="1300">
                <a:solidFill>
                  <a:srgbClr val="1C2B3A"/>
                </a:solidFill>
                <a:latin typeface="Calibri"/>
              </a:rPr>
              <a:t>. That hop is where to look.</a:t>
            </a:r>
          </a:p>
          <a:p>
            <a:pPr>
              <a:spcAft>
                <a:spcPts val="700"/>
              </a:spcAft>
            </a:pPr>
            <a:r>
              <a:rPr sz="1200" b="1">
                <a:solidFill>
                  <a:srgbClr val="0F7D71"/>
                </a:solidFill>
                <a:latin typeface="Calibri"/>
              </a:rPr>
              <a:t>▪  </a:t>
            </a:r>
            <a:r>
              <a:rPr b="1" sz="1300">
                <a:solidFill>
                  <a:srgbClr val="1C2B3A"/>
                </a:solidFill>
                <a:latin typeface="Calibri"/>
              </a:rPr>
              <a:t>A clean baseline?</a:t>
            </a:r>
            <a:r>
              <a:rPr b="0" sz="1300">
                <a:solidFill>
                  <a:srgbClr val="1C2B3A"/>
                </a:solidFill>
                <a:latin typeface="Calibri"/>
              </a:rPr>
              <a:t> Then the network isn't your problem — go load it: </a:t>
            </a:r>
            <a:r>
              <a:rPr sz="1200">
                <a:solidFill>
                  <a:srgbClr val="0F7D71"/>
                </a:solidFill>
                <a:latin typeface="Consolas"/>
              </a:rPr>
              <a:t>iperf-orchestrator all</a:t>
            </a:r>
            <a:r>
              <a:rPr b="0" sz="1300">
                <a:solidFill>
                  <a:srgbClr val="1C2B3A"/>
                </a:solidFill>
                <a:latin typeface="Calibri"/>
              </a:rPr>
              <a:t>, </a:t>
            </a:r>
            <a:r>
              <a:rPr sz="1200">
                <a:solidFill>
                  <a:srgbClr val="0F7D71"/>
                </a:solidFill>
                <a:latin typeface="Consolas"/>
              </a:rPr>
              <a:t>mx run</a:t>
            </a:r>
            <a:r>
              <a:rPr b="0" sz="1300">
                <a:solidFill>
                  <a:srgbClr val="1C2B3A"/>
                </a:solidFill>
                <a:latin typeface="Calibri"/>
              </a:rPr>
              <a:t>.</a:t>
            </a:r>
          </a:p>
          <a:p>
            <a:pPr>
              <a:spcAft>
                <a:spcPts val="700"/>
              </a:spcAft>
            </a:pPr>
            <a:r>
              <a:rPr sz="1200" b="1">
                <a:solidFill>
                  <a:srgbClr val="0F7D71"/>
                </a:solidFill>
                <a:latin typeface="Calibri"/>
              </a:rPr>
              <a:t>▪  </a:t>
            </a:r>
            <a:r>
              <a:rPr b="1" sz="1300">
                <a:solidFill>
                  <a:srgbClr val="1C2B3A"/>
                </a:solidFill>
                <a:latin typeface="Calibri"/>
              </a:rPr>
              <a:t>A host that's still slow?</a:t>
            </a:r>
            <a:r>
              <a:rPr b="0" sz="1300">
                <a:solidFill>
                  <a:srgbClr val="1C2B3A"/>
                </a:solidFill>
                <a:latin typeface="Calibri"/>
              </a:rPr>
              <a:t> Check the box itself before blaming the network again.</a:t>
            </a:r>
          </a:p>
          <a:p>
            <a:pPr>
              <a:spcAft>
                <a:spcPts val="700"/>
              </a:spcAft>
            </a:pPr>
            <a:r>
              <a:rPr sz="1200" b="1">
                <a:solidFill>
                  <a:srgbClr val="0F7D71"/>
                </a:solidFill>
                <a:latin typeface="Calibri"/>
              </a:rPr>
              <a:t>▪  </a:t>
            </a:r>
            <a:r>
              <a:rPr b="0" sz="1300">
                <a:solidFill>
                  <a:srgbClr val="1C2B3A"/>
                </a:solidFill>
                <a:latin typeface="Calibri"/>
              </a:rPr>
              <a:t>Cleanup is automatic for </a:t>
            </a:r>
            <a:r>
              <a:rPr sz="1200">
                <a:solidFill>
                  <a:srgbClr val="0F7D71"/>
                </a:solidFill>
                <a:latin typeface="Consolas"/>
              </a:rPr>
              <a:t>check</a:t>
            </a:r>
            <a:r>
              <a:rPr b="0" sz="1300">
                <a:solidFill>
                  <a:srgbClr val="1C2B3A"/>
                </a:solidFill>
                <a:latin typeface="Calibri"/>
              </a:rPr>
              <a:t> (it removes everything it deployed); for managed runs, </a:t>
            </a:r>
            <a:r>
              <a:rPr sz="1200">
                <a:solidFill>
                  <a:srgbClr val="0F7D71"/>
                </a:solidFill>
                <a:latin typeface="Consolas"/>
              </a:rPr>
              <a:t>stop</a:t>
            </a:r>
            <a:r>
              <a:rPr b="0" sz="1300">
                <a:solidFill>
                  <a:srgbClr val="1C2B3A"/>
                </a:solidFill>
                <a:latin typeface="Calibri"/>
              </a:rPr>
              <a:t> keeps the reports and </a:t>
            </a:r>
            <a:r>
              <a:rPr sz="1200">
                <a:solidFill>
                  <a:srgbClr val="0F7D71"/>
                </a:solidFill>
                <a:latin typeface="Consolas"/>
              </a:rPr>
              <a:t>clean</a:t>
            </a:r>
            <a:r>
              <a:rPr b="0" sz="1300">
                <a:solidFill>
                  <a:srgbClr val="1C2B3A"/>
                </a:solidFill>
                <a:latin typeface="Calibri"/>
              </a:rPr>
              <a:t> verifiably removes every trace.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0F7D71"/>
                </a:solidFill>
                <a:latin typeface="Calibri"/>
              </a:rPr>
              <a:t>NETMESH</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Tutorial — netmesh in five minutes</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32</a:t>
            </a:r>
          </a:p>
        </p:txBody>
      </p:sp>
      <p:sp>
        <p:nvSpPr>
          <p:cNvPr id="7" name="Rounded Rectangle 6"/>
          <p:cNvSpPr/>
          <p:nvPr/>
        </p:nvSpPr>
        <p:spPr>
          <a:xfrm>
            <a:off x="566928" y="1389888"/>
            <a:ext cx="11057839" cy="2331720"/>
          </a:xfrm>
          <a:prstGeom prst="roundRect">
            <a:avLst>
              <a:gd name="adj" fmla="val 10000"/>
            </a:avLst>
          </a:prstGeom>
          <a:solidFill>
            <a:srgbClr val="14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527048"/>
            <a:ext cx="10600639" cy="2057400"/>
          </a:xfrm>
          <a:prstGeom prst="rect">
            <a:avLst/>
          </a:prstGeom>
          <a:noFill/>
        </p:spPr>
        <p:txBody>
          <a:bodyPr wrap="square" lIns="0" rIns="0" tIns="0" bIns="0">
            <a:spAutoFit/>
          </a:bodyPr>
          <a:lstStyle/>
          <a:p>
            <a:r>
              <a:rPr sz="1200">
                <a:solidFill>
                  <a:srgbClr val="8A9BB0"/>
                </a:solidFill>
                <a:latin typeface="Consolas"/>
              </a:rPr>
              <a:t># 0. prove the machinery works -- loopback only, no ssh needed</a:t>
            </a:r>
          </a:p>
          <a:p>
            <a:r>
              <a:rPr sz="1200" b="1">
                <a:solidFill>
                  <a:srgbClr val="E8EEF6"/>
                </a:solidFill>
                <a:latin typeface="Consolas"/>
              </a:rPr>
              <a:t>netmesh selftest</a:t>
            </a:r>
          </a:p>
          <a:p>
            <a:r>
              <a:rPr sz="1200">
                <a:solidFill>
                  <a:srgbClr val="E8EEF6"/>
                </a:solidFill>
                <a:latin typeface="Consolas"/>
              </a:rPr>
              <a:t> </a:t>
            </a:r>
          </a:p>
          <a:p>
            <a:r>
              <a:rPr sz="1200">
                <a:solidFill>
                  <a:srgbClr val="8A9BB0"/>
                </a:solidFill>
                <a:latin typeface="Consolas"/>
              </a:rPr>
              <a:t># 1. the two-host check: deploy, probe, report, clean up</a:t>
            </a:r>
          </a:p>
          <a:p>
            <a:r>
              <a:rPr sz="1200" b="1">
                <a:solidFill>
                  <a:srgbClr val="E8EEF6"/>
                </a:solidFill>
                <a:latin typeface="Consolas"/>
              </a:rPr>
              <a:t>netmesh check web01 db01</a:t>
            </a:r>
          </a:p>
          <a:p>
            <a:r>
              <a:rPr sz="1200" b="1">
                <a:solidFill>
                  <a:srgbClr val="E8EEF6"/>
                </a:solidFill>
                <a:latin typeface="Consolas"/>
              </a:rPr>
              <a:t>netmesh check web01 db01 --for 60      # a longer look</a:t>
            </a:r>
          </a:p>
          <a:p>
            <a:r>
              <a:rPr sz="1200">
                <a:solidFill>
                  <a:srgbClr val="E8EEF6"/>
                </a:solidFill>
                <a:latin typeface="Consolas"/>
              </a:rPr>
              <a:t> </a:t>
            </a:r>
          </a:p>
          <a:p>
            <a:r>
              <a:rPr sz="1200">
                <a:solidFill>
                  <a:srgbClr val="8A9BB0"/>
                </a:solidFill>
                <a:latin typeface="Consolas"/>
              </a:rPr>
              <a:t># 2. hunting a fault that comes and goes: sweep the paths</a:t>
            </a:r>
          </a:p>
          <a:p>
            <a:r>
              <a:rPr sz="1200">
                <a:solidFill>
                  <a:srgbClr val="8A9BB0"/>
                </a:solidFill>
                <a:latin typeface="Consolas"/>
              </a:rPr>
              <a:t>#    inside a LAG/ECMP bundle</a:t>
            </a:r>
          </a:p>
          <a:p>
            <a:r>
              <a:rPr sz="1200" b="1">
                <a:solidFill>
                  <a:srgbClr val="E8EEF6"/>
                </a:solidFill>
                <a:latin typeface="Consolas"/>
              </a:rPr>
              <a:t>netmesh check web03 db01 --flows 8</a:t>
            </a:r>
          </a:p>
        </p:txBody>
      </p:sp>
      <p:sp>
        <p:nvSpPr>
          <p:cNvPr id="9" name="TextBox 8"/>
          <p:cNvSpPr txBox="1"/>
          <p:nvPr/>
        </p:nvSpPr>
        <p:spPr>
          <a:xfrm>
            <a:off x="566928" y="3867912"/>
            <a:ext cx="11057839" cy="1054608"/>
          </a:xfrm>
          <a:prstGeom prst="rect">
            <a:avLst/>
          </a:prstGeom>
          <a:noFill/>
        </p:spPr>
        <p:txBody>
          <a:bodyPr wrap="square" lIns="0" rIns="0" tIns="0" bIns="0">
            <a:normAutofit/>
          </a:bodyPr>
          <a:lstStyle/>
          <a:p>
            <a:pPr>
              <a:spcAft>
                <a:spcPts val="700"/>
              </a:spcAft>
            </a:pPr>
            <a:r>
              <a:rPr sz="1200" b="1">
                <a:solidFill>
                  <a:srgbClr val="0F7D71"/>
                </a:solidFill>
                <a:latin typeface="Calibri"/>
              </a:rPr>
              <a:t>▪  </a:t>
            </a:r>
            <a:r>
              <a:rPr sz="1200">
                <a:solidFill>
                  <a:srgbClr val="0F7D71"/>
                </a:solidFill>
                <a:latin typeface="Consolas"/>
              </a:rPr>
              <a:t>check</a:t>
            </a:r>
            <a:r>
              <a:rPr b="0" sz="1300">
                <a:solidFill>
                  <a:srgbClr val="1C2B3A"/>
                </a:solidFill>
                <a:latin typeface="Calibri"/>
              </a:rPr>
              <a:t> leaves nothing behind — it deploys its agents, probes, prints the report and cleans up after itself.</a:t>
            </a:r>
          </a:p>
          <a:p>
            <a:pPr>
              <a:spcAft>
                <a:spcPts val="700"/>
              </a:spcAft>
            </a:pPr>
            <a:r>
              <a:rPr sz="1200" b="1">
                <a:solidFill>
                  <a:srgbClr val="0F7D71"/>
                </a:solidFill>
                <a:latin typeface="Calibri"/>
              </a:rPr>
              <a:t>▪  </a:t>
            </a:r>
            <a:r>
              <a:rPr b="0" sz="1300">
                <a:solidFill>
                  <a:srgbClr val="1C2B3A"/>
                </a:solidFill>
                <a:latin typeface="Calibri"/>
              </a:rPr>
              <a:t>The report ends with *what to do next*, including "the network is not your problem" when that's the truth.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0F7D71"/>
                </a:solidFill>
                <a:latin typeface="Calibri"/>
              </a:rPr>
              <a:t>NETMESH</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Tutorial — repeat runs and load testing</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33</a:t>
            </a:r>
          </a:p>
        </p:txBody>
      </p:sp>
      <p:sp>
        <p:nvSpPr>
          <p:cNvPr id="7" name="Rounded Rectangle 6"/>
          <p:cNvSpPr/>
          <p:nvPr/>
        </p:nvSpPr>
        <p:spPr>
          <a:xfrm>
            <a:off x="566928" y="1389888"/>
            <a:ext cx="11057839" cy="2743200"/>
          </a:xfrm>
          <a:prstGeom prst="roundRect">
            <a:avLst>
              <a:gd name="adj" fmla="val 10000"/>
            </a:avLst>
          </a:prstGeom>
          <a:solidFill>
            <a:srgbClr val="14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527048"/>
            <a:ext cx="10600639" cy="2468880"/>
          </a:xfrm>
          <a:prstGeom prst="rect">
            <a:avLst/>
          </a:prstGeom>
          <a:noFill/>
        </p:spPr>
        <p:txBody>
          <a:bodyPr wrap="square" lIns="0" rIns="0" tIns="0" bIns="0">
            <a:spAutoFit/>
          </a:bodyPr>
          <a:lstStyle/>
          <a:p>
            <a:r>
              <a:rPr sz="1200">
                <a:solidFill>
                  <a:srgbClr val="8A9BB0"/>
                </a:solidFill>
                <a:latin typeface="Consolas"/>
              </a:rPr>
              <a:t># a standing mesh you can re-run</a:t>
            </a:r>
          </a:p>
          <a:p>
            <a:r>
              <a:rPr sz="1200" b="1">
                <a:solidFill>
                  <a:srgbClr val="E8EEF6"/>
                </a:solidFill>
                <a:latin typeface="Consolas"/>
              </a:rPr>
              <a:t>netmesh gen --servers prod.txt</a:t>
            </a:r>
          </a:p>
          <a:p>
            <a:r>
              <a:rPr sz="1200" b="1">
                <a:solidFill>
                  <a:srgbClr val="E8EEF6"/>
                </a:solidFill>
                <a:latin typeface="Consolas"/>
              </a:rPr>
              <a:t>netmesh run --for 300 --grid grids/    # 5 minutes + N x N grids</a:t>
            </a:r>
          </a:p>
          <a:p>
            <a:r>
              <a:rPr sz="1200">
                <a:solidFill>
                  <a:srgbClr val="E8EEF6"/>
                </a:solidFill>
                <a:latin typeface="Consolas"/>
              </a:rPr>
              <a:t> </a:t>
            </a:r>
          </a:p>
          <a:p>
            <a:r>
              <a:rPr sz="1200">
                <a:solidFill>
                  <a:srgbClr val="8A9BB0"/>
                </a:solidFill>
                <a:latin typeface="Consolas"/>
              </a:rPr>
              <a:t># measure what a load test does to latency:</a:t>
            </a:r>
          </a:p>
          <a:p>
            <a:r>
              <a:rPr sz="1200">
                <a:solidFill>
                  <a:srgbClr val="8A9BB0"/>
                </a:solidFill>
                <a:latin typeface="Consolas"/>
              </a:rPr>
              <a:t># 20 s idle baseline, then keep probing while the load runs</a:t>
            </a:r>
          </a:p>
          <a:p>
            <a:r>
              <a:rPr sz="1200" b="1">
                <a:solidFill>
                  <a:srgbClr val="E8EEF6"/>
                </a:solidFill>
                <a:latin typeface="Consolas"/>
              </a:rPr>
              <a:t>netmesh run --baseline 20 -- ./iperf_orchestrator.sh all</a:t>
            </a:r>
          </a:p>
          <a:p>
            <a:r>
              <a:rPr sz="1200">
                <a:solidFill>
                  <a:srgbClr val="E8EEF6"/>
                </a:solidFill>
                <a:latin typeface="Consolas"/>
              </a:rPr>
              <a:t> </a:t>
            </a:r>
          </a:p>
          <a:p>
            <a:r>
              <a:rPr sz="1200">
                <a:solidFill>
                  <a:srgbClr val="8A9BB0"/>
                </a:solidFill>
                <a:latin typeface="Consolas"/>
              </a:rPr>
              <a:t># a sick pair? find the hop where its route diverges</a:t>
            </a:r>
          </a:p>
          <a:p>
            <a:r>
              <a:rPr sz="1200" b="1">
                <a:solidFill>
                  <a:srgbClr val="E8EEF6"/>
                </a:solidFill>
                <a:latin typeface="Consolas"/>
              </a:rPr>
              <a:t>netmesh paths --compare web03:db01 web01:db01</a:t>
            </a:r>
          </a:p>
          <a:p>
            <a:r>
              <a:rPr sz="1200">
                <a:solidFill>
                  <a:srgbClr val="E8EEF6"/>
                </a:solidFill>
                <a:latin typeface="Consolas"/>
              </a:rPr>
              <a:t> </a:t>
            </a:r>
          </a:p>
          <a:p>
            <a:r>
              <a:rPr sz="1200" b="1">
                <a:solidFill>
                  <a:srgbClr val="E8EEF6"/>
                </a:solidFill>
                <a:latin typeface="Consolas"/>
              </a:rPr>
              <a:t>netmesh clean                          # managed runs: verified removal</a:t>
            </a:r>
          </a:p>
        </p:txBody>
      </p:sp>
      <p:sp>
        <p:nvSpPr>
          <p:cNvPr id="9" name="TextBox 8"/>
          <p:cNvSpPr txBox="1"/>
          <p:nvPr/>
        </p:nvSpPr>
        <p:spPr>
          <a:xfrm>
            <a:off x="566928" y="4279392"/>
            <a:ext cx="11057839" cy="836676"/>
          </a:xfrm>
          <a:prstGeom prst="rect">
            <a:avLst/>
          </a:prstGeom>
          <a:noFill/>
        </p:spPr>
        <p:txBody>
          <a:bodyPr wrap="square" lIns="0" rIns="0" tIns="0" bIns="0">
            <a:normAutofit/>
          </a:bodyPr>
          <a:lstStyle/>
          <a:p>
            <a:pPr>
              <a:spcAft>
                <a:spcPts val="700"/>
              </a:spcAft>
            </a:pPr>
            <a:r>
              <a:rPr sz="1200" b="1">
                <a:solidFill>
                  <a:srgbClr val="0F7D71"/>
                </a:solidFill>
                <a:latin typeface="Calibri"/>
              </a:rPr>
              <a:t>▪  </a:t>
            </a:r>
            <a:r>
              <a:rPr b="0" sz="1300">
                <a:solidFill>
                  <a:srgbClr val="1C2B3A"/>
                </a:solidFill>
                <a:latin typeface="Calibri"/>
              </a:rPr>
              <a:t>Same verbs as mx (</a:t>
            </a:r>
            <a:r>
              <a:rPr sz="1200">
                <a:solidFill>
                  <a:srgbClr val="0F7D71"/>
                </a:solidFill>
                <a:latin typeface="Consolas"/>
              </a:rPr>
              <a:t>gen / start / status / summarize / stop / clean</a:t>
            </a:r>
            <a:r>
              <a:rPr b="0" sz="1300">
                <a:solidFill>
                  <a:srgbClr val="1C2B3A"/>
                </a:solidFill>
                <a:latin typeface="Calibri"/>
              </a:rPr>
              <a:t>) and the same grid format — learn one, know both.</a:t>
            </a:r>
          </a:p>
          <a:p>
            <a:pPr>
              <a:spcAft>
                <a:spcPts val="700"/>
              </a:spcAft>
            </a:pPr>
            <a:r>
              <a:rPr sz="1200" b="1">
                <a:solidFill>
                  <a:srgbClr val="0F7D71"/>
                </a:solidFill>
                <a:latin typeface="Calibri"/>
              </a:rPr>
              <a:t>▪  </a:t>
            </a:r>
            <a:r>
              <a:rPr b="0" sz="1300">
                <a:solidFill>
                  <a:srgbClr val="1C2B3A"/>
                </a:solidFill>
                <a:latin typeface="Calibri"/>
              </a:rPr>
              <a:t>In every report, </a:t>
            </a:r>
            <a:r>
              <a:rPr b="1" sz="1300">
                <a:solidFill>
                  <a:srgbClr val="1C2B3A"/>
                </a:solidFill>
                <a:latin typeface="Calibri"/>
              </a:rPr>
              <a:t>blank means "not measured" — never zero.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61704" y="146304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619488" y="146304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177272" y="146304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735056" y="146304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292840" y="146304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1850624" y="146304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03920" y="202082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619488" y="202082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177272" y="202082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735056" y="2020824"/>
            <a:ext cx="457200" cy="457200"/>
          </a:xfrm>
          <a:prstGeom prst="roundRect">
            <a:avLst>
              <a:gd name="adj" fmla="val 10000"/>
            </a:avLst>
          </a:prstGeom>
          <a:solidFill>
            <a:srgbClr val="3E5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292840" y="202082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850624" y="2020824"/>
            <a:ext cx="457200" cy="457200"/>
          </a:xfrm>
          <a:prstGeom prst="roundRect">
            <a:avLst>
              <a:gd name="adj" fmla="val 10000"/>
            </a:avLst>
          </a:prstGeom>
          <a:solidFill>
            <a:srgbClr val="3E5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503920" y="257860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61704" y="257860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177272" y="257860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735056" y="257860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1292840" y="2578608"/>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1850624" y="2578608"/>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503920" y="3136392"/>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061704" y="3136392"/>
            <a:ext cx="457200" cy="457200"/>
          </a:xfrm>
          <a:prstGeom prst="roundRect">
            <a:avLst>
              <a:gd name="adj" fmla="val 10000"/>
            </a:avLst>
          </a:prstGeom>
          <a:solidFill>
            <a:srgbClr val="3E5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9488" y="3136392"/>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735056" y="3136392"/>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1292840" y="3136392"/>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1850624" y="3136392"/>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503920" y="3694176"/>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061704" y="3694176"/>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19488" y="3694176"/>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177272" y="3694176"/>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1292840" y="3694176"/>
            <a:ext cx="457200" cy="457200"/>
          </a:xfrm>
          <a:prstGeom prst="roundRect">
            <a:avLst>
              <a:gd name="adj" fmla="val 10000"/>
            </a:avLst>
          </a:prstGeom>
          <a:solidFill>
            <a:srgbClr val="3E5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1850624" y="3694176"/>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503920" y="425196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061704" y="425196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619488" y="425196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0177272" y="425196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0735056" y="4251960"/>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1850624" y="4251960"/>
            <a:ext cx="457200" cy="457200"/>
          </a:xfrm>
          <a:prstGeom prst="roundRect">
            <a:avLst>
              <a:gd name="adj" fmla="val 10000"/>
            </a:avLst>
          </a:prstGeom>
          <a:solidFill>
            <a:srgbClr val="243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503920" y="4809744"/>
            <a:ext cx="457200" cy="457200"/>
          </a:xfrm>
          <a:prstGeom prst="roundRect">
            <a:avLst>
              <a:gd name="adj" fmla="val 10000"/>
            </a:avLst>
          </a:prstGeom>
          <a:solidFill>
            <a:srgbClr val="3E5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061704" y="480974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619488" y="4809744"/>
            <a:ext cx="457200" cy="457200"/>
          </a:xfrm>
          <a:prstGeom prst="roundRect">
            <a:avLst>
              <a:gd name="adj" fmla="val 10000"/>
            </a:avLst>
          </a:prstGeom>
          <a:solidFill>
            <a:srgbClr val="3E5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10177272" y="480974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0735056" y="480974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1292840" y="4809744"/>
            <a:ext cx="457200" cy="457200"/>
          </a:xfrm>
          <a:prstGeom prst="roundRect">
            <a:avLst>
              <a:gd name="adj" fmla="val 10000"/>
            </a:avLst>
          </a:prstGeom>
          <a:solidFill>
            <a:srgbClr val="1A2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66928" y="2011680"/>
            <a:ext cx="5486400" cy="365760"/>
          </a:xfrm>
          <a:prstGeom prst="rect">
            <a:avLst/>
          </a:prstGeom>
          <a:noFill/>
        </p:spPr>
        <p:txBody>
          <a:bodyPr wrap="square" lIns="0" rIns="0" tIns="0" bIns="0">
            <a:spAutoFit/>
          </a:bodyPr>
          <a:lstStyle/>
          <a:p>
            <a:pPr algn="l"/>
            <a:r>
              <a:rPr sz="1400" b="1">
                <a:solidFill>
                  <a:srgbClr val="3E5C76"/>
                </a:solidFill>
                <a:latin typeface="Calibri"/>
              </a:rPr>
              <a:t>WRAP-UP</a:t>
            </a:r>
          </a:p>
        </p:txBody>
      </p:sp>
      <p:sp>
        <p:nvSpPr>
          <p:cNvPr id="46" name="TextBox 45"/>
          <p:cNvSpPr txBox="1"/>
          <p:nvPr/>
        </p:nvSpPr>
        <p:spPr>
          <a:xfrm>
            <a:off x="566928" y="2468880"/>
            <a:ext cx="7863840" cy="1097280"/>
          </a:xfrm>
          <a:prstGeom prst="rect">
            <a:avLst/>
          </a:prstGeom>
          <a:noFill/>
        </p:spPr>
        <p:txBody>
          <a:bodyPr wrap="square" lIns="0" rIns="0" tIns="0" bIns="0">
            <a:spAutoFit/>
          </a:bodyPr>
          <a:lstStyle/>
          <a:p>
            <a:r>
              <a:rPr sz="4000" b="1">
                <a:solidFill>
                  <a:srgbClr val="FFFFFF"/>
                </a:solidFill>
                <a:latin typeface="Calibri"/>
              </a:rPr>
              <a:t>Close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65760"/>
          </a:xfrm>
          <a:prstGeom prst="rect">
            <a:avLst/>
          </a:prstGeom>
          <a:noFill/>
        </p:spPr>
        <p:txBody>
          <a:bodyPr wrap="square" lIns="0" rIns="0" tIns="0" bIns="0">
            <a:spAutoFit/>
          </a:bodyPr>
          <a:lstStyle/>
          <a:p>
            <a:pPr algn="l"/>
            <a:r>
              <a:rPr sz="1050" b="1">
                <a:solidFill>
                  <a:srgbClr val="3E5C76"/>
                </a:solidFill>
                <a:latin typeface="Calibri"/>
              </a:rPr>
              <a:t>WRAP-UP</a:t>
            </a:r>
          </a:p>
        </p:txBody>
      </p:sp>
      <p:sp>
        <p:nvSpPr>
          <p:cNvPr id="4" name="TextBox 3"/>
          <p:cNvSpPr txBox="1"/>
          <p:nvPr/>
        </p:nvSpPr>
        <p:spPr>
          <a:xfrm>
            <a:off x="566928" y="621792"/>
            <a:ext cx="11057839" cy="566928"/>
          </a:xfrm>
          <a:prstGeom prst="rect">
            <a:avLst/>
          </a:prstGeom>
          <a:noFill/>
        </p:spPr>
        <p:txBody>
          <a:bodyPr wrap="square" lIns="0" rIns="0" tIns="0" bIns="0">
            <a:spAutoFit/>
          </a:bodyPr>
          <a:lstStyle/>
          <a:p>
            <a:r>
              <a:rPr sz="2700" b="1">
                <a:solidFill>
                  <a:srgbClr val="1C2B3A"/>
                </a:solidFill>
                <a:latin typeface="Calibri"/>
              </a:rPr>
              <a:t>Putting it together</a:t>
            </a:r>
          </a:p>
        </p:txBody>
      </p:sp>
      <p:sp>
        <p:nvSpPr>
          <p:cNvPr id="5" name="TextBox 4"/>
          <p:cNvSpPr txBox="1"/>
          <p:nvPr/>
        </p:nvSpPr>
        <p:spPr>
          <a:xfrm>
            <a:off x="566928" y="6547104"/>
            <a:ext cx="11057839" cy="228600"/>
          </a:xfrm>
          <a:prstGeom prst="rect">
            <a:avLst/>
          </a:prstGeom>
          <a:noFill/>
        </p:spPr>
        <p:txBody>
          <a:bodyPr wrap="square" lIns="0" rIns="0" tIns="0" bIns="0">
            <a:spAutoFit/>
          </a:bodyPr>
          <a:lstStyle/>
          <a:p>
            <a:r>
              <a:rPr sz="900">
                <a:solidFill>
                  <a:srgbClr val="9FB0C1"/>
                </a:solidFill>
                <a:latin typeface="Calibri"/>
              </a:rPr>
              <a:t>Network Testing at Fleet Scale</a:t>
            </a:r>
          </a:p>
        </p:txBody>
      </p:sp>
      <p:sp>
        <p:nvSpPr>
          <p:cNvPr id="6" name="TextBox 5"/>
          <p:cNvSpPr txBox="1"/>
          <p:nvPr/>
        </p:nvSpPr>
        <p:spPr>
          <a:xfrm>
            <a:off x="10893247" y="6547104"/>
            <a:ext cx="731520" cy="228600"/>
          </a:xfrm>
          <a:prstGeom prst="rect">
            <a:avLst/>
          </a:prstGeom>
          <a:noFill/>
        </p:spPr>
        <p:txBody>
          <a:bodyPr wrap="square" lIns="0" rIns="0" tIns="0" bIns="0">
            <a:spAutoFit/>
          </a:bodyPr>
          <a:lstStyle/>
          <a:p>
            <a:pPr algn="r"/>
            <a:r>
              <a:rPr sz="900">
                <a:solidFill>
                  <a:srgbClr val="9FB0C1"/>
                </a:solidFill>
                <a:latin typeface="Calibri"/>
              </a:rPr>
              <a:t>35</a:t>
            </a:r>
          </a:p>
        </p:txBody>
      </p:sp>
      <p:sp>
        <p:nvSpPr>
          <p:cNvPr id="7" name="Rounded Rectangle 6"/>
          <p:cNvSpPr/>
          <p:nvPr/>
        </p:nvSpPr>
        <p:spPr>
          <a:xfrm>
            <a:off x="566928" y="1389888"/>
            <a:ext cx="1962851" cy="932688"/>
          </a:xfrm>
          <a:prstGeom prst="roundRect">
            <a:avLst>
              <a:gd name="adj" fmla="val 10000"/>
            </a:avLst>
          </a:prstGeom>
          <a:solidFill>
            <a:srgbClr val="357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50" b="1">
                <a:solidFill>
                  <a:srgbClr val="FFFFFF"/>
                </a:solidFill>
                <a:latin typeface="Consolas"/>
              </a:rPr>
              <a:t>reachable</a:t>
            </a:r>
          </a:p>
          <a:p>
            <a:pPr algn="ctr"/>
            <a:r>
              <a:rPr sz="950">
                <a:solidFill>
                  <a:srgbClr val="F0F3F6"/>
                </a:solidFill>
                <a:latin typeface="Calibri"/>
              </a:rPr>
              <a:t>keep the list real</a:t>
            </a:r>
          </a:p>
        </p:txBody>
      </p:sp>
      <p:sp>
        <p:nvSpPr>
          <p:cNvPr id="8" name="TextBox 7"/>
          <p:cNvSpPr txBox="1"/>
          <p:nvPr/>
        </p:nvSpPr>
        <p:spPr>
          <a:xfrm>
            <a:off x="2529779" y="1682496"/>
            <a:ext cx="310896" cy="365760"/>
          </a:xfrm>
          <a:prstGeom prst="rect">
            <a:avLst/>
          </a:prstGeom>
          <a:noFill/>
        </p:spPr>
        <p:txBody>
          <a:bodyPr wrap="none" lIns="0" rIns="0" tIns="0" bIns="0">
            <a:spAutoFit/>
          </a:bodyPr>
          <a:lstStyle/>
          <a:p>
            <a:pPr algn="ctr"/>
            <a:r>
              <a:rPr sz="1500" b="1">
                <a:solidFill>
                  <a:srgbClr val="5C6B7A"/>
                </a:solidFill>
              </a:rPr>
              <a:t>→</a:t>
            </a:r>
          </a:p>
        </p:txBody>
      </p:sp>
      <p:sp>
        <p:nvSpPr>
          <p:cNvPr id="9" name="Rounded Rectangle 8"/>
          <p:cNvSpPr/>
          <p:nvPr/>
        </p:nvSpPr>
        <p:spPr>
          <a:xfrm>
            <a:off x="2840675" y="1389888"/>
            <a:ext cx="1962851" cy="932688"/>
          </a:xfrm>
          <a:prstGeom prst="roundRect">
            <a:avLst>
              <a:gd name="adj" fmla="val 10000"/>
            </a:avLst>
          </a:prstGeom>
          <a:solidFill>
            <a:srgbClr val="0F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50" b="1">
                <a:solidFill>
                  <a:srgbClr val="FFFFFF"/>
                </a:solidFill>
                <a:latin typeface="Consolas"/>
              </a:rPr>
              <a:t>netmesh</a:t>
            </a:r>
          </a:p>
          <a:p>
            <a:pPr algn="ctr"/>
            <a:r>
              <a:rPr sz="950">
                <a:solidFill>
                  <a:srgbClr val="F0F3F6"/>
                </a:solidFill>
                <a:latin typeface="Calibri"/>
              </a:rPr>
              <a:t>idle baseline</a:t>
            </a:r>
          </a:p>
        </p:txBody>
      </p:sp>
      <p:sp>
        <p:nvSpPr>
          <p:cNvPr id="10" name="TextBox 9"/>
          <p:cNvSpPr txBox="1"/>
          <p:nvPr/>
        </p:nvSpPr>
        <p:spPr>
          <a:xfrm>
            <a:off x="4803526" y="1682496"/>
            <a:ext cx="310896" cy="365760"/>
          </a:xfrm>
          <a:prstGeom prst="rect">
            <a:avLst/>
          </a:prstGeom>
          <a:noFill/>
        </p:spPr>
        <p:txBody>
          <a:bodyPr wrap="none" lIns="0" rIns="0" tIns="0" bIns="0">
            <a:spAutoFit/>
          </a:bodyPr>
          <a:lstStyle/>
          <a:p>
            <a:pPr algn="ctr"/>
            <a:r>
              <a:rPr sz="1500" b="1">
                <a:solidFill>
                  <a:srgbClr val="5C6B7A"/>
                </a:solidFill>
              </a:rPr>
              <a:t>→</a:t>
            </a:r>
          </a:p>
        </p:txBody>
      </p:sp>
      <p:sp>
        <p:nvSpPr>
          <p:cNvPr id="11" name="Rounded Rectangle 10"/>
          <p:cNvSpPr/>
          <p:nvPr/>
        </p:nvSpPr>
        <p:spPr>
          <a:xfrm>
            <a:off x="5114422" y="1389888"/>
            <a:ext cx="1962851" cy="932688"/>
          </a:xfrm>
          <a:prstGeom prst="roundRect">
            <a:avLst>
              <a:gd name="adj" fmla="val 10000"/>
            </a:avLst>
          </a:prstGeom>
          <a:solidFill>
            <a:srgbClr val="C872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50" b="1">
                <a:solidFill>
                  <a:srgbClr val="FFFFFF"/>
                </a:solidFill>
                <a:latin typeface="Consolas"/>
              </a:rPr>
              <a:t>iperf-orchestrator</a:t>
            </a:r>
          </a:p>
          <a:p>
            <a:pPr algn="ctr"/>
            <a:r>
              <a:rPr sz="950">
                <a:solidFill>
                  <a:srgbClr val="F0F3F6"/>
                </a:solidFill>
                <a:latin typeface="Calibri"/>
              </a:rPr>
              <a:t>TCP bandwidth</a:t>
            </a:r>
          </a:p>
        </p:txBody>
      </p:sp>
      <p:sp>
        <p:nvSpPr>
          <p:cNvPr id="12" name="TextBox 11"/>
          <p:cNvSpPr txBox="1"/>
          <p:nvPr/>
        </p:nvSpPr>
        <p:spPr>
          <a:xfrm>
            <a:off x="7077273" y="1682496"/>
            <a:ext cx="310896" cy="365760"/>
          </a:xfrm>
          <a:prstGeom prst="rect">
            <a:avLst/>
          </a:prstGeom>
          <a:noFill/>
        </p:spPr>
        <p:txBody>
          <a:bodyPr wrap="none" lIns="0" rIns="0" tIns="0" bIns="0">
            <a:spAutoFit/>
          </a:bodyPr>
          <a:lstStyle/>
          <a:p>
            <a:pPr algn="ctr"/>
            <a:r>
              <a:rPr sz="1500" b="1">
                <a:solidFill>
                  <a:srgbClr val="5C6B7A"/>
                </a:solidFill>
              </a:rPr>
              <a:t>→</a:t>
            </a:r>
          </a:p>
        </p:txBody>
      </p:sp>
      <p:sp>
        <p:nvSpPr>
          <p:cNvPr id="13" name="Rounded Rectangle 12"/>
          <p:cNvSpPr/>
          <p:nvPr/>
        </p:nvSpPr>
        <p:spPr>
          <a:xfrm>
            <a:off x="7388169" y="1389888"/>
            <a:ext cx="1962851" cy="932688"/>
          </a:xfrm>
          <a:prstGeom prst="roundRect">
            <a:avLst>
              <a:gd name="adj" fmla="val 10000"/>
            </a:avLst>
          </a:prstGeom>
          <a:solidFill>
            <a:srgbClr val="B038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50" b="1">
                <a:solidFill>
                  <a:srgbClr val="FFFFFF"/>
                </a:solidFill>
                <a:latin typeface="Consolas"/>
              </a:rPr>
              <a:t>mx</a:t>
            </a:r>
          </a:p>
          <a:p>
            <a:pPr algn="ctr"/>
            <a:r>
              <a:rPr sz="950">
                <a:solidFill>
                  <a:srgbClr val="F0F3F6"/>
                </a:solidFill>
                <a:latin typeface="Calibri"/>
              </a:rPr>
              <a:t>packets per second</a:t>
            </a:r>
          </a:p>
        </p:txBody>
      </p:sp>
      <p:sp>
        <p:nvSpPr>
          <p:cNvPr id="14" name="TextBox 13"/>
          <p:cNvSpPr txBox="1"/>
          <p:nvPr/>
        </p:nvSpPr>
        <p:spPr>
          <a:xfrm>
            <a:off x="9351020" y="1682496"/>
            <a:ext cx="310896" cy="365760"/>
          </a:xfrm>
          <a:prstGeom prst="rect">
            <a:avLst/>
          </a:prstGeom>
          <a:noFill/>
        </p:spPr>
        <p:txBody>
          <a:bodyPr wrap="none" lIns="0" rIns="0" tIns="0" bIns="0">
            <a:spAutoFit/>
          </a:bodyPr>
          <a:lstStyle/>
          <a:p>
            <a:pPr algn="ctr"/>
            <a:r>
              <a:rPr sz="1500" b="1">
                <a:solidFill>
                  <a:srgbClr val="5C6B7A"/>
                </a:solidFill>
              </a:rPr>
              <a:t>→</a:t>
            </a:r>
          </a:p>
        </p:txBody>
      </p:sp>
      <p:sp>
        <p:nvSpPr>
          <p:cNvPr id="15" name="Rounded Rectangle 14"/>
          <p:cNvSpPr/>
          <p:nvPr/>
        </p:nvSpPr>
        <p:spPr>
          <a:xfrm>
            <a:off x="9661916" y="1389888"/>
            <a:ext cx="1962851" cy="932688"/>
          </a:xfrm>
          <a:prstGeom prst="roundRect">
            <a:avLst>
              <a:gd name="adj" fmla="val 10000"/>
            </a:avLst>
          </a:prstGeom>
          <a:solidFill>
            <a:srgbClr val="0F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50" b="1">
                <a:solidFill>
                  <a:srgbClr val="FFFFFF"/>
                </a:solidFill>
                <a:latin typeface="Consolas"/>
              </a:rPr>
              <a:t>netmesh --baseline</a:t>
            </a:r>
          </a:p>
          <a:p>
            <a:pPr algn="ctr"/>
            <a:r>
              <a:rPr sz="950">
                <a:solidFill>
                  <a:srgbClr val="F0F3F6"/>
                </a:solidFill>
                <a:latin typeface="Calibri"/>
              </a:rPr>
              <a:t>latency under load</a:t>
            </a:r>
          </a:p>
        </p:txBody>
      </p:sp>
      <p:sp>
        <p:nvSpPr>
          <p:cNvPr id="16" name="TextBox 15"/>
          <p:cNvSpPr txBox="1"/>
          <p:nvPr/>
        </p:nvSpPr>
        <p:spPr>
          <a:xfrm>
            <a:off x="566928" y="2523744"/>
            <a:ext cx="11057839" cy="2945892"/>
          </a:xfrm>
          <a:prstGeom prst="rect">
            <a:avLst/>
          </a:prstGeom>
          <a:noFill/>
        </p:spPr>
        <p:txBody>
          <a:bodyPr wrap="square" lIns="0" rIns="0" tIns="0" bIns="0">
            <a:normAutofit/>
          </a:bodyPr>
          <a:lstStyle/>
          <a:p>
            <a:pPr>
              <a:spcAft>
                <a:spcPts val="700"/>
              </a:spcAft>
            </a:pPr>
            <a:r>
              <a:rPr sz="1200" b="1">
                <a:solidFill>
                  <a:srgbClr val="3E5C76"/>
                </a:solidFill>
                <a:latin typeface="Calibri"/>
              </a:rPr>
              <a:t>▪  </a:t>
            </a:r>
            <a:r>
              <a:rPr b="1" sz="1300">
                <a:solidFill>
                  <a:srgbClr val="1C2B3A"/>
                </a:solidFill>
                <a:latin typeface="Calibri"/>
              </a:rPr>
              <a:t>1 · Start with the list</a:t>
            </a:r>
            <a:r>
              <a:rPr b="0" sz="1300">
                <a:solidFill>
                  <a:srgbClr val="1C2B3A"/>
                </a:solidFill>
                <a:latin typeface="Calibri"/>
              </a:rPr>
              <a:t> — </a:t>
            </a:r>
            <a:r>
              <a:rPr sz="1200">
                <a:solidFill>
                  <a:srgbClr val="3E5C76"/>
                </a:solidFill>
                <a:latin typeface="Consolas"/>
              </a:rPr>
              <a:t>reachable prod.txt -i</a:t>
            </a:r>
            <a:r>
              <a:rPr b="0" sz="1300">
                <a:solidFill>
                  <a:srgbClr val="1C2B3A"/>
                </a:solidFill>
                <a:latin typeface="Calibri"/>
              </a:rPr>
              <a:t> comments out dead servers, so every later step measures the fleet, not the list.</a:t>
            </a:r>
          </a:p>
          <a:p>
            <a:pPr>
              <a:spcAft>
                <a:spcPts val="700"/>
              </a:spcAft>
            </a:pPr>
            <a:r>
              <a:rPr sz="1200" b="1">
                <a:solidFill>
                  <a:srgbClr val="3E5C76"/>
                </a:solidFill>
                <a:latin typeface="Calibri"/>
              </a:rPr>
              <a:t>▪  </a:t>
            </a:r>
            <a:r>
              <a:rPr b="1" sz="1300">
                <a:solidFill>
                  <a:srgbClr val="1C2B3A"/>
                </a:solidFill>
                <a:latin typeface="Calibri"/>
              </a:rPr>
              <a:t>2 · Baseline while idle</a:t>
            </a:r>
            <a:r>
              <a:rPr b="0" sz="1300">
                <a:solidFill>
                  <a:srgbClr val="1C2B3A"/>
                </a:solidFill>
                <a:latin typeface="Calibri"/>
              </a:rPr>
              <a:t> — </a:t>
            </a:r>
            <a:r>
              <a:rPr sz="1200">
                <a:solidFill>
                  <a:srgbClr val="3E5C76"/>
                </a:solidFill>
                <a:latin typeface="Consolas"/>
              </a:rPr>
              <a:t>netmesh check</a:t>
            </a:r>
            <a:r>
              <a:rPr b="0" sz="1300">
                <a:solidFill>
                  <a:srgbClr val="1C2B3A"/>
                </a:solidFill>
                <a:latin typeface="Calibri"/>
              </a:rPr>
              <a:t> gives the latency, loss and MTU numbers every later result is read against. Safe on production.</a:t>
            </a:r>
          </a:p>
          <a:p>
            <a:pPr>
              <a:spcAft>
                <a:spcPts val="700"/>
              </a:spcAft>
            </a:pPr>
            <a:r>
              <a:rPr sz="1200" b="1">
                <a:solidFill>
                  <a:srgbClr val="3E5C76"/>
                </a:solidFill>
                <a:latin typeface="Calibri"/>
              </a:rPr>
              <a:t>▪  </a:t>
            </a:r>
            <a:r>
              <a:rPr b="1" sz="1300">
                <a:solidFill>
                  <a:srgbClr val="1C2B3A"/>
                </a:solidFill>
                <a:latin typeface="Calibri"/>
              </a:rPr>
              <a:t>3 · Load it with bytes</a:t>
            </a:r>
            <a:r>
              <a:rPr b="0" sz="1300">
                <a:solidFill>
                  <a:srgbClr val="1C2B3A"/>
                </a:solidFill>
                <a:latin typeface="Calibri"/>
              </a:rPr>
              <a:t> — </a:t>
            </a:r>
            <a:r>
              <a:rPr sz="1200">
                <a:solidFill>
                  <a:srgbClr val="3E5C76"/>
                </a:solidFill>
                <a:latin typeface="Consolas"/>
              </a:rPr>
              <a:t>iperf-orchestrator all</a:t>
            </a:r>
            <a:r>
              <a:rPr b="0" sz="1300">
                <a:solidFill>
                  <a:srgbClr val="1C2B3A"/>
                </a:solidFill>
                <a:latin typeface="Calibri"/>
              </a:rPr>
              <a:t> floods every link both ways: the bandwidth ceiling, and the first look at what breaks.</a:t>
            </a:r>
          </a:p>
          <a:p>
            <a:pPr>
              <a:spcAft>
                <a:spcPts val="700"/>
              </a:spcAft>
            </a:pPr>
            <a:r>
              <a:rPr sz="1200" b="1">
                <a:solidFill>
                  <a:srgbClr val="3E5C76"/>
                </a:solidFill>
                <a:latin typeface="Calibri"/>
              </a:rPr>
              <a:t>▪  </a:t>
            </a:r>
            <a:r>
              <a:rPr b="1" sz="1300">
                <a:solidFill>
                  <a:srgbClr val="1C2B3A"/>
                </a:solidFill>
                <a:latin typeface="Calibri"/>
              </a:rPr>
              <a:t>4 · Load it with packets</a:t>
            </a:r>
            <a:r>
              <a:rPr b="0" sz="1300">
                <a:solidFill>
                  <a:srgbClr val="1C2B3A"/>
                </a:solidFill>
                <a:latin typeface="Calibri"/>
              </a:rPr>
              <a:t> — </a:t>
            </a:r>
            <a:r>
              <a:rPr sz="1200">
                <a:solidFill>
                  <a:srgbClr val="3E5C76"/>
                </a:solidFill>
                <a:latin typeface="Consolas"/>
              </a:rPr>
              <a:t>mx run</a:t>
            </a:r>
            <a:r>
              <a:rPr b="0" sz="1300">
                <a:solidFill>
                  <a:srgbClr val="1C2B3A"/>
                </a:solidFill>
                <a:latin typeface="Calibri"/>
              </a:rPr>
              <a:t> finds the answered-packets-per-second ceiling: the shape of real RPC and storage traffic.</a:t>
            </a:r>
          </a:p>
          <a:p>
            <a:pPr>
              <a:spcAft>
                <a:spcPts val="700"/>
              </a:spcAft>
            </a:pPr>
            <a:r>
              <a:rPr sz="1200" b="1">
                <a:solidFill>
                  <a:srgbClr val="3E5C76"/>
                </a:solidFill>
                <a:latin typeface="Calibri"/>
              </a:rPr>
              <a:t>▪  </a:t>
            </a:r>
            <a:r>
              <a:rPr b="1" sz="1300">
                <a:solidFill>
                  <a:srgbClr val="1C2B3A"/>
                </a:solidFill>
                <a:latin typeface="Calibri"/>
              </a:rPr>
              <a:t>5 · Measure the cost</a:t>
            </a:r>
            <a:r>
              <a:rPr b="0" sz="1300">
                <a:solidFill>
                  <a:srgbClr val="1C2B3A"/>
                </a:solidFill>
                <a:latin typeface="Calibri"/>
              </a:rPr>
              <a:t> — wrap netmesh around a load run to see what the load did to latency for everyone else on the path.</a:t>
            </a:r>
          </a:p>
          <a:p>
            <a:pPr>
              <a:spcAft>
                <a:spcPts val="700"/>
              </a:spcAft>
            </a:pPr>
            <a:r>
              <a:rPr sz="1200" b="1">
                <a:solidFill>
                  <a:srgbClr val="3E5C76"/>
                </a:solidFill>
                <a:latin typeface="Calibri"/>
              </a:rPr>
              <a:t>▪  </a:t>
            </a:r>
            <a:r>
              <a:rPr b="0" sz="1300">
                <a:solidFill>
                  <a:srgbClr val="1C2B3A"/>
                </a:solidFill>
                <a:latin typeface="Calibri"/>
              </a:rPr>
              <a:t>Three habits: </a:t>
            </a:r>
            <a:r>
              <a:rPr b="1" sz="1300">
                <a:solidFill>
                  <a:srgbClr val="1C2B3A"/>
                </a:solidFill>
                <a:latin typeface="Calibri"/>
              </a:rPr>
              <a:t>baseline before load</a:t>
            </a:r>
            <a:r>
              <a:rPr b="0" sz="1300">
                <a:solidFill>
                  <a:srgbClr val="1C2B3A"/>
                </a:solidFill>
                <a:latin typeface="Calibri"/>
              </a:rPr>
              <a:t> · </a:t>
            </a:r>
            <a:r>
              <a:rPr b="1" sz="1300">
                <a:solidFill>
                  <a:srgbClr val="1C2B3A"/>
                </a:solidFill>
                <a:latin typeface="Calibri"/>
              </a:rPr>
              <a:t>trust what arrived, not what was sent</a:t>
            </a:r>
            <a:r>
              <a:rPr b="0" sz="1300">
                <a:solidFill>
                  <a:srgbClr val="1C2B3A"/>
                </a:solidFill>
                <a:latin typeface="Calibri"/>
              </a:rPr>
              <a:t> · </a:t>
            </a:r>
            <a:r>
              <a:rPr b="1" sz="1300">
                <a:solidFill>
                  <a:srgbClr val="1C2B3A"/>
                </a:solidFill>
                <a:latin typeface="Calibri"/>
              </a:rPr>
              <a:t>keep the list real</a:t>
            </a:r>
            <a:r>
              <a:rPr b="0" sz="1300">
                <a:solidFill>
                  <a:srgbClr val="1C2B3A"/>
                </a:solidFill>
                <a:latin typeface="Calibri"/>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