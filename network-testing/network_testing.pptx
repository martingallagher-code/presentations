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frame for the whole talk. Bandwidth, packet rate and latency fail independently, so no single tool can tell you the network is fine. netmesh is cheap enough to run during an incident; iperf_orchestrator is the scheduled stress test; mx is the request/response rate test that looks like real RPC and storage traffic. Because they share one host-list grammar and one deployment model, learning one means you know how to drive all three.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alternative is a week of hand-run iperf, ad-hoc pssh loops, and numbers nobody trusts. Spell out "they compose" plainly: one server list drives everything, and the outputs are designed to sit next to each other — pruning the list, baselining, then loading is a chain of commands, not three integrations. The pipeline on the slide is the whole talk in one line; the three big sections that follow just walk it left to right.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answers "can the test still run when several servers are down?" — twice over. First, prune: reachable keeps the list true, distinguishes a key problem from a dead box (auth / refused / dns / no-route / timeout / down), and converges instead of decaying. Second, the tools themselves tolerate failures mid-run: per-host failures are reported and skipped, not fatal. reachable prod.txt -i before every big run is the habit to sell.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command in (iperf-orchestrator --servers servers.txt all), four artifacts out; the heatmap is the one you open first.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grounding for anyone who hasn't used it. Set up the iperf2-vs-iperf3 story 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was a real problem hit and fixed; the tool is the accumulated answers. Mention check-iperf catches distros where iperf is secretly a symlink to iperf3 (WRONG_VERSION).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Pick by question: stress = parallel, capability = sequential-host, forensic = sequential-pair, huge fleet = rolling.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pPr>
              <a:defRPr sz="4400" b="1">
                <a:solidFill>
                  <a:srgbClr val="1C2B3A"/>
                </a:solidFill>
              </a:defRPr>
            </a:pPr>
            <a:r>
              <a:t>Network Testing at Fleet Scale</a:t>
            </a:r>
          </a:p>
        </p:txBody>
      </p:sp>
      <p:sp>
        <p:nvSpPr>
          <p:cNvPr id="3" name="Subtitle 2"/>
          <p:cNvSpPr>
            <a:spLocks noGrp="1"/>
          </p:cNvSpPr>
          <p:nvPr>
            <p:ph type="subTitle" idx="1"/>
          </p:nvPr>
        </p:nvSpPr>
        <p:spPr/>
        <p:txBody>
          <a:bodyPr/>
          <a:lstStyle/>
          <a:p>
            <a:pPr>
              <a:defRPr sz="2000">
                <a:solidFill>
                  <a:srgbClr val="3E5C76"/>
                </a:solidFill>
              </a:defRPr>
            </a:pPr>
            <a:r>
              <a:t>iperf_orchestrator · matrix_orchestrator · netmesh</a:t>
            </a:r>
          </a:p>
          <a:p>
            <a:pPr>
              <a:defRPr sz="1500" i="1"/>
            </a:pPr>
            <a:r>
              <a:t>with binnacle’s reachable keeping the server list honest</a:t>
            </a:r>
          </a:p>
          <a:p/>
          <a:p>
            <a:pPr>
              <a:defRPr sz="1400" b="1"/>
            </a:pPr>
            <a:r>
              <a:t>Martin Gallagher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Three questions, three tools</a:t>
            </a:r>
          </a:p>
        </p:txBody>
      </p:sp>
      <p:sp>
        <p:nvSpPr>
          <p:cNvPr id="3" name="TextBox 2"/>
          <p:cNvSpPr txBox="1"/>
          <p:nvPr/>
        </p:nvSpPr>
        <p:spPr>
          <a:xfrm>
            <a:off x="822960" y="1234440"/>
            <a:ext cx="10607040" cy="621792"/>
          </a:xfrm>
          <a:prstGeom prst="rect">
            <a:avLst/>
          </a:prstGeom>
          <a:noFill/>
        </p:spPr>
        <p:txBody>
          <a:bodyPr wrap="square">
            <a:spAutoFit/>
          </a:bodyPr>
          <a:lstStyle/>
          <a:p>
            <a:pPr>
              <a:defRPr sz="1400"/>
            </a:pPr>
            <a:r>
              <a:t>Testing a fleet's network really means answering three different questions — each tool here answers one of them.</a:t>
            </a:r>
          </a:p>
        </p:txBody>
      </p:sp>
      <p:graphicFrame>
        <p:nvGraphicFramePr>
          <p:cNvPr id="4" name="Table 3"/>
          <p:cNvGraphicFramePr>
            <a:graphicFrameLocks noGrp="1"/>
          </p:cNvGraphicFramePr>
          <p:nvPr/>
        </p:nvGraphicFramePr>
        <p:xfrm>
          <a:off x="640080" y="1929384"/>
          <a:ext cx="10972800" cy="1463040"/>
        </p:xfrm>
        <a:graphic>
          <a:graphicData uri="http://schemas.openxmlformats.org/drawingml/2006/table">
            <a:tbl>
              <a:tblPr firstRow="1" bandRow="1">
                <a:tableStyleId>{5C22544A-7EE6-4342-B048-85BDC9FD1C3A}</a:tableStyleId>
              </a:tblPr>
              <a:tblGrid>
                <a:gridCol w="2743200"/>
                <a:gridCol w="2743200"/>
                <a:gridCol w="2743200"/>
                <a:gridCol w="2743200"/>
              </a:tblGrid>
              <a:tr h="365760">
                <a:tc>
                  <a:txBody>
                    <a:bodyPr/>
                    <a:lstStyle/>
                    <a:p>
                      <a:pPr>
                        <a:defRPr sz="1250" b="1"/>
                      </a:pPr>
                      <a:r>
                        <a:t>Tool</a:t>
                      </a:r>
                    </a:p>
                  </a:txBody>
                  <a:tcPr/>
                </a:tc>
                <a:tc>
                  <a:txBody>
                    <a:bodyPr/>
                    <a:lstStyle/>
                    <a:p>
                      <a:pPr>
                        <a:defRPr sz="1250" b="1"/>
                      </a:pPr>
                      <a:r>
                        <a:t>The question it answers</a:t>
                      </a:r>
                    </a:p>
                  </a:txBody>
                  <a:tcPr/>
                </a:tc>
                <a:tc>
                  <a:txBody>
                    <a:bodyPr/>
                    <a:lstStyle/>
                    <a:p>
                      <a:pPr>
                        <a:defRPr sz="1250" b="1"/>
                      </a:pPr>
                      <a:r>
                        <a:t>Network state</a:t>
                      </a:r>
                    </a:p>
                  </a:txBody>
                  <a:tcPr/>
                </a:tc>
                <a:tc>
                  <a:txBody>
                    <a:bodyPr/>
                    <a:lstStyle/>
                    <a:p>
                      <a:pPr>
                        <a:defRPr sz="1250" b="1"/>
                      </a:pPr>
                      <a:r>
                        <a:t>Cost to run</a:t>
                      </a:r>
                    </a:p>
                  </a:txBody>
                  <a:tcPr/>
                </a:tc>
              </a:tr>
              <a:tr h="365760">
                <a:tc>
                  <a:txBody>
                    <a:bodyPr/>
                    <a:lstStyle/>
                    <a:p>
                      <a:pPr>
                        <a:defRPr sz="1200" b="0"/>
                      </a:pPr>
                      <a:r>
                        <a:t>netmesh</a:t>
                      </a:r>
                    </a:p>
                  </a:txBody>
                  <a:tcPr/>
                </a:tc>
                <a:tc>
                  <a:txBody>
                    <a:bodyPr/>
                    <a:lstStyle/>
                    <a:p>
                      <a:pPr>
                        <a:defRPr sz="1200" b="0"/>
                      </a:pPr>
                      <a:r>
                        <a:t>Is the network healthy, and which link is sick? — RTT, jitter, loss, path MTU</a:t>
                      </a:r>
                    </a:p>
                  </a:txBody>
                  <a:tcPr/>
                </a:tc>
                <a:tc>
                  <a:txBody>
                    <a:bodyPr/>
                    <a:lstStyle/>
                    <a:p>
                      <a:pPr>
                        <a:defRPr sz="1200" b="0"/>
                      </a:pPr>
                      <a:r>
                        <a:t>Idle — the baseline</a:t>
                      </a:r>
                    </a:p>
                  </a:txBody>
                  <a:tcPr/>
                </a:tc>
                <a:tc>
                  <a:txBody>
                    <a:bodyPr/>
                    <a:lstStyle/>
                    <a:p>
                      <a:pPr>
                        <a:defRPr sz="1200" b="0"/>
                      </a:pPr>
                      <a:r>
                        <a:t>~10 small pkts/s per pair; safe on production</a:t>
                      </a:r>
                    </a:p>
                  </a:txBody>
                  <a:tcPr/>
                </a:tc>
              </a:tr>
              <a:tr h="365760">
                <a:tc>
                  <a:txBody>
                    <a:bodyPr/>
                    <a:lstStyle/>
                    <a:p>
                      <a:pPr>
                        <a:defRPr sz="1200" b="0"/>
                      </a:pPr>
                      <a:r>
                        <a:t>iperf_orchestrator</a:t>
                      </a:r>
                    </a:p>
                  </a:txBody>
                  <a:tcPr/>
                </a:tc>
                <a:tc>
                  <a:txBody>
                    <a:bodyPr/>
                    <a:lstStyle/>
                    <a:p>
                      <a:pPr>
                        <a:defRPr sz="1200" b="0"/>
                      </a:pPr>
                      <a:r>
                        <a:t>How much TCP bandwidth can every link carry, all at once?</a:t>
                      </a:r>
                    </a:p>
                  </a:txBody>
                  <a:tcPr/>
                </a:tc>
                <a:tc>
                  <a:txBody>
                    <a:bodyPr/>
                    <a:lstStyle/>
                    <a:p>
                      <a:pPr>
                        <a:defRPr sz="1200" b="0"/>
                      </a:pPr>
                      <a:r>
                        <a:t>Fully loaded</a:t>
                      </a:r>
                    </a:p>
                  </a:txBody>
                  <a:tcPr/>
                </a:tc>
                <a:tc>
                  <a:txBody>
                    <a:bodyPr/>
                    <a:lstStyle/>
                    <a:p>
                      <a:pPr>
                        <a:defRPr sz="1200" b="0"/>
                      </a:pPr>
                      <a:r>
                        <a:t>Line-rate flood — schedule a window</a:t>
                      </a:r>
                    </a:p>
                  </a:txBody>
                  <a:tcPr/>
                </a:tc>
              </a:tr>
              <a:tr h="365760">
                <a:tc>
                  <a:txBody>
                    <a:bodyPr/>
                    <a:lstStyle/>
                    <a:p>
                      <a:pPr>
                        <a:defRPr sz="1200" b="0"/>
                      </a:pPr>
                      <a:r>
                        <a:t>matrix_orchestrator (mx)</a:t>
                      </a:r>
                    </a:p>
                  </a:txBody>
                  <a:tcPr/>
                </a:tc>
                <a:tc>
                  <a:txBody>
                    <a:bodyPr/>
                    <a:lstStyle/>
                    <a:p>
                      <a:pPr>
                        <a:defRPr sz="1200" b="0"/>
                      </a:pPr>
                      <a:r>
                        <a:t>How many packets/sec can the fleet exchange, when every packet is answered?</a:t>
                      </a:r>
                    </a:p>
                  </a:txBody>
                  <a:tcPr/>
                </a:tc>
                <a:tc>
                  <a:txBody>
                    <a:bodyPr/>
                    <a:lstStyle/>
                    <a:p>
                      <a:pPr>
                        <a:defRPr sz="1200" b="0"/>
                      </a:pPr>
                      <a:r>
                        <a:t>Loaded at the rate you choose</a:t>
                      </a:r>
                    </a:p>
                  </a:txBody>
                  <a:tcPr/>
                </a:tc>
                <a:tc>
                  <a:txBody>
                    <a:bodyPr/>
                    <a:lstStyle/>
                    <a:p>
                      <a:pPr>
                        <a:defRPr sz="1200" b="0"/>
                      </a:pPr>
                      <a:r>
                        <a:t>Tunable, gentle → torture</a:t>
                      </a:r>
                    </a:p>
                  </a:txBody>
                  <a:tcPr/>
                </a:tc>
              </a:tr>
            </a:tbl>
          </a:graphicData>
        </a:graphic>
      </p:graphicFrame>
      <p:sp>
        <p:nvSpPr>
          <p:cNvPr id="5" name="TextBox 4"/>
          <p:cNvSpPr txBox="1"/>
          <p:nvPr/>
        </p:nvSpPr>
        <p:spPr>
          <a:xfrm>
            <a:off x="822960" y="3575304"/>
            <a:ext cx="10607040" cy="932688"/>
          </a:xfrm>
          <a:prstGeom prst="rect">
            <a:avLst/>
          </a:prstGeom>
          <a:noFill/>
        </p:spPr>
        <p:txBody>
          <a:bodyPr wrap="square">
            <a:spAutoFit/>
          </a:bodyPr>
          <a:lstStyle/>
          <a:p>
            <a:pPr>
              <a:defRPr sz="1400"/>
            </a:pPr>
            <a:r>
              <a:t>They're one family: the same servers.txt, the same ssh-only model, and grids that read the same way. And they measure different layers of the same fabric — a 9.4 Gbit/s result over a 300 µs path and one over a 42 ms path are *different results*.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Why these tools — and how they fit together</a:t>
            </a:r>
          </a:p>
        </p:txBody>
      </p:sp>
      <p:sp>
        <p:nvSpPr>
          <p:cNvPr id="3" name="TextBox 2"/>
          <p:cNvSpPr txBox="1"/>
          <p:nvPr/>
        </p:nvSpPr>
        <p:spPr>
          <a:xfrm>
            <a:off x="822960" y="1234440"/>
            <a:ext cx="10607040" cy="621792"/>
          </a:xfrm>
          <a:prstGeom prst="rect">
            <a:avLst/>
          </a:prstGeom>
          <a:noFill/>
        </p:spPr>
        <p:txBody>
          <a:bodyPr wrap="square">
            <a:spAutoFit/>
          </a:bodyPr>
          <a:lstStyle/>
          <a:p>
            <a:pPr>
              <a:defRPr sz="1400"/>
            </a:pPr>
            <a:r>
              <a:t>• They go anywhere you can ssh. No agents, no daemons, no root — nothing installed on the servers, and clean removes every trace afterwards.</a:t>
            </a:r>
          </a:p>
        </p:txBody>
      </p:sp>
      <p:sp>
        <p:nvSpPr>
          <p:cNvPr id="4" name="TextBox 3"/>
          <p:cNvSpPr txBox="1"/>
          <p:nvPr/>
        </p:nvSpPr>
        <p:spPr>
          <a:xfrm>
            <a:off x="822960" y="1929384"/>
            <a:ext cx="10607040" cy="621792"/>
          </a:xfrm>
          <a:prstGeom prst="rect">
            <a:avLst/>
          </a:prstGeom>
          <a:noFill/>
        </p:spPr>
        <p:txBody>
          <a:bodyPr wrap="square">
            <a:spAutoFit/>
          </a:bodyPr>
          <a:lstStyle/>
          <a:p>
            <a:pPr>
              <a:defRPr sz="1400"/>
            </a:pPr>
            <a:r>
              <a:t>• The numbers are honest. Blank never means zero, and the headline is what the *receiver* counted — not what the sender hoped. When a tool becomes its own bottleneck, it says so.</a:t>
            </a:r>
          </a:p>
        </p:txBody>
      </p:sp>
      <p:sp>
        <p:nvSpPr>
          <p:cNvPr id="5" name="TextBox 4"/>
          <p:cNvSpPr txBox="1"/>
          <p:nvPr/>
        </p:nvSpPr>
        <p:spPr>
          <a:xfrm>
            <a:off x="822960" y="2624328"/>
            <a:ext cx="10607040" cy="310896"/>
          </a:xfrm>
          <a:prstGeom prst="rect">
            <a:avLst/>
          </a:prstGeom>
          <a:noFill/>
        </p:spPr>
        <p:txBody>
          <a:bodyPr wrap="square">
            <a:spAutoFit/>
          </a:bodyPr>
          <a:lstStyle/>
          <a:p>
            <a:pPr>
              <a:defRPr sz="1400"/>
            </a:pPr>
            <a:r>
              <a:t>• They're one file each. Stdlib-only Python — pip install it, or just scp the file and run it.</a:t>
            </a:r>
          </a:p>
        </p:txBody>
      </p:sp>
      <p:sp>
        <p:nvSpPr>
          <p:cNvPr id="6" name="TextBox 5"/>
          <p:cNvSpPr txBox="1"/>
          <p:nvPr/>
        </p:nvSpPr>
        <p:spPr>
          <a:xfrm>
            <a:off x="822960" y="3008376"/>
            <a:ext cx="10607040" cy="932688"/>
          </a:xfrm>
          <a:prstGeom prst="rect">
            <a:avLst/>
          </a:prstGeom>
          <a:noFill/>
        </p:spPr>
        <p:txBody>
          <a:bodyPr wrap="square">
            <a:spAutoFit/>
          </a:bodyPr>
          <a:lstStyle/>
          <a:p>
            <a:pPr>
              <a:defRPr sz="1400"/>
            </a:pPr>
            <a:r>
              <a:t>• They compose — meaning each one's output is the next one's input. reachable rewrites the very servers.txt the others read; netmesh and mx write matching N×N grids that open side by side in one spreadsheet. You chain them; there's no glue to write.</a:t>
            </a:r>
          </a:p>
        </p:txBody>
      </p:sp>
      <p:sp>
        <p:nvSpPr>
          <p:cNvPr id="7" name="Rounded Rectangle 6"/>
          <p:cNvSpPr/>
          <p:nvPr/>
        </p:nvSpPr>
        <p:spPr>
          <a:xfrm>
            <a:off x="640080" y="4014216"/>
            <a:ext cx="1887321" cy="914400"/>
          </a:xfrm>
          <a:prstGeom prst="roundRect">
            <a:avLst/>
          </a:prstGeom>
          <a:solidFill>
            <a:srgbClr val="3D8B4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FFFFFF"/>
                </a:solidFill>
                <a:latin typeface="Consolas"/>
              </a:defRPr>
            </a:pPr>
            <a:r>
              <a:t>reachable prod.txt -i</a:t>
            </a:r>
          </a:p>
          <a:p>
            <a:pPr>
              <a:defRPr sz="1000">
                <a:solidFill>
                  <a:srgbClr val="F0F3F6"/>
                </a:solidFill>
              </a:defRPr>
            </a:pPr>
            <a:r>
              <a:t>prune the list</a:t>
            </a:r>
          </a:p>
        </p:txBody>
      </p:sp>
      <p:sp>
        <p:nvSpPr>
          <p:cNvPr id="8" name="TextBox 7"/>
          <p:cNvSpPr txBox="1"/>
          <p:nvPr/>
        </p:nvSpPr>
        <p:spPr>
          <a:xfrm>
            <a:off x="2527401" y="4270248"/>
            <a:ext cx="384048" cy="365760"/>
          </a:xfrm>
          <a:prstGeom prst="rect">
            <a:avLst/>
          </a:prstGeom>
          <a:noFill/>
        </p:spPr>
        <p:txBody>
          <a:bodyPr wrap="none">
            <a:spAutoFit/>
          </a:bodyPr>
          <a:lstStyle/>
          <a:p>
            <a:pPr>
              <a:defRPr sz="1600" b="1">
                <a:solidFill>
                  <a:srgbClr val="3E5C76"/>
                </a:solidFill>
              </a:defRPr>
            </a:pPr>
            <a:r>
              <a:t>→</a:t>
            </a:r>
          </a:p>
        </p:txBody>
      </p:sp>
      <p:sp>
        <p:nvSpPr>
          <p:cNvPr id="9" name="Rounded Rectangle 8"/>
          <p:cNvSpPr/>
          <p:nvPr/>
        </p:nvSpPr>
        <p:spPr>
          <a:xfrm>
            <a:off x="2911449" y="4014216"/>
            <a:ext cx="1887321" cy="914400"/>
          </a:xfrm>
          <a:prstGeom prst="roundRect">
            <a:avLst/>
          </a:prstGeom>
          <a:solidFill>
            <a:srgbClr val="12897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FFFFFF"/>
                </a:solidFill>
                <a:latin typeface="Consolas"/>
              </a:defRPr>
            </a:pPr>
            <a:r>
              <a:t>netmesh check</a:t>
            </a:r>
          </a:p>
          <a:p>
            <a:pPr>
              <a:defRPr sz="1000">
                <a:solidFill>
                  <a:srgbClr val="F0F3F6"/>
                </a:solidFill>
              </a:defRPr>
            </a:pPr>
            <a:r>
              <a:t>idle baseline</a:t>
            </a:r>
          </a:p>
        </p:txBody>
      </p:sp>
      <p:sp>
        <p:nvSpPr>
          <p:cNvPr id="10" name="TextBox 9"/>
          <p:cNvSpPr txBox="1"/>
          <p:nvPr/>
        </p:nvSpPr>
        <p:spPr>
          <a:xfrm>
            <a:off x="4798771" y="4270248"/>
            <a:ext cx="384048" cy="365760"/>
          </a:xfrm>
          <a:prstGeom prst="rect">
            <a:avLst/>
          </a:prstGeom>
          <a:noFill/>
        </p:spPr>
        <p:txBody>
          <a:bodyPr wrap="none">
            <a:spAutoFit/>
          </a:bodyPr>
          <a:lstStyle/>
          <a:p>
            <a:pPr>
              <a:defRPr sz="1600" b="1">
                <a:solidFill>
                  <a:srgbClr val="3E5C76"/>
                </a:solidFill>
              </a:defRPr>
            </a:pPr>
            <a:r>
              <a:t>→</a:t>
            </a:r>
          </a:p>
        </p:txBody>
      </p:sp>
      <p:sp>
        <p:nvSpPr>
          <p:cNvPr id="11" name="Rounded Rectangle 10"/>
          <p:cNvSpPr/>
          <p:nvPr/>
        </p:nvSpPr>
        <p:spPr>
          <a:xfrm>
            <a:off x="5182819" y="4014216"/>
            <a:ext cx="1887321" cy="914400"/>
          </a:xfrm>
          <a:prstGeom prst="roundRect">
            <a:avLst/>
          </a:prstGeom>
          <a:solidFill>
            <a:srgbClr val="D97C1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FFFFFF"/>
                </a:solidFill>
                <a:latin typeface="Consolas"/>
              </a:defRPr>
            </a:pPr>
            <a:r>
              <a:t>iperf-orchestrator all</a:t>
            </a:r>
          </a:p>
          <a:p>
            <a:pPr>
              <a:defRPr sz="1000">
                <a:solidFill>
                  <a:srgbClr val="F0F3F6"/>
                </a:solidFill>
              </a:defRPr>
            </a:pPr>
            <a:r>
              <a:t>TCP under load</a:t>
            </a:r>
          </a:p>
        </p:txBody>
      </p:sp>
      <p:sp>
        <p:nvSpPr>
          <p:cNvPr id="12" name="TextBox 11"/>
          <p:cNvSpPr txBox="1"/>
          <p:nvPr/>
        </p:nvSpPr>
        <p:spPr>
          <a:xfrm>
            <a:off x="7070140" y="4270248"/>
            <a:ext cx="384048" cy="365760"/>
          </a:xfrm>
          <a:prstGeom prst="rect">
            <a:avLst/>
          </a:prstGeom>
          <a:noFill/>
        </p:spPr>
        <p:txBody>
          <a:bodyPr wrap="none">
            <a:spAutoFit/>
          </a:bodyPr>
          <a:lstStyle/>
          <a:p>
            <a:pPr>
              <a:defRPr sz="1600" b="1">
                <a:solidFill>
                  <a:srgbClr val="3E5C76"/>
                </a:solidFill>
              </a:defRPr>
            </a:pPr>
            <a:r>
              <a:t>→</a:t>
            </a:r>
          </a:p>
        </p:txBody>
      </p:sp>
      <p:sp>
        <p:nvSpPr>
          <p:cNvPr id="13" name="Rounded Rectangle 12"/>
          <p:cNvSpPr/>
          <p:nvPr/>
        </p:nvSpPr>
        <p:spPr>
          <a:xfrm>
            <a:off x="7454188" y="4014216"/>
            <a:ext cx="1887321" cy="914400"/>
          </a:xfrm>
          <a:prstGeom prst="roundRect">
            <a:avLst/>
          </a:prstGeom>
          <a:solidFill>
            <a:srgbClr val="BE3B4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FFFFFF"/>
                </a:solidFill>
                <a:latin typeface="Consolas"/>
              </a:defRPr>
            </a:pPr>
            <a:r>
              <a:t>mx run</a:t>
            </a:r>
          </a:p>
          <a:p>
            <a:pPr>
              <a:defRPr sz="1000">
                <a:solidFill>
                  <a:srgbClr val="F0F3F6"/>
                </a:solidFill>
              </a:defRPr>
            </a:pPr>
            <a:r>
              <a:t>pps under load</a:t>
            </a:r>
          </a:p>
        </p:txBody>
      </p:sp>
      <p:sp>
        <p:nvSpPr>
          <p:cNvPr id="14" name="TextBox 13"/>
          <p:cNvSpPr txBox="1"/>
          <p:nvPr/>
        </p:nvSpPr>
        <p:spPr>
          <a:xfrm>
            <a:off x="9341510" y="4270248"/>
            <a:ext cx="384048" cy="365760"/>
          </a:xfrm>
          <a:prstGeom prst="rect">
            <a:avLst/>
          </a:prstGeom>
          <a:noFill/>
        </p:spPr>
        <p:txBody>
          <a:bodyPr wrap="none">
            <a:spAutoFit/>
          </a:bodyPr>
          <a:lstStyle/>
          <a:p>
            <a:pPr>
              <a:defRPr sz="1600" b="1">
                <a:solidFill>
                  <a:srgbClr val="3E5C76"/>
                </a:solidFill>
              </a:defRPr>
            </a:pPr>
            <a:r>
              <a:t>→</a:t>
            </a:r>
          </a:p>
        </p:txBody>
      </p:sp>
      <p:sp>
        <p:nvSpPr>
          <p:cNvPr id="15" name="Rounded Rectangle 14"/>
          <p:cNvSpPr/>
          <p:nvPr/>
        </p:nvSpPr>
        <p:spPr>
          <a:xfrm>
            <a:off x="9725558" y="4014216"/>
            <a:ext cx="1887321" cy="914400"/>
          </a:xfrm>
          <a:prstGeom prst="roundRect">
            <a:avLst/>
          </a:prstGeom>
          <a:solidFill>
            <a:srgbClr val="12897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FFFFFF"/>
                </a:solidFill>
                <a:latin typeface="Consolas"/>
              </a:defRPr>
            </a:pPr>
            <a:r>
              <a:t>netmesh --baseline</a:t>
            </a:r>
          </a:p>
          <a:p>
            <a:pPr>
              <a:defRPr sz="1000">
                <a:solidFill>
                  <a:srgbClr val="F0F3F6"/>
                </a:solidFill>
              </a:defRPr>
            </a:pPr>
            <a:r>
              <a:t>latency under load</a:t>
            </a:r>
          </a:p>
        </p:txBody>
      </p:sp>
      <p:sp>
        <p:nvSpPr>
          <p:cNvPr id="16" name="TextBox 15"/>
          <p:cNvSpPr txBox="1"/>
          <p:nvPr/>
        </p:nvSpPr>
        <p:spPr>
          <a:xfrm>
            <a:off x="822960" y="5129784"/>
            <a:ext cx="10607040" cy="621792"/>
          </a:xfrm>
          <a:prstGeom prst="rect">
            <a:avLst/>
          </a:prstGeom>
          <a:noFill/>
        </p:spPr>
        <p:txBody>
          <a:bodyPr wrap="square">
            <a:spAutoFit/>
          </a:bodyPr>
          <a:lstStyle/>
          <a:p>
            <a:pPr>
              <a:defRPr sz="1400"/>
            </a:pPr>
            <a:r>
              <a:t>Commissioning a new fabric? Run them left to right — each answer tells you whether the next number will make sense.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reachable — the run survives dead servers</a:t>
            </a:r>
          </a:p>
        </p:txBody>
      </p:sp>
      <p:sp>
        <p:nvSpPr>
          <p:cNvPr id="3" name="TextBox 2"/>
          <p:cNvSpPr txBox="1"/>
          <p:nvPr/>
        </p:nvSpPr>
        <p:spPr>
          <a:xfrm>
            <a:off x="822960" y="1234440"/>
            <a:ext cx="10607040" cy="621792"/>
          </a:xfrm>
          <a:prstGeom prst="rect">
            <a:avLst/>
          </a:prstGeom>
          <a:noFill/>
        </p:spPr>
        <p:txBody>
          <a:bodyPr wrap="square">
            <a:spAutoFit/>
          </a:bodyPr>
          <a:lstStyle/>
          <a:p>
            <a:pPr>
              <a:defRPr sz="1400"/>
            </a:pPr>
            <a:r>
              <a:t>• Server lists rot — and a fan-out that silently skips eleven dead hosts looks exactly like one that ran everywhere.</a:t>
            </a:r>
          </a:p>
        </p:txBody>
      </p:sp>
      <p:sp>
        <p:nvSpPr>
          <p:cNvPr id="4" name="TextBox 3"/>
          <p:cNvSpPr txBox="1"/>
          <p:nvPr/>
        </p:nvSpPr>
        <p:spPr>
          <a:xfrm>
            <a:off x="822960" y="1929384"/>
            <a:ext cx="10607040" cy="932688"/>
          </a:xfrm>
          <a:prstGeom prst="rect">
            <a:avLst/>
          </a:prstGeom>
          <a:noFill/>
        </p:spPr>
        <p:txBody>
          <a:bodyPr wrap="square">
            <a:spAutoFit/>
          </a:bodyPr>
          <a:lstStyle/>
          <a:p>
            <a:pPr>
              <a:defRPr sz="1400"/>
            </a:pPr>
            <a:r>
              <a:t>• reachable prod.txt -i pings and ssh's every entry and comments out the failures, with the reason and date. When a host comes back, the next run uncomments it — and your own comments are never touched, so it's safe on cron.</a:t>
            </a:r>
          </a:p>
        </p:txBody>
      </p:sp>
      <p:sp>
        <p:nvSpPr>
          <p:cNvPr id="5" name="TextBox 4"/>
          <p:cNvSpPr txBox="1"/>
          <p:nvPr/>
        </p:nvSpPr>
        <p:spPr>
          <a:xfrm>
            <a:off x="822960" y="2935224"/>
            <a:ext cx="10607040" cy="310896"/>
          </a:xfrm>
          <a:prstGeom prst="rect">
            <a:avLst/>
          </a:prstGeom>
          <a:noFill/>
        </p:spPr>
        <p:txBody>
          <a:bodyPr wrap="square">
            <a:spAutoFit/>
          </a:bodyPr>
          <a:lstStyle/>
          <a:p>
            <a:pPr>
              <a:defRPr sz="1400"/>
            </a:pPr>
            <a:r>
              <a:t>• ssh is the gate, ping is the explanation: a host that answers ssh is kept even when ICMP is blocked.</a:t>
            </a:r>
          </a:p>
        </p:txBody>
      </p:sp>
      <p:sp>
        <p:nvSpPr>
          <p:cNvPr id="6" name="TextBox 5"/>
          <p:cNvSpPr txBox="1"/>
          <p:nvPr/>
        </p:nvSpPr>
        <p:spPr>
          <a:xfrm>
            <a:off x="640080" y="3319272"/>
            <a:ext cx="10972800" cy="1106424"/>
          </a:xfrm>
          <a:prstGeom prst="rect">
            <a:avLst/>
          </a:prstGeom>
          <a:noFill/>
        </p:spPr>
        <p:txBody>
          <a:bodyPr wrap="none">
            <a:spAutoFit/>
          </a:bodyPr>
          <a:lstStyle/>
          <a:p>
            <a:pPr>
              <a:defRPr sz="1300">
                <a:solidFill>
                  <a:srgbClr val="24354A"/>
                </a:solidFill>
                <a:latin typeface="Consolas"/>
              </a:defRPr>
            </a:pPr>
            <a:r>
              <a:t>web01</a:t>
            </a:r>
          </a:p>
          <a:p>
            <a:pPr>
              <a:defRPr sz="1300">
                <a:solidFill>
                  <a:srgbClr val="24354A"/>
                </a:solidFill>
                <a:latin typeface="Consolas"/>
              </a:defRPr>
            </a:pPr>
            <a:r>
              <a:t># db07   #[unreachable] pings but ssh does not answer - 2026-08-15</a:t>
            </a:r>
          </a:p>
          <a:p>
            <a:pPr>
              <a:defRPr sz="1300">
                <a:solidFill>
                  <a:srgbClr val="24354A"/>
                </a:solidFill>
                <a:latin typeface="Consolas"/>
              </a:defRPr>
            </a:pPr>
            <a:r>
              <a:t># ghost  #[unreachable] name does not resolve - 2026-08-15</a:t>
            </a:r>
          </a:p>
          <a:p>
            <a:pPr>
              <a:defRPr sz="1300">
                <a:solidFill>
                  <a:srgbClr val="24354A"/>
                </a:solidFill>
                <a:latin typeface="Consolas"/>
              </a:defRPr>
            </a:pPr>
            <a:r>
              <a:t>noicmp   # ICMP blocked here by policy   &lt;- kept: ssh works</a:t>
            </a:r>
          </a:p>
        </p:txBody>
      </p:sp>
      <p:sp>
        <p:nvSpPr>
          <p:cNvPr id="7" name="TextBox 6"/>
          <p:cNvSpPr txBox="1"/>
          <p:nvPr/>
        </p:nvSpPr>
        <p:spPr>
          <a:xfrm>
            <a:off x="822960" y="4562856"/>
            <a:ext cx="10607040" cy="621792"/>
          </a:xfrm>
          <a:prstGeom prst="rect">
            <a:avLst/>
          </a:prstGeom>
          <a:noFill/>
        </p:spPr>
        <p:txBody>
          <a:bodyPr wrap="square">
            <a:spAutoFit/>
          </a:bodyPr>
          <a:lstStyle/>
          <a:p>
            <a:pPr>
              <a:defRPr sz="1400"/>
            </a:pPr>
            <a:r>
              <a:t>• Belt and braces: the orchestrators also fail open (--keep-going), so one dead box never aborts a 100-host run.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 1 — iperf_orchestrator</a:t>
            </a:r>
          </a:p>
        </p:txBody>
      </p:sp>
      <p:sp>
        <p:nvSpPr>
          <p:cNvPr id="3" name="Text Placeholder 2"/>
          <p:cNvSpPr>
            <a:spLocks noGrp="1"/>
          </p:cNvSpPr>
          <p:nvPr>
            <p:ph type="body" idx="1"/>
          </p:nvPr>
        </p:nvSpPr>
        <p:spPr/>
        <p:txBody>
          <a:bodyPr/>
          <a:lstStyle/>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What it is</a:t>
            </a:r>
          </a:p>
        </p:txBody>
      </p:sp>
      <p:sp>
        <p:nvSpPr>
          <p:cNvPr id="3" name="Content Placeholder 2"/>
          <p:cNvSpPr>
            <a:spLocks noGrp="1"/>
          </p:cNvSpPr>
          <p:nvPr>
            <p:ph idx="1"/>
          </p:nvPr>
        </p:nvSpPr>
        <p:spPr/>
        <p:txBody>
          <a:bodyPr wrap="square">
            <a:normAutofit/>
          </a:bodyPr>
          <a:lstStyle/>
          <a:p>
            <a:pPr>
              <a:defRPr sz="1600"/>
            </a:pPr>
            <a:r>
              <a:t>A single self-contained bash script (with embedded Python) that runs a full-mesh iperf2 throughput test across a server list.</a:t>
            </a:r>
          </a:p>
          <a:p>
            <a:pPr>
              <a:defRPr sz="1600"/>
            </a:pPr>
            <a:r>
              <a:t>Samples per-host CPU during the run; parses everything into iperf_results.csv, cpu_summary.csv, iperf_pivot.txt, iperf_heatmap.png.</a:t>
            </a:r>
          </a:p>
          <a:p>
            <a:pPr>
              <a:defRPr sz="1600"/>
            </a:pPr>
            <a:r>
              <a:t>Built for fabric stress testing: load every link in both directions simultaneously, find what breaks or degrades. Also a one-off "is the network healthy" fleet survey.</a:t>
            </a:r>
          </a:p>
          <a:p>
            <a:pPr>
              <a:defRPr sz="1600"/>
            </a:pPr>
            <a:r>
              <a:t>Stateless: each run gets a timestamped results/&lt;run-id&gt;/; results/latest follows the newest.</a:t>
            </a:r>
          </a:p>
          <a:p>
            <a:pPr>
              <a:defRPr sz="1600"/>
            </a:pPr>
            <a:r>
              <a:t>pip install iperf-orchestrator (or run the script straight from a checkout).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What is iperf?</a:t>
            </a:r>
          </a:p>
        </p:txBody>
      </p:sp>
      <p:sp>
        <p:nvSpPr>
          <p:cNvPr id="3" name="Content Placeholder 2"/>
          <p:cNvSpPr>
            <a:spLocks noGrp="1"/>
          </p:cNvSpPr>
          <p:nvPr>
            <p:ph idx="1"/>
          </p:nvPr>
        </p:nvSpPr>
        <p:spPr/>
        <p:txBody>
          <a:bodyPr wrap="square">
            <a:normAutofit/>
          </a:bodyPr>
          <a:lstStyle/>
          <a:p>
            <a:pPr>
              <a:defRPr sz="1600"/>
            </a:pPr>
            <a:r>
              <a:t>The standard throughput tool: a client opens a TCP connection to a server and pushes bytes as fast as it can for N seconds; the report is the achieved end-to-end bandwidth.</a:t>
            </a:r>
          </a:p>
          <a:p>
            <a:pPr>
              <a:defRPr sz="1600"/>
            </a:pPr>
            <a:r>
              <a:t>iperf2 and iperf3 are different codebases, not versions of each other.</a:t>
            </a:r>
          </a:p>
          <a:p>
            <a:pPr>
              <a:defRPr sz="1600"/>
            </a:pPr>
            <a:r>
              <a:t>The orchestrator uses iperf2's --full-duplex: both directions concurrently on a single TCP socket — one test per pair, and closer to what real traffic does to switch buffers.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Why iperf2, not iperf3 (and why the orchestrator was necessary)</a:t>
            </a:r>
          </a:p>
        </p:txBody>
      </p:sp>
      <p:sp>
        <p:nvSpPr>
          <p:cNvPr id="3" name="Content Placeholder 2"/>
          <p:cNvSpPr>
            <a:spLocks noGrp="1"/>
          </p:cNvSpPr>
          <p:nvPr>
            <p:ph idx="1"/>
          </p:nvPr>
        </p:nvSpPr>
        <p:spPr/>
        <p:txBody>
          <a:bodyPr wrap="square">
            <a:normAutofit/>
          </a:bodyPr>
          <a:lstStyle/>
          <a:p>
            <a:pPr>
              <a:defRPr sz="1600"/>
            </a:pPr>
            <a:r>
              <a:t>iperf3's server is single-threaded, one client at a time — in a mesh, everyone else gets "server busy". Workaround at N=100: 100 daemons × 100 ports × 100× firewall holes per host. The first version used iperf3 and collapsed under its own workarounds.</a:t>
            </a:r>
          </a:p>
          <a:p>
            <a:pPr>
              <a:defRPr sz="1600"/>
            </a:pPr>
            <a:r>
              <a:t>iperf2's multi-threaded server takes concurrent clients on one port (5001) — one daemon per host, done.</a:t>
            </a:r>
          </a:p>
          <a:p>
            <a:pPr>
              <a:defRPr sz="1600"/>
            </a:pPr>
            <a:r>
              <a:t>Why an orchestrator at all — a mesh has quadratic moving parts:</a:t>
            </a:r>
          </a:p>
          <a:p>
            <a:pPr lvl="1">
              <a:defRPr sz="1400"/>
            </a:pPr>
            <a:r>
              <a:t>4,950 pairs at N=100 — nobody runs that by hand.</a:t>
            </a:r>
          </a:p>
          <a:p>
            <a:pPr lvl="1">
              <a:defRPr sz="1400"/>
            </a:pPr>
            <a:r>
              <a:t>Synchronized start: compute now + 30 s once, push the epoch, every host busy-waits and fires within a fraction of a second. No locks, no protocol — just a number.</a:t>
            </a:r>
          </a:p>
          <a:p>
            <a:pPr lvl="1">
              <a:defRPr sz="1400"/>
            </a:pPr>
            <a:r>
              <a:t>Balanced client assignment (parity rule): for pair {i, j}, client = smaller index if i+j even, larger if odd → every host runs 49–50 clients instead of 0–99. Both ends compute it independently.</a:t>
            </a:r>
          </a:p>
          <a:p>
            <a:pPr lvl="1">
              <a:defRPr sz="1400"/>
            </a:pPr>
            <a:r>
              <a:t>Tar-batched collection: one tar + scp + untar per host ≈ minutes, vs ~80 minutes of N² scp handshakes.</a:t>
            </a:r>
          </a:p>
          <a:p>
            <a:pPr lvl="1">
              <a:defRPr sz="1400"/>
            </a:pPr>
            <a:r>
              <a:t>CPU sampled on every host during the run — because a throughput number without CPU next to it gets misread.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Why run it — and what it does / doesn't do</a:t>
            </a:r>
          </a:p>
        </p:txBody>
      </p:sp>
      <p:sp>
        <p:nvSpPr>
          <p:cNvPr id="3" name="Content Placeholder 2"/>
          <p:cNvSpPr>
            <a:spLocks noGrp="1"/>
          </p:cNvSpPr>
          <p:nvPr>
            <p:ph idx="1"/>
          </p:nvPr>
        </p:nvSpPr>
        <p:spPr/>
        <p:txBody>
          <a:bodyPr wrap="square">
            <a:normAutofit/>
          </a:bodyPr>
          <a:lstStyle/>
          <a:p>
            <a:pPr>
              <a:defRPr sz="1600"/>
            </a:pPr>
            <a:r>
              <a:t>Why: acceptance-test a new fabric or change window (load everything, see what breaks); rank slow hosts/links; get a defensible baseline picture of the fleet.</a:t>
            </a:r>
          </a:p>
          <a:p>
            <a:pPr>
              <a:defRPr sz="1600"/>
            </a:pPr>
            <a:r>
              <a:t>Does: full-duplex TCP mesh; synchronized start; balanced pairs; per-host CPU (mpstat, /proc/stat fallback); parse → CSV/pivot/heatmap re-runnable per run-id; capped ssh fan-out (--jobs), optional --retries; fails open — one bad host doesn't abort a 100-host run.</a:t>
            </a:r>
          </a:p>
          <a:p>
            <a:pPr>
              <a:defRPr sz="1600"/>
            </a:pPr>
            <a:r>
              <a:t>Doesn't:</a:t>
            </a:r>
          </a:p>
          <a:p>
            <a:pPr lvl="1">
              <a:defRPr sz="1400"/>
            </a:pPr>
            <a:r>
              <a:t>No UDP, no latency, no packet rate — that's netmesh/mx territory.</a:t>
            </a:r>
          </a:p>
          <a:p>
            <a:pPr lvl="1">
              <a:defRPr sz="1400"/>
            </a:pPr>
            <a:r>
              <a:t>Doesn't install iperf2 or distribute ssh keys — doctor / check-iperf verify, you provision.</a:t>
            </a:r>
          </a:p>
          <a:p>
            <a:pPr lvl="1">
              <a:defRPr sz="1400"/>
            </a:pPr>
            <a:r>
              <a:t>No normalization for mixed NIC speeds (1G hosts look red next to 10G).</a:t>
            </a:r>
          </a:p>
          <a:p>
            <a:pPr lvl="1">
              <a:defRPr sz="1400"/>
            </a:pPr>
            <a:r>
              <a:t>Heatmap past ~60 hosts drops cell labels by design; read the CSV for exact values.</a:t>
            </a:r>
          </a:p>
          <a:p>
            <a:pPr lvl="1">
              <a:defRPr sz="1400"/>
            </a:pPr>
            <a:r>
              <a:t>sequential-pair at N=100 ≈ 14 hours — the cleanest mode is priced accordingly.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Setup needs</a:t>
            </a:r>
          </a:p>
        </p:txBody>
      </p:sp>
      <p:sp>
        <p:nvSpPr>
          <p:cNvPr id="3" name="Content Placeholder 2"/>
          <p:cNvSpPr>
            <a:spLocks noGrp="1"/>
          </p:cNvSpPr>
          <p:nvPr>
            <p:ph idx="1"/>
          </p:nvPr>
        </p:nvSpPr>
        <p:spPr/>
        <p:txBody>
          <a:bodyPr wrap="square">
            <a:normAutofit/>
          </a:bodyPr>
          <a:lstStyle/>
          <a:p>
            <a:pPr>
              <a:defRPr sz="1600"/>
            </a:pPr>
            <a:r>
              <a:t>Orchestrator host: bash 4+, ssh/scp, tar/gzip, Python 3.6+ (numpy + matplotlib only for the heatmap step).</a:t>
            </a:r>
          </a:p>
          <a:p>
            <a:pPr>
              <a:defRPr sz="1600"/>
            </a:pPr>
            <a:r>
              <a:t>Every server: iperf2 (binary named iperf, 2.0.13+ for --full-duplex); sysstat's mpstat recommended; key-based ssh from the orchestrator (BatchMode — a password prompt is a failure, not a prompt).</a:t>
            </a:r>
          </a:p>
          <a:p>
            <a:pPr>
              <a:defRPr sz="1600"/>
            </a:pPr>
            <a:r>
              <a:t>Keys first: for h in $(grep -v '^#' servers.txt); do ssh-copy-id "$h"; done</a:t>
            </a:r>
          </a:p>
          <a:p>
            <a:pPr>
              <a:defRPr sz="1600"/>
            </a:pPr>
            <a:r>
              <a:t>Preflight: doctor (local deps + install hints), check-iperf (fleet), check-servers (what's already running).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Running, collecting, interpreting, cleaning up</a:t>
            </a:r>
          </a:p>
        </p:txBody>
      </p:sp>
      <p:sp>
        <p:nvSpPr>
          <p:cNvPr id="3" name="Content Placeholder 2"/>
          <p:cNvSpPr>
            <a:spLocks noGrp="1"/>
          </p:cNvSpPr>
          <p:nvPr>
            <p:ph idx="1"/>
          </p:nvPr>
        </p:nvSpPr>
        <p:spPr/>
        <p:txBody>
          <a:bodyPr wrap="square">
            <a:normAutofit/>
          </a:bodyPr>
          <a:lstStyle/>
          <a:p>
            <a:pPr>
              <a:defRPr sz="1600"/>
            </a:pPr>
            <a:r>
              <a:t>Pipeline: start-servers → run-tests → collect-results → parse-csv / parse-cpu / make-pivot / make-heatmap → stop-servers → cleanup --yes</a:t>
            </a:r>
          </a:p>
          <a:p>
            <a:pPr>
              <a:defRPr sz="1600"/>
            </a:pPr>
            <a:r>
              <a:t>all runs the whole thing; every stage is a standalone subcommand, safe to re-run (--run-id addresses old runs; results/latest symlink).</a:t>
            </a:r>
          </a:p>
          <a:p>
            <a:pPr>
              <a:defRPr sz="1600"/>
            </a:pPr>
            <a:r>
              <a:t>Interpreting: start with iperf_heatmap.png and results-summary (P50/P95/min/mean/max + 5 slowest pairs).</a:t>
            </a:r>
          </a:p>
          <a:p>
            <a:pPr lvl="1">
              <a:defRPr sz="1400"/>
            </a:pPr>
            <a:r>
              <a:t>Rows = sender, columns = receiver. All-red row → that host's outbound is sick; all-red column → sick inbound. Bar chart ranks hosts by mean outgoing Mbps, with peak CPU% on each bar.</a:t>
            </a:r>
          </a:p>
          <a:p>
            <a:pPr lvl="1">
              <a:defRPr sz="1400"/>
            </a:pPr>
            <a:r>
              <a:t>The classic misread: slow host + peak_total_pct ≈ 100% ⇒ you measured the CPU, not the fabric. Second classic: box-wide CPU 30% but softirq pinned at 100% on core 0 ⇒ RSS isn't spreading NIC IRQs — invisible without per-core data (mpstat -P ALL).</a:t>
            </a:r>
          </a:p>
          <a:p>
            <a:pPr>
              <a:defRPr sz="1600"/>
            </a:pPr>
            <a:r>
              <a:t>Cleanup: stop-servers kills daemons; cleanup --yes removes the remote dir — scoped to the run-id, so parallel runs on a shared FS never collide. Died halfway? all --resume; flaky host? all --keep-going.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Different ways to run</a:t>
            </a:r>
          </a:p>
        </p:txBody>
      </p:sp>
      <p:sp>
        <p:nvSpPr>
          <p:cNvPr id="3" name="Content Placeholder 2"/>
          <p:cNvSpPr>
            <a:spLocks noGrp="1"/>
          </p:cNvSpPr>
          <p:nvPr>
            <p:ph idx="1"/>
          </p:nvPr>
        </p:nvSpPr>
        <p:spPr/>
        <p:txBody>
          <a:bodyPr wrap="square">
            <a:normAutofit/>
          </a:bodyPr>
          <a:lstStyle/>
          <a:p>
            <a:pPr>
              <a:defRPr sz="1600"/>
            </a:pPr>
            <a:r>
              <a:t>One-liner: iperf-orchestrator --servers servers.txt all — everything else is refinement.</a:t>
            </a:r>
          </a:p>
          <a:p>
            <a:pPr>
              <a:defRPr sz="1600"/>
            </a:pPr>
            <a:r>
              <a:t>Every setting is both a flag and an env var (--duration 60 ≡ IPERF_DURATION=60); flags win.</a:t>
            </a:r>
          </a:p>
          <a:p>
            <a:pPr>
              <a:defRPr sz="1600"/>
            </a:pPr>
            <a:r>
              <a:t>Scale: --jobs 64 (ssh fan-out cap, setup/teardown only), --retries N (linear back-off), -P parallel streams, rolling's --total-time / --flows.</a:t>
            </a:r>
          </a:p>
          <a:p>
            <a:pPr>
              <a:defRPr sz="1600"/>
            </a:pPr>
            <a:r>
              <a:t>Trust: --dry-run prints every ssh/scp command; --verbose / --quiet; status probes hosts live.</a:t>
            </a:r>
          </a:p>
          <a:p>
            <a:pPr>
              <a:defRPr sz="1600"/>
            </a:pPr>
            <a:r>
              <a:t>Fit: --run-id for history; REMOTE_DIR safe on shared filesystems (files embed host + run-id); no hidden state anywhere.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Run modes — what they are, when to use them, why they exist</a:t>
            </a:r>
          </a:p>
        </p:txBody>
      </p:sp>
      <p:graphicFrame>
        <p:nvGraphicFramePr>
          <p:cNvPr id="3" name="Table 2"/>
          <p:cNvGraphicFramePr>
            <a:graphicFrameLocks noGrp="1"/>
          </p:cNvGraphicFramePr>
          <p:nvPr/>
        </p:nvGraphicFramePr>
        <p:xfrm>
          <a:off x="640080" y="1234440"/>
          <a:ext cx="10972800" cy="1828800"/>
        </p:xfrm>
        <a:graphic>
          <a:graphicData uri="http://schemas.openxmlformats.org/drawingml/2006/table">
            <a:tbl>
              <a:tblPr firstRow="1" bandRow="1">
                <a:tableStyleId>{5C22544A-7EE6-4342-B048-85BDC9FD1C3A}</a:tableStyleId>
              </a:tblPr>
              <a:tblGrid>
                <a:gridCol w="2743200"/>
                <a:gridCol w="2743200"/>
                <a:gridCol w="2743200"/>
                <a:gridCol w="2743200"/>
              </a:tblGrid>
              <a:tr h="365760">
                <a:tc>
                  <a:txBody>
                    <a:bodyPr/>
                    <a:lstStyle/>
                    <a:p>
                      <a:pPr>
                        <a:defRPr sz="1250" b="1"/>
                      </a:pPr>
                      <a:r>
                        <a:t>Mode</a:t>
                      </a:r>
                    </a:p>
                  </a:txBody>
                  <a:tcPr/>
                </a:tc>
                <a:tc>
                  <a:txBody>
                    <a:bodyPr/>
                    <a:lstStyle/>
                    <a:p>
                      <a:pPr>
                        <a:defRPr sz="1250" b="1"/>
                      </a:pPr>
                      <a:r>
                        <a:t>Concurrency</a:t>
                      </a:r>
                    </a:p>
                  </a:txBody>
                  <a:tcPr/>
                </a:tc>
                <a:tc>
                  <a:txBody>
                    <a:bodyPr/>
                    <a:lstStyle/>
                    <a:p>
                      <a:pPr>
                        <a:defRPr sz="1250" b="1"/>
                      </a:pPr>
                      <a:r>
                        <a:t>Wall-clock @ N=100, 10 s tests</a:t>
                      </a:r>
                    </a:p>
                  </a:txBody>
                  <a:tcPr/>
                </a:tc>
                <a:tc>
                  <a:txBody>
                    <a:bodyPr/>
                    <a:lstStyle/>
                    <a:p>
                      <a:pPr>
                        <a:defRPr sz="1250" b="1"/>
                      </a:pPr>
                      <a:r>
                        <a:t>Use it when</a:t>
                      </a:r>
                    </a:p>
                  </a:txBody>
                  <a:tcPr/>
                </a:tc>
              </a:tr>
              <a:tr h="365760">
                <a:tc>
                  <a:txBody>
                    <a:bodyPr/>
                    <a:lstStyle/>
                    <a:p>
                      <a:pPr>
                        <a:defRPr sz="1200" b="0"/>
                      </a:pPr>
                      <a:r>
                        <a:t>parallel (default)</a:t>
                      </a:r>
                    </a:p>
                  </a:txBody>
                  <a:tcPr/>
                </a:tc>
                <a:tc>
                  <a:txBody>
                    <a:bodyPr/>
                    <a:lstStyle/>
                    <a:p>
                      <a:pPr>
                        <a:defRPr sz="1200" b="0"/>
                      </a:pPr>
                      <a:r>
                        <a:t>every host fires all clients after one synchronized start</a:t>
                      </a:r>
                    </a:p>
                  </a:txBody>
                  <a:tcPr/>
                </a:tc>
                <a:tc>
                  <a:txBody>
                    <a:bodyPr/>
                    <a:lstStyle/>
                    <a:p>
                      <a:pPr>
                        <a:defRPr sz="1200" b="0"/>
                      </a:pPr>
                      <a:r>
                        <a:t>~50 s</a:t>
                      </a:r>
                    </a:p>
                  </a:txBody>
                  <a:tcPr/>
                </a:tc>
                <a:tc>
                  <a:txBody>
                    <a:bodyPr/>
                    <a:lstStyle/>
                    <a:p>
                      <a:pPr>
                        <a:defRPr sz="1200" b="0"/>
                      </a:pPr>
                      <a:r>
                        <a:t>Stress: load the whole fabric at once, see what breaks</a:t>
                      </a:r>
                    </a:p>
                  </a:txBody>
                  <a:tcPr/>
                </a:tc>
              </a:tr>
              <a:tr h="365760">
                <a:tc>
                  <a:txBody>
                    <a:bodyPr/>
                    <a:lstStyle/>
                    <a:p>
                      <a:pPr>
                        <a:defRPr sz="1200" b="0"/>
                      </a:pPr>
                      <a:r>
                        <a:t>sequential-host</a:t>
                      </a:r>
                    </a:p>
                  </a:txBody>
                  <a:tcPr/>
                </a:tc>
                <a:tc>
                  <a:txBody>
                    <a:bodyPr/>
                    <a:lstStyle/>
                    <a:p>
                      <a:pPr>
                        <a:defRPr sz="1200" b="0"/>
                      </a:pPr>
                      <a:r>
                        <a:t>one host at a time runs all its clients</a:t>
                      </a:r>
                    </a:p>
                  </a:txBody>
                  <a:tcPr/>
                </a:tc>
                <a:tc>
                  <a:txBody>
                    <a:bodyPr/>
                    <a:lstStyle/>
                    <a:p>
                      <a:pPr>
                        <a:defRPr sz="1200" b="0"/>
                      </a:pPr>
                      <a:r>
                        <a:t>~17 min</a:t>
                      </a:r>
                    </a:p>
                  </a:txBody>
                  <a:tcPr/>
                </a:tc>
                <a:tc>
                  <a:txBody>
                    <a:bodyPr/>
                    <a:lstStyle/>
                    <a:p>
                      <a:pPr>
                        <a:defRPr sz="1200" b="0"/>
                      </a:pPr>
                      <a:r>
                        <a:t>Clean per-host numbers without inter-host interference</a:t>
                      </a:r>
                    </a:p>
                  </a:txBody>
                  <a:tcPr/>
                </a:tc>
              </a:tr>
              <a:tr h="365760">
                <a:tc>
                  <a:txBody>
                    <a:bodyPr/>
                    <a:lstStyle/>
                    <a:p>
                      <a:pPr>
                        <a:defRPr sz="1200" b="0"/>
                      </a:pPr>
                      <a:r>
                        <a:t>sequential-pair</a:t>
                      </a:r>
                    </a:p>
                  </a:txBody>
                  <a:tcPr/>
                </a:tc>
                <a:tc>
                  <a:txBody>
                    <a:bodyPr/>
                    <a:lstStyle/>
                    <a:p>
                      <a:pPr>
                        <a:defRPr sz="1200" b="0"/>
                      </a:pPr>
                      <a:r>
                        <a:t>exactly one connection on the wire</a:t>
                      </a:r>
                    </a:p>
                  </a:txBody>
                  <a:tcPr/>
                </a:tc>
                <a:tc>
                  <a:txBody>
                    <a:bodyPr/>
                    <a:lstStyle/>
                    <a:p>
                      <a:pPr>
                        <a:defRPr sz="1200" b="0"/>
                      </a:pPr>
                      <a:r>
                        <a:t>~14 h</a:t>
                      </a:r>
                    </a:p>
                  </a:txBody>
                  <a:tcPr/>
                </a:tc>
                <a:tc>
                  <a:txBody>
                    <a:bodyPr/>
                    <a:lstStyle/>
                    <a:p>
                      <a:pPr>
                        <a:defRPr sz="1200" b="0"/>
                      </a:pPr>
                      <a:r>
                        <a:t>Cleanest per-pair numbers — usually overkill</a:t>
                      </a:r>
                    </a:p>
                  </a:txBody>
                  <a:tcPr/>
                </a:tc>
              </a:tr>
              <a:tr h="365760">
                <a:tc>
                  <a:txBody>
                    <a:bodyPr/>
                    <a:lstStyle/>
                    <a:p>
                      <a:pPr>
                        <a:defRPr sz="1200" b="0"/>
                      </a:pPr>
                      <a:r>
                        <a:t>rolling</a:t>
                      </a:r>
                    </a:p>
                  </a:txBody>
                  <a:tcPr/>
                </a:tc>
                <a:tc>
                  <a:txBody>
                    <a:bodyPr/>
                    <a:lstStyle/>
                    <a:p>
                      <a:pPr>
                        <a:defRPr sz="1200" b="0"/>
                      </a:pPr>
                      <a:r>
                        <a:t>each host keeps testing its least-tested peer, ≤ --flows at once, for --total-time</a:t>
                      </a:r>
                    </a:p>
                  </a:txBody>
                  <a:tcPr/>
                </a:tc>
                <a:tc>
                  <a:txBody>
                    <a:bodyPr/>
                    <a:lstStyle/>
                    <a:p>
                      <a:pPr>
                        <a:defRPr sz="1200" b="0"/>
                      </a:pPr>
                      <a:r>
                        <a:t>bounded by --total-time</a:t>
                      </a:r>
                    </a:p>
                  </a:txBody>
                  <a:tcPr/>
                </a:tc>
                <a:tc>
                  <a:txBody>
                    <a:bodyPr/>
                    <a:lstStyle/>
                    <a:p>
                      <a:pPr>
                        <a:defRPr sz="1200" b="0"/>
                      </a:pPr>
                      <a:r>
                        <a:t>Very large N: per-host load constant regardless of fleet size</a:t>
                      </a:r>
                    </a:p>
                  </a:txBody>
                  <a:tcPr/>
                </a:tc>
              </a:tr>
            </a:tbl>
          </a:graphicData>
        </a:graphic>
      </p:graphicFrame>
      <p:sp>
        <p:nvSpPr>
          <p:cNvPr id="4" name="TextBox 3"/>
          <p:cNvSpPr txBox="1"/>
          <p:nvPr/>
        </p:nvSpPr>
        <p:spPr>
          <a:xfrm>
            <a:off x="822960" y="3246120"/>
            <a:ext cx="10607040" cy="932688"/>
          </a:xfrm>
          <a:prstGeom prst="rect">
            <a:avLst/>
          </a:prstGeom>
          <a:noFill/>
        </p:spPr>
        <p:txBody>
          <a:bodyPr wrap="square">
            <a:spAutoFit/>
          </a:bodyPr>
          <a:lstStyle/>
          <a:p>
            <a:pPr>
              <a:defRPr sz="1400"/>
            </a:pPr>
            <a:r>
              <a:t>• Why modes exist: one knob — how much traffic shares the wire at once — trades realism vs isolation vs wall-clock. parallel answers "what breaks under load?"; sequential modes answer "what is each host/pair capable of?"; rolling exists because at huge N even the full-mesh schedule itself becomes the problem.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 2 — matrix_orchestrator (mx)</a:t>
            </a:r>
          </a:p>
        </p:txBody>
      </p:sp>
      <p:sp>
        <p:nvSpPr>
          <p:cNvPr id="3" name="Text Placeholder 2"/>
          <p:cNvSpPr>
            <a:spLocks noGrp="1"/>
          </p:cNvSpPr>
          <p:nvPr>
            <p:ph type="body" idx="1"/>
          </p:nvPr>
        </p:nvSpPr>
        <p:spPr/>
        <p:txBody>
          <a:bodyPr/>
          <a:lstStyle/>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Purpose — beyond iperf_orchestrator</a:t>
            </a:r>
          </a:p>
        </p:txBody>
      </p:sp>
      <p:sp>
        <p:nvSpPr>
          <p:cNvPr id="3" name="Content Placeholder 2"/>
          <p:cNvSpPr>
            <a:spLocks noGrp="1"/>
          </p:cNvSpPr>
          <p:nvPr>
            <p:ph idx="1"/>
          </p:nvPr>
        </p:nvSpPr>
        <p:spPr/>
        <p:txBody>
          <a:bodyPr wrap="square">
            <a:normAutofit/>
          </a:bodyPr>
          <a:lstStyle/>
          <a:p>
            <a:pPr>
              <a:defRPr sz="1600"/>
            </a:pPr>
            <a:r>
              <a:t>iperf_orchestrator gives each pair's max TCP bandwidth. Real traffic isn't bulk bytes — it's RPCs, storage reads, control planes: small requests, sized answers, measured in packets.</a:t>
            </a:r>
          </a:p>
          <a:p>
            <a:pPr>
              <a:defRPr sz="1600"/>
            </a:pPr>
            <a:r>
              <a:t>mx runs that shape: every host sends *x*-byte requests at a target rate to every peer; every request gets a *y*-byte reply. That's the whole model.</a:t>
            </a:r>
          </a:p>
          <a:p>
            <a:pPr>
              <a:defRPr sz="1600"/>
            </a:pPr>
            <a:r>
              <a:t>Headline: packets per second the fleet can exchange when every packet must be answered — where fabrics and NICs actually fall over.</a:t>
            </a:r>
          </a:p>
          <a:p>
            <a:pPr>
              <a:defRPr sz="1600"/>
            </a:pPr>
            <a:r>
              <a:t>RTT falls out free: the reply carries the request's timestamp back → true round trip, no clock sync.</a:t>
            </a:r>
          </a:p>
          <a:p>
            <a:pPr>
              <a:defRPr sz="1600"/>
            </a:pPr>
            <a:r>
              <a:t>Asymmetry by design: --tx-size 128 --rx-size 8192 = RPC — equal pps both ways, 64× the bandwidth on the reply path. That asymmetry usually breaks first; the report keeps directions separate.</a:t>
            </a:r>
          </a:p>
          <a:p>
            <a:pPr>
              <a:defRPr sz="1600"/>
            </a:pPr>
            <a:r>
              <a:t>Why UDP only: "every x-byte request gets a y-byte reply" is a statement about packets; TCP would coalesce and re-segment → the pps number would be fiction. TCP goodput → iperf_orchestrator.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What it does / doesn't do</a:t>
            </a:r>
          </a:p>
        </p:txBody>
      </p:sp>
      <p:sp>
        <p:nvSpPr>
          <p:cNvPr id="3" name="Content Placeholder 2"/>
          <p:cNvSpPr>
            <a:spLocks noGrp="1"/>
          </p:cNvSpPr>
          <p:nvPr>
            <p:ph idx="1"/>
          </p:nvPr>
        </p:nvSpPr>
        <p:spPr/>
        <p:txBody>
          <a:bodyPr wrap="square">
            <a:normAutofit/>
          </a:bodyPr>
          <a:lstStyle/>
          <a:p>
            <a:pPr>
              <a:defRPr sz="1600"/>
            </a:pPr>
            <a:r>
              <a:t>Does: paced request/response matrix (rates, sizes, port all in one editable CSV); payload *and* wire rate (+66 B framing/packet — what the NIC actually carries); loss split forward/return; DELIVERED as the honest headline; RTT avg/p50/p99/max per flow; per-host CPU incl. the agent's own share; grids; check/hints/doctor preflight; fd soft-limits raised automatically.</a:t>
            </a:r>
          </a:p>
          <a:p>
            <a:pPr>
              <a:defRPr sz="1600"/>
            </a:pPr>
            <a:r>
              <a:t>Doesn't / limits:</a:t>
            </a:r>
          </a:p>
          <a:p>
            <a:pPr lvl="1">
              <a:defRPr sz="1400"/>
            </a:pPr>
            <a:r>
              <a:t>No TCP; no one-way delay (needs clock sync it refuses to pretend it has).</a:t>
            </a:r>
          </a:p>
          <a:p>
            <a:pPr lvl="1">
              <a:defRPr sz="1400"/>
            </a:pPr>
            <a:r>
              <a:t>Not a kernel-bypass blaster: ~200k pps per worker (one core), 1–4 Mpps per typical host; beyond a few Mpps the kernel UDP path is the wall as much as Python — wider fleet or AF_XDP/DPDK.</a:t>
            </a:r>
          </a:p>
          <a:p>
            <a:pPr lvl="1">
              <a:defRPr sz="1400"/>
            </a:pPr>
            <a:r>
              <a:t>Payload 32–65507 bytes; key-based ssh assumed (mx doctor checks).</a:t>
            </a:r>
          </a:p>
          <a:p>
            <a:pPr lvl="1">
              <a:defRPr sz="1400"/>
            </a:pPr>
            <a:r>
              <a:t>Won't hide its own limits: when a worker saturates, the summary says you're measuring the tool and names the fix.</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How to run it — different from iperf_orchestrator</a:t>
            </a:r>
          </a:p>
        </p:txBody>
      </p:sp>
      <p:sp>
        <p:nvSpPr>
          <p:cNvPr id="3" name="TextBox 2"/>
          <p:cNvSpPr txBox="1"/>
          <p:nvPr/>
        </p:nvSpPr>
        <p:spPr>
          <a:xfrm>
            <a:off x="640080" y="1234440"/>
            <a:ext cx="10972800" cy="1984248"/>
          </a:xfrm>
          <a:prstGeom prst="rect">
            <a:avLst/>
          </a:prstGeom>
          <a:noFill/>
        </p:spPr>
        <p:txBody>
          <a:bodyPr wrap="none">
            <a:spAutoFit/>
          </a:bodyPr>
          <a:lstStyle/>
          <a:p>
            <a:pPr>
              <a:defRPr sz="1300">
                <a:solidFill>
                  <a:srgbClr val="24354A"/>
                </a:solidFill>
                <a:latin typeface="Consolas"/>
              </a:defRPr>
            </a:pPr>
            <a:r>
              <a:t>printf '%s\n' 10.0.0.10 10.0.0.11 10.0.0.12 &gt; servers.txt</a:t>
            </a:r>
          </a:p>
          <a:p>
            <a:pPr>
              <a:defRPr sz="1300">
                <a:solidFill>
                  <a:srgbClr val="24354A"/>
                </a:solidFill>
                <a:latin typeface="Consolas"/>
              </a:defRPr>
            </a:pPr>
            <a:r>
              <a:t>mx gen --servers servers.txt --pps 20000   # 1. build matrix.csv</a:t>
            </a:r>
          </a:p>
          <a:p>
            <a:pPr>
              <a:defRPr sz="1300">
                <a:solidFill>
                  <a:srgbClr val="24354A"/>
                </a:solidFill>
                <a:latin typeface="Consolas"/>
              </a:defRPr>
            </a:pPr>
            <a:r>
              <a:t>mx start                                   # 2. deploy + run everywhere</a:t>
            </a:r>
          </a:p>
          <a:p>
            <a:pPr>
              <a:defRPr sz="1300">
                <a:solidFill>
                  <a:srgbClr val="24354A"/>
                </a:solidFill>
                <a:latin typeface="Consolas"/>
              </a:defRPr>
            </a:pPr>
            <a:r>
              <a:t>mx status                                  # 3. running? how fast?</a:t>
            </a:r>
          </a:p>
          <a:p>
            <a:pPr>
              <a:defRPr sz="1300">
                <a:solidFill>
                  <a:srgbClr val="24354A"/>
                </a:solidFill>
                <a:latin typeface="Consolas"/>
              </a:defRPr>
            </a:pPr>
            <a:r>
              <a:t>mx summarize                               # 4. pps / Gbps / loss / latency</a:t>
            </a:r>
          </a:p>
          <a:p>
            <a:pPr>
              <a:defRPr sz="1300">
                <a:solidFill>
                  <a:srgbClr val="24354A"/>
                </a:solidFill>
                <a:latin typeface="Consolas"/>
              </a:defRPr>
            </a:pPr>
            <a:r>
              <a:t>mx stop                                    # 5. stop the agents</a:t>
            </a:r>
          </a:p>
          <a:p>
            <a:pPr>
              <a:defRPr sz="1300">
                <a:solidFill>
                  <a:srgbClr val="24354A"/>
                </a:solidFill>
                <a:latin typeface="Consolas"/>
              </a:defRPr>
            </a:pPr>
            <a:r>
              <a:t>mx clean                                   # 6. leave no trace</a:t>
            </a:r>
          </a:p>
          <a:p>
            <a:pPr>
              <a:defRPr sz="1300">
                <a:solidFill>
                  <a:srgbClr val="24354A"/>
                </a:solidFill>
                <a:latin typeface="Consolas"/>
              </a:defRPr>
            </a:pPr>
            <a:r>
              <a:t># or all of it: mx run --for 60</a:t>
            </a:r>
          </a:p>
        </p:txBody>
      </p:sp>
      <p:sp>
        <p:nvSpPr>
          <p:cNvPr id="4" name="TextBox 3"/>
          <p:cNvSpPr txBox="1"/>
          <p:nvPr/>
        </p:nvSpPr>
        <p:spPr>
          <a:xfrm>
            <a:off x="822960" y="3355848"/>
            <a:ext cx="10607040" cy="621792"/>
          </a:xfrm>
          <a:prstGeom prst="rect">
            <a:avLst/>
          </a:prstGeom>
          <a:noFill/>
        </p:spPr>
        <p:txBody>
          <a:bodyPr wrap="square">
            <a:spAutoFit/>
          </a:bodyPr>
          <a:lstStyle/>
          <a:p>
            <a:pPr>
              <a:defRPr sz="1400"/>
            </a:pPr>
            <a:r>
              <a:t>• Differences from iperf_orchestrator: servers need nothing but Python 3.6+ (no iperf2 to install); config lives in matrix.csv, not flags you re-type; pure-Python single file, stdlib only.</a:t>
            </a:r>
          </a:p>
        </p:txBody>
      </p:sp>
      <p:sp>
        <p:nvSpPr>
          <p:cNvPr id="5" name="TextBox 4"/>
          <p:cNvSpPr txBox="1"/>
          <p:nvPr/>
        </p:nvSpPr>
        <p:spPr>
          <a:xfrm>
            <a:off x="822960" y="4050792"/>
            <a:ext cx="10607040" cy="310896"/>
          </a:xfrm>
          <a:prstGeom prst="rect">
            <a:avLst/>
          </a:prstGeom>
          <a:noFill/>
        </p:spPr>
        <p:txBody>
          <a:bodyPr wrap="square">
            <a:spAutoFit/>
          </a:bodyPr>
          <a:lstStyle/>
          <a:p>
            <a:pPr>
              <a:defRPr sz="1400"/>
            </a:pPr>
            <a:r>
              <a:t>• Five more when needed: run, check (will the NICs carry this?), hints (goal → command), logs, doctor.</a:t>
            </a:r>
          </a:p>
        </p:txBody>
      </p:sp>
      <p:sp>
        <p:nvSpPr>
          <p:cNvPr id="6" name="TextBox 5"/>
          <p:cNvSpPr txBox="1"/>
          <p:nvPr/>
        </p:nvSpPr>
        <p:spPr>
          <a:xfrm>
            <a:off x="822960" y="4434840"/>
            <a:ext cx="10607040" cy="310896"/>
          </a:xfrm>
          <a:prstGeom prst="rect">
            <a:avLst/>
          </a:prstGeom>
          <a:noFill/>
        </p:spPr>
        <p:txBody>
          <a:bodyPr wrap="square">
            <a:spAutoFit/>
          </a:bodyPr>
          <a:lstStyle/>
          <a:p>
            <a:pPr>
              <a:defRPr sz="1400"/>
            </a:pPr>
            <a:r>
              <a:t>• Every fleet command: --user --jobs --remote-dir --python --dry-run (+ MX_* env vars).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The matrix file — and changing the run mid-stream</a:t>
            </a:r>
          </a:p>
        </p:txBody>
      </p:sp>
      <p:sp>
        <p:nvSpPr>
          <p:cNvPr id="3" name="TextBox 2"/>
          <p:cNvSpPr txBox="1"/>
          <p:nvPr/>
        </p:nvSpPr>
        <p:spPr>
          <a:xfrm>
            <a:off x="640080" y="1234440"/>
            <a:ext cx="10972800" cy="1545336"/>
          </a:xfrm>
          <a:prstGeom prst="rect">
            <a:avLst/>
          </a:prstGeom>
          <a:noFill/>
        </p:spPr>
        <p:txBody>
          <a:bodyPr wrap="none">
            <a:spAutoFit/>
          </a:bodyPr>
          <a:lstStyle/>
          <a:p>
            <a:pPr>
              <a:defRPr sz="1300">
                <a:solidFill>
                  <a:srgbClr val="24354A"/>
                </a:solidFill>
                <a:latin typeface="Consolas"/>
              </a:defRPr>
            </a:pPr>
            <a:r>
              <a:t># mx matrix v1 -- rows send, columns receive, cells are packets/sec</a:t>
            </a:r>
          </a:p>
          <a:p>
            <a:pPr>
              <a:defRPr sz="1300">
                <a:solidFill>
                  <a:srgbClr val="24354A"/>
                </a:solidFill>
                <a:latin typeface="Consolas"/>
              </a:defRPr>
            </a:pPr>
            <a:r>
              <a:t># tx_size=64 rx_size=512 port=5300</a:t>
            </a:r>
          </a:p>
          <a:p>
            <a:pPr>
              <a:defRPr sz="1300">
                <a:solidFill>
                  <a:srgbClr val="24354A"/>
                </a:solidFill>
                <a:latin typeface="Consolas"/>
              </a:defRPr>
            </a:pPr>
            <a:r>
              <a:t>src\dst,10.0.0.10,10.0.0.11,10.0.0.12</a:t>
            </a:r>
          </a:p>
          <a:p>
            <a:pPr>
              <a:defRPr sz="1300">
                <a:solidFill>
                  <a:srgbClr val="24354A"/>
                </a:solidFill>
                <a:latin typeface="Consolas"/>
              </a:defRPr>
            </a:pPr>
            <a:r>
              <a:t>10.0.0.10,,20000,20000</a:t>
            </a:r>
          </a:p>
          <a:p>
            <a:pPr>
              <a:defRPr sz="1300">
                <a:solidFill>
                  <a:srgbClr val="24354A"/>
                </a:solidFill>
                <a:latin typeface="Consolas"/>
              </a:defRPr>
            </a:pPr>
            <a:r>
              <a:t>10.0.0.11,5000,,max</a:t>
            </a:r>
          </a:p>
          <a:p>
            <a:pPr>
              <a:defRPr sz="1300">
                <a:solidFill>
                  <a:srgbClr val="24354A"/>
                </a:solidFill>
                <a:latin typeface="Consolas"/>
              </a:defRPr>
            </a:pPr>
            <a:r>
              <a:t>10.0.0.12,20000,20000,</a:t>
            </a:r>
          </a:p>
        </p:txBody>
      </p:sp>
      <p:sp>
        <p:nvSpPr>
          <p:cNvPr id="4" name="TextBox 3"/>
          <p:cNvSpPr txBox="1"/>
          <p:nvPr/>
        </p:nvSpPr>
        <p:spPr>
          <a:xfrm>
            <a:off x="822960" y="2916936"/>
            <a:ext cx="10607040" cy="310896"/>
          </a:xfrm>
          <a:prstGeom prst="rect">
            <a:avLst/>
          </a:prstGeom>
          <a:noFill/>
        </p:spPr>
        <p:txBody>
          <a:bodyPr wrap="square">
            <a:spAutoFit/>
          </a:bodyPr>
          <a:lstStyle/>
          <a:p>
            <a:pPr>
              <a:defRPr sz="1400"/>
            </a:pPr>
            <a:r>
              <a:t>• Everything about the traffic lives here; no command needs the flags again. Host tokens: name[=addr[:port]].</a:t>
            </a:r>
          </a:p>
        </p:txBody>
      </p:sp>
      <p:sp>
        <p:nvSpPr>
          <p:cNvPr id="5" name="TextBox 4"/>
          <p:cNvSpPr txBox="1"/>
          <p:nvPr/>
        </p:nvSpPr>
        <p:spPr>
          <a:xfrm>
            <a:off x="822960" y="3300984"/>
            <a:ext cx="10607040" cy="310896"/>
          </a:xfrm>
          <a:prstGeom prst="rect">
            <a:avLst/>
          </a:prstGeom>
          <a:noFill/>
        </p:spPr>
        <p:txBody>
          <a:bodyPr wrap="square">
            <a:spAutoFit/>
          </a:bodyPr>
          <a:lstStyle/>
          <a:p>
            <a:pPr>
              <a:defRPr sz="1400"/>
            </a:pPr>
            <a:r>
              <a:t>• Mid-stream = edit + mx start again (agents redeploy in seconds):</a:t>
            </a:r>
          </a:p>
        </p:txBody>
      </p:sp>
      <p:sp>
        <p:nvSpPr>
          <p:cNvPr id="6" name="TextBox 5"/>
          <p:cNvSpPr txBox="1"/>
          <p:nvPr/>
        </p:nvSpPr>
        <p:spPr>
          <a:xfrm>
            <a:off x="1143000" y="3685032"/>
            <a:ext cx="10287000" cy="310896"/>
          </a:xfrm>
          <a:prstGeom prst="rect">
            <a:avLst/>
          </a:prstGeom>
          <a:noFill/>
        </p:spPr>
        <p:txBody>
          <a:bodyPr wrap="square">
            <a:spAutoFit/>
          </a:bodyPr>
          <a:lstStyle/>
          <a:p>
            <a:pPr>
              <a:defRPr sz="1250"/>
            </a:pPr>
            <a:r>
              <a:t>• blank a cell → that flow is gone</a:t>
            </a:r>
          </a:p>
        </p:txBody>
      </p:sp>
      <p:sp>
        <p:nvSpPr>
          <p:cNvPr id="7" name="TextBox 6"/>
          <p:cNvSpPr txBox="1"/>
          <p:nvPr/>
        </p:nvSpPr>
        <p:spPr>
          <a:xfrm>
            <a:off x="1143000" y="4069080"/>
            <a:ext cx="10287000" cy="310896"/>
          </a:xfrm>
          <a:prstGeom prst="rect">
            <a:avLst/>
          </a:prstGeom>
          <a:noFill/>
        </p:spPr>
        <p:txBody>
          <a:bodyPr wrap="square">
            <a:spAutoFit/>
          </a:bodyPr>
          <a:lstStyle/>
          <a:p>
            <a:pPr>
              <a:defRPr sz="1250"/>
            </a:pPr>
            <a:r>
              <a:t>• change a cell → that pair gets its own rate</a:t>
            </a:r>
          </a:p>
        </p:txBody>
      </p:sp>
      <p:sp>
        <p:nvSpPr>
          <p:cNvPr id="8" name="TextBox 7"/>
          <p:cNvSpPr txBox="1"/>
          <p:nvPr/>
        </p:nvSpPr>
        <p:spPr>
          <a:xfrm>
            <a:off x="1143000" y="4453128"/>
            <a:ext cx="10287000" cy="310896"/>
          </a:xfrm>
          <a:prstGeom prst="rect">
            <a:avLst/>
          </a:prstGeom>
          <a:noFill/>
        </p:spPr>
        <p:txBody>
          <a:bodyPr wrap="square">
            <a:spAutoFit/>
          </a:bodyPr>
          <a:lstStyle/>
          <a:p>
            <a:pPr>
              <a:defRPr sz="1250"/>
            </a:pPr>
            <a:r>
              <a:t>• write max → that pair runs unpaced</a:t>
            </a:r>
          </a:p>
        </p:txBody>
      </p:sp>
      <p:sp>
        <p:nvSpPr>
          <p:cNvPr id="9" name="TextBox 8"/>
          <p:cNvSpPr txBox="1"/>
          <p:nvPr/>
        </p:nvSpPr>
        <p:spPr>
          <a:xfrm>
            <a:off x="1143000" y="4837176"/>
            <a:ext cx="10287000" cy="310896"/>
          </a:xfrm>
          <a:prstGeom prst="rect">
            <a:avLst/>
          </a:prstGeom>
          <a:noFill/>
        </p:spPr>
        <p:txBody>
          <a:bodyPr wrap="square">
            <a:spAutoFit/>
          </a:bodyPr>
          <a:lstStyle/>
          <a:p>
            <a:pPr>
              <a:defRPr sz="1250"/>
            </a:pPr>
            <a:r>
              <a:t>• edit the header → reshape sizes / port</a:t>
            </a:r>
          </a:p>
        </p:txBody>
      </p:sp>
      <p:sp>
        <p:nvSpPr>
          <p:cNvPr id="10" name="TextBox 9"/>
          <p:cNvSpPr txBox="1"/>
          <p:nvPr/>
        </p:nvSpPr>
        <p:spPr>
          <a:xfrm>
            <a:off x="822960" y="5221224"/>
            <a:ext cx="10607040" cy="621792"/>
          </a:xfrm>
          <a:prstGeom prst="rect">
            <a:avLst/>
          </a:prstGeom>
          <a:noFill/>
        </p:spPr>
        <p:txBody>
          <a:bodyPr wrap="square">
            <a:spAutoFit/>
          </a:bodyPr>
          <a:lstStyle/>
          <a:p>
            <a:pPr>
              <a:defRPr sz="1400"/>
            </a:pPr>
            <a:r>
              <a:t>• Non-uniform investigations ("only cross-rack pairs", "one hot pair unpaced") are text edits, not new features.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Getting results</a:t>
            </a:r>
          </a:p>
        </p:txBody>
      </p:sp>
      <p:sp>
        <p:nvSpPr>
          <p:cNvPr id="3" name="Content Placeholder 2"/>
          <p:cNvSpPr>
            <a:spLocks noGrp="1"/>
          </p:cNvSpPr>
          <p:nvPr>
            <p:ph idx="1"/>
          </p:nvPr>
        </p:nvSpPr>
        <p:spPr/>
        <p:txBody>
          <a:bodyPr wrap="square">
            <a:normAutofit/>
          </a:bodyPr>
          <a:lstStyle/>
          <a:p>
            <a:pPr>
              <a:defRPr sz="1600"/>
            </a:pPr>
            <a:r>
              <a:t>mx status --watch 5 — live ticker, one line per host.</a:t>
            </a:r>
          </a:p>
          <a:p>
            <a:pPr>
              <a:defRPr sz="1600"/>
            </a:pPr>
            <a:r>
              <a:t>mx summarize — fleet totals, per-host table (worst delivery first), worst flows, and a computed WHAT TO DO NEXT.</a:t>
            </a:r>
          </a:p>
          <a:p>
            <a:pPr>
              <a:defRPr sz="1600"/>
            </a:pPr>
            <a:r>
              <a:t>mx summarize --grid g — N×N CSVs in the matrix's shape: pps, delivered, loss, rtt_p99. Dark row = sick sender; dark column = sick receiver; dark block = congested pair of leaves.</a:t>
            </a:r>
          </a:p>
          <a:p>
            <a:pPr>
              <a:defRPr sz="1600"/>
            </a:pPr>
            <a:r>
              <a:t>reports/&lt;host&gt;.csv — one row per flow per interval (pps, loss, RTT percentiles, CPU, workers). Plain CSV; plot with anything.</a:t>
            </a:r>
          </a:p>
          <a:p>
            <a:pPr>
              <a:defRPr sz="1600"/>
            </a:pPr>
            <a:r>
              <a:t>mx logs for the agents' own logs. Reports survive mx stop; only mx clean removes them.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Interpreting the summary</a:t>
            </a:r>
          </a:p>
        </p:txBody>
      </p:sp>
      <p:sp>
        <p:nvSpPr>
          <p:cNvPr id="3" name="TextBox 2"/>
          <p:cNvSpPr txBox="1"/>
          <p:nvPr/>
        </p:nvSpPr>
        <p:spPr>
          <a:xfrm>
            <a:off x="640080" y="1234440"/>
            <a:ext cx="10972800" cy="1545336"/>
          </a:xfrm>
          <a:prstGeom prst="rect">
            <a:avLst/>
          </a:prstGeom>
          <a:noFill/>
        </p:spPr>
        <p:txBody>
          <a:bodyPr wrap="none">
            <a:spAutoFit/>
          </a:bodyPr>
          <a:lstStyle/>
          <a:p>
            <a:pPr>
              <a:defRPr sz="1300">
                <a:solidFill>
                  <a:srgbClr val="24354A"/>
                </a:solidFill>
                <a:latin typeface="Consolas"/>
              </a:defRPr>
            </a:pPr>
            <a:r>
              <a:t>REQUESTS   2.640 Mpps   2.75 Gbps wire</a:t>
            </a:r>
          </a:p>
          <a:p>
            <a:pPr>
              <a:defRPr sz="1300">
                <a:solidFill>
                  <a:srgbClr val="24354A"/>
                </a:solidFill>
                <a:latin typeface="Consolas"/>
              </a:defRPr>
            </a:pPr>
            <a:r>
              <a:t>DELIVERED  2.601 Mpps   98.52% of what was sent</a:t>
            </a:r>
          </a:p>
          <a:p>
            <a:pPr>
              <a:defRPr sz="1300">
                <a:solidFill>
                  <a:srgbClr val="24354A"/>
                </a:solidFill>
                <a:latin typeface="Consolas"/>
              </a:defRPr>
            </a:pPr>
            <a:r>
              <a:t>REPLIES    2.598 Mpps   2.71 Gbps wire</a:t>
            </a:r>
          </a:p>
          <a:p>
            <a:pPr>
              <a:defRPr sz="1300">
                <a:solidFill>
                  <a:srgbClr val="24354A"/>
                </a:solidFill>
                <a:latin typeface="Consolas"/>
              </a:defRPr>
            </a:pPr>
            <a:r>
              <a:t>TARGET     2.640 Mpps   100.0% achieved</a:t>
            </a:r>
          </a:p>
          <a:p>
            <a:pPr>
              <a:defRPr sz="1300">
                <a:solidFill>
                  <a:srgbClr val="24354A"/>
                </a:solidFill>
                <a:latin typeface="Consolas"/>
              </a:defRPr>
            </a:pPr>
            <a:r>
              <a:t>LOSS       1.59% round trip (1.48% forward, 0.11% back)</a:t>
            </a:r>
          </a:p>
          <a:p>
            <a:pPr>
              <a:defRPr sz="1300">
                <a:solidFill>
                  <a:srgbClr val="24354A"/>
                </a:solidFill>
                <a:latin typeface="Consolas"/>
              </a:defRPr>
            </a:pPr>
            <a:r>
              <a:t>RTT        avg 240us; worst flow p50 190us p99 4.1ms max 31ms</a:t>
            </a:r>
          </a:p>
        </p:txBody>
      </p:sp>
      <p:sp>
        <p:nvSpPr>
          <p:cNvPr id="4" name="TextBox 3"/>
          <p:cNvSpPr txBox="1"/>
          <p:nvPr/>
        </p:nvSpPr>
        <p:spPr>
          <a:xfrm>
            <a:off x="822960" y="2916936"/>
            <a:ext cx="10607040" cy="310896"/>
          </a:xfrm>
          <a:prstGeom prst="rect">
            <a:avLst/>
          </a:prstGeom>
          <a:noFill/>
        </p:spPr>
        <p:txBody>
          <a:bodyPr wrap="square">
            <a:spAutoFit/>
          </a:bodyPr>
          <a:lstStyle/>
          <a:p>
            <a:pPr>
              <a:defRPr sz="1400"/>
            </a:pPr>
            <a:r>
              <a:t>• DELIVERED is the honest number — senders can't see their own drops.</a:t>
            </a:r>
          </a:p>
        </p:txBody>
      </p:sp>
      <p:sp>
        <p:nvSpPr>
          <p:cNvPr id="5" name="TextBox 4"/>
          <p:cNvSpPr txBox="1"/>
          <p:nvPr/>
        </p:nvSpPr>
        <p:spPr>
          <a:xfrm>
            <a:off x="822960" y="3300984"/>
            <a:ext cx="10607040" cy="310896"/>
          </a:xfrm>
          <a:prstGeom prst="rect">
            <a:avLst/>
          </a:prstGeom>
          <a:noFill/>
        </p:spPr>
        <p:txBody>
          <a:bodyPr wrap="square">
            <a:spAutoFit/>
          </a:bodyPr>
          <a:lstStyle/>
          <a:p>
            <a:pPr>
              <a:defRPr sz="1400"/>
            </a:pPr>
            <a:r>
              <a:t>• Loss split by leg — dropping 64 B requests vs dropping 8 KB replies need different fixes.</a:t>
            </a:r>
          </a:p>
        </p:txBody>
      </p:sp>
      <p:sp>
        <p:nvSpPr>
          <p:cNvPr id="6" name="TextBox 5"/>
          <p:cNvSpPr txBox="1"/>
          <p:nvPr/>
        </p:nvSpPr>
        <p:spPr>
          <a:xfrm>
            <a:off x="822960" y="3685032"/>
            <a:ext cx="10607040" cy="310896"/>
          </a:xfrm>
          <a:prstGeom prst="rect">
            <a:avLst/>
          </a:prstGeom>
          <a:noFill/>
        </p:spPr>
        <p:txBody>
          <a:bodyPr wrap="square">
            <a:spAutoFit/>
          </a:bodyPr>
          <a:lstStyle/>
          <a:p>
            <a:pPr>
              <a:defRPr sz="1400"/>
            </a:pPr>
            <a:r>
              <a:t>• RTT is a true round trip — the stamp comes back; no clock sync involved.</a:t>
            </a:r>
          </a:p>
        </p:txBody>
      </p:sp>
      <p:sp>
        <p:nvSpPr>
          <p:cNvPr id="7" name="TextBox 6"/>
          <p:cNvSpPr txBox="1"/>
          <p:nvPr/>
        </p:nvSpPr>
        <p:spPr>
          <a:xfrm>
            <a:off x="822960" y="4069080"/>
            <a:ext cx="10607040" cy="932688"/>
          </a:xfrm>
          <a:prstGeom prst="rect">
            <a:avLst/>
          </a:prstGeom>
          <a:noFill/>
        </p:spPr>
        <p:txBody>
          <a:bodyPr wrap="square">
            <a:spAutoFit/>
          </a:bodyPr>
          <a:lstStyle/>
          <a:p>
            <a:pPr>
              <a:defRPr sz="1400"/>
            </a:pPr>
            <a:r>
              <a:t>• Per-host CPU columns: cpu (box) / 1 core (busiest core) / agent (busiest worker as share of one core). agent ≈ 100% ⇒ you're measuring the tool, not the network — add workers (spare cores) or hosts; the summary says so in as many words.</a:t>
            </a:r>
          </a:p>
        </p:txBody>
      </p:sp>
      <p:sp>
        <p:nvSpPr>
          <p:cNvPr id="8" name="TextBox 7"/>
          <p:cNvSpPr txBox="1"/>
          <p:nvPr/>
        </p:nvSpPr>
        <p:spPr>
          <a:xfrm>
            <a:off x="822960" y="5074920"/>
            <a:ext cx="10607040" cy="1243584"/>
          </a:xfrm>
          <a:prstGeom prst="rect">
            <a:avLst/>
          </a:prstGeom>
          <a:noFill/>
        </p:spPr>
        <p:txBody>
          <a:bodyPr wrap="square">
            <a:spAutoFit/>
          </a:bodyPr>
          <a:lstStyle/>
          <a:p>
            <a:pPr>
              <a:defRPr sz="1400"/>
            </a:pPr>
            <a:r>
              <a:t>• Performance model: ~200k pps × workers × hosts. Processes, not threads (GIL: 4 threads = 57k pps; 4 processes = 1.09M). One core pegged while the box idles? Workers can't outnumber flows → --streams N gives each pair N sockets (rate split, not multiplied) so workers/RSS/ECMP have tuples to spread: mx start --streams 8 --workers 32.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Finding the limit — and common options</a:t>
            </a:r>
          </a:p>
        </p:txBody>
      </p:sp>
      <p:sp>
        <p:nvSpPr>
          <p:cNvPr id="3" name="Content Placeholder 2"/>
          <p:cNvSpPr>
            <a:spLocks noGrp="1"/>
          </p:cNvSpPr>
          <p:nvPr>
            <p:ph idx="1"/>
          </p:nvPr>
        </p:nvSpPr>
        <p:spPr/>
        <p:txBody>
          <a:bodyPr wrap="square">
            <a:normAutofit/>
          </a:bodyPr>
          <a:lstStyle/>
          <a:p>
            <a:pPr>
              <a:defRPr sz="1600"/>
            </a:pPr>
            <a:r>
              <a:t>mx check --nic-gbps 25 --nic-mpps 15 first — was what you asked for even possible?</a:t>
            </a:r>
          </a:p>
          <a:p>
            <a:pPr>
              <a:defRPr sz="1600"/>
            </a:pPr>
            <a:r>
              <a:t>Ramp: --pps 50000 → run → --pps 100000 → … The last rate that delivers cleanly is the fleet's sustainable all-to-all packet rate.</a:t>
            </a:r>
          </a:p>
          <a:p>
            <a:pPr>
              <a:defRPr sz="1600"/>
            </a:pPr>
            <a:r>
              <a:t>Watch in order: (1) p99 lifting off the p50 — queues filling, usually before loss; (2) DELIVERED falling behind REQUESTS — something's dropping.</a:t>
            </a:r>
          </a:p>
          <a:p>
            <a:pPr>
              <a:defRPr sz="1600"/>
            </a:pPr>
            <a:r>
              <a:t>--pps max = unpaced: finds the ceiling fastest, tells you less about where it is.</a:t>
            </a:r>
          </a:p>
          <a:p>
            <a:pPr>
              <a:defRPr sz="1600"/>
            </a:pPr>
            <a:r>
              <a:t>Common shapes: --tx-size 64 --rx-size 64 --pps max (small-packet torture) · --tx-size 128 --rx-size 8192 (RPC) · --gbps 10 --tx-size 1400 (bandwidth-budget sizing) · mx start --bind eth1 (data-NIC pinning — retargets peers' addresses too, both halves of the two-NIC job).</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Ways to run at different scales — getting the best run</a:t>
            </a:r>
          </a:p>
        </p:txBody>
      </p:sp>
      <p:sp>
        <p:nvSpPr>
          <p:cNvPr id="3" name="Content Placeholder 2"/>
          <p:cNvSpPr>
            <a:spLocks noGrp="1"/>
          </p:cNvSpPr>
          <p:nvPr>
            <p:ph idx="1"/>
          </p:nvPr>
        </p:nvSpPr>
        <p:spPr/>
        <p:txBody>
          <a:bodyPr wrap="square">
            <a:normAutofit/>
          </a:bodyPr>
          <a:lstStyle/>
          <a:p>
            <a:pPr>
              <a:defRPr sz="1600"/>
            </a:pPr>
            <a:r>
              <a:t>Small fleet (≤ ~30): full mesh (default gen). Every pair, continuously — the forensic shape. Big box, few peers? add --streams.</a:t>
            </a:r>
          </a:p>
          <a:p>
            <a:pPr>
              <a:defRPr sz="1600"/>
            </a:pPr>
            <a:r>
              <a:t>Large fleet: --peers K — k-regular shuffle: each host talks to exactly K shuffled peers. Equal per-host load by construction (K superimposed permutations), K sockets instead of N−1, seeded + replayable (--seed). --streams S multiplies 4-tuples for ECMP coverage; a host holds K×S sockets.</a:t>
            </a:r>
          </a:p>
          <a:p>
            <a:pPr>
              <a:defRPr sz="1600"/>
            </a:pPr>
            <a:r>
              <a:t>Full pair coverage at huge N: --peers K --dwell T — layered rotation: the N−1 shifts of the shuffle are dealt out K at a time into ⌈(N−1)/K⌉ edge-disjoint layers; agents switch layers on their own wall clock (no control channel). After one cycle every ordered pair measured exactly once; per-host load never changes. 1000 hosts: full coverage every ~6 min on 8 sockets (--dwell 3 --interval 1). --equal-layers for dip-free soaks; COVERAGE section + coverage_grid.csv report progress.</a:t>
            </a:r>
          </a:p>
          <a:p>
            <a:pPr>
              <a:defRPr sz="1600"/>
            </a:pPr>
            <a:r>
              <a:t>Dwell floor: whole multiple of --interval; useful floor ≈ 3× interval.</a:t>
            </a:r>
          </a:p>
          <a:p>
            <a:pPr>
              <a:defRPr sz="1600"/>
            </a:pPr>
            <a:r>
              <a:t>Don't want to remember this? mx hints --servers s.txt --pps-per-host N does the arithmetic and prints the command.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Stopping and cleaning up</a:t>
            </a:r>
          </a:p>
        </p:txBody>
      </p:sp>
      <p:sp>
        <p:nvSpPr>
          <p:cNvPr id="3" name="Content Placeholder 2"/>
          <p:cNvSpPr>
            <a:spLocks noGrp="1"/>
          </p:cNvSpPr>
          <p:nvPr>
            <p:ph idx="1"/>
          </p:nvPr>
        </p:nvSpPr>
        <p:spPr/>
        <p:txBody>
          <a:bodyPr wrap="square">
            <a:normAutofit/>
          </a:bodyPr>
          <a:lstStyle/>
          <a:p>
            <a:pPr>
              <a:defRPr sz="1600"/>
            </a:pPr>
            <a:r>
              <a:t>Everything on a server lives in one directory (/var/tmp/mx; --remote-dir to change): agent, matrix, log, report. No package, no sysctl, no unit file.</a:t>
            </a:r>
          </a:p>
          <a:p>
            <a:pPr>
              <a:defRPr sz="1600"/>
            </a:pPr>
            <a:r>
              <a:t>mx stop — agents halt; reports and logs stay for later collection.</a:t>
            </a:r>
          </a:p>
          <a:p>
            <a:pPr>
              <a:defRPr sz="1600"/>
            </a:pPr>
            <a:r>
              <a:t>Take mx logs and mx summarize first — then mx clean.</a:t>
            </a:r>
          </a:p>
          <a:p>
            <a:pPr>
              <a:defRPr sz="1600"/>
            </a:pPr>
            <a:r>
              <a:t>mx clean refuses to report success unless the directory is verifiably gone and no agent still runs.</a:t>
            </a:r>
          </a:p>
          <a:p>
            <a:pPr>
              <a:defRPr sz="1600"/>
            </a:pPr>
            <a:r>
              <a:t>Agents flush the current interval on SIGTERM — stopping doesn't discard the last seconds of data.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 3 — netmesh</a:t>
            </a:r>
          </a:p>
        </p:txBody>
      </p:sp>
      <p:sp>
        <p:nvSpPr>
          <p:cNvPr id="3" name="Text Placeholder 2"/>
          <p:cNvSpPr>
            <a:spLocks noGrp="1"/>
          </p:cNvSpPr>
          <p:nvPr>
            <p:ph type="body" idx="1"/>
          </p:nvPr>
        </p:nvSpPr>
        <p:spPr/>
        <p:txBody>
          <a:bodyPr/>
          <a:lstStyle/>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What it is, and how it fits the grouping</a:t>
            </a:r>
          </a:p>
        </p:txBody>
      </p:sp>
      <p:sp>
        <p:nvSpPr>
          <p:cNvPr id="3" name="Content Placeholder 2"/>
          <p:cNvSpPr>
            <a:spLocks noGrp="1"/>
          </p:cNvSpPr>
          <p:nvPr>
            <p:ph idx="1"/>
          </p:nvPr>
        </p:nvSpPr>
        <p:spPr/>
        <p:txBody>
          <a:bodyPr wrap="square">
            <a:normAutofit/>
          </a:bodyPr>
          <a:lstStyle/>
          <a:p>
            <a:pPr>
              <a:defRPr sz="1600"/>
            </a:pPr>
            <a:r>
              <a:t>One of binnacle's eight diagnostic tools (pip install binnacle); its question: "is it the network, and which link is sick?"</a:t>
            </a:r>
          </a:p>
          <a:p>
            <a:pPr>
              <a:defRPr sz="1600"/>
            </a:pPr>
            <a:r>
              <a:t>Measures RTT, jitter, loss and path MTU between machines when nothing else is running — the idle baseline.</a:t>
            </a:r>
          </a:p>
          <a:p>
            <a:pPr>
              <a:defRPr sz="1600"/>
            </a:pPr>
            <a:r>
              <a:t>The gap it fills: iperf_orchestrator = bandwidth under load; mx = pps under load. Neither says what the network does idle — and that's the baseline both numbers must be read against.</a:t>
            </a:r>
          </a:p>
          <a:p>
            <a:pPr>
              <a:defRPr sz="1600"/>
            </a:pPr>
            <a:r>
              <a:t>Deliberately the cheapest of the three: ~10 small packets/s per pair — safe on production during an incident.</a:t>
            </a:r>
          </a:p>
          <a:p>
            <a:pPr>
              <a:defRPr sz="1600"/>
            </a:pPr>
            <a:r>
              <a:t>Two hosts and one line is the design centre; mesh files, grids and layered scale-up exist but a two-box user never sees them.</a:t>
            </a:r>
          </a:p>
          <a:p>
            <a:pPr>
              <a:defRPr sz="1600"/>
            </a:pPr>
            <a:r>
              <a:t>Why run it: before blaming the network in an incident; before commissioning load tests; as a recurring health probe; and around a load test (--baseline) to see what the load does to latency.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How it probes (why not ping)</a:t>
            </a:r>
          </a:p>
        </p:txBody>
      </p:sp>
      <p:sp>
        <p:nvSpPr>
          <p:cNvPr id="3" name="Content Placeholder 2"/>
          <p:cNvSpPr>
            <a:spLocks noGrp="1"/>
          </p:cNvSpPr>
          <p:nvPr>
            <p:ph idx="1"/>
          </p:nvPr>
        </p:nvSpPr>
        <p:spPr/>
        <p:txBody>
          <a:bodyPr wrap="square">
            <a:normAutofit/>
          </a:bodyPr>
          <a:lstStyle/>
          <a:p>
            <a:pPr>
              <a:defRPr sz="1600"/>
            </a:pPr>
            <a:r>
              <a:t>UDP echoes between temporary agents — the only approach giving all four:</a:t>
            </a:r>
          </a:p>
          <a:p>
            <a:pPr lvl="1">
              <a:defRPr sz="1400"/>
            </a:pPr>
            <a:r>
              <a:t>No root — ordinary unprivileged UDP sockets both ends.</a:t>
            </a:r>
          </a:p>
          <a:p>
            <a:pPr lvl="1">
              <a:defRPr sz="1400"/>
            </a:pPr>
            <a:r>
              <a:t>Exact RTT, one clock — sender's own monotonic stamp echoed back untouched; no NTP assumptions.</a:t>
            </a:r>
          </a:p>
          <a:p>
            <a:pPr lvl="1">
              <a:defRPr sz="1400"/>
            </a:pPr>
            <a:r>
              <a:t>Loss split into forward/return legs — the responder independently counts what arrived. Not available from ping.</a:t>
            </a:r>
          </a:p>
          <a:p>
            <a:pPr lvl="1">
              <a:defRPr sz="1400"/>
            </a:pPr>
            <a:r>
              <a:t>Measures the data plane — ICMP is answered by router control planes (rate-limited, deprioritized), so it systematically lies about what application traffic sees.</a:t>
            </a:r>
          </a:p>
          <a:p>
            <a:pPr>
              <a:defRPr sz="1600"/>
            </a:pPr>
            <a:r>
              <a:t>One-way delay deliberately not reported — without PTP the clock offset would swamp the microseconds that matter. Instead: two separate round trips (A→B timed by A, B→A timed by B), compared — every number quoted is one that is actually true.</a:t>
            </a:r>
          </a:p>
          <a:p>
            <a:pPr>
              <a:defRPr sz="1600"/>
            </a:pPr>
            <a:r>
              <a:t>Can't deploy an agent (VIP, router, appliance)? Prefix with ~ → probed with ping, but segregated as ONE-SIDED in the report because those rows carry materially less.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How to run it</a:t>
            </a:r>
          </a:p>
        </p:txBody>
      </p:sp>
      <p:sp>
        <p:nvSpPr>
          <p:cNvPr id="3" name="TextBox 2"/>
          <p:cNvSpPr txBox="1"/>
          <p:nvPr/>
        </p:nvSpPr>
        <p:spPr>
          <a:xfrm>
            <a:off x="640080" y="1234440"/>
            <a:ext cx="10972800" cy="1764792"/>
          </a:xfrm>
          <a:prstGeom prst="rect">
            <a:avLst/>
          </a:prstGeom>
          <a:noFill/>
        </p:spPr>
        <p:txBody>
          <a:bodyPr wrap="none">
            <a:spAutoFit/>
          </a:bodyPr>
          <a:lstStyle/>
          <a:p>
            <a:pPr>
              <a:defRPr sz="1300">
                <a:solidFill>
                  <a:srgbClr val="24354A"/>
                </a:solidFill>
                <a:latin typeface="Consolas"/>
              </a:defRPr>
            </a:pPr>
            <a:r>
              <a:t>netmesh selftest                        # prove it works here first (loopback, no ssh)</a:t>
            </a:r>
          </a:p>
          <a:p>
            <a:pPr>
              <a:defRPr sz="1300">
                <a:solidFill>
                  <a:srgbClr val="24354A"/>
                </a:solidFill>
                <a:latin typeface="Consolas"/>
              </a:defRPr>
            </a:pPr>
            <a:r>
              <a:t>netmesh check web01 db01                # one-shot: gen, deploy, probe, summarize, clean</a:t>
            </a:r>
          </a:p>
          <a:p>
            <a:pPr>
              <a:defRPr sz="1300">
                <a:solidFill>
                  <a:srgbClr val="24354A"/>
                </a:solidFill>
                <a:latin typeface="Consolas"/>
              </a:defRPr>
            </a:pPr>
            <a:r>
              <a:t>netmesh check web01 db01 --for 60</a:t>
            </a:r>
          </a:p>
          <a:p>
            <a:pPr>
              <a:defRPr sz="1300">
                <a:solidFill>
                  <a:srgbClr val="24354A"/>
                </a:solidFill>
                <a:latin typeface="Consolas"/>
              </a:defRPr>
            </a:pPr>
            <a:r>
              <a:t>netmesh gen --servers prod.txt          # mesh file for repeat runs</a:t>
            </a:r>
          </a:p>
          <a:p>
            <a:pPr>
              <a:defRPr sz="1300">
                <a:solidFill>
                  <a:srgbClr val="24354A"/>
                </a:solidFill>
                <a:latin typeface="Consolas"/>
              </a:defRPr>
            </a:pPr>
            <a:r>
              <a:t>netmesh run --for 300 --grid grids/</a:t>
            </a:r>
          </a:p>
          <a:p>
            <a:pPr>
              <a:defRPr sz="1300">
                <a:solidFill>
                  <a:srgbClr val="24354A"/>
                </a:solidFill>
                <a:latin typeface="Consolas"/>
              </a:defRPr>
            </a:pPr>
            <a:r>
              <a:t>netmesh check web03 db01 --flows 8      # sweep source ports across a LAG/ECMP bundle</a:t>
            </a:r>
          </a:p>
          <a:p>
            <a:pPr>
              <a:defRPr sz="1300">
                <a:solidFill>
                  <a:srgbClr val="24354A"/>
                </a:solidFill>
                <a:latin typeface="Consolas"/>
              </a:defRPr>
            </a:pPr>
            <a:r>
              <a:t>netmesh run --baseline 20 -- ./iperf_orchestrator.sh all   # idle first, then probe under load</a:t>
            </a:r>
          </a:p>
        </p:txBody>
      </p:sp>
      <p:sp>
        <p:nvSpPr>
          <p:cNvPr id="4" name="TextBox 3"/>
          <p:cNvSpPr txBox="1"/>
          <p:nvPr/>
        </p:nvSpPr>
        <p:spPr>
          <a:xfrm>
            <a:off x="822960" y="3136392"/>
            <a:ext cx="10607040" cy="621792"/>
          </a:xfrm>
          <a:prstGeom prst="rect">
            <a:avLst/>
          </a:prstGeom>
          <a:noFill/>
        </p:spPr>
        <p:txBody>
          <a:bodyPr wrap="square">
            <a:spAutoFit/>
          </a:bodyPr>
          <a:lstStyle/>
          <a:p>
            <a:pPr>
              <a:defRPr sz="1400"/>
            </a:pPr>
            <a:r>
              <a:t>• Same verb set as mx (gen/start/status/summarize/stop/clean + run/collect/logs/paths/doctor); the mesh file shares mx's matrix grammar — learn one, know the other.</a:t>
            </a:r>
          </a:p>
        </p:txBody>
      </p:sp>
      <p:sp>
        <p:nvSpPr>
          <p:cNvPr id="5" name="TextBox 4"/>
          <p:cNvSpPr txBox="1"/>
          <p:nvPr/>
        </p:nvSpPr>
        <p:spPr>
          <a:xfrm>
            <a:off x="822960" y="3831336"/>
            <a:ext cx="10607040" cy="1243584"/>
          </a:xfrm>
          <a:prstGeom prst="rect">
            <a:avLst/>
          </a:prstGeom>
          <a:noFill/>
        </p:spPr>
        <p:txBody>
          <a:bodyPr wrap="square">
            <a:spAutoFit/>
          </a:bodyPr>
          <a:lstStyle/>
          <a:p>
            <a:pPr>
              <a:defRPr sz="1400"/>
            </a:pPr>
            <a:r>
              <a:t>• --flows N matters: one source port = one 5-tuple = one path through a LAG/ECMP bundle — a sick member is hit or missed by luck (the fault that never reproduces). N buckets split the rate (never multiply it) and are compared against the median bucket: "port 40008 sees p50 4.1 ms where the median flow sees 142 µs — same pair, same instant, so what differs is the bundle member."</a:t>
            </a:r>
          </a:p>
        </p:txBody>
      </p:sp>
      <p:sp>
        <p:nvSpPr>
          <p:cNvPr id="6" name="TextBox 5"/>
          <p:cNvSpPr txBox="1"/>
          <p:nvPr/>
        </p:nvSpPr>
        <p:spPr>
          <a:xfrm>
            <a:off x="822960" y="5148072"/>
            <a:ext cx="10607040" cy="310896"/>
          </a:xfrm>
          <a:prstGeom prst="rect">
            <a:avLst/>
          </a:prstGeom>
          <a:noFill/>
        </p:spPr>
        <p:txBody>
          <a:bodyPr wrap="square">
            <a:spAutoFit/>
          </a:bodyPr>
          <a:lstStyle/>
          <a:p>
            <a:pPr>
              <a:defRPr sz="1400"/>
            </a:pPr>
            <a:r>
              <a:t>• IPv6: refused by netmesh (the rest of binnacle's list grammar supports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Getting reports &amp; interpreting</a:t>
            </a:r>
          </a:p>
        </p:txBody>
      </p:sp>
      <p:sp>
        <p:nvSpPr>
          <p:cNvPr id="3" name="Content Placeholder 2"/>
          <p:cNvSpPr>
            <a:spLocks noGrp="1"/>
          </p:cNvSpPr>
          <p:nvPr>
            <p:ph idx="1"/>
          </p:nvPr>
        </p:nvSpPr>
        <p:spPr/>
        <p:txBody>
          <a:bodyPr wrap="square">
            <a:normAutofit/>
          </a:bodyPr>
          <a:lstStyle/>
          <a:p>
            <a:pPr>
              <a:defRPr sz="1600"/>
            </a:pPr>
            <a:r>
              <a:t>reports/&lt;host&gt;.csv — tidy long format, one row per peer per direction per interval. Blank means "not measured", never zero. --grid DIR writes rtt_p50/rtt_p99/jitter/loss/mtu/asym grids matching mx's layout.</a:t>
            </a:r>
          </a:p>
          <a:p>
            <a:pPr>
              <a:defRPr sz="1600"/>
            </a:pPr>
            <a:r>
              <a:t>Headline = median of pair p50s (one sick pair can't move it or hide inside it); worst pairs ranked by p99.</a:t>
            </a:r>
          </a:p>
          <a:p>
            <a:pPr>
              <a:defRPr sz="1600"/>
            </a:pPr>
            <a:r>
              <a:t>ASYMMETRY — A→B 8× slower than B→A ⇒ look at A's egress; the return path just proved itself fine. Diagnosis is computed, not canned: slow pairs sharing a source → that host's egress; sharing a destination → its ingress; spanning a group boundary → the path between.</a:t>
            </a:r>
          </a:p>
          <a:p>
            <a:pPr>
              <a:defRPr sz="1600"/>
            </a:pPr>
            <a:r>
              <a:t>PATH MTU — four outcomes: confirmed / blackhole (small packets echo, large vanish, no error returns — "small requests work, large transfers hang") / cached / unsupported. Found without root; only an end-to-end echo counts.</a:t>
            </a:r>
          </a:p>
          <a:p>
            <a:pPr>
              <a:defRPr sz="1600"/>
            </a:pPr>
            <a:r>
              <a:t>PATH SPREAD (--flows) — one bucket 28.9× the median = a sick LAG/ECMP member, named while the run is fresh.</a:t>
            </a:r>
          </a:p>
          <a:p>
            <a:pPr>
              <a:defRPr sz="1600"/>
            </a:pPr>
            <a:r>
              <a:t>UNDER LOAD (--baseline) — p99 210 µs idle → 42 ms loaded: the queue in front of the bottleneck; what everything sharing the path paid for the throughput number. Loss appearing only under load gets its own finding.</a:t>
            </a:r>
          </a:p>
          <a:p>
            <a:pPr>
              <a:defRPr sz="1600"/>
            </a:pPr>
            <a:r>
              <a:t>Measurement honesty: flags when a NIC's rx-usecs coalescing timer is the floor you measured (with the ethtool line); agent_cpu_pct ≈ 100 ⇒ you're measuring the tool.</a:t>
            </a:r>
          </a:p>
          <a:p>
            <a:pPr>
              <a:defRPr sz="1600"/>
            </a:pPr>
            <a:r>
              <a:t>A clean run says so plainly — "the network is not your problem" — and points at mx / iperf_orchestrator for the load question.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Stopping, cleaning up, following up</a:t>
            </a:r>
          </a:p>
        </p:txBody>
      </p:sp>
      <p:sp>
        <p:nvSpPr>
          <p:cNvPr id="3" name="Content Placeholder 2"/>
          <p:cNvSpPr>
            <a:spLocks noGrp="1"/>
          </p:cNvSpPr>
          <p:nvPr>
            <p:ph idx="1"/>
          </p:nvPr>
        </p:nvSpPr>
        <p:spPr/>
        <p:txBody>
          <a:bodyPr wrap="square">
            <a:normAutofit/>
          </a:bodyPr>
          <a:lstStyle/>
          <a:p>
            <a:pPr>
              <a:defRPr sz="1600"/>
            </a:pPr>
            <a:r>
              <a:t>check cleans up after itself — the two-host case never leaves anything behind. Managed runs: stop keeps reports; clean stops and removes every trace. No package, no daemon, no dotdir, no sysctl — ever. Agents flush on SIGTERM.</a:t>
            </a:r>
          </a:p>
          <a:p>
            <a:pPr>
              <a:defRPr sz="1600"/>
            </a:pPr>
            <a:r>
              <a:t>Reports replay: summarize --reports ./reports, even re-split around a load window after the fact (--load-split &lt;ts&gt;).</a:t>
            </a:r>
          </a:p>
          <a:p>
            <a:pPr>
              <a:defRPr sz="1600"/>
            </a:pPr>
            <a:r>
              <a:t>Following up on findings:</a:t>
            </a:r>
          </a:p>
          <a:p>
            <a:pPr lvl="1">
              <a:defRPr sz="1400"/>
            </a:pPr>
            <a:r>
              <a:t>Sick pair → netmesh paths --compare web03:db01 web01:db01 — hop lists side by side, first divergent hop marked. That hop is where to look.</a:t>
            </a:r>
          </a:p>
          <a:p>
            <a:pPr lvl="1">
              <a:defRPr sz="1400"/>
            </a:pPr>
            <a:r>
              <a:t>Grids drop into the same spreadsheet as mx's — line up idle RTT against loaded loss, pair by pair.</a:t>
            </a:r>
          </a:p>
          <a:p>
            <a:pPr lvl="1">
              <a:defRPr sz="1400"/>
            </a:pPr>
            <a:r>
              <a:t>Clean baseline → the network isn't the problem: go load it (mx run --for 60, iperf-orchestrator all).</a:t>
            </a:r>
          </a:p>
          <a:p>
            <a:pPr lvl="1">
              <a:defRPr sz="1400"/>
            </a:pPr>
            <a:r>
              <a:t>Host still slow → binnacle's why-slow checks the box before you blame the network again.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Close</a:t>
            </a:r>
          </a:p>
        </p:txBody>
      </p:sp>
      <p:sp>
        <p:nvSpPr>
          <p:cNvPr id="3" name="Text Placeholder 2"/>
          <p:cNvSpPr>
            <a:spLocks noGrp="1"/>
          </p:cNvSpPr>
          <p:nvPr>
            <p:ph type="body" idx="1"/>
          </p:nvPr>
        </p:nvSpPr>
        <p:spPr/>
        <p:txBody>
          <a:bodyPr/>
          <a:lstStyle/>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Putting it together</a:t>
            </a:r>
          </a:p>
        </p:txBody>
      </p:sp>
      <p:sp>
        <p:nvSpPr>
          <p:cNvPr id="3" name="TextBox 2"/>
          <p:cNvSpPr txBox="1"/>
          <p:nvPr/>
        </p:nvSpPr>
        <p:spPr>
          <a:xfrm>
            <a:off x="640080" y="1234440"/>
            <a:ext cx="10972800" cy="1325880"/>
          </a:xfrm>
          <a:prstGeom prst="rect">
            <a:avLst/>
          </a:prstGeom>
          <a:noFill/>
        </p:spPr>
        <p:txBody>
          <a:bodyPr wrap="none">
            <a:spAutoFit/>
          </a:bodyPr>
          <a:lstStyle/>
          <a:p>
            <a:pPr>
              <a:defRPr sz="1300">
                <a:solidFill>
                  <a:srgbClr val="24354A"/>
                </a:solidFill>
                <a:latin typeface="Consolas"/>
              </a:defRPr>
            </a:pPr>
            <a:r>
              <a:t>reachable prod.txt -i                       # prune -- the run survives the dead</a:t>
            </a:r>
          </a:p>
          <a:p>
            <a:pPr>
              <a:defRPr sz="1300">
                <a:solidFill>
                  <a:srgbClr val="24354A"/>
                </a:solidFill>
                <a:latin typeface="Consolas"/>
              </a:defRPr>
            </a:pPr>
            <a:r>
              <a:t>netmesh check ...                           # idle baseline: is the fabric healthy?</a:t>
            </a:r>
          </a:p>
          <a:p>
            <a:pPr>
              <a:defRPr sz="1300">
                <a:solidFill>
                  <a:srgbClr val="24354A"/>
                </a:solidFill>
                <a:latin typeface="Consolas"/>
              </a:defRPr>
            </a:pPr>
            <a:r>
              <a:t>iperf-orchestrator --servers prod.txt all   # TCP bandwidth: what breaks under load?</a:t>
            </a:r>
          </a:p>
          <a:p>
            <a:pPr>
              <a:defRPr sz="1300">
                <a:solidFill>
                  <a:srgbClr val="24354A"/>
                </a:solidFill>
                <a:latin typeface="Consolas"/>
              </a:defRPr>
            </a:pPr>
            <a:r>
              <a:t>mx run --for 300                            # answered packets/sec: the RPC ceiling</a:t>
            </a:r>
          </a:p>
          <a:p>
            <a:pPr>
              <a:defRPr sz="1300">
                <a:solidFill>
                  <a:srgbClr val="24354A"/>
                </a:solidFill>
                <a:latin typeface="Consolas"/>
              </a:defRPr>
            </a:pPr>
            <a:r>
              <a:t>netmesh run --baseline 20 -- &lt;load&gt;         # what the load did to latency</a:t>
            </a:r>
          </a:p>
        </p:txBody>
      </p:sp>
      <p:sp>
        <p:nvSpPr>
          <p:cNvPr id="4" name="TextBox 3"/>
          <p:cNvSpPr txBox="1"/>
          <p:nvPr/>
        </p:nvSpPr>
        <p:spPr>
          <a:xfrm>
            <a:off x="822960" y="2697480"/>
            <a:ext cx="10607040" cy="310896"/>
          </a:xfrm>
          <a:prstGeom prst="rect">
            <a:avLst/>
          </a:prstGeom>
          <a:noFill/>
        </p:spPr>
        <p:txBody>
          <a:bodyPr wrap="square">
            <a:spAutoFit/>
          </a:bodyPr>
          <a:lstStyle/>
          <a:p>
            <a:pPr>
              <a:defRPr sz="1400"/>
            </a:pPr>
            <a:r>
              <a:t>• Baseline before load — a throughput number without its idle RTT is half a result.</a:t>
            </a:r>
          </a:p>
        </p:txBody>
      </p:sp>
      <p:sp>
        <p:nvSpPr>
          <p:cNvPr id="5" name="TextBox 4"/>
          <p:cNvSpPr txBox="1"/>
          <p:nvPr/>
        </p:nvSpPr>
        <p:spPr>
          <a:xfrm>
            <a:off x="822960" y="3081528"/>
            <a:ext cx="10607040" cy="310896"/>
          </a:xfrm>
          <a:prstGeom prst="rect">
            <a:avLst/>
          </a:prstGeom>
          <a:noFill/>
        </p:spPr>
        <p:txBody>
          <a:bodyPr wrap="square">
            <a:spAutoFit/>
          </a:bodyPr>
          <a:lstStyle/>
          <a:p>
            <a:pPr>
              <a:defRPr sz="1400"/>
            </a:pPr>
            <a:r>
              <a:t>• Trust what arrived, not what was sent — and watch the CPU, or you're measuring the tool.</a:t>
            </a:r>
          </a:p>
        </p:txBody>
      </p:sp>
      <p:sp>
        <p:nvSpPr>
          <p:cNvPr id="6" name="TextBox 5"/>
          <p:cNvSpPr txBox="1"/>
          <p:nvPr/>
        </p:nvSpPr>
        <p:spPr>
          <a:xfrm>
            <a:off x="822960" y="3465576"/>
            <a:ext cx="10607040" cy="310896"/>
          </a:xfrm>
          <a:prstGeom prst="rect">
            <a:avLst/>
          </a:prstGeom>
          <a:noFill/>
        </p:spPr>
        <p:txBody>
          <a:bodyPr wrap="square">
            <a:spAutoFit/>
          </a:bodyPr>
          <a:lstStyle/>
          <a:p>
            <a:pPr>
              <a:defRPr sz="1400"/>
            </a:pPr>
            <a:r>
              <a:t>• Keep the list real — reachable is why the whole pipeline still runs when servers are down.</a:t>
            </a:r>
          </a:p>
        </p:txBody>
      </p:sp>
      <p:sp>
        <p:nvSpPr>
          <p:cNvPr id="7" name="TextBox 6"/>
          <p:cNvSpPr txBox="1"/>
          <p:nvPr/>
        </p:nvSpPr>
        <p:spPr>
          <a:xfrm>
            <a:off x="822960" y="3849624"/>
            <a:ext cx="10607040" cy="310896"/>
          </a:xfrm>
          <a:prstGeom prst="rect">
            <a:avLst/>
          </a:prstGeom>
          <a:noFill/>
        </p:spPr>
        <p:txBody>
          <a:bodyPr wrap="square">
            <a:spAutoFit/>
          </a:bodyPr>
          <a:lstStyle/>
          <a:p>
            <a:pPr>
              <a:defRPr sz="1400"/>
            </a:pPr>
            <a:r>
              <a:t>• All pip-installable: iperf-orchestrator, matrix-orchestrator, binnacle.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